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2D2A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2D2A5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B6890"/>
                </a:solidFill>
                <a:latin typeface="Calibri"/>
                <a:cs typeface="Calibri"/>
              </a:defRPr>
            </a:lvl1pPr>
          </a:lstStyle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D2A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2D2A5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B6890"/>
                </a:solidFill>
                <a:latin typeface="Calibri"/>
                <a:cs typeface="Calibri"/>
              </a:defRPr>
            </a:lvl1pPr>
          </a:lstStyle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D2A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B6890"/>
                </a:solidFill>
                <a:latin typeface="Calibri"/>
                <a:cs typeface="Calibri"/>
              </a:defRPr>
            </a:lvl1pPr>
          </a:lstStyle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D2A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B6890"/>
                </a:solidFill>
                <a:latin typeface="Calibri"/>
                <a:cs typeface="Calibri"/>
              </a:defRPr>
            </a:lvl1pPr>
          </a:lstStyle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B6890"/>
                </a:solidFill>
                <a:latin typeface="Calibri"/>
                <a:cs typeface="Calibri"/>
              </a:defRPr>
            </a:lvl1pPr>
          </a:lstStyle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7467" y="211516"/>
            <a:ext cx="8074412" cy="918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2D2A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128" y="1723771"/>
            <a:ext cx="599948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2D2A5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65459" y="6413117"/>
            <a:ext cx="1031240" cy="432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B6890"/>
                </a:solidFill>
                <a:latin typeface="Calibri"/>
                <a:cs typeface="Calibri"/>
              </a:defRPr>
            </a:lvl1pPr>
          </a:lstStyle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281" y="262638"/>
            <a:ext cx="3012772" cy="90168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9576" y="1366344"/>
            <a:ext cx="5368925" cy="1443990"/>
          </a:xfrm>
          <a:prstGeom prst="rect">
            <a:avLst/>
          </a:prstGeom>
        </p:spPr>
        <p:txBody>
          <a:bodyPr vert="horz" wrap="square" lIns="0" tIns="323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0"/>
              </a:spcBef>
            </a:pPr>
            <a:r>
              <a:rPr sz="4800" spc="165" dirty="0">
                <a:solidFill>
                  <a:srgbClr val="2F2A62"/>
                </a:solidFill>
              </a:rPr>
              <a:t>Rules</a:t>
            </a:r>
            <a:r>
              <a:rPr sz="4800" spc="-305" dirty="0">
                <a:solidFill>
                  <a:srgbClr val="2F2A62"/>
                </a:solidFill>
              </a:rPr>
              <a:t> </a:t>
            </a:r>
            <a:r>
              <a:rPr sz="4800" spc="90" dirty="0">
                <a:solidFill>
                  <a:srgbClr val="2F2A62"/>
                </a:solidFill>
              </a:rPr>
              <a:t>of</a:t>
            </a:r>
            <a:r>
              <a:rPr sz="4800" spc="-290" dirty="0">
                <a:solidFill>
                  <a:srgbClr val="2F2A62"/>
                </a:solidFill>
              </a:rPr>
              <a:t> </a:t>
            </a:r>
            <a:r>
              <a:rPr sz="4800" spc="-10" dirty="0">
                <a:solidFill>
                  <a:srgbClr val="2F2A62"/>
                </a:solidFill>
              </a:rPr>
              <a:t>Inference</a:t>
            </a:r>
            <a:endParaRPr sz="4800"/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00" spc="90" dirty="0">
                <a:solidFill>
                  <a:srgbClr val="6D3CE0"/>
                </a:solidFill>
              </a:rPr>
              <a:t>DISCRETE</a:t>
            </a:r>
            <a:r>
              <a:rPr sz="1700" spc="-120" dirty="0">
                <a:solidFill>
                  <a:srgbClr val="6D3CE0"/>
                </a:solidFill>
              </a:rPr>
              <a:t> </a:t>
            </a:r>
            <a:r>
              <a:rPr sz="1700" spc="105" dirty="0">
                <a:solidFill>
                  <a:srgbClr val="6D3CE0"/>
                </a:solidFill>
              </a:rPr>
              <a:t>MATHEMATICS</a:t>
            </a:r>
            <a:r>
              <a:rPr sz="1700" spc="270" dirty="0">
                <a:solidFill>
                  <a:srgbClr val="6D3CE0"/>
                </a:solidFill>
              </a:rPr>
              <a:t> </a:t>
            </a:r>
            <a:r>
              <a:rPr sz="1700" dirty="0">
                <a:solidFill>
                  <a:srgbClr val="6D3CE0"/>
                </a:solidFill>
              </a:rPr>
              <a:t>·</a:t>
            </a:r>
            <a:r>
              <a:rPr sz="1700" spc="245" dirty="0">
                <a:solidFill>
                  <a:srgbClr val="6D3CE0"/>
                </a:solidFill>
              </a:rPr>
              <a:t> </a:t>
            </a:r>
            <a:r>
              <a:rPr sz="1700" spc="55" dirty="0">
                <a:solidFill>
                  <a:srgbClr val="6D3CE0"/>
                </a:solidFill>
              </a:rPr>
              <a:t>0613–</a:t>
            </a:r>
            <a:r>
              <a:rPr sz="1700" spc="-25" dirty="0">
                <a:solidFill>
                  <a:srgbClr val="6D3CE0"/>
                </a:solidFill>
              </a:rPr>
              <a:t>105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1071509" y="1168055"/>
            <a:ext cx="457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22231"/>
                </a:solidFill>
                <a:latin typeface="Trebuchet MS"/>
                <a:cs typeface="Trebuchet MS"/>
              </a:rPr>
              <a:t>Department</a:t>
            </a:r>
            <a:r>
              <a:rPr sz="1600" spc="30" dirty="0">
                <a:solidFill>
                  <a:srgbClr val="D22231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D22231"/>
                </a:solidFill>
                <a:latin typeface="Trebuchet MS"/>
                <a:cs typeface="Trebuchet MS"/>
              </a:rPr>
              <a:t>of</a:t>
            </a:r>
            <a:r>
              <a:rPr sz="1600" spc="-10" dirty="0">
                <a:solidFill>
                  <a:srgbClr val="D22231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D22231"/>
                </a:solidFill>
                <a:latin typeface="Trebuchet MS"/>
                <a:cs typeface="Trebuchet MS"/>
              </a:rPr>
              <a:t>Computer</a:t>
            </a:r>
            <a:r>
              <a:rPr sz="1600" spc="30" dirty="0">
                <a:solidFill>
                  <a:srgbClr val="D22231"/>
                </a:solidFill>
                <a:latin typeface="Trebuchet MS"/>
                <a:cs typeface="Trebuchet MS"/>
              </a:rPr>
              <a:t> </a:t>
            </a:r>
            <a:r>
              <a:rPr sz="1600" spc="55" dirty="0">
                <a:solidFill>
                  <a:srgbClr val="D22231"/>
                </a:solidFill>
                <a:latin typeface="Trebuchet MS"/>
                <a:cs typeface="Trebuchet MS"/>
              </a:rPr>
              <a:t>Science</a:t>
            </a:r>
            <a:r>
              <a:rPr sz="1600" dirty="0">
                <a:solidFill>
                  <a:srgbClr val="D22231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D22231"/>
                </a:solidFill>
                <a:latin typeface="Trebuchet MS"/>
                <a:cs typeface="Trebuchet MS"/>
              </a:rPr>
              <a:t>&amp;</a:t>
            </a:r>
            <a:r>
              <a:rPr sz="1600" spc="-5" dirty="0">
                <a:solidFill>
                  <a:srgbClr val="D22231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D22231"/>
                </a:solidFill>
                <a:latin typeface="Trebuchet MS"/>
                <a:cs typeface="Trebuchet MS"/>
              </a:rPr>
              <a:t>Engineering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7349" y="3324161"/>
            <a:ext cx="7139940" cy="2846070"/>
            <a:chOff x="777349" y="3324161"/>
            <a:chExt cx="7139940" cy="2846070"/>
          </a:xfrm>
        </p:grpSpPr>
        <p:sp>
          <p:nvSpPr>
            <p:cNvPr id="7" name="object 7"/>
            <p:cNvSpPr/>
            <p:nvPr/>
          </p:nvSpPr>
          <p:spPr>
            <a:xfrm>
              <a:off x="870711" y="3484120"/>
              <a:ext cx="7045959" cy="2661920"/>
            </a:xfrm>
            <a:custGeom>
              <a:avLst/>
              <a:gdLst/>
              <a:ahLst/>
              <a:cxnLst/>
              <a:rect l="l" t="t" r="r" b="b"/>
              <a:pathLst>
                <a:path w="7045959" h="2661920">
                  <a:moveTo>
                    <a:pt x="6951484" y="0"/>
                  </a:moveTo>
                  <a:lnTo>
                    <a:pt x="94475" y="0"/>
                  </a:lnTo>
                  <a:lnTo>
                    <a:pt x="57703" y="7423"/>
                  </a:lnTo>
                  <a:lnTo>
                    <a:pt x="27673" y="27668"/>
                  </a:lnTo>
                  <a:lnTo>
                    <a:pt x="7425" y="57698"/>
                  </a:lnTo>
                  <a:lnTo>
                    <a:pt x="0" y="94475"/>
                  </a:lnTo>
                  <a:lnTo>
                    <a:pt x="0" y="2566936"/>
                  </a:lnTo>
                  <a:lnTo>
                    <a:pt x="7425" y="2603708"/>
                  </a:lnTo>
                  <a:lnTo>
                    <a:pt x="27673" y="2633738"/>
                  </a:lnTo>
                  <a:lnTo>
                    <a:pt x="57703" y="2653986"/>
                  </a:lnTo>
                  <a:lnTo>
                    <a:pt x="94475" y="2661412"/>
                  </a:lnTo>
                  <a:lnTo>
                    <a:pt x="6951484" y="2661412"/>
                  </a:lnTo>
                  <a:lnTo>
                    <a:pt x="6988256" y="2653986"/>
                  </a:lnTo>
                  <a:lnTo>
                    <a:pt x="7018286" y="2633738"/>
                  </a:lnTo>
                  <a:lnTo>
                    <a:pt x="7038534" y="2603708"/>
                  </a:lnTo>
                  <a:lnTo>
                    <a:pt x="7045959" y="2566936"/>
                  </a:lnTo>
                  <a:lnTo>
                    <a:pt x="7045959" y="94475"/>
                  </a:lnTo>
                  <a:lnTo>
                    <a:pt x="7038534" y="57698"/>
                  </a:lnTo>
                  <a:lnTo>
                    <a:pt x="7018286" y="27668"/>
                  </a:lnTo>
                  <a:lnTo>
                    <a:pt x="6988256" y="7423"/>
                  </a:lnTo>
                  <a:lnTo>
                    <a:pt x="6951484" y="0"/>
                  </a:lnTo>
                  <a:close/>
                </a:path>
              </a:pathLst>
            </a:custGeom>
            <a:solidFill>
              <a:srgbClr val="AC79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3064" y="3329876"/>
              <a:ext cx="7104380" cy="2834640"/>
            </a:xfrm>
            <a:custGeom>
              <a:avLst/>
              <a:gdLst/>
              <a:ahLst/>
              <a:cxnLst/>
              <a:rect l="l" t="t" r="r" b="b"/>
              <a:pathLst>
                <a:path w="7104380" h="2834640">
                  <a:moveTo>
                    <a:pt x="7003237" y="0"/>
                  </a:moveTo>
                  <a:lnTo>
                    <a:pt x="100634" y="0"/>
                  </a:lnTo>
                  <a:lnTo>
                    <a:pt x="61464" y="7908"/>
                  </a:lnTo>
                  <a:lnTo>
                    <a:pt x="29476" y="29476"/>
                  </a:lnTo>
                  <a:lnTo>
                    <a:pt x="7908" y="61464"/>
                  </a:lnTo>
                  <a:lnTo>
                    <a:pt x="0" y="100634"/>
                  </a:lnTo>
                  <a:lnTo>
                    <a:pt x="0" y="2734017"/>
                  </a:lnTo>
                  <a:lnTo>
                    <a:pt x="7908" y="2773185"/>
                  </a:lnTo>
                  <a:lnTo>
                    <a:pt x="29476" y="2805169"/>
                  </a:lnTo>
                  <a:lnTo>
                    <a:pt x="61464" y="2826733"/>
                  </a:lnTo>
                  <a:lnTo>
                    <a:pt x="100634" y="2834640"/>
                  </a:lnTo>
                  <a:lnTo>
                    <a:pt x="7003237" y="2834640"/>
                  </a:lnTo>
                  <a:lnTo>
                    <a:pt x="7042407" y="2826733"/>
                  </a:lnTo>
                  <a:lnTo>
                    <a:pt x="7074395" y="2805169"/>
                  </a:lnTo>
                  <a:lnTo>
                    <a:pt x="7095963" y="2773185"/>
                  </a:lnTo>
                  <a:lnTo>
                    <a:pt x="7103872" y="2734017"/>
                  </a:lnTo>
                  <a:lnTo>
                    <a:pt x="7103872" y="100634"/>
                  </a:lnTo>
                  <a:lnTo>
                    <a:pt x="7095963" y="61464"/>
                  </a:lnTo>
                  <a:lnTo>
                    <a:pt x="7074395" y="29476"/>
                  </a:lnTo>
                  <a:lnTo>
                    <a:pt x="7042407" y="7908"/>
                  </a:lnTo>
                  <a:lnTo>
                    <a:pt x="70032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3064" y="3329876"/>
              <a:ext cx="7104380" cy="2834640"/>
            </a:xfrm>
            <a:custGeom>
              <a:avLst/>
              <a:gdLst/>
              <a:ahLst/>
              <a:cxnLst/>
              <a:rect l="l" t="t" r="r" b="b"/>
              <a:pathLst>
                <a:path w="7104380" h="2834640">
                  <a:moveTo>
                    <a:pt x="0" y="100634"/>
                  </a:moveTo>
                  <a:lnTo>
                    <a:pt x="7908" y="61464"/>
                  </a:lnTo>
                  <a:lnTo>
                    <a:pt x="29476" y="29476"/>
                  </a:lnTo>
                  <a:lnTo>
                    <a:pt x="61464" y="7908"/>
                  </a:lnTo>
                  <a:lnTo>
                    <a:pt x="100634" y="0"/>
                  </a:lnTo>
                  <a:lnTo>
                    <a:pt x="7003237" y="0"/>
                  </a:lnTo>
                  <a:lnTo>
                    <a:pt x="7042407" y="7908"/>
                  </a:lnTo>
                  <a:lnTo>
                    <a:pt x="7074395" y="29476"/>
                  </a:lnTo>
                  <a:lnTo>
                    <a:pt x="7095963" y="61464"/>
                  </a:lnTo>
                  <a:lnTo>
                    <a:pt x="7103872" y="100634"/>
                  </a:lnTo>
                  <a:lnTo>
                    <a:pt x="7103872" y="2734017"/>
                  </a:lnTo>
                  <a:lnTo>
                    <a:pt x="7095963" y="2773185"/>
                  </a:lnTo>
                  <a:lnTo>
                    <a:pt x="7074395" y="2805169"/>
                  </a:lnTo>
                  <a:lnTo>
                    <a:pt x="7042407" y="2826733"/>
                  </a:lnTo>
                  <a:lnTo>
                    <a:pt x="7003237" y="2834640"/>
                  </a:lnTo>
                  <a:lnTo>
                    <a:pt x="100634" y="2834640"/>
                  </a:lnTo>
                  <a:lnTo>
                    <a:pt x="61464" y="2826733"/>
                  </a:lnTo>
                  <a:lnTo>
                    <a:pt x="29476" y="2805169"/>
                  </a:lnTo>
                  <a:lnTo>
                    <a:pt x="7908" y="2773185"/>
                  </a:lnTo>
                  <a:lnTo>
                    <a:pt x="0" y="2734017"/>
                  </a:lnTo>
                  <a:lnTo>
                    <a:pt x="0" y="100634"/>
                  </a:lnTo>
                  <a:close/>
                </a:path>
              </a:pathLst>
            </a:custGeom>
            <a:ln w="11430">
              <a:solidFill>
                <a:srgbClr val="2F2A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0363" y="3484117"/>
              <a:ext cx="6911340" cy="339090"/>
            </a:xfrm>
            <a:custGeom>
              <a:avLst/>
              <a:gdLst/>
              <a:ahLst/>
              <a:cxnLst/>
              <a:rect l="l" t="t" r="r" b="b"/>
              <a:pathLst>
                <a:path w="6911340" h="339089">
                  <a:moveTo>
                    <a:pt x="6863588" y="0"/>
                  </a:moveTo>
                  <a:lnTo>
                    <a:pt x="47244" y="0"/>
                  </a:lnTo>
                  <a:lnTo>
                    <a:pt x="28851" y="3711"/>
                  </a:lnTo>
                  <a:lnTo>
                    <a:pt x="13835" y="13835"/>
                  </a:lnTo>
                  <a:lnTo>
                    <a:pt x="3711" y="28851"/>
                  </a:lnTo>
                  <a:lnTo>
                    <a:pt x="0" y="47244"/>
                  </a:lnTo>
                  <a:lnTo>
                    <a:pt x="0" y="291338"/>
                  </a:lnTo>
                  <a:lnTo>
                    <a:pt x="3711" y="309730"/>
                  </a:lnTo>
                  <a:lnTo>
                    <a:pt x="13835" y="324746"/>
                  </a:lnTo>
                  <a:lnTo>
                    <a:pt x="28851" y="334870"/>
                  </a:lnTo>
                  <a:lnTo>
                    <a:pt x="47244" y="338582"/>
                  </a:lnTo>
                  <a:lnTo>
                    <a:pt x="6863588" y="338582"/>
                  </a:lnTo>
                  <a:lnTo>
                    <a:pt x="6881980" y="334870"/>
                  </a:lnTo>
                  <a:lnTo>
                    <a:pt x="6896996" y="324746"/>
                  </a:lnTo>
                  <a:lnTo>
                    <a:pt x="6907120" y="309730"/>
                  </a:lnTo>
                  <a:lnTo>
                    <a:pt x="6910832" y="291338"/>
                  </a:lnTo>
                  <a:lnTo>
                    <a:pt x="6910832" y="47244"/>
                  </a:lnTo>
                  <a:lnTo>
                    <a:pt x="6907120" y="28851"/>
                  </a:lnTo>
                  <a:lnTo>
                    <a:pt x="6896996" y="13835"/>
                  </a:lnTo>
                  <a:lnTo>
                    <a:pt x="6881980" y="3711"/>
                  </a:lnTo>
                  <a:lnTo>
                    <a:pt x="6863588" y="0"/>
                  </a:lnTo>
                  <a:close/>
                </a:path>
              </a:pathLst>
            </a:custGeom>
            <a:solidFill>
              <a:srgbClr val="E8D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123301" y="3423279"/>
            <a:ext cx="3866515" cy="2722245"/>
            <a:chOff x="8123301" y="3423279"/>
            <a:chExt cx="3866515" cy="2722245"/>
          </a:xfrm>
        </p:grpSpPr>
        <p:sp>
          <p:nvSpPr>
            <p:cNvPr id="12" name="object 12"/>
            <p:cNvSpPr/>
            <p:nvPr/>
          </p:nvSpPr>
          <p:spPr>
            <a:xfrm>
              <a:off x="8186928" y="3484111"/>
              <a:ext cx="3803015" cy="2661920"/>
            </a:xfrm>
            <a:custGeom>
              <a:avLst/>
              <a:gdLst/>
              <a:ahLst/>
              <a:cxnLst/>
              <a:rect l="l" t="t" r="r" b="b"/>
              <a:pathLst>
                <a:path w="3803015" h="2661920">
                  <a:moveTo>
                    <a:pt x="3708400" y="0"/>
                  </a:moveTo>
                  <a:lnTo>
                    <a:pt x="94488" y="0"/>
                  </a:lnTo>
                  <a:lnTo>
                    <a:pt x="57708" y="7425"/>
                  </a:lnTo>
                  <a:lnTo>
                    <a:pt x="27674" y="27674"/>
                  </a:lnTo>
                  <a:lnTo>
                    <a:pt x="7425" y="57708"/>
                  </a:lnTo>
                  <a:lnTo>
                    <a:pt x="0" y="94487"/>
                  </a:lnTo>
                  <a:lnTo>
                    <a:pt x="0" y="2566936"/>
                  </a:lnTo>
                  <a:lnTo>
                    <a:pt x="7425" y="2603713"/>
                  </a:lnTo>
                  <a:lnTo>
                    <a:pt x="27674" y="2633743"/>
                  </a:lnTo>
                  <a:lnTo>
                    <a:pt x="57708" y="2653988"/>
                  </a:lnTo>
                  <a:lnTo>
                    <a:pt x="94488" y="2661412"/>
                  </a:lnTo>
                  <a:lnTo>
                    <a:pt x="3708400" y="2661412"/>
                  </a:lnTo>
                  <a:lnTo>
                    <a:pt x="3745179" y="2653988"/>
                  </a:lnTo>
                  <a:lnTo>
                    <a:pt x="3775213" y="2633743"/>
                  </a:lnTo>
                  <a:lnTo>
                    <a:pt x="3795462" y="2603713"/>
                  </a:lnTo>
                  <a:lnTo>
                    <a:pt x="3802888" y="2566936"/>
                  </a:lnTo>
                  <a:lnTo>
                    <a:pt x="3802888" y="94487"/>
                  </a:lnTo>
                  <a:lnTo>
                    <a:pt x="3795462" y="57708"/>
                  </a:lnTo>
                  <a:lnTo>
                    <a:pt x="3775213" y="27674"/>
                  </a:lnTo>
                  <a:lnTo>
                    <a:pt x="3745179" y="7425"/>
                  </a:lnTo>
                  <a:lnTo>
                    <a:pt x="3708400" y="0"/>
                  </a:lnTo>
                  <a:close/>
                </a:path>
              </a:pathLst>
            </a:custGeom>
            <a:solidFill>
              <a:srgbClr val="AC79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29016" y="3428994"/>
              <a:ext cx="3803015" cy="2661920"/>
            </a:xfrm>
            <a:custGeom>
              <a:avLst/>
              <a:gdLst/>
              <a:ahLst/>
              <a:cxnLst/>
              <a:rect l="l" t="t" r="r" b="b"/>
              <a:pathLst>
                <a:path w="3803015" h="2661920">
                  <a:moveTo>
                    <a:pt x="3708400" y="0"/>
                  </a:moveTo>
                  <a:lnTo>
                    <a:pt x="94488" y="0"/>
                  </a:lnTo>
                  <a:lnTo>
                    <a:pt x="57708" y="7425"/>
                  </a:lnTo>
                  <a:lnTo>
                    <a:pt x="27674" y="27674"/>
                  </a:lnTo>
                  <a:lnTo>
                    <a:pt x="7425" y="57708"/>
                  </a:lnTo>
                  <a:lnTo>
                    <a:pt x="0" y="94487"/>
                  </a:lnTo>
                  <a:lnTo>
                    <a:pt x="0" y="2566936"/>
                  </a:lnTo>
                  <a:lnTo>
                    <a:pt x="7425" y="2603713"/>
                  </a:lnTo>
                  <a:lnTo>
                    <a:pt x="27674" y="2633743"/>
                  </a:lnTo>
                  <a:lnTo>
                    <a:pt x="57708" y="2653988"/>
                  </a:lnTo>
                  <a:lnTo>
                    <a:pt x="94488" y="2661412"/>
                  </a:lnTo>
                  <a:lnTo>
                    <a:pt x="3708400" y="2661412"/>
                  </a:lnTo>
                  <a:lnTo>
                    <a:pt x="3745179" y="2653988"/>
                  </a:lnTo>
                  <a:lnTo>
                    <a:pt x="3775213" y="2633743"/>
                  </a:lnTo>
                  <a:lnTo>
                    <a:pt x="3795462" y="2603713"/>
                  </a:lnTo>
                  <a:lnTo>
                    <a:pt x="3802888" y="2566936"/>
                  </a:lnTo>
                  <a:lnTo>
                    <a:pt x="3802888" y="94487"/>
                  </a:lnTo>
                  <a:lnTo>
                    <a:pt x="3795462" y="57708"/>
                  </a:lnTo>
                  <a:lnTo>
                    <a:pt x="3775213" y="27674"/>
                  </a:lnTo>
                  <a:lnTo>
                    <a:pt x="3745179" y="7425"/>
                  </a:lnTo>
                  <a:lnTo>
                    <a:pt x="3708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29016" y="3428994"/>
              <a:ext cx="3803015" cy="2661920"/>
            </a:xfrm>
            <a:custGeom>
              <a:avLst/>
              <a:gdLst/>
              <a:ahLst/>
              <a:cxnLst/>
              <a:rect l="l" t="t" r="r" b="b"/>
              <a:pathLst>
                <a:path w="3803015" h="2661920">
                  <a:moveTo>
                    <a:pt x="0" y="94487"/>
                  </a:moveTo>
                  <a:lnTo>
                    <a:pt x="7425" y="57708"/>
                  </a:lnTo>
                  <a:lnTo>
                    <a:pt x="27674" y="27674"/>
                  </a:lnTo>
                  <a:lnTo>
                    <a:pt x="57708" y="7425"/>
                  </a:lnTo>
                  <a:lnTo>
                    <a:pt x="94488" y="0"/>
                  </a:lnTo>
                  <a:lnTo>
                    <a:pt x="3708400" y="0"/>
                  </a:lnTo>
                  <a:lnTo>
                    <a:pt x="3745179" y="7425"/>
                  </a:lnTo>
                  <a:lnTo>
                    <a:pt x="3775213" y="27674"/>
                  </a:lnTo>
                  <a:lnTo>
                    <a:pt x="3795462" y="57708"/>
                  </a:lnTo>
                  <a:lnTo>
                    <a:pt x="3802888" y="94487"/>
                  </a:lnTo>
                  <a:lnTo>
                    <a:pt x="3802888" y="2566936"/>
                  </a:lnTo>
                  <a:lnTo>
                    <a:pt x="3795462" y="2603713"/>
                  </a:lnTo>
                  <a:lnTo>
                    <a:pt x="3775213" y="2633743"/>
                  </a:lnTo>
                  <a:lnTo>
                    <a:pt x="3745179" y="2653988"/>
                  </a:lnTo>
                  <a:lnTo>
                    <a:pt x="3708400" y="2661412"/>
                  </a:lnTo>
                  <a:lnTo>
                    <a:pt x="94488" y="2661412"/>
                  </a:lnTo>
                  <a:lnTo>
                    <a:pt x="57708" y="2653988"/>
                  </a:lnTo>
                  <a:lnTo>
                    <a:pt x="27674" y="2633743"/>
                  </a:lnTo>
                  <a:lnTo>
                    <a:pt x="7425" y="2603713"/>
                  </a:lnTo>
                  <a:lnTo>
                    <a:pt x="0" y="2566936"/>
                  </a:lnTo>
                  <a:lnTo>
                    <a:pt x="0" y="94487"/>
                  </a:lnTo>
                  <a:close/>
                </a:path>
              </a:pathLst>
            </a:custGeom>
            <a:ln w="11429">
              <a:solidFill>
                <a:srgbClr val="2F2A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6580" y="3484116"/>
              <a:ext cx="3667760" cy="339090"/>
            </a:xfrm>
            <a:custGeom>
              <a:avLst/>
              <a:gdLst/>
              <a:ahLst/>
              <a:cxnLst/>
              <a:rect l="l" t="t" r="r" b="b"/>
              <a:pathLst>
                <a:path w="3667759" h="339089">
                  <a:moveTo>
                    <a:pt x="3620516" y="0"/>
                  </a:moveTo>
                  <a:lnTo>
                    <a:pt x="47244" y="0"/>
                  </a:lnTo>
                  <a:lnTo>
                    <a:pt x="28851" y="3713"/>
                  </a:lnTo>
                  <a:lnTo>
                    <a:pt x="13835" y="13839"/>
                  </a:lnTo>
                  <a:lnTo>
                    <a:pt x="3711" y="28857"/>
                  </a:lnTo>
                  <a:lnTo>
                    <a:pt x="0" y="47244"/>
                  </a:lnTo>
                  <a:lnTo>
                    <a:pt x="0" y="291338"/>
                  </a:lnTo>
                  <a:lnTo>
                    <a:pt x="3711" y="309730"/>
                  </a:lnTo>
                  <a:lnTo>
                    <a:pt x="13835" y="324746"/>
                  </a:lnTo>
                  <a:lnTo>
                    <a:pt x="28851" y="334870"/>
                  </a:lnTo>
                  <a:lnTo>
                    <a:pt x="47244" y="338582"/>
                  </a:lnTo>
                  <a:lnTo>
                    <a:pt x="3620516" y="338582"/>
                  </a:lnTo>
                  <a:lnTo>
                    <a:pt x="3638908" y="334870"/>
                  </a:lnTo>
                  <a:lnTo>
                    <a:pt x="3653924" y="324746"/>
                  </a:lnTo>
                  <a:lnTo>
                    <a:pt x="3664048" y="309730"/>
                  </a:lnTo>
                  <a:lnTo>
                    <a:pt x="3667760" y="291338"/>
                  </a:lnTo>
                  <a:lnTo>
                    <a:pt x="3667760" y="47244"/>
                  </a:lnTo>
                  <a:lnTo>
                    <a:pt x="3664048" y="28857"/>
                  </a:lnTo>
                  <a:lnTo>
                    <a:pt x="3653924" y="13839"/>
                  </a:lnTo>
                  <a:lnTo>
                    <a:pt x="3638908" y="3713"/>
                  </a:lnTo>
                  <a:lnTo>
                    <a:pt x="3620516" y="0"/>
                  </a:lnTo>
                  <a:close/>
                </a:path>
              </a:pathLst>
            </a:custGeom>
            <a:solidFill>
              <a:srgbClr val="BE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89660" y="3481198"/>
            <a:ext cx="16211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80" dirty="0">
                <a:solidFill>
                  <a:srgbClr val="2F2A62"/>
                </a:solidFill>
                <a:latin typeface="Trebuchet MS"/>
                <a:cs typeface="Trebuchet MS"/>
              </a:rPr>
              <a:t>PRESENTED</a:t>
            </a:r>
            <a:r>
              <a:rPr sz="1700" b="1" spc="-8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700" b="1" spc="85" dirty="0">
                <a:solidFill>
                  <a:srgbClr val="2F2A62"/>
                </a:solidFill>
                <a:latin typeface="Trebuchet MS"/>
                <a:cs typeface="Trebuchet MS"/>
              </a:rPr>
              <a:t>BY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86505" y="3481198"/>
            <a:ext cx="1628139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80" dirty="0">
                <a:solidFill>
                  <a:srgbClr val="2F2A62"/>
                </a:solidFill>
                <a:latin typeface="Trebuchet MS"/>
                <a:cs typeface="Trebuchet MS"/>
              </a:rPr>
              <a:t>PRESENTED</a:t>
            </a:r>
            <a:r>
              <a:rPr sz="1700" b="1" spc="-8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2F2A62"/>
                </a:solidFill>
                <a:latin typeface="Trebuchet MS"/>
                <a:cs typeface="Trebuchet MS"/>
              </a:rPr>
              <a:t>TO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0357" y="390982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F6747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1565" y="3901441"/>
            <a:ext cx="19348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65" dirty="0">
                <a:solidFill>
                  <a:srgbClr val="2F2A62"/>
                </a:solidFill>
                <a:latin typeface="Trebuchet MS"/>
                <a:cs typeface="Trebuchet MS"/>
              </a:rPr>
              <a:t>Abu</a:t>
            </a:r>
            <a:r>
              <a:rPr sz="1900" b="1" spc="-35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F2A62"/>
                </a:solidFill>
                <a:latin typeface="Trebuchet MS"/>
                <a:cs typeface="Trebuchet MS"/>
              </a:rPr>
              <a:t>Raihan</a:t>
            </a:r>
            <a:r>
              <a:rPr sz="1900" b="1" spc="-25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F2A62"/>
                </a:solidFill>
                <a:latin typeface="Trebuchet MS"/>
                <a:cs typeface="Trebuchet MS"/>
              </a:rPr>
              <a:t>Rafit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40652" y="3909823"/>
            <a:ext cx="809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69678B"/>
                </a:solidFill>
                <a:latin typeface="Trebuchet MS"/>
                <a:cs typeface="Trebuchet MS"/>
              </a:rPr>
              <a:t>Roll-</a:t>
            </a:r>
            <a:r>
              <a:rPr sz="1800" b="1" spc="-25" dirty="0">
                <a:solidFill>
                  <a:srgbClr val="69678B"/>
                </a:solidFill>
                <a:latin typeface="Trebuchet MS"/>
                <a:cs typeface="Trebuchet MS"/>
              </a:rPr>
              <a:t>18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83056" y="4326635"/>
            <a:ext cx="6505575" cy="969010"/>
          </a:xfrm>
          <a:custGeom>
            <a:avLst/>
            <a:gdLst/>
            <a:ahLst/>
            <a:cxnLst/>
            <a:rect l="l" t="t" r="r" b="b"/>
            <a:pathLst>
              <a:path w="6505575" h="969010">
                <a:moveTo>
                  <a:pt x="6505448" y="960628"/>
                </a:moveTo>
                <a:lnTo>
                  <a:pt x="0" y="960628"/>
                </a:lnTo>
                <a:lnTo>
                  <a:pt x="0" y="968502"/>
                </a:lnTo>
                <a:lnTo>
                  <a:pt x="6505448" y="968502"/>
                </a:lnTo>
                <a:lnTo>
                  <a:pt x="6505448" y="960628"/>
                </a:lnTo>
                <a:close/>
              </a:path>
              <a:path w="6505575" h="969010">
                <a:moveTo>
                  <a:pt x="6505448" y="480314"/>
                </a:moveTo>
                <a:lnTo>
                  <a:pt x="0" y="480314"/>
                </a:lnTo>
                <a:lnTo>
                  <a:pt x="0" y="488188"/>
                </a:lnTo>
                <a:lnTo>
                  <a:pt x="6505448" y="488188"/>
                </a:lnTo>
                <a:lnTo>
                  <a:pt x="6505448" y="480314"/>
                </a:lnTo>
                <a:close/>
              </a:path>
              <a:path w="6505575" h="969010">
                <a:moveTo>
                  <a:pt x="6505448" y="0"/>
                </a:moveTo>
                <a:lnTo>
                  <a:pt x="0" y="0"/>
                </a:lnTo>
                <a:lnTo>
                  <a:pt x="0" y="7874"/>
                </a:lnTo>
                <a:lnTo>
                  <a:pt x="6505448" y="7874"/>
                </a:lnTo>
                <a:lnTo>
                  <a:pt x="6505448" y="0"/>
                </a:lnTo>
                <a:close/>
              </a:path>
            </a:pathLst>
          </a:custGeom>
          <a:solidFill>
            <a:srgbClr val="E3D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70357" y="4390137"/>
            <a:ext cx="294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6747"/>
                </a:solidFill>
                <a:latin typeface="Trebuchet MS"/>
                <a:cs typeface="Trebuchet MS"/>
              </a:rPr>
              <a:t>02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84240" y="4390137"/>
            <a:ext cx="8267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69678B"/>
                </a:solidFill>
                <a:latin typeface="Trebuchet MS"/>
                <a:cs typeface="Trebuchet MS"/>
              </a:rPr>
              <a:t>Roll-</a:t>
            </a:r>
            <a:r>
              <a:rPr sz="1800" b="1" spc="-25" dirty="0">
                <a:solidFill>
                  <a:srgbClr val="69678B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0357" y="4870451"/>
            <a:ext cx="29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6747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91565" y="4386625"/>
            <a:ext cx="25400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2F2A62"/>
                </a:solidFill>
                <a:latin typeface="Trebuchet MS"/>
                <a:cs typeface="Trebuchet MS"/>
              </a:rPr>
              <a:t>Faysal</a:t>
            </a:r>
            <a:r>
              <a:rPr sz="1900" b="1" spc="1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spc="65" dirty="0">
                <a:solidFill>
                  <a:srgbClr val="2F2A62"/>
                </a:solidFill>
                <a:latin typeface="Trebuchet MS"/>
                <a:cs typeface="Trebuchet MS"/>
              </a:rPr>
              <a:t>Ahmed</a:t>
            </a:r>
            <a:r>
              <a:rPr sz="1900" b="1" spc="5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spc="45" dirty="0">
                <a:solidFill>
                  <a:srgbClr val="2F2A62"/>
                </a:solidFill>
                <a:latin typeface="Trebuchet MS"/>
                <a:cs typeface="Trebuchet MS"/>
              </a:rPr>
              <a:t>Srabon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25411" y="4870451"/>
            <a:ext cx="82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69678B"/>
                </a:solidFill>
                <a:latin typeface="Trebuchet MS"/>
                <a:cs typeface="Trebuchet MS"/>
              </a:rPr>
              <a:t>Roll-</a:t>
            </a:r>
            <a:r>
              <a:rPr sz="1800" b="1" spc="-25" dirty="0">
                <a:solidFill>
                  <a:srgbClr val="69678B"/>
                </a:solidFill>
                <a:latin typeface="Trebuchet MS"/>
                <a:cs typeface="Trebuchet MS"/>
              </a:rPr>
              <a:t>36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70357" y="5342383"/>
            <a:ext cx="32264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3400" algn="l"/>
              </a:tabLst>
            </a:pPr>
            <a:r>
              <a:rPr sz="2700" b="1" spc="-37" baseline="1543" dirty="0">
                <a:solidFill>
                  <a:srgbClr val="FF6747"/>
                </a:solidFill>
                <a:latin typeface="Trebuchet MS"/>
                <a:cs typeface="Trebuchet MS"/>
              </a:rPr>
              <a:t>04</a:t>
            </a:r>
            <a:r>
              <a:rPr sz="2700" b="1" baseline="1543" dirty="0">
                <a:solidFill>
                  <a:srgbClr val="FF6747"/>
                </a:solidFill>
                <a:latin typeface="Trebuchet MS"/>
                <a:cs typeface="Trebuchet MS"/>
              </a:rPr>
              <a:t>	</a:t>
            </a:r>
            <a:r>
              <a:rPr sz="1900" b="1" spc="80" dirty="0">
                <a:solidFill>
                  <a:srgbClr val="2F2A62"/>
                </a:solidFill>
                <a:latin typeface="Trebuchet MS"/>
                <a:cs typeface="Trebuchet MS"/>
              </a:rPr>
              <a:t>Mahmudul</a:t>
            </a:r>
            <a:r>
              <a:rPr sz="1900" b="1" spc="-11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spc="70" dirty="0">
                <a:solidFill>
                  <a:srgbClr val="2F2A62"/>
                </a:solidFill>
                <a:latin typeface="Trebuchet MS"/>
                <a:cs typeface="Trebuchet MS"/>
              </a:rPr>
              <a:t>Haque</a:t>
            </a:r>
            <a:r>
              <a:rPr sz="1900" b="1" spc="-11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spc="35" dirty="0">
                <a:solidFill>
                  <a:srgbClr val="2F2A62"/>
                </a:solidFill>
                <a:latin typeface="Trebuchet MS"/>
                <a:cs typeface="Trebuchet MS"/>
              </a:rPr>
              <a:t>Mahi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91565" y="4906069"/>
            <a:ext cx="12153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2F2A62"/>
                </a:solidFill>
                <a:latin typeface="Trebuchet MS"/>
                <a:cs typeface="Trebuchet MS"/>
              </a:rPr>
              <a:t>Sajal</a:t>
            </a:r>
            <a:r>
              <a:rPr sz="1900" b="1" spc="2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1900" b="1" spc="60" dirty="0">
                <a:solidFill>
                  <a:srgbClr val="2F2A62"/>
                </a:solidFill>
                <a:latin typeface="Trebuchet MS"/>
                <a:cs typeface="Trebuchet MS"/>
              </a:rPr>
              <a:t>Saha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66559" y="5350765"/>
            <a:ext cx="784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69678B"/>
                </a:solidFill>
                <a:latin typeface="Trebuchet MS"/>
                <a:cs typeface="Trebuchet MS"/>
              </a:rPr>
              <a:t>Roll-</a:t>
            </a:r>
            <a:r>
              <a:rPr sz="1800" b="1" spc="-130" dirty="0">
                <a:solidFill>
                  <a:srgbClr val="69678B"/>
                </a:solidFill>
                <a:latin typeface="Trebuchet MS"/>
                <a:cs typeface="Trebuchet MS"/>
              </a:rPr>
              <a:t>11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05876" y="4112388"/>
            <a:ext cx="2260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F2A62"/>
                </a:solidFill>
                <a:latin typeface="Trebuchet MS"/>
                <a:cs typeface="Trebuchet MS"/>
              </a:rPr>
              <a:t>Tahzib</a:t>
            </a:r>
            <a:r>
              <a:rPr sz="2400" b="1" spc="-135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2400" b="1" spc="100" dirty="0">
                <a:solidFill>
                  <a:srgbClr val="2F2A62"/>
                </a:solidFill>
                <a:latin typeface="Trebuchet MS"/>
                <a:cs typeface="Trebuchet MS"/>
              </a:rPr>
              <a:t>Ul</a:t>
            </a:r>
            <a:r>
              <a:rPr sz="2400" b="1" spc="-110" dirty="0">
                <a:solidFill>
                  <a:srgbClr val="2F2A62"/>
                </a:solidFill>
                <a:latin typeface="Trebuchet MS"/>
                <a:cs typeface="Trebuchet MS"/>
              </a:rPr>
              <a:t> </a:t>
            </a:r>
            <a:r>
              <a:rPr sz="2400" b="1" spc="80" dirty="0">
                <a:solidFill>
                  <a:srgbClr val="2F2A62"/>
                </a:solidFill>
                <a:latin typeface="Trebuchet MS"/>
                <a:cs typeface="Trebuchet MS"/>
              </a:rPr>
              <a:t>Islam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18576" y="4617973"/>
            <a:ext cx="3223895" cy="8255"/>
          </a:xfrm>
          <a:custGeom>
            <a:avLst/>
            <a:gdLst/>
            <a:ahLst/>
            <a:cxnLst/>
            <a:rect l="l" t="t" r="r" b="b"/>
            <a:pathLst>
              <a:path w="3223895" h="8254">
                <a:moveTo>
                  <a:pt x="3223780" y="0"/>
                </a:moveTo>
                <a:lnTo>
                  <a:pt x="0" y="0"/>
                </a:lnTo>
                <a:lnTo>
                  <a:pt x="0" y="7874"/>
                </a:lnTo>
                <a:lnTo>
                  <a:pt x="3223780" y="7874"/>
                </a:lnTo>
                <a:lnTo>
                  <a:pt x="3223780" y="0"/>
                </a:lnTo>
                <a:close/>
              </a:path>
            </a:pathLst>
          </a:custGeom>
          <a:solidFill>
            <a:srgbClr val="DCD5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878311" y="6294882"/>
            <a:ext cx="81724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0" dirty="0">
                <a:solidFill>
                  <a:srgbClr val="69678B"/>
                </a:solidFill>
                <a:latin typeface="Trebuchet MS"/>
                <a:cs typeface="Trebuchet MS"/>
              </a:rPr>
              <a:t>1/28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05876" y="4531707"/>
            <a:ext cx="3012440" cy="127000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700" spc="55" dirty="0">
                <a:solidFill>
                  <a:srgbClr val="6A63B9"/>
                </a:solidFill>
                <a:latin typeface="Trebuchet MS"/>
                <a:cs typeface="Trebuchet MS"/>
              </a:rPr>
              <a:t>Associate</a:t>
            </a:r>
            <a:r>
              <a:rPr sz="1700" spc="-80" dirty="0">
                <a:solidFill>
                  <a:srgbClr val="6A63B9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6A63B9"/>
                </a:solidFill>
                <a:latin typeface="Trebuchet MS"/>
                <a:cs typeface="Trebuchet MS"/>
              </a:rPr>
              <a:t>Professor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850" spc="10" dirty="0">
                <a:solidFill>
                  <a:srgbClr val="69678B"/>
                </a:solidFill>
                <a:latin typeface="Trebuchet MS"/>
                <a:cs typeface="Trebuchet MS"/>
              </a:rPr>
              <a:t>Department</a:t>
            </a:r>
            <a:r>
              <a:rPr sz="1850" spc="45" dirty="0">
                <a:solidFill>
                  <a:srgbClr val="69678B"/>
                </a:solidFill>
                <a:latin typeface="Trebuchet MS"/>
                <a:cs typeface="Trebuchet MS"/>
              </a:rPr>
              <a:t> </a:t>
            </a:r>
            <a:r>
              <a:rPr sz="1850" spc="10" dirty="0">
                <a:solidFill>
                  <a:srgbClr val="69678B"/>
                </a:solidFill>
                <a:latin typeface="Trebuchet MS"/>
                <a:cs typeface="Trebuchet MS"/>
              </a:rPr>
              <a:t>of</a:t>
            </a:r>
            <a:r>
              <a:rPr sz="1850" spc="110" dirty="0">
                <a:solidFill>
                  <a:srgbClr val="69678B"/>
                </a:solidFill>
                <a:latin typeface="Trebuchet MS"/>
                <a:cs typeface="Trebuchet MS"/>
              </a:rPr>
              <a:t> </a:t>
            </a:r>
            <a:r>
              <a:rPr sz="1850" spc="160" dirty="0">
                <a:solidFill>
                  <a:srgbClr val="69678B"/>
                </a:solidFill>
                <a:latin typeface="Trebuchet MS"/>
                <a:cs typeface="Trebuchet MS"/>
              </a:rPr>
              <a:t>CSE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700" spc="65" dirty="0">
                <a:solidFill>
                  <a:srgbClr val="69678B"/>
                </a:solidFill>
                <a:latin typeface="Trebuchet MS"/>
                <a:cs typeface="Trebuchet MS"/>
              </a:rPr>
              <a:t>Dhaka</a:t>
            </a:r>
            <a:r>
              <a:rPr sz="1700" spc="-70" dirty="0">
                <a:solidFill>
                  <a:srgbClr val="69678B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69678B"/>
                </a:solidFill>
                <a:latin typeface="Trebuchet MS"/>
                <a:cs typeface="Trebuchet MS"/>
              </a:rPr>
              <a:t>International</a:t>
            </a:r>
            <a:r>
              <a:rPr sz="1700" spc="-50" dirty="0">
                <a:solidFill>
                  <a:srgbClr val="69678B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69678B"/>
                </a:solidFill>
                <a:latin typeface="Trebuchet MS"/>
                <a:cs typeface="Trebuchet MS"/>
              </a:rPr>
              <a:t>University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96600" y="6311390"/>
            <a:ext cx="800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6B6890"/>
                </a:solidFill>
                <a:latin typeface="Calibri"/>
                <a:cs typeface="Calibri"/>
              </a:rPr>
              <a:t>2/28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dirty="0"/>
              <a:t>Presentation</a:t>
            </a:r>
            <a:r>
              <a:rPr spc="350" dirty="0"/>
              <a:t> </a:t>
            </a:r>
            <a:r>
              <a:rPr spc="-10" dirty="0"/>
              <a:t>outline</a:t>
            </a:r>
          </a:p>
        </p:txBody>
      </p:sp>
      <p:grpSp>
        <p:nvGrpSpPr>
          <p:cNvPr id="4" name="object 4" descr="þÿ"/>
          <p:cNvGrpSpPr/>
          <p:nvPr/>
        </p:nvGrpSpPr>
        <p:grpSpPr>
          <a:xfrm>
            <a:off x="1039367" y="1097280"/>
            <a:ext cx="8722360" cy="5257800"/>
            <a:chOff x="1039367" y="1097280"/>
            <a:chExt cx="8722360" cy="5257800"/>
          </a:xfrm>
        </p:grpSpPr>
        <p:pic>
          <p:nvPicPr>
            <p:cNvPr id="5" name="object 5" descr="þÿ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367" y="1097280"/>
              <a:ext cx="8721839" cy="5257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8399" y="1188718"/>
              <a:ext cx="8463280" cy="4998720"/>
            </a:xfrm>
            <a:custGeom>
              <a:avLst/>
              <a:gdLst/>
              <a:ahLst/>
              <a:cxnLst/>
              <a:rect l="l" t="t" r="r" b="b"/>
              <a:pathLst>
                <a:path w="8463280" h="4998720">
                  <a:moveTo>
                    <a:pt x="8178253" y="0"/>
                  </a:moveTo>
                  <a:lnTo>
                    <a:pt x="285026" y="0"/>
                  </a:lnTo>
                  <a:lnTo>
                    <a:pt x="238793" y="3730"/>
                  </a:lnTo>
                  <a:lnTo>
                    <a:pt x="194935" y="14530"/>
                  </a:lnTo>
                  <a:lnTo>
                    <a:pt x="154039" y="31813"/>
                  </a:lnTo>
                  <a:lnTo>
                    <a:pt x="116692" y="54993"/>
                  </a:lnTo>
                  <a:lnTo>
                    <a:pt x="83481" y="83481"/>
                  </a:lnTo>
                  <a:lnTo>
                    <a:pt x="54993" y="116692"/>
                  </a:lnTo>
                  <a:lnTo>
                    <a:pt x="31813" y="154039"/>
                  </a:lnTo>
                  <a:lnTo>
                    <a:pt x="14530" y="194935"/>
                  </a:lnTo>
                  <a:lnTo>
                    <a:pt x="3730" y="238793"/>
                  </a:lnTo>
                  <a:lnTo>
                    <a:pt x="0" y="285026"/>
                  </a:lnTo>
                  <a:lnTo>
                    <a:pt x="0" y="4713693"/>
                  </a:lnTo>
                  <a:lnTo>
                    <a:pt x="3730" y="4759926"/>
                  </a:lnTo>
                  <a:lnTo>
                    <a:pt x="14530" y="4803784"/>
                  </a:lnTo>
                  <a:lnTo>
                    <a:pt x="31813" y="4844680"/>
                  </a:lnTo>
                  <a:lnTo>
                    <a:pt x="54993" y="4882027"/>
                  </a:lnTo>
                  <a:lnTo>
                    <a:pt x="83481" y="4915238"/>
                  </a:lnTo>
                  <a:lnTo>
                    <a:pt x="116692" y="4943726"/>
                  </a:lnTo>
                  <a:lnTo>
                    <a:pt x="154039" y="4966906"/>
                  </a:lnTo>
                  <a:lnTo>
                    <a:pt x="194935" y="4984189"/>
                  </a:lnTo>
                  <a:lnTo>
                    <a:pt x="238793" y="4994989"/>
                  </a:lnTo>
                  <a:lnTo>
                    <a:pt x="285026" y="4998720"/>
                  </a:lnTo>
                  <a:lnTo>
                    <a:pt x="8178253" y="4998720"/>
                  </a:lnTo>
                  <a:lnTo>
                    <a:pt x="8224486" y="4994989"/>
                  </a:lnTo>
                  <a:lnTo>
                    <a:pt x="8268344" y="4984189"/>
                  </a:lnTo>
                  <a:lnTo>
                    <a:pt x="8309240" y="4966906"/>
                  </a:lnTo>
                  <a:lnTo>
                    <a:pt x="8346587" y="4943726"/>
                  </a:lnTo>
                  <a:lnTo>
                    <a:pt x="8379798" y="4915238"/>
                  </a:lnTo>
                  <a:lnTo>
                    <a:pt x="8408286" y="4882027"/>
                  </a:lnTo>
                  <a:lnTo>
                    <a:pt x="8431466" y="4844680"/>
                  </a:lnTo>
                  <a:lnTo>
                    <a:pt x="8448749" y="4803784"/>
                  </a:lnTo>
                  <a:lnTo>
                    <a:pt x="8459549" y="4759926"/>
                  </a:lnTo>
                  <a:lnTo>
                    <a:pt x="8463280" y="4713693"/>
                  </a:lnTo>
                  <a:lnTo>
                    <a:pt x="8463280" y="285026"/>
                  </a:lnTo>
                  <a:lnTo>
                    <a:pt x="8459549" y="238793"/>
                  </a:lnTo>
                  <a:lnTo>
                    <a:pt x="8448749" y="194935"/>
                  </a:lnTo>
                  <a:lnTo>
                    <a:pt x="8431466" y="154039"/>
                  </a:lnTo>
                  <a:lnTo>
                    <a:pt x="8408286" y="116692"/>
                  </a:lnTo>
                  <a:lnTo>
                    <a:pt x="8379798" y="83481"/>
                  </a:lnTo>
                  <a:lnTo>
                    <a:pt x="8346587" y="54993"/>
                  </a:lnTo>
                  <a:lnTo>
                    <a:pt x="8309240" y="31813"/>
                  </a:lnTo>
                  <a:lnTo>
                    <a:pt x="8268344" y="14530"/>
                  </a:lnTo>
                  <a:lnTo>
                    <a:pt x="8224486" y="3730"/>
                  </a:lnTo>
                  <a:lnTo>
                    <a:pt x="81782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36459" y="1182750"/>
            <a:ext cx="905510" cy="87312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121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Slide</a:t>
            </a:r>
            <a:r>
              <a:rPr sz="1850" b="1" spc="3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No.</a:t>
            </a:r>
            <a:endParaRPr sz="18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115"/>
              </a:spcBef>
            </a:pPr>
            <a:r>
              <a:rPr sz="1850" b="1" spc="-50" dirty="0">
                <a:solidFill>
                  <a:srgbClr val="6C3EDF"/>
                </a:solidFill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70660" y="2153820"/>
            <a:ext cx="7858759" cy="3446145"/>
            <a:chOff x="1470660" y="2153820"/>
            <a:chExt cx="7858759" cy="3446145"/>
          </a:xfrm>
        </p:grpSpPr>
        <p:sp>
          <p:nvSpPr>
            <p:cNvPr id="9" name="object 9"/>
            <p:cNvSpPr/>
            <p:nvPr/>
          </p:nvSpPr>
          <p:spPr>
            <a:xfrm>
              <a:off x="1470660" y="2160170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70660" y="2650610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0660" y="3141050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0660" y="3631491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70660" y="4121932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70660" y="4612371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70660" y="5102812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0660" y="5593252"/>
              <a:ext cx="7858759" cy="0"/>
            </a:xfrm>
            <a:custGeom>
              <a:avLst/>
              <a:gdLst/>
              <a:ahLst/>
              <a:cxnLst/>
              <a:rect l="l" t="t" r="r" b="b"/>
              <a:pathLst>
                <a:path w="7858759">
                  <a:moveTo>
                    <a:pt x="0" y="0"/>
                  </a:moveTo>
                  <a:lnTo>
                    <a:pt x="7858759" y="0"/>
                  </a:lnTo>
                </a:path>
              </a:pathLst>
            </a:custGeom>
            <a:ln w="12700">
              <a:solidFill>
                <a:srgbClr val="CFC7F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195575" y="2235178"/>
            <a:ext cx="1460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6C3EDF"/>
                </a:solidFill>
                <a:latin typeface="Calibri"/>
                <a:cs typeface="Calibri"/>
              </a:rPr>
              <a:t>4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95575" y="2725618"/>
            <a:ext cx="1460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6C3EDF"/>
                </a:solidFill>
                <a:latin typeface="Calibri"/>
                <a:cs typeface="Calibri"/>
              </a:rPr>
              <a:t>5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35869" y="3216057"/>
            <a:ext cx="50545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6C3EDF"/>
                </a:solidFill>
                <a:latin typeface="Calibri"/>
                <a:cs typeface="Calibri"/>
              </a:rPr>
              <a:t>7–</a:t>
            </a:r>
            <a:r>
              <a:rPr sz="1850" b="1" spc="-25" dirty="0">
                <a:solidFill>
                  <a:srgbClr val="6C3EDF"/>
                </a:solidFill>
                <a:latin typeface="Calibri"/>
                <a:cs typeface="Calibri"/>
              </a:rPr>
              <a:t>15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75277" y="3706500"/>
            <a:ext cx="2667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C3EDF"/>
                </a:solidFill>
                <a:latin typeface="Calibri"/>
                <a:cs typeface="Calibri"/>
              </a:rPr>
              <a:t>16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15571" y="4196939"/>
            <a:ext cx="6261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6C3EDF"/>
                </a:solidFill>
                <a:latin typeface="Calibri"/>
                <a:cs typeface="Calibri"/>
              </a:rPr>
              <a:t>18–</a:t>
            </a:r>
            <a:r>
              <a:rPr sz="1850" b="1" spc="-25" dirty="0">
                <a:solidFill>
                  <a:srgbClr val="6C3EDF"/>
                </a:solidFill>
                <a:latin typeface="Calibri"/>
                <a:cs typeface="Calibri"/>
              </a:rPr>
              <a:t>20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15571" y="4687380"/>
            <a:ext cx="6261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6C3EDF"/>
                </a:solidFill>
                <a:latin typeface="Calibri"/>
                <a:cs typeface="Calibri"/>
              </a:rPr>
              <a:t>22–</a:t>
            </a:r>
            <a:r>
              <a:rPr sz="1850" b="1" spc="-25" dirty="0">
                <a:solidFill>
                  <a:srgbClr val="6C3EDF"/>
                </a:solidFill>
                <a:latin typeface="Calibri"/>
                <a:cs typeface="Calibri"/>
              </a:rPr>
              <a:t>24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5571" y="5177821"/>
            <a:ext cx="6261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6C3EDF"/>
                </a:solidFill>
                <a:latin typeface="Calibri"/>
                <a:cs typeface="Calibri"/>
              </a:rPr>
              <a:t>25–</a:t>
            </a:r>
            <a:r>
              <a:rPr sz="1850" b="1" spc="-25" dirty="0">
                <a:solidFill>
                  <a:srgbClr val="6C3EDF"/>
                </a:solidFill>
                <a:latin typeface="Calibri"/>
                <a:cs typeface="Calibri"/>
              </a:rPr>
              <a:t>26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380" y="1182750"/>
            <a:ext cx="6099810" cy="546227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843280">
              <a:lnSpc>
                <a:spcPct val="100000"/>
              </a:lnSpc>
              <a:spcBef>
                <a:spcPts val="121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Topic</a:t>
            </a:r>
            <a:endParaRPr sz="1850">
              <a:latin typeface="Calibri"/>
              <a:cs typeface="Calibri"/>
            </a:endParaRPr>
          </a:p>
          <a:p>
            <a:pPr marL="1548130" indent="-705485">
              <a:lnSpc>
                <a:spcPct val="100000"/>
              </a:lnSpc>
              <a:spcBef>
                <a:spcPts val="1115"/>
              </a:spcBef>
              <a:buClr>
                <a:srgbClr val="FF7045"/>
              </a:buClr>
              <a:buFont typeface="Trebuchet MS"/>
              <a:buAutoNum type="arabicPeriod"/>
              <a:tabLst>
                <a:tab pos="1548130" algn="l"/>
              </a:tabLst>
            </a:pP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Introduction</a:t>
            </a:r>
            <a:endParaRPr sz="1850">
              <a:latin typeface="Calibri"/>
              <a:cs typeface="Calibri"/>
            </a:endParaRPr>
          </a:p>
          <a:p>
            <a:pPr marL="1548130" indent="-704850">
              <a:lnSpc>
                <a:spcPct val="100000"/>
              </a:lnSpc>
              <a:spcBef>
                <a:spcPts val="1639"/>
              </a:spcBef>
              <a:buClr>
                <a:srgbClr val="FF7045"/>
              </a:buClr>
              <a:buFont typeface="Trebuchet MS"/>
              <a:buAutoNum type="arabicPeriod"/>
              <a:tabLst>
                <a:tab pos="1548130" algn="l"/>
              </a:tabLst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Importance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real-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life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use</a:t>
            </a:r>
            <a:endParaRPr sz="1850">
              <a:latin typeface="Calibri"/>
              <a:cs typeface="Calibri"/>
            </a:endParaRPr>
          </a:p>
          <a:p>
            <a:pPr marL="843280" marR="929640" indent="704850">
              <a:lnSpc>
                <a:spcPts val="3860"/>
              </a:lnSpc>
              <a:spcBef>
                <a:spcPts val="405"/>
              </a:spcBef>
              <a:buClr>
                <a:srgbClr val="FF7045"/>
              </a:buClr>
              <a:buFont typeface="Trebuchet MS"/>
              <a:buAutoNum type="arabicPeriod"/>
              <a:tabLst>
                <a:tab pos="1548130" algn="l"/>
              </a:tabLst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Valid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arguments</a:t>
            </a:r>
            <a:r>
              <a:rPr sz="1850" spc="-6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propositional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logic </a:t>
            </a:r>
            <a:r>
              <a:rPr sz="1850" b="1" spc="-25" dirty="0">
                <a:solidFill>
                  <a:srgbClr val="FF7045"/>
                </a:solidFill>
                <a:latin typeface="Trebuchet MS"/>
                <a:cs typeface="Trebuchet MS"/>
              </a:rPr>
              <a:t>04</a:t>
            </a:r>
            <a:r>
              <a:rPr sz="1850" b="1" dirty="0">
                <a:solidFill>
                  <a:srgbClr val="FF7045"/>
                </a:solidFill>
                <a:latin typeface="Trebuchet MS"/>
                <a:cs typeface="Trebuchet MS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8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inference,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by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one </a:t>
            </a:r>
            <a:r>
              <a:rPr sz="1850" b="1" spc="-25" dirty="0">
                <a:solidFill>
                  <a:srgbClr val="FF7045"/>
                </a:solidFill>
                <a:latin typeface="Trebuchet MS"/>
                <a:cs typeface="Trebuchet MS"/>
              </a:rPr>
              <a:t>05</a:t>
            </a:r>
            <a:r>
              <a:rPr sz="1850" b="1" dirty="0">
                <a:solidFill>
                  <a:srgbClr val="FF7045"/>
                </a:solidFill>
                <a:latin typeface="Trebuchet MS"/>
                <a:cs typeface="Trebuchet MS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Building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arguments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(Example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6)</a:t>
            </a:r>
            <a:endParaRPr sz="1850">
              <a:latin typeface="Calibri"/>
              <a:cs typeface="Calibri"/>
            </a:endParaRPr>
          </a:p>
          <a:p>
            <a:pPr marL="1548130" indent="-704850">
              <a:lnSpc>
                <a:spcPct val="100000"/>
              </a:lnSpc>
              <a:spcBef>
                <a:spcPts val="1245"/>
              </a:spcBef>
              <a:buClr>
                <a:srgbClr val="FF7045"/>
              </a:buClr>
              <a:buFont typeface="Trebuchet MS"/>
              <a:buAutoNum type="arabicPeriod" startAt="6"/>
              <a:tabLst>
                <a:tab pos="1548130" algn="l"/>
              </a:tabLst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Fallacies: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concept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+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Example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10</a:t>
            </a:r>
            <a:endParaRPr sz="1850">
              <a:latin typeface="Calibri"/>
              <a:cs typeface="Calibri"/>
            </a:endParaRPr>
          </a:p>
          <a:p>
            <a:pPr marL="1548130" indent="-704850">
              <a:lnSpc>
                <a:spcPct val="100000"/>
              </a:lnSpc>
              <a:spcBef>
                <a:spcPts val="1639"/>
              </a:spcBef>
              <a:buClr>
                <a:srgbClr val="FF7045"/>
              </a:buClr>
              <a:buFont typeface="Trebuchet MS"/>
              <a:buAutoNum type="arabicPeriod" startAt="6"/>
              <a:tabLst>
                <a:tab pos="1548130" algn="l"/>
              </a:tabLst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Quantified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rules: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overview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+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details</a:t>
            </a:r>
            <a:endParaRPr sz="1850">
              <a:latin typeface="Calibri"/>
              <a:cs typeface="Calibri"/>
            </a:endParaRPr>
          </a:p>
          <a:p>
            <a:pPr marL="1548130" indent="-704850">
              <a:lnSpc>
                <a:spcPct val="100000"/>
              </a:lnSpc>
              <a:spcBef>
                <a:spcPts val="1645"/>
              </a:spcBef>
              <a:buClr>
                <a:srgbClr val="FF7045"/>
              </a:buClr>
              <a:buFont typeface="Trebuchet MS"/>
              <a:buAutoNum type="arabicPeriod" startAt="6"/>
              <a:tabLst>
                <a:tab pos="1548130" algn="l"/>
              </a:tabLst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Quantified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examples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+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universal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ponens</a:t>
            </a:r>
            <a:endParaRPr sz="1850">
              <a:latin typeface="Calibri"/>
              <a:cs typeface="Calibri"/>
            </a:endParaRPr>
          </a:p>
          <a:p>
            <a:pPr marL="1548130" indent="-704850">
              <a:lnSpc>
                <a:spcPct val="100000"/>
              </a:lnSpc>
              <a:spcBef>
                <a:spcPts val="1639"/>
              </a:spcBef>
              <a:buClr>
                <a:srgbClr val="FF7045"/>
              </a:buClr>
              <a:buFont typeface="Trebuchet MS"/>
              <a:buAutoNum type="arabicPeriod" startAt="6"/>
              <a:tabLst>
                <a:tab pos="1548130" algn="l"/>
              </a:tabLst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Summary and</a:t>
            </a:r>
            <a:r>
              <a:rPr sz="1850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conclusion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Rules</a:t>
            </a:r>
            <a:r>
              <a:rPr sz="1600" spc="-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of</a:t>
            </a:r>
            <a:r>
              <a:rPr sz="160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Inference</a:t>
            </a:r>
            <a:r>
              <a:rPr sz="1600" spc="3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|</a:t>
            </a:r>
            <a:r>
              <a:rPr sz="1600" spc="3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6B6890"/>
                </a:solidFill>
                <a:latin typeface="Calibri"/>
                <a:cs typeface="Calibri"/>
              </a:rPr>
              <a:t>Discrete</a:t>
            </a:r>
            <a:r>
              <a:rPr sz="1600" spc="-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Mathematics</a:t>
            </a:r>
            <a:r>
              <a:rPr sz="1600" spc="28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|</a:t>
            </a:r>
            <a:r>
              <a:rPr sz="1600" spc="3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B6890"/>
                </a:solidFill>
                <a:latin typeface="Calibri"/>
                <a:cs typeface="Calibri"/>
              </a:rPr>
              <a:t>CSE,</a:t>
            </a:r>
            <a:r>
              <a:rPr sz="1600" spc="-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6B6890"/>
                </a:solidFill>
                <a:latin typeface="Calibri"/>
                <a:cs typeface="Calibri"/>
              </a:rPr>
              <a:t>DIU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75277" y="5668261"/>
            <a:ext cx="2667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C3EDF"/>
                </a:solidFill>
                <a:latin typeface="Calibri"/>
                <a:cs typeface="Calibri"/>
              </a:rPr>
              <a:t>27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56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65255"/>
            <a:ext cx="5556885" cy="4947285"/>
            <a:chOff x="633730" y="1365255"/>
            <a:chExt cx="5556885" cy="4947285"/>
          </a:xfrm>
        </p:grpSpPr>
        <p:sp>
          <p:nvSpPr>
            <p:cNvPr id="4" name="object 4"/>
            <p:cNvSpPr/>
            <p:nvPr/>
          </p:nvSpPr>
          <p:spPr>
            <a:xfrm>
              <a:off x="704088" y="1435613"/>
              <a:ext cx="5486400" cy="4876800"/>
            </a:xfrm>
            <a:custGeom>
              <a:avLst/>
              <a:gdLst/>
              <a:ahLst/>
              <a:cxnLst/>
              <a:rect l="l" t="t" r="r" b="b"/>
              <a:pathLst>
                <a:path w="5486400" h="4876800">
                  <a:moveTo>
                    <a:pt x="5371655" y="0"/>
                  </a:moveTo>
                  <a:lnTo>
                    <a:pt x="114744" y="0"/>
                  </a:lnTo>
                  <a:lnTo>
                    <a:pt x="70080" y="9017"/>
                  </a:lnTo>
                  <a:lnTo>
                    <a:pt x="33607" y="33607"/>
                  </a:lnTo>
                  <a:lnTo>
                    <a:pt x="9017" y="70080"/>
                  </a:lnTo>
                  <a:lnTo>
                    <a:pt x="0" y="114744"/>
                  </a:lnTo>
                  <a:lnTo>
                    <a:pt x="0" y="4762042"/>
                  </a:lnTo>
                  <a:lnTo>
                    <a:pt x="9016" y="4806709"/>
                  </a:lnTo>
                  <a:lnTo>
                    <a:pt x="33607" y="4843186"/>
                  </a:lnTo>
                  <a:lnTo>
                    <a:pt x="70080" y="4867781"/>
                  </a:lnTo>
                  <a:lnTo>
                    <a:pt x="114744" y="4876800"/>
                  </a:lnTo>
                  <a:lnTo>
                    <a:pt x="5371655" y="4876800"/>
                  </a:lnTo>
                  <a:lnTo>
                    <a:pt x="5416319" y="4867781"/>
                  </a:lnTo>
                  <a:lnTo>
                    <a:pt x="5452792" y="4843186"/>
                  </a:lnTo>
                  <a:lnTo>
                    <a:pt x="5477383" y="4806709"/>
                  </a:lnTo>
                  <a:lnTo>
                    <a:pt x="5486400" y="4762042"/>
                  </a:lnTo>
                  <a:lnTo>
                    <a:pt x="5486400" y="114744"/>
                  </a:lnTo>
                  <a:lnTo>
                    <a:pt x="5477383" y="70080"/>
                  </a:lnTo>
                  <a:lnTo>
                    <a:pt x="5452792" y="33607"/>
                  </a:lnTo>
                  <a:lnTo>
                    <a:pt x="5416319" y="9017"/>
                  </a:lnTo>
                  <a:lnTo>
                    <a:pt x="5371655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71605"/>
              <a:ext cx="5486400" cy="4876800"/>
            </a:xfrm>
            <a:custGeom>
              <a:avLst/>
              <a:gdLst/>
              <a:ahLst/>
              <a:cxnLst/>
              <a:rect l="l" t="t" r="r" b="b"/>
              <a:pathLst>
                <a:path w="5486400" h="4876800">
                  <a:moveTo>
                    <a:pt x="5371655" y="0"/>
                  </a:moveTo>
                  <a:lnTo>
                    <a:pt x="114744" y="0"/>
                  </a:lnTo>
                  <a:lnTo>
                    <a:pt x="70080" y="9017"/>
                  </a:lnTo>
                  <a:lnTo>
                    <a:pt x="33607" y="33607"/>
                  </a:lnTo>
                  <a:lnTo>
                    <a:pt x="9017" y="70080"/>
                  </a:lnTo>
                  <a:lnTo>
                    <a:pt x="0" y="114744"/>
                  </a:lnTo>
                  <a:lnTo>
                    <a:pt x="0" y="4762042"/>
                  </a:lnTo>
                  <a:lnTo>
                    <a:pt x="9016" y="4806709"/>
                  </a:lnTo>
                  <a:lnTo>
                    <a:pt x="33607" y="4843186"/>
                  </a:lnTo>
                  <a:lnTo>
                    <a:pt x="70080" y="4867781"/>
                  </a:lnTo>
                  <a:lnTo>
                    <a:pt x="114744" y="4876800"/>
                  </a:lnTo>
                  <a:lnTo>
                    <a:pt x="5371655" y="4876800"/>
                  </a:lnTo>
                  <a:lnTo>
                    <a:pt x="5416319" y="4867781"/>
                  </a:lnTo>
                  <a:lnTo>
                    <a:pt x="5452792" y="4843186"/>
                  </a:lnTo>
                  <a:lnTo>
                    <a:pt x="5477383" y="4806709"/>
                  </a:lnTo>
                  <a:lnTo>
                    <a:pt x="5486400" y="4762042"/>
                  </a:lnTo>
                  <a:lnTo>
                    <a:pt x="5486400" y="114744"/>
                  </a:lnTo>
                  <a:lnTo>
                    <a:pt x="5477383" y="70080"/>
                  </a:lnTo>
                  <a:lnTo>
                    <a:pt x="5452792" y="33607"/>
                  </a:lnTo>
                  <a:lnTo>
                    <a:pt x="5416319" y="9017"/>
                  </a:lnTo>
                  <a:lnTo>
                    <a:pt x="5371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71605"/>
              <a:ext cx="5486400" cy="4876800"/>
            </a:xfrm>
            <a:custGeom>
              <a:avLst/>
              <a:gdLst/>
              <a:ahLst/>
              <a:cxnLst/>
              <a:rect l="l" t="t" r="r" b="b"/>
              <a:pathLst>
                <a:path w="5486400" h="4876800">
                  <a:moveTo>
                    <a:pt x="0" y="114744"/>
                  </a:moveTo>
                  <a:lnTo>
                    <a:pt x="9017" y="70080"/>
                  </a:lnTo>
                  <a:lnTo>
                    <a:pt x="33607" y="33607"/>
                  </a:lnTo>
                  <a:lnTo>
                    <a:pt x="70080" y="9017"/>
                  </a:lnTo>
                  <a:lnTo>
                    <a:pt x="114744" y="0"/>
                  </a:lnTo>
                  <a:lnTo>
                    <a:pt x="5371655" y="0"/>
                  </a:lnTo>
                  <a:lnTo>
                    <a:pt x="5416319" y="9017"/>
                  </a:lnTo>
                  <a:lnTo>
                    <a:pt x="5452792" y="33607"/>
                  </a:lnTo>
                  <a:lnTo>
                    <a:pt x="5477383" y="70080"/>
                  </a:lnTo>
                  <a:lnTo>
                    <a:pt x="5486400" y="114744"/>
                  </a:lnTo>
                  <a:lnTo>
                    <a:pt x="5486400" y="4762042"/>
                  </a:lnTo>
                  <a:lnTo>
                    <a:pt x="5477383" y="4806709"/>
                  </a:lnTo>
                  <a:lnTo>
                    <a:pt x="5452792" y="4843186"/>
                  </a:lnTo>
                  <a:lnTo>
                    <a:pt x="5416319" y="4867781"/>
                  </a:lnTo>
                  <a:lnTo>
                    <a:pt x="5371655" y="4876800"/>
                  </a:lnTo>
                  <a:lnTo>
                    <a:pt x="114744" y="4876800"/>
                  </a:lnTo>
                  <a:lnTo>
                    <a:pt x="70080" y="4867781"/>
                  </a:lnTo>
                  <a:lnTo>
                    <a:pt x="33607" y="4843186"/>
                  </a:lnTo>
                  <a:lnTo>
                    <a:pt x="9016" y="4806709"/>
                  </a:lnTo>
                  <a:lnTo>
                    <a:pt x="0" y="4762042"/>
                  </a:lnTo>
                  <a:lnTo>
                    <a:pt x="0" y="114744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1481330"/>
              <a:ext cx="5267325" cy="457200"/>
            </a:xfrm>
            <a:custGeom>
              <a:avLst/>
              <a:gdLst/>
              <a:ahLst/>
              <a:cxnLst/>
              <a:rect l="l" t="t" r="r" b="b"/>
              <a:pathLst>
                <a:path w="5267325" h="457200">
                  <a:moveTo>
                    <a:pt x="522122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221224" y="457200"/>
                  </a:lnTo>
                  <a:lnTo>
                    <a:pt x="5263350" y="429275"/>
                  </a:lnTo>
                  <a:lnTo>
                    <a:pt x="5266956" y="45720"/>
                  </a:lnTo>
                  <a:lnTo>
                    <a:pt x="5263363" y="27924"/>
                  </a:lnTo>
                  <a:lnTo>
                    <a:pt x="5253562" y="13392"/>
                  </a:lnTo>
                  <a:lnTo>
                    <a:pt x="5239026" y="3593"/>
                  </a:lnTo>
                  <a:lnTo>
                    <a:pt x="522122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" y="1481330"/>
              <a:ext cx="5267325" cy="457200"/>
            </a:xfrm>
            <a:custGeom>
              <a:avLst/>
              <a:gdLst/>
              <a:ahLst/>
              <a:cxnLst/>
              <a:rect l="l" t="t" r="r" b="b"/>
              <a:pathLst>
                <a:path w="526732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221224" y="0"/>
                  </a:lnTo>
                  <a:lnTo>
                    <a:pt x="5239026" y="3593"/>
                  </a:lnTo>
                  <a:lnTo>
                    <a:pt x="5253562" y="13392"/>
                  </a:lnTo>
                  <a:lnTo>
                    <a:pt x="5263363" y="27924"/>
                  </a:lnTo>
                  <a:lnTo>
                    <a:pt x="5266956" y="45720"/>
                  </a:lnTo>
                  <a:lnTo>
                    <a:pt x="5266944" y="411480"/>
                  </a:lnTo>
                  <a:lnTo>
                    <a:pt x="5263350" y="429275"/>
                  </a:lnTo>
                  <a:lnTo>
                    <a:pt x="5253551" y="443807"/>
                  </a:lnTo>
                  <a:lnTo>
                    <a:pt x="5239019" y="453606"/>
                  </a:lnTo>
                  <a:lnTo>
                    <a:pt x="522122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954" y="1539716"/>
            <a:ext cx="52508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100" dirty="0">
                <a:solidFill>
                  <a:srgbClr val="2D2A5E"/>
                </a:solidFill>
                <a:latin typeface="Trebuchet MS"/>
                <a:cs typeface="Trebuchet MS"/>
              </a:rPr>
              <a:t>What</a:t>
            </a:r>
            <a:r>
              <a:rPr sz="1850" b="1" spc="-4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are</a:t>
            </a:r>
            <a:r>
              <a:rPr sz="1850" b="1" spc="-4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rules</a:t>
            </a:r>
            <a:r>
              <a:rPr sz="1850" b="1" spc="-3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of</a:t>
            </a:r>
            <a:r>
              <a:rPr sz="1850" b="1" spc="-3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inference?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80" y="2026412"/>
            <a:ext cx="4657725" cy="132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210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of</a:t>
            </a:r>
            <a:r>
              <a:rPr sz="2100" spc="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inference</a:t>
            </a:r>
            <a:r>
              <a:rPr sz="2100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are</a:t>
            </a:r>
            <a:r>
              <a:rPr sz="210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reliable</a:t>
            </a:r>
            <a:r>
              <a:rPr sz="210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patterns</a:t>
            </a:r>
            <a:r>
              <a:rPr sz="210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D2A5E"/>
                </a:solidFill>
                <a:latin typeface="Calibri"/>
                <a:cs typeface="Calibri"/>
              </a:rPr>
              <a:t>for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deriving</a:t>
            </a:r>
            <a:r>
              <a:rPr sz="2100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2100" spc="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conclusion</a:t>
            </a:r>
            <a:r>
              <a:rPr sz="2100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from</a:t>
            </a:r>
            <a:r>
              <a:rPr sz="2100" spc="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premises.</a:t>
            </a:r>
            <a:r>
              <a:rPr sz="2100" spc="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D2A5E"/>
                </a:solidFill>
                <a:latin typeface="Calibri"/>
                <a:cs typeface="Calibri"/>
              </a:rPr>
              <a:t>For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example,</a:t>
            </a:r>
            <a:r>
              <a:rPr sz="210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2100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2100" spc="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→</a:t>
            </a:r>
            <a:r>
              <a:rPr sz="210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2100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2100" spc="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2100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are</a:t>
            </a:r>
            <a:r>
              <a:rPr sz="2100" spc="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true,</a:t>
            </a:r>
            <a:r>
              <a:rPr sz="210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2100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D2A5E"/>
                </a:solidFill>
                <a:latin typeface="Calibri"/>
                <a:cs typeface="Calibri"/>
              </a:rPr>
              <a:t>may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conclude</a:t>
            </a:r>
            <a:r>
              <a:rPr sz="2100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2100" spc="7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(modus</a:t>
            </a:r>
            <a:r>
              <a:rPr sz="2100" spc="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D2A5E"/>
                </a:solidFill>
                <a:latin typeface="Calibri"/>
                <a:cs typeface="Calibri"/>
              </a:rPr>
              <a:t>ponens).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48729" y="1365244"/>
            <a:ext cx="5282565" cy="4947285"/>
            <a:chOff x="6348729" y="1365244"/>
            <a:chExt cx="5282565" cy="4947285"/>
          </a:xfrm>
        </p:grpSpPr>
        <p:sp>
          <p:nvSpPr>
            <p:cNvPr id="12" name="object 12"/>
            <p:cNvSpPr/>
            <p:nvPr/>
          </p:nvSpPr>
          <p:spPr>
            <a:xfrm>
              <a:off x="6419087" y="1435604"/>
              <a:ext cx="5212080" cy="4876800"/>
            </a:xfrm>
            <a:custGeom>
              <a:avLst/>
              <a:gdLst/>
              <a:ahLst/>
              <a:cxnLst/>
              <a:rect l="l" t="t" r="r" b="b"/>
              <a:pathLst>
                <a:path w="5212080" h="4876800">
                  <a:moveTo>
                    <a:pt x="5097322" y="0"/>
                  </a:moveTo>
                  <a:lnTo>
                    <a:pt x="114757" y="0"/>
                  </a:lnTo>
                  <a:lnTo>
                    <a:pt x="70085" y="9018"/>
                  </a:lnTo>
                  <a:lnTo>
                    <a:pt x="33608" y="33613"/>
                  </a:lnTo>
                  <a:lnTo>
                    <a:pt x="9017" y="70090"/>
                  </a:lnTo>
                  <a:lnTo>
                    <a:pt x="0" y="114757"/>
                  </a:lnTo>
                  <a:lnTo>
                    <a:pt x="0" y="4762055"/>
                  </a:lnTo>
                  <a:lnTo>
                    <a:pt x="9017" y="4806719"/>
                  </a:lnTo>
                  <a:lnTo>
                    <a:pt x="33608" y="4843192"/>
                  </a:lnTo>
                  <a:lnTo>
                    <a:pt x="70085" y="4867783"/>
                  </a:lnTo>
                  <a:lnTo>
                    <a:pt x="114757" y="4876800"/>
                  </a:lnTo>
                  <a:lnTo>
                    <a:pt x="5097322" y="4876800"/>
                  </a:lnTo>
                  <a:lnTo>
                    <a:pt x="5141994" y="4867783"/>
                  </a:lnTo>
                  <a:lnTo>
                    <a:pt x="5178471" y="4843192"/>
                  </a:lnTo>
                  <a:lnTo>
                    <a:pt x="5203062" y="4806719"/>
                  </a:lnTo>
                  <a:lnTo>
                    <a:pt x="5212080" y="4762055"/>
                  </a:lnTo>
                  <a:lnTo>
                    <a:pt x="5212080" y="114757"/>
                  </a:lnTo>
                  <a:lnTo>
                    <a:pt x="5203062" y="70090"/>
                  </a:lnTo>
                  <a:lnTo>
                    <a:pt x="5178471" y="33613"/>
                  </a:lnTo>
                  <a:lnTo>
                    <a:pt x="5141994" y="9018"/>
                  </a:lnTo>
                  <a:lnTo>
                    <a:pt x="5097322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55079" y="1371594"/>
              <a:ext cx="5212080" cy="4876800"/>
            </a:xfrm>
            <a:custGeom>
              <a:avLst/>
              <a:gdLst/>
              <a:ahLst/>
              <a:cxnLst/>
              <a:rect l="l" t="t" r="r" b="b"/>
              <a:pathLst>
                <a:path w="5212080" h="4876800">
                  <a:moveTo>
                    <a:pt x="5097322" y="0"/>
                  </a:moveTo>
                  <a:lnTo>
                    <a:pt x="114757" y="0"/>
                  </a:lnTo>
                  <a:lnTo>
                    <a:pt x="70085" y="9018"/>
                  </a:lnTo>
                  <a:lnTo>
                    <a:pt x="33608" y="33613"/>
                  </a:lnTo>
                  <a:lnTo>
                    <a:pt x="9017" y="70090"/>
                  </a:lnTo>
                  <a:lnTo>
                    <a:pt x="0" y="114757"/>
                  </a:lnTo>
                  <a:lnTo>
                    <a:pt x="0" y="4762055"/>
                  </a:lnTo>
                  <a:lnTo>
                    <a:pt x="9017" y="4806719"/>
                  </a:lnTo>
                  <a:lnTo>
                    <a:pt x="33608" y="4843192"/>
                  </a:lnTo>
                  <a:lnTo>
                    <a:pt x="70085" y="4867783"/>
                  </a:lnTo>
                  <a:lnTo>
                    <a:pt x="114757" y="4876800"/>
                  </a:lnTo>
                  <a:lnTo>
                    <a:pt x="5097322" y="4876800"/>
                  </a:lnTo>
                  <a:lnTo>
                    <a:pt x="5141994" y="4867783"/>
                  </a:lnTo>
                  <a:lnTo>
                    <a:pt x="5178471" y="4843192"/>
                  </a:lnTo>
                  <a:lnTo>
                    <a:pt x="5203062" y="4806719"/>
                  </a:lnTo>
                  <a:lnTo>
                    <a:pt x="5212080" y="4762055"/>
                  </a:lnTo>
                  <a:lnTo>
                    <a:pt x="5212080" y="114757"/>
                  </a:lnTo>
                  <a:lnTo>
                    <a:pt x="5203062" y="70090"/>
                  </a:lnTo>
                  <a:lnTo>
                    <a:pt x="5178471" y="33613"/>
                  </a:lnTo>
                  <a:lnTo>
                    <a:pt x="5141994" y="9018"/>
                  </a:lnTo>
                  <a:lnTo>
                    <a:pt x="5097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55079" y="1371594"/>
              <a:ext cx="5212080" cy="4876800"/>
            </a:xfrm>
            <a:custGeom>
              <a:avLst/>
              <a:gdLst/>
              <a:ahLst/>
              <a:cxnLst/>
              <a:rect l="l" t="t" r="r" b="b"/>
              <a:pathLst>
                <a:path w="5212080" h="4876800">
                  <a:moveTo>
                    <a:pt x="0" y="114757"/>
                  </a:moveTo>
                  <a:lnTo>
                    <a:pt x="9017" y="70090"/>
                  </a:lnTo>
                  <a:lnTo>
                    <a:pt x="33608" y="33613"/>
                  </a:lnTo>
                  <a:lnTo>
                    <a:pt x="70085" y="9018"/>
                  </a:lnTo>
                  <a:lnTo>
                    <a:pt x="114757" y="0"/>
                  </a:lnTo>
                  <a:lnTo>
                    <a:pt x="5097322" y="0"/>
                  </a:lnTo>
                  <a:lnTo>
                    <a:pt x="5141994" y="9018"/>
                  </a:lnTo>
                  <a:lnTo>
                    <a:pt x="5178471" y="33613"/>
                  </a:lnTo>
                  <a:lnTo>
                    <a:pt x="5203062" y="70090"/>
                  </a:lnTo>
                  <a:lnTo>
                    <a:pt x="5212080" y="114757"/>
                  </a:lnTo>
                  <a:lnTo>
                    <a:pt x="5212080" y="4762055"/>
                  </a:lnTo>
                  <a:lnTo>
                    <a:pt x="5203062" y="4806719"/>
                  </a:lnTo>
                  <a:lnTo>
                    <a:pt x="5178471" y="4843192"/>
                  </a:lnTo>
                  <a:lnTo>
                    <a:pt x="5141994" y="4867783"/>
                  </a:lnTo>
                  <a:lnTo>
                    <a:pt x="5097322" y="4876800"/>
                  </a:lnTo>
                  <a:lnTo>
                    <a:pt x="114757" y="4876800"/>
                  </a:lnTo>
                  <a:lnTo>
                    <a:pt x="70085" y="4867783"/>
                  </a:lnTo>
                  <a:lnTo>
                    <a:pt x="33608" y="4843192"/>
                  </a:lnTo>
                  <a:lnTo>
                    <a:pt x="9017" y="4806719"/>
                  </a:lnTo>
                  <a:lnTo>
                    <a:pt x="0" y="4762055"/>
                  </a:lnTo>
                  <a:lnTo>
                    <a:pt x="0" y="114757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64807" y="1481330"/>
              <a:ext cx="4993005" cy="457200"/>
            </a:xfrm>
            <a:custGeom>
              <a:avLst/>
              <a:gdLst/>
              <a:ahLst/>
              <a:cxnLst/>
              <a:rect l="l" t="t" r="r" b="b"/>
              <a:pathLst>
                <a:path w="4993005" h="457200">
                  <a:moveTo>
                    <a:pt x="49469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946904" y="457200"/>
                  </a:lnTo>
                  <a:lnTo>
                    <a:pt x="4964699" y="453606"/>
                  </a:lnTo>
                  <a:lnTo>
                    <a:pt x="4979231" y="443807"/>
                  </a:lnTo>
                  <a:lnTo>
                    <a:pt x="4989030" y="429275"/>
                  </a:lnTo>
                  <a:lnTo>
                    <a:pt x="4992624" y="411480"/>
                  </a:lnTo>
                  <a:lnTo>
                    <a:pt x="4992624" y="45720"/>
                  </a:lnTo>
                  <a:lnTo>
                    <a:pt x="4989030" y="27924"/>
                  </a:lnTo>
                  <a:lnTo>
                    <a:pt x="4979231" y="13392"/>
                  </a:lnTo>
                  <a:lnTo>
                    <a:pt x="4964699" y="3593"/>
                  </a:lnTo>
                  <a:lnTo>
                    <a:pt x="494690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64807" y="1481329"/>
              <a:ext cx="4993005" cy="457200"/>
            </a:xfrm>
            <a:custGeom>
              <a:avLst/>
              <a:gdLst/>
              <a:ahLst/>
              <a:cxnLst/>
              <a:rect l="l" t="t" r="r" b="b"/>
              <a:pathLst>
                <a:path w="499300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946904" y="0"/>
                  </a:lnTo>
                  <a:lnTo>
                    <a:pt x="4964699" y="3593"/>
                  </a:lnTo>
                  <a:lnTo>
                    <a:pt x="4979231" y="13392"/>
                  </a:lnTo>
                  <a:lnTo>
                    <a:pt x="4989030" y="27924"/>
                  </a:lnTo>
                  <a:lnTo>
                    <a:pt x="4992624" y="45720"/>
                  </a:lnTo>
                  <a:lnTo>
                    <a:pt x="4992624" y="411480"/>
                  </a:lnTo>
                  <a:lnTo>
                    <a:pt x="4989030" y="429275"/>
                  </a:lnTo>
                  <a:lnTo>
                    <a:pt x="4979231" y="443807"/>
                  </a:lnTo>
                  <a:lnTo>
                    <a:pt x="4964699" y="453606"/>
                  </a:lnTo>
                  <a:lnTo>
                    <a:pt x="49469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72954" y="1539716"/>
            <a:ext cx="49764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100" dirty="0">
                <a:solidFill>
                  <a:srgbClr val="2D2A5E"/>
                </a:solidFill>
                <a:latin typeface="Trebuchet MS"/>
                <a:cs typeface="Trebuchet MS"/>
              </a:rPr>
              <a:t>What</a:t>
            </a:r>
            <a:r>
              <a:rPr sz="1850" b="1" spc="-114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you’ll</a:t>
            </a:r>
            <a:r>
              <a:rPr sz="1850" b="1" spc="-11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learn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83680" y="2194051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448" y="0"/>
                </a:moveTo>
                <a:lnTo>
                  <a:pt x="106314" y="7924"/>
                </a:lnTo>
                <a:lnTo>
                  <a:pt x="63642" y="29992"/>
                </a:lnTo>
                <a:lnTo>
                  <a:pt x="29992" y="63642"/>
                </a:lnTo>
                <a:lnTo>
                  <a:pt x="7924" y="106314"/>
                </a:lnTo>
                <a:lnTo>
                  <a:pt x="0" y="155448"/>
                </a:lnTo>
                <a:lnTo>
                  <a:pt x="7924" y="204581"/>
                </a:lnTo>
                <a:lnTo>
                  <a:pt x="29992" y="247253"/>
                </a:lnTo>
                <a:lnTo>
                  <a:pt x="63642" y="280903"/>
                </a:lnTo>
                <a:lnTo>
                  <a:pt x="106314" y="302971"/>
                </a:lnTo>
                <a:lnTo>
                  <a:pt x="155448" y="310896"/>
                </a:lnTo>
                <a:lnTo>
                  <a:pt x="204581" y="302971"/>
                </a:lnTo>
                <a:lnTo>
                  <a:pt x="247253" y="280903"/>
                </a:lnTo>
                <a:lnTo>
                  <a:pt x="280903" y="247253"/>
                </a:lnTo>
                <a:lnTo>
                  <a:pt x="302971" y="204581"/>
                </a:lnTo>
                <a:lnTo>
                  <a:pt x="310896" y="155448"/>
                </a:lnTo>
                <a:lnTo>
                  <a:pt x="302971" y="106314"/>
                </a:lnTo>
                <a:lnTo>
                  <a:pt x="280903" y="63642"/>
                </a:lnTo>
                <a:lnTo>
                  <a:pt x="247253" y="29992"/>
                </a:lnTo>
                <a:lnTo>
                  <a:pt x="204581" y="7924"/>
                </a:lnTo>
                <a:lnTo>
                  <a:pt x="155448" y="0"/>
                </a:lnTo>
                <a:close/>
              </a:path>
            </a:pathLst>
          </a:custGeom>
          <a:solidFill>
            <a:srgbClr val="9B6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66166" y="2179288"/>
            <a:ext cx="1460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28250" y="2100595"/>
            <a:ext cx="296481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Apply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eight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propositional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rules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derive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valid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conclusions.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83680" y="3044951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448" y="0"/>
                </a:moveTo>
                <a:lnTo>
                  <a:pt x="106314" y="7924"/>
                </a:lnTo>
                <a:lnTo>
                  <a:pt x="63642" y="29992"/>
                </a:lnTo>
                <a:lnTo>
                  <a:pt x="29992" y="63642"/>
                </a:lnTo>
                <a:lnTo>
                  <a:pt x="7924" y="106314"/>
                </a:lnTo>
                <a:lnTo>
                  <a:pt x="0" y="155448"/>
                </a:lnTo>
                <a:lnTo>
                  <a:pt x="7924" y="204581"/>
                </a:lnTo>
                <a:lnTo>
                  <a:pt x="29992" y="247253"/>
                </a:lnTo>
                <a:lnTo>
                  <a:pt x="63642" y="280903"/>
                </a:lnTo>
                <a:lnTo>
                  <a:pt x="106314" y="302971"/>
                </a:lnTo>
                <a:lnTo>
                  <a:pt x="155448" y="310896"/>
                </a:lnTo>
                <a:lnTo>
                  <a:pt x="204581" y="302971"/>
                </a:lnTo>
                <a:lnTo>
                  <a:pt x="247253" y="280903"/>
                </a:lnTo>
                <a:lnTo>
                  <a:pt x="280903" y="247253"/>
                </a:lnTo>
                <a:lnTo>
                  <a:pt x="302971" y="204581"/>
                </a:lnTo>
                <a:lnTo>
                  <a:pt x="310896" y="155448"/>
                </a:lnTo>
                <a:lnTo>
                  <a:pt x="302971" y="106314"/>
                </a:lnTo>
                <a:lnTo>
                  <a:pt x="280903" y="63642"/>
                </a:lnTo>
                <a:lnTo>
                  <a:pt x="247253" y="29992"/>
                </a:lnTo>
                <a:lnTo>
                  <a:pt x="204581" y="7924"/>
                </a:lnTo>
                <a:lnTo>
                  <a:pt x="155448" y="0"/>
                </a:lnTo>
                <a:close/>
              </a:path>
            </a:pathLst>
          </a:custGeom>
          <a:solidFill>
            <a:srgbClr val="E463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66166" y="3030188"/>
            <a:ext cx="1460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28250" y="2951495"/>
            <a:ext cx="288480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Build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proof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step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by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step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and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justify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each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line.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83680" y="389585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448" y="0"/>
                </a:moveTo>
                <a:lnTo>
                  <a:pt x="106314" y="7924"/>
                </a:lnTo>
                <a:lnTo>
                  <a:pt x="63642" y="29992"/>
                </a:lnTo>
                <a:lnTo>
                  <a:pt x="29992" y="63642"/>
                </a:lnTo>
                <a:lnTo>
                  <a:pt x="7924" y="106314"/>
                </a:lnTo>
                <a:lnTo>
                  <a:pt x="0" y="155448"/>
                </a:lnTo>
                <a:lnTo>
                  <a:pt x="7924" y="204581"/>
                </a:lnTo>
                <a:lnTo>
                  <a:pt x="29992" y="247253"/>
                </a:lnTo>
                <a:lnTo>
                  <a:pt x="63642" y="280903"/>
                </a:lnTo>
                <a:lnTo>
                  <a:pt x="106314" y="302971"/>
                </a:lnTo>
                <a:lnTo>
                  <a:pt x="155448" y="310896"/>
                </a:lnTo>
                <a:lnTo>
                  <a:pt x="204581" y="302971"/>
                </a:lnTo>
                <a:lnTo>
                  <a:pt x="247253" y="280903"/>
                </a:lnTo>
                <a:lnTo>
                  <a:pt x="280903" y="247253"/>
                </a:lnTo>
                <a:lnTo>
                  <a:pt x="302971" y="204581"/>
                </a:lnTo>
                <a:lnTo>
                  <a:pt x="310896" y="155448"/>
                </a:lnTo>
                <a:lnTo>
                  <a:pt x="302971" y="106314"/>
                </a:lnTo>
                <a:lnTo>
                  <a:pt x="280903" y="63642"/>
                </a:lnTo>
                <a:lnTo>
                  <a:pt x="247253" y="29992"/>
                </a:lnTo>
                <a:lnTo>
                  <a:pt x="204581" y="7924"/>
                </a:lnTo>
                <a:lnTo>
                  <a:pt x="155448" y="0"/>
                </a:lnTo>
                <a:close/>
              </a:path>
            </a:pathLst>
          </a:custGeom>
          <a:solidFill>
            <a:srgbClr val="36AD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66166" y="3881088"/>
            <a:ext cx="1460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28250" y="3802395"/>
            <a:ext cx="324802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Recognize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common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fallacies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and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explain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why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their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conclusions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fail.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83680" y="4746752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>
                <a:moveTo>
                  <a:pt x="155448" y="0"/>
                </a:moveTo>
                <a:lnTo>
                  <a:pt x="106314" y="7924"/>
                </a:lnTo>
                <a:lnTo>
                  <a:pt x="63642" y="29992"/>
                </a:lnTo>
                <a:lnTo>
                  <a:pt x="29992" y="63642"/>
                </a:lnTo>
                <a:lnTo>
                  <a:pt x="7924" y="106314"/>
                </a:lnTo>
                <a:lnTo>
                  <a:pt x="0" y="155448"/>
                </a:lnTo>
                <a:lnTo>
                  <a:pt x="7924" y="204581"/>
                </a:lnTo>
                <a:lnTo>
                  <a:pt x="29992" y="247253"/>
                </a:lnTo>
                <a:lnTo>
                  <a:pt x="63642" y="280903"/>
                </a:lnTo>
                <a:lnTo>
                  <a:pt x="106314" y="302971"/>
                </a:lnTo>
                <a:lnTo>
                  <a:pt x="155448" y="310896"/>
                </a:lnTo>
                <a:lnTo>
                  <a:pt x="204581" y="302971"/>
                </a:lnTo>
                <a:lnTo>
                  <a:pt x="247253" y="280903"/>
                </a:lnTo>
                <a:lnTo>
                  <a:pt x="280903" y="247253"/>
                </a:lnTo>
                <a:lnTo>
                  <a:pt x="302971" y="204581"/>
                </a:lnTo>
                <a:lnTo>
                  <a:pt x="310896" y="155448"/>
                </a:lnTo>
                <a:lnTo>
                  <a:pt x="302971" y="106314"/>
                </a:lnTo>
                <a:lnTo>
                  <a:pt x="280903" y="63642"/>
                </a:lnTo>
                <a:lnTo>
                  <a:pt x="247253" y="29992"/>
                </a:lnTo>
                <a:lnTo>
                  <a:pt x="204581" y="7924"/>
                </a:lnTo>
                <a:lnTo>
                  <a:pt x="155448" y="0"/>
                </a:lnTo>
                <a:close/>
              </a:path>
            </a:pathLst>
          </a:custGeom>
          <a:solidFill>
            <a:srgbClr val="DD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666166" y="4731988"/>
            <a:ext cx="1460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28250" y="4653295"/>
            <a:ext cx="3213735" cy="5943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quantifier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“all”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“some,”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combine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them.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66800" y="3912491"/>
            <a:ext cx="1879600" cy="586105"/>
            <a:chOff x="898382" y="3645733"/>
            <a:chExt cx="1879600" cy="586105"/>
          </a:xfrm>
        </p:grpSpPr>
        <p:sp>
          <p:nvSpPr>
            <p:cNvPr id="31" name="object 31"/>
            <p:cNvSpPr/>
            <p:nvPr/>
          </p:nvSpPr>
          <p:spPr>
            <a:xfrm>
              <a:off x="904732" y="3652083"/>
              <a:ext cx="1866900" cy="573405"/>
            </a:xfrm>
            <a:custGeom>
              <a:avLst/>
              <a:gdLst/>
              <a:ahLst/>
              <a:cxnLst/>
              <a:rect l="l" t="t" r="r" b="b"/>
              <a:pathLst>
                <a:path w="1866900" h="573404">
                  <a:moveTo>
                    <a:pt x="1694662" y="0"/>
                  </a:moveTo>
                  <a:lnTo>
                    <a:pt x="171996" y="0"/>
                  </a:lnTo>
                  <a:lnTo>
                    <a:pt x="126275" y="6143"/>
                  </a:lnTo>
                  <a:lnTo>
                    <a:pt x="85189" y="23481"/>
                  </a:lnTo>
                  <a:lnTo>
                    <a:pt x="50379" y="50374"/>
                  </a:lnTo>
                  <a:lnTo>
                    <a:pt x="23484" y="85184"/>
                  </a:lnTo>
                  <a:lnTo>
                    <a:pt x="6144" y="126270"/>
                  </a:lnTo>
                  <a:lnTo>
                    <a:pt x="0" y="171996"/>
                  </a:lnTo>
                  <a:lnTo>
                    <a:pt x="0" y="401332"/>
                  </a:lnTo>
                  <a:lnTo>
                    <a:pt x="6144" y="447057"/>
                  </a:lnTo>
                  <a:lnTo>
                    <a:pt x="23484" y="488144"/>
                  </a:lnTo>
                  <a:lnTo>
                    <a:pt x="50379" y="522954"/>
                  </a:lnTo>
                  <a:lnTo>
                    <a:pt x="85189" y="549847"/>
                  </a:lnTo>
                  <a:lnTo>
                    <a:pt x="126275" y="567185"/>
                  </a:lnTo>
                  <a:lnTo>
                    <a:pt x="171996" y="573328"/>
                  </a:lnTo>
                  <a:lnTo>
                    <a:pt x="1694662" y="573328"/>
                  </a:lnTo>
                  <a:lnTo>
                    <a:pt x="1740388" y="567185"/>
                  </a:lnTo>
                  <a:lnTo>
                    <a:pt x="1781477" y="549847"/>
                  </a:lnTo>
                  <a:lnTo>
                    <a:pt x="1816290" y="522954"/>
                  </a:lnTo>
                  <a:lnTo>
                    <a:pt x="1843186" y="488144"/>
                  </a:lnTo>
                  <a:lnTo>
                    <a:pt x="1860526" y="447057"/>
                  </a:lnTo>
                  <a:lnTo>
                    <a:pt x="1866671" y="401332"/>
                  </a:lnTo>
                  <a:lnTo>
                    <a:pt x="1866671" y="171996"/>
                  </a:lnTo>
                  <a:lnTo>
                    <a:pt x="1860526" y="126270"/>
                  </a:lnTo>
                  <a:lnTo>
                    <a:pt x="1843186" y="85184"/>
                  </a:lnTo>
                  <a:lnTo>
                    <a:pt x="1816290" y="50374"/>
                  </a:lnTo>
                  <a:lnTo>
                    <a:pt x="1781477" y="23481"/>
                  </a:lnTo>
                  <a:lnTo>
                    <a:pt x="1740388" y="6143"/>
                  </a:lnTo>
                  <a:lnTo>
                    <a:pt x="1694662" y="0"/>
                  </a:lnTo>
                  <a:close/>
                </a:path>
              </a:pathLst>
            </a:custGeom>
            <a:solidFill>
              <a:srgbClr val="E8E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4732" y="3652083"/>
              <a:ext cx="1866900" cy="573405"/>
            </a:xfrm>
            <a:custGeom>
              <a:avLst/>
              <a:gdLst/>
              <a:ahLst/>
              <a:cxnLst/>
              <a:rect l="l" t="t" r="r" b="b"/>
              <a:pathLst>
                <a:path w="1866900" h="573404">
                  <a:moveTo>
                    <a:pt x="0" y="171996"/>
                  </a:moveTo>
                  <a:lnTo>
                    <a:pt x="6144" y="126270"/>
                  </a:lnTo>
                  <a:lnTo>
                    <a:pt x="23484" y="85184"/>
                  </a:lnTo>
                  <a:lnTo>
                    <a:pt x="50379" y="50374"/>
                  </a:lnTo>
                  <a:lnTo>
                    <a:pt x="85189" y="23481"/>
                  </a:lnTo>
                  <a:lnTo>
                    <a:pt x="126275" y="6143"/>
                  </a:lnTo>
                  <a:lnTo>
                    <a:pt x="171996" y="0"/>
                  </a:lnTo>
                  <a:lnTo>
                    <a:pt x="1694662" y="0"/>
                  </a:lnTo>
                  <a:lnTo>
                    <a:pt x="1740388" y="6143"/>
                  </a:lnTo>
                  <a:lnTo>
                    <a:pt x="1781477" y="23481"/>
                  </a:lnTo>
                  <a:lnTo>
                    <a:pt x="1816290" y="50374"/>
                  </a:lnTo>
                  <a:lnTo>
                    <a:pt x="1843186" y="85184"/>
                  </a:lnTo>
                  <a:lnTo>
                    <a:pt x="1860526" y="126270"/>
                  </a:lnTo>
                  <a:lnTo>
                    <a:pt x="1866671" y="171996"/>
                  </a:lnTo>
                  <a:lnTo>
                    <a:pt x="1866671" y="401332"/>
                  </a:lnTo>
                  <a:lnTo>
                    <a:pt x="1860526" y="447057"/>
                  </a:lnTo>
                  <a:lnTo>
                    <a:pt x="1843186" y="488144"/>
                  </a:lnTo>
                  <a:lnTo>
                    <a:pt x="1816290" y="522954"/>
                  </a:lnTo>
                  <a:lnTo>
                    <a:pt x="1781477" y="549847"/>
                  </a:lnTo>
                  <a:lnTo>
                    <a:pt x="1740388" y="567185"/>
                  </a:lnTo>
                  <a:lnTo>
                    <a:pt x="1694662" y="573328"/>
                  </a:lnTo>
                  <a:lnTo>
                    <a:pt x="171996" y="573328"/>
                  </a:lnTo>
                  <a:lnTo>
                    <a:pt x="126275" y="567185"/>
                  </a:lnTo>
                  <a:lnTo>
                    <a:pt x="85189" y="549847"/>
                  </a:lnTo>
                  <a:lnTo>
                    <a:pt x="50379" y="522954"/>
                  </a:lnTo>
                  <a:lnTo>
                    <a:pt x="23484" y="488144"/>
                  </a:lnTo>
                  <a:lnTo>
                    <a:pt x="6144" y="447057"/>
                  </a:lnTo>
                  <a:lnTo>
                    <a:pt x="0" y="401332"/>
                  </a:lnTo>
                  <a:lnTo>
                    <a:pt x="0" y="171996"/>
                  </a:lnTo>
                  <a:close/>
                </a:path>
              </a:pathLst>
            </a:custGeom>
            <a:ln w="12700">
              <a:solidFill>
                <a:srgbClr val="9B6B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71381" y="4002304"/>
            <a:ext cx="869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D2A5E"/>
                </a:solidFill>
                <a:latin typeface="Arial"/>
                <a:cs typeface="Arial"/>
              </a:rPr>
              <a:t>p</a:t>
            </a:r>
            <a:r>
              <a:rPr sz="2400" b="1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D2A5E"/>
                </a:solidFill>
                <a:latin typeface="Arial"/>
                <a:cs typeface="Arial"/>
              </a:rPr>
              <a:t>→</a:t>
            </a:r>
            <a:r>
              <a:rPr sz="2400" b="1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2400" b="1" spc="-60" dirty="0">
                <a:solidFill>
                  <a:srgbClr val="2D2A5E"/>
                </a:solidFill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95443" y="4682145"/>
            <a:ext cx="1879600" cy="586105"/>
            <a:chOff x="926983" y="4438652"/>
            <a:chExt cx="1879600" cy="586105"/>
          </a:xfrm>
        </p:grpSpPr>
        <p:sp>
          <p:nvSpPr>
            <p:cNvPr id="35" name="object 35"/>
            <p:cNvSpPr/>
            <p:nvPr/>
          </p:nvSpPr>
          <p:spPr>
            <a:xfrm>
              <a:off x="933333" y="4445002"/>
              <a:ext cx="1866900" cy="573405"/>
            </a:xfrm>
            <a:custGeom>
              <a:avLst/>
              <a:gdLst/>
              <a:ahLst/>
              <a:cxnLst/>
              <a:rect l="l" t="t" r="r" b="b"/>
              <a:pathLst>
                <a:path w="1866900" h="573404">
                  <a:moveTo>
                    <a:pt x="1694662" y="0"/>
                  </a:moveTo>
                  <a:lnTo>
                    <a:pt x="171996" y="0"/>
                  </a:lnTo>
                  <a:lnTo>
                    <a:pt x="126275" y="6143"/>
                  </a:lnTo>
                  <a:lnTo>
                    <a:pt x="85189" y="23481"/>
                  </a:lnTo>
                  <a:lnTo>
                    <a:pt x="50379" y="50374"/>
                  </a:lnTo>
                  <a:lnTo>
                    <a:pt x="23484" y="85184"/>
                  </a:lnTo>
                  <a:lnTo>
                    <a:pt x="6144" y="126270"/>
                  </a:lnTo>
                  <a:lnTo>
                    <a:pt x="0" y="171996"/>
                  </a:lnTo>
                  <a:lnTo>
                    <a:pt x="0" y="401332"/>
                  </a:lnTo>
                  <a:lnTo>
                    <a:pt x="6144" y="447057"/>
                  </a:lnTo>
                  <a:lnTo>
                    <a:pt x="23484" y="488144"/>
                  </a:lnTo>
                  <a:lnTo>
                    <a:pt x="50379" y="522954"/>
                  </a:lnTo>
                  <a:lnTo>
                    <a:pt x="85189" y="549847"/>
                  </a:lnTo>
                  <a:lnTo>
                    <a:pt x="126275" y="567185"/>
                  </a:lnTo>
                  <a:lnTo>
                    <a:pt x="171996" y="573328"/>
                  </a:lnTo>
                  <a:lnTo>
                    <a:pt x="1694662" y="573328"/>
                  </a:lnTo>
                  <a:lnTo>
                    <a:pt x="1740388" y="567185"/>
                  </a:lnTo>
                  <a:lnTo>
                    <a:pt x="1781477" y="549847"/>
                  </a:lnTo>
                  <a:lnTo>
                    <a:pt x="1816290" y="522954"/>
                  </a:lnTo>
                  <a:lnTo>
                    <a:pt x="1843186" y="488144"/>
                  </a:lnTo>
                  <a:lnTo>
                    <a:pt x="1860526" y="447057"/>
                  </a:lnTo>
                  <a:lnTo>
                    <a:pt x="1866671" y="401332"/>
                  </a:lnTo>
                  <a:lnTo>
                    <a:pt x="1866671" y="171996"/>
                  </a:lnTo>
                  <a:lnTo>
                    <a:pt x="1860526" y="126270"/>
                  </a:lnTo>
                  <a:lnTo>
                    <a:pt x="1843186" y="85184"/>
                  </a:lnTo>
                  <a:lnTo>
                    <a:pt x="1816290" y="50374"/>
                  </a:lnTo>
                  <a:lnTo>
                    <a:pt x="1781477" y="23481"/>
                  </a:lnTo>
                  <a:lnTo>
                    <a:pt x="1740388" y="6143"/>
                  </a:lnTo>
                  <a:lnTo>
                    <a:pt x="1694662" y="0"/>
                  </a:lnTo>
                  <a:close/>
                </a:path>
              </a:pathLst>
            </a:custGeom>
            <a:solidFill>
              <a:srgbClr val="E8E2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933333" y="4445002"/>
              <a:ext cx="1866900" cy="573405"/>
            </a:xfrm>
            <a:custGeom>
              <a:avLst/>
              <a:gdLst/>
              <a:ahLst/>
              <a:cxnLst/>
              <a:rect l="l" t="t" r="r" b="b"/>
              <a:pathLst>
                <a:path w="1866900" h="573404">
                  <a:moveTo>
                    <a:pt x="0" y="171996"/>
                  </a:moveTo>
                  <a:lnTo>
                    <a:pt x="6144" y="126270"/>
                  </a:lnTo>
                  <a:lnTo>
                    <a:pt x="23484" y="85184"/>
                  </a:lnTo>
                  <a:lnTo>
                    <a:pt x="50379" y="50374"/>
                  </a:lnTo>
                  <a:lnTo>
                    <a:pt x="85189" y="23481"/>
                  </a:lnTo>
                  <a:lnTo>
                    <a:pt x="126275" y="6143"/>
                  </a:lnTo>
                  <a:lnTo>
                    <a:pt x="171996" y="0"/>
                  </a:lnTo>
                  <a:lnTo>
                    <a:pt x="1694662" y="0"/>
                  </a:lnTo>
                  <a:lnTo>
                    <a:pt x="1740388" y="6143"/>
                  </a:lnTo>
                  <a:lnTo>
                    <a:pt x="1781477" y="23481"/>
                  </a:lnTo>
                  <a:lnTo>
                    <a:pt x="1816290" y="50374"/>
                  </a:lnTo>
                  <a:lnTo>
                    <a:pt x="1843186" y="85184"/>
                  </a:lnTo>
                  <a:lnTo>
                    <a:pt x="1860526" y="126270"/>
                  </a:lnTo>
                  <a:lnTo>
                    <a:pt x="1866671" y="171996"/>
                  </a:lnTo>
                  <a:lnTo>
                    <a:pt x="1866671" y="401332"/>
                  </a:lnTo>
                  <a:lnTo>
                    <a:pt x="1860526" y="447057"/>
                  </a:lnTo>
                  <a:lnTo>
                    <a:pt x="1843186" y="488144"/>
                  </a:lnTo>
                  <a:lnTo>
                    <a:pt x="1816290" y="522954"/>
                  </a:lnTo>
                  <a:lnTo>
                    <a:pt x="1781477" y="549847"/>
                  </a:lnTo>
                  <a:lnTo>
                    <a:pt x="1740388" y="567185"/>
                  </a:lnTo>
                  <a:lnTo>
                    <a:pt x="1694662" y="573328"/>
                  </a:lnTo>
                  <a:lnTo>
                    <a:pt x="171996" y="573328"/>
                  </a:lnTo>
                  <a:lnTo>
                    <a:pt x="126275" y="567185"/>
                  </a:lnTo>
                  <a:lnTo>
                    <a:pt x="85189" y="549847"/>
                  </a:lnTo>
                  <a:lnTo>
                    <a:pt x="50379" y="522954"/>
                  </a:lnTo>
                  <a:lnTo>
                    <a:pt x="23484" y="488144"/>
                  </a:lnTo>
                  <a:lnTo>
                    <a:pt x="6144" y="447057"/>
                  </a:lnTo>
                  <a:lnTo>
                    <a:pt x="0" y="401332"/>
                  </a:lnTo>
                  <a:lnTo>
                    <a:pt x="0" y="171996"/>
                  </a:lnTo>
                  <a:close/>
                </a:path>
              </a:pathLst>
            </a:custGeom>
            <a:ln w="12700">
              <a:solidFill>
                <a:srgbClr val="9B6B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929198" y="4795224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D2A5E"/>
                </a:solidFill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3</a:t>
            </a:fld>
            <a:r>
              <a:rPr spc="-20" dirty="0"/>
              <a:t>/28</a:t>
            </a:r>
          </a:p>
        </p:txBody>
      </p:sp>
      <p:grpSp>
        <p:nvGrpSpPr>
          <p:cNvPr id="40" name="object 34">
            <a:extLst>
              <a:ext uri="{FF2B5EF4-FFF2-40B4-BE49-F238E27FC236}">
                <a16:creationId xmlns:a16="http://schemas.microsoft.com/office/drawing/2014/main" id="{967EBD31-E3F1-9291-B756-4EAEA1C32035}"/>
              </a:ext>
            </a:extLst>
          </p:cNvPr>
          <p:cNvGrpSpPr/>
          <p:nvPr/>
        </p:nvGrpSpPr>
        <p:grpSpPr>
          <a:xfrm>
            <a:off x="3309112" y="4267550"/>
            <a:ext cx="1879600" cy="586105"/>
            <a:chOff x="926983" y="4438652"/>
            <a:chExt cx="1879600" cy="586105"/>
          </a:xfrm>
          <a:solidFill>
            <a:srgbClr val="FF7045"/>
          </a:solidFill>
        </p:grpSpPr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703A0EB8-4519-93EC-FF66-91F3894E4852}"/>
                </a:ext>
              </a:extLst>
            </p:cNvPr>
            <p:cNvSpPr/>
            <p:nvPr/>
          </p:nvSpPr>
          <p:spPr>
            <a:xfrm>
              <a:off x="933333" y="4445002"/>
              <a:ext cx="1866900" cy="573405"/>
            </a:xfrm>
            <a:custGeom>
              <a:avLst/>
              <a:gdLst/>
              <a:ahLst/>
              <a:cxnLst/>
              <a:rect l="l" t="t" r="r" b="b"/>
              <a:pathLst>
                <a:path w="1866900" h="573404">
                  <a:moveTo>
                    <a:pt x="1694662" y="0"/>
                  </a:moveTo>
                  <a:lnTo>
                    <a:pt x="171996" y="0"/>
                  </a:lnTo>
                  <a:lnTo>
                    <a:pt x="126275" y="6143"/>
                  </a:lnTo>
                  <a:lnTo>
                    <a:pt x="85189" y="23481"/>
                  </a:lnTo>
                  <a:lnTo>
                    <a:pt x="50379" y="50374"/>
                  </a:lnTo>
                  <a:lnTo>
                    <a:pt x="23484" y="85184"/>
                  </a:lnTo>
                  <a:lnTo>
                    <a:pt x="6144" y="126270"/>
                  </a:lnTo>
                  <a:lnTo>
                    <a:pt x="0" y="171996"/>
                  </a:lnTo>
                  <a:lnTo>
                    <a:pt x="0" y="401332"/>
                  </a:lnTo>
                  <a:lnTo>
                    <a:pt x="6144" y="447057"/>
                  </a:lnTo>
                  <a:lnTo>
                    <a:pt x="23484" y="488144"/>
                  </a:lnTo>
                  <a:lnTo>
                    <a:pt x="50379" y="522954"/>
                  </a:lnTo>
                  <a:lnTo>
                    <a:pt x="85189" y="549847"/>
                  </a:lnTo>
                  <a:lnTo>
                    <a:pt x="126275" y="567185"/>
                  </a:lnTo>
                  <a:lnTo>
                    <a:pt x="171996" y="573328"/>
                  </a:lnTo>
                  <a:lnTo>
                    <a:pt x="1694662" y="573328"/>
                  </a:lnTo>
                  <a:lnTo>
                    <a:pt x="1740388" y="567185"/>
                  </a:lnTo>
                  <a:lnTo>
                    <a:pt x="1781477" y="549847"/>
                  </a:lnTo>
                  <a:lnTo>
                    <a:pt x="1816290" y="522954"/>
                  </a:lnTo>
                  <a:lnTo>
                    <a:pt x="1843186" y="488144"/>
                  </a:lnTo>
                  <a:lnTo>
                    <a:pt x="1860526" y="447057"/>
                  </a:lnTo>
                  <a:lnTo>
                    <a:pt x="1866671" y="401332"/>
                  </a:lnTo>
                  <a:lnTo>
                    <a:pt x="1866671" y="171996"/>
                  </a:lnTo>
                  <a:lnTo>
                    <a:pt x="1860526" y="126270"/>
                  </a:lnTo>
                  <a:lnTo>
                    <a:pt x="1843186" y="85184"/>
                  </a:lnTo>
                  <a:lnTo>
                    <a:pt x="1816290" y="50374"/>
                  </a:lnTo>
                  <a:lnTo>
                    <a:pt x="1781477" y="23481"/>
                  </a:lnTo>
                  <a:lnTo>
                    <a:pt x="1740388" y="6143"/>
                  </a:lnTo>
                  <a:lnTo>
                    <a:pt x="16946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4058198F-D154-3486-61B7-F203CFC72E74}"/>
                </a:ext>
              </a:extLst>
            </p:cNvPr>
            <p:cNvSpPr/>
            <p:nvPr/>
          </p:nvSpPr>
          <p:spPr>
            <a:xfrm>
              <a:off x="933333" y="4445002"/>
              <a:ext cx="1866900" cy="573405"/>
            </a:xfrm>
            <a:custGeom>
              <a:avLst/>
              <a:gdLst/>
              <a:ahLst/>
              <a:cxnLst/>
              <a:rect l="l" t="t" r="r" b="b"/>
              <a:pathLst>
                <a:path w="1866900" h="573404">
                  <a:moveTo>
                    <a:pt x="0" y="171996"/>
                  </a:moveTo>
                  <a:lnTo>
                    <a:pt x="6144" y="126270"/>
                  </a:lnTo>
                  <a:lnTo>
                    <a:pt x="23484" y="85184"/>
                  </a:lnTo>
                  <a:lnTo>
                    <a:pt x="50379" y="50374"/>
                  </a:lnTo>
                  <a:lnTo>
                    <a:pt x="85189" y="23481"/>
                  </a:lnTo>
                  <a:lnTo>
                    <a:pt x="126275" y="6143"/>
                  </a:lnTo>
                  <a:lnTo>
                    <a:pt x="171996" y="0"/>
                  </a:lnTo>
                  <a:lnTo>
                    <a:pt x="1694662" y="0"/>
                  </a:lnTo>
                  <a:lnTo>
                    <a:pt x="1740388" y="6143"/>
                  </a:lnTo>
                  <a:lnTo>
                    <a:pt x="1781477" y="23481"/>
                  </a:lnTo>
                  <a:lnTo>
                    <a:pt x="1816290" y="50374"/>
                  </a:lnTo>
                  <a:lnTo>
                    <a:pt x="1843186" y="85184"/>
                  </a:lnTo>
                  <a:lnTo>
                    <a:pt x="1860526" y="126270"/>
                  </a:lnTo>
                  <a:lnTo>
                    <a:pt x="1866671" y="171996"/>
                  </a:lnTo>
                  <a:lnTo>
                    <a:pt x="1866671" y="401332"/>
                  </a:lnTo>
                  <a:lnTo>
                    <a:pt x="1860526" y="447057"/>
                  </a:lnTo>
                  <a:lnTo>
                    <a:pt x="1843186" y="488144"/>
                  </a:lnTo>
                  <a:lnTo>
                    <a:pt x="1816290" y="522954"/>
                  </a:lnTo>
                  <a:lnTo>
                    <a:pt x="1781477" y="549847"/>
                  </a:lnTo>
                  <a:lnTo>
                    <a:pt x="1740388" y="567185"/>
                  </a:lnTo>
                  <a:lnTo>
                    <a:pt x="1694662" y="573328"/>
                  </a:lnTo>
                  <a:lnTo>
                    <a:pt x="171996" y="573328"/>
                  </a:lnTo>
                  <a:lnTo>
                    <a:pt x="126275" y="567185"/>
                  </a:lnTo>
                  <a:lnTo>
                    <a:pt x="85189" y="549847"/>
                  </a:lnTo>
                  <a:lnTo>
                    <a:pt x="50379" y="522954"/>
                  </a:lnTo>
                  <a:lnTo>
                    <a:pt x="23484" y="488144"/>
                  </a:lnTo>
                  <a:lnTo>
                    <a:pt x="6144" y="447057"/>
                  </a:lnTo>
                  <a:lnTo>
                    <a:pt x="0" y="401332"/>
                  </a:lnTo>
                  <a:lnTo>
                    <a:pt x="0" y="171996"/>
                  </a:lnTo>
                  <a:close/>
                </a:path>
              </a:pathLst>
            </a:custGeom>
            <a:grpFill/>
            <a:ln w="12700">
              <a:solidFill>
                <a:srgbClr val="9B6BE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3" name="object 37">
            <a:extLst>
              <a:ext uri="{FF2B5EF4-FFF2-40B4-BE49-F238E27FC236}">
                <a16:creationId xmlns:a16="http://schemas.microsoft.com/office/drawing/2014/main" id="{D0E40509-2372-FC94-87CA-5B4984A15403}"/>
              </a:ext>
            </a:extLst>
          </p:cNvPr>
          <p:cNvSpPr txBox="1"/>
          <p:nvPr/>
        </p:nvSpPr>
        <p:spPr>
          <a:xfrm>
            <a:off x="3962400" y="4327639"/>
            <a:ext cx="533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Cambria Math"/>
                <a:cs typeface="Cambria Math"/>
              </a:rPr>
              <a:t>∴ q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90" dirty="0"/>
              <a:t>Importance</a:t>
            </a:r>
            <a:r>
              <a:rPr spc="-204" dirty="0"/>
              <a:t> </a:t>
            </a:r>
            <a:r>
              <a:rPr spc="135" dirty="0"/>
              <a:t>and</a:t>
            </a:r>
            <a:r>
              <a:rPr spc="-185" dirty="0"/>
              <a:t> </a:t>
            </a:r>
            <a:r>
              <a:rPr spc="70" dirty="0"/>
              <a:t>real-</a:t>
            </a:r>
            <a:r>
              <a:rPr dirty="0"/>
              <a:t>life</a:t>
            </a:r>
            <a:r>
              <a:rPr spc="-210" dirty="0"/>
              <a:t> </a:t>
            </a:r>
            <a:r>
              <a:rPr spc="100" dirty="0"/>
              <a:t>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410968"/>
            <a:ext cx="3133725" cy="2310765"/>
            <a:chOff x="633730" y="1410968"/>
            <a:chExt cx="3133725" cy="2310765"/>
          </a:xfrm>
        </p:grpSpPr>
        <p:sp>
          <p:nvSpPr>
            <p:cNvPr id="4" name="object 4"/>
            <p:cNvSpPr/>
            <p:nvPr/>
          </p:nvSpPr>
          <p:spPr>
            <a:xfrm>
              <a:off x="704088" y="1481326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3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41731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3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41731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008376" y="0"/>
                  </a:lnTo>
                  <a:lnTo>
                    <a:pt x="3029732" y="4311"/>
                  </a:lnTo>
                  <a:lnTo>
                    <a:pt x="3047171" y="16068"/>
                  </a:lnTo>
                  <a:lnTo>
                    <a:pt x="3058928" y="33507"/>
                  </a:lnTo>
                  <a:lnTo>
                    <a:pt x="3063240" y="54863"/>
                  </a:lnTo>
                  <a:lnTo>
                    <a:pt x="3063240" y="2185416"/>
                  </a:lnTo>
                  <a:lnTo>
                    <a:pt x="3058928" y="2206772"/>
                  </a:lnTo>
                  <a:lnTo>
                    <a:pt x="3047171" y="2224211"/>
                  </a:lnTo>
                  <a:lnTo>
                    <a:pt x="3029732" y="2235968"/>
                  </a:lnTo>
                  <a:lnTo>
                    <a:pt x="3008376" y="2240280"/>
                  </a:lnTo>
                  <a:lnTo>
                    <a:pt x="54864" y="2240280"/>
                  </a:lnTo>
                  <a:lnTo>
                    <a:pt x="33507" y="2235968"/>
                  </a:lnTo>
                  <a:lnTo>
                    <a:pt x="16068" y="2224211"/>
                  </a:lnTo>
                  <a:lnTo>
                    <a:pt x="4311" y="2206772"/>
                  </a:lnTo>
                  <a:lnTo>
                    <a:pt x="0" y="218541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1527047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2798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798064" y="457200"/>
                  </a:lnTo>
                  <a:lnTo>
                    <a:pt x="2815859" y="453606"/>
                  </a:lnTo>
                  <a:lnTo>
                    <a:pt x="2830391" y="443807"/>
                  </a:lnTo>
                  <a:lnTo>
                    <a:pt x="2840190" y="429275"/>
                  </a:lnTo>
                  <a:lnTo>
                    <a:pt x="2843784" y="411480"/>
                  </a:lnTo>
                  <a:lnTo>
                    <a:pt x="2843784" y="45720"/>
                  </a:lnTo>
                  <a:lnTo>
                    <a:pt x="2840190" y="27924"/>
                  </a:lnTo>
                  <a:lnTo>
                    <a:pt x="2830391" y="13392"/>
                  </a:lnTo>
                  <a:lnTo>
                    <a:pt x="2815859" y="3593"/>
                  </a:lnTo>
                  <a:lnTo>
                    <a:pt x="27980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" y="1527047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798064" y="0"/>
                  </a:lnTo>
                  <a:lnTo>
                    <a:pt x="2815859" y="3593"/>
                  </a:lnTo>
                  <a:lnTo>
                    <a:pt x="2830391" y="13392"/>
                  </a:lnTo>
                  <a:lnTo>
                    <a:pt x="2840190" y="27924"/>
                  </a:lnTo>
                  <a:lnTo>
                    <a:pt x="2843784" y="45720"/>
                  </a:lnTo>
                  <a:lnTo>
                    <a:pt x="2843784" y="411480"/>
                  </a:lnTo>
                  <a:lnTo>
                    <a:pt x="2840190" y="429275"/>
                  </a:lnTo>
                  <a:lnTo>
                    <a:pt x="2830391" y="443807"/>
                  </a:lnTo>
                  <a:lnTo>
                    <a:pt x="2815859" y="453606"/>
                  </a:lnTo>
                  <a:lnTo>
                    <a:pt x="2798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954" y="1585436"/>
            <a:ext cx="2827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20"/>
              </a:spcBef>
            </a:pPr>
            <a:r>
              <a:rPr sz="1850" b="1" spc="55" dirty="0">
                <a:solidFill>
                  <a:srgbClr val="2D2A5E"/>
                </a:solidFill>
                <a:latin typeface="Trebuchet MS"/>
                <a:cs typeface="Trebuchet MS"/>
              </a:rPr>
              <a:t>Mathematical</a:t>
            </a:r>
            <a:r>
              <a:rPr sz="1850" b="1" spc="-13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40" dirty="0">
                <a:solidFill>
                  <a:srgbClr val="2D2A5E"/>
                </a:solidFill>
                <a:latin typeface="Trebuchet MS"/>
                <a:cs typeface="Trebuchet MS"/>
              </a:rPr>
              <a:t>proofs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585" y="2029542"/>
            <a:ext cx="304673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156845">
              <a:lnSpc>
                <a:spcPct val="100899"/>
              </a:lnSpc>
              <a:spcBef>
                <a:spcPts val="10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Proofs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valid</a:t>
            </a:r>
            <a:r>
              <a:rPr sz="1850" spc="50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arguments.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of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inference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basic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tools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establishing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truth.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79850" y="1410968"/>
            <a:ext cx="3133725" cy="2310765"/>
            <a:chOff x="3879850" y="1410968"/>
            <a:chExt cx="3133725" cy="2310765"/>
          </a:xfrm>
        </p:grpSpPr>
        <p:sp>
          <p:nvSpPr>
            <p:cNvPr id="12" name="object 12"/>
            <p:cNvSpPr/>
            <p:nvPr/>
          </p:nvSpPr>
          <p:spPr>
            <a:xfrm>
              <a:off x="3950207" y="1481326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3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6200" y="141731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3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86200" y="141731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008376" y="0"/>
                  </a:lnTo>
                  <a:lnTo>
                    <a:pt x="3029732" y="4311"/>
                  </a:lnTo>
                  <a:lnTo>
                    <a:pt x="3047171" y="16068"/>
                  </a:lnTo>
                  <a:lnTo>
                    <a:pt x="3058928" y="33507"/>
                  </a:lnTo>
                  <a:lnTo>
                    <a:pt x="3063240" y="54863"/>
                  </a:lnTo>
                  <a:lnTo>
                    <a:pt x="3063240" y="2185416"/>
                  </a:lnTo>
                  <a:lnTo>
                    <a:pt x="3058928" y="2206772"/>
                  </a:lnTo>
                  <a:lnTo>
                    <a:pt x="3047171" y="2224211"/>
                  </a:lnTo>
                  <a:lnTo>
                    <a:pt x="3029732" y="2235968"/>
                  </a:lnTo>
                  <a:lnTo>
                    <a:pt x="3008376" y="2240280"/>
                  </a:lnTo>
                  <a:lnTo>
                    <a:pt x="54864" y="2240280"/>
                  </a:lnTo>
                  <a:lnTo>
                    <a:pt x="33507" y="2235968"/>
                  </a:lnTo>
                  <a:lnTo>
                    <a:pt x="16068" y="2224211"/>
                  </a:lnTo>
                  <a:lnTo>
                    <a:pt x="4311" y="2206772"/>
                  </a:lnTo>
                  <a:lnTo>
                    <a:pt x="0" y="218541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5928" y="1527047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2798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798064" y="457200"/>
                  </a:lnTo>
                  <a:lnTo>
                    <a:pt x="2815859" y="453606"/>
                  </a:lnTo>
                  <a:lnTo>
                    <a:pt x="2830391" y="443807"/>
                  </a:lnTo>
                  <a:lnTo>
                    <a:pt x="2840190" y="429275"/>
                  </a:lnTo>
                  <a:lnTo>
                    <a:pt x="2843784" y="411480"/>
                  </a:lnTo>
                  <a:lnTo>
                    <a:pt x="2843784" y="45720"/>
                  </a:lnTo>
                  <a:lnTo>
                    <a:pt x="2840190" y="27924"/>
                  </a:lnTo>
                  <a:lnTo>
                    <a:pt x="2830391" y="13392"/>
                  </a:lnTo>
                  <a:lnTo>
                    <a:pt x="2815859" y="3593"/>
                  </a:lnTo>
                  <a:lnTo>
                    <a:pt x="27980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95928" y="1527047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798064" y="0"/>
                  </a:lnTo>
                  <a:lnTo>
                    <a:pt x="2815859" y="3593"/>
                  </a:lnTo>
                  <a:lnTo>
                    <a:pt x="2830391" y="13392"/>
                  </a:lnTo>
                  <a:lnTo>
                    <a:pt x="2840190" y="27924"/>
                  </a:lnTo>
                  <a:lnTo>
                    <a:pt x="2843784" y="45720"/>
                  </a:lnTo>
                  <a:lnTo>
                    <a:pt x="2843784" y="411480"/>
                  </a:lnTo>
                  <a:lnTo>
                    <a:pt x="2840190" y="429275"/>
                  </a:lnTo>
                  <a:lnTo>
                    <a:pt x="2830391" y="443807"/>
                  </a:lnTo>
                  <a:lnTo>
                    <a:pt x="2815859" y="453606"/>
                  </a:lnTo>
                  <a:lnTo>
                    <a:pt x="2798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04074" y="1585436"/>
            <a:ext cx="2827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Faster</a:t>
            </a:r>
            <a:r>
              <a:rPr sz="1850" b="1" spc="-4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than</a:t>
            </a:r>
            <a:r>
              <a:rPr sz="1850" b="1" spc="-4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truth</a:t>
            </a:r>
            <a:r>
              <a:rPr sz="1850" b="1" spc="-4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45" dirty="0">
                <a:solidFill>
                  <a:srgbClr val="2D2A5E"/>
                </a:solidFill>
                <a:latin typeface="Trebuchet MS"/>
                <a:cs typeface="Trebuchet MS"/>
              </a:rPr>
              <a:t>tables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94705" y="2166720"/>
            <a:ext cx="304673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222250">
              <a:lnSpc>
                <a:spcPct val="100899"/>
              </a:lnSpc>
              <a:spcBef>
                <a:spcPts val="10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With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10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variables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truth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table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needs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1024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rows.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A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few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reach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answer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few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steps.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3730" y="3834128"/>
            <a:ext cx="3133725" cy="2310765"/>
            <a:chOff x="633730" y="3834128"/>
            <a:chExt cx="3133725" cy="2310765"/>
          </a:xfrm>
        </p:grpSpPr>
        <p:sp>
          <p:nvSpPr>
            <p:cNvPr id="20" name="object 20"/>
            <p:cNvSpPr/>
            <p:nvPr/>
          </p:nvSpPr>
          <p:spPr>
            <a:xfrm>
              <a:off x="704088" y="3904486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4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080" y="384047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3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384047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008376" y="0"/>
                  </a:lnTo>
                  <a:lnTo>
                    <a:pt x="3029732" y="4311"/>
                  </a:lnTo>
                  <a:lnTo>
                    <a:pt x="3047171" y="16068"/>
                  </a:lnTo>
                  <a:lnTo>
                    <a:pt x="3058928" y="33507"/>
                  </a:lnTo>
                  <a:lnTo>
                    <a:pt x="3063240" y="54863"/>
                  </a:lnTo>
                  <a:lnTo>
                    <a:pt x="3063240" y="2185416"/>
                  </a:lnTo>
                  <a:lnTo>
                    <a:pt x="3058928" y="2206772"/>
                  </a:lnTo>
                  <a:lnTo>
                    <a:pt x="3047171" y="2224211"/>
                  </a:lnTo>
                  <a:lnTo>
                    <a:pt x="3029732" y="2235968"/>
                  </a:lnTo>
                  <a:lnTo>
                    <a:pt x="3008376" y="2240280"/>
                  </a:lnTo>
                  <a:lnTo>
                    <a:pt x="54864" y="2240280"/>
                  </a:lnTo>
                  <a:lnTo>
                    <a:pt x="33507" y="2235968"/>
                  </a:lnTo>
                  <a:lnTo>
                    <a:pt x="16068" y="2224211"/>
                  </a:lnTo>
                  <a:lnTo>
                    <a:pt x="4311" y="2206772"/>
                  </a:lnTo>
                  <a:lnTo>
                    <a:pt x="0" y="218541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9808" y="3950208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2798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798064" y="457200"/>
                  </a:lnTo>
                  <a:lnTo>
                    <a:pt x="2815859" y="453606"/>
                  </a:lnTo>
                  <a:lnTo>
                    <a:pt x="2830391" y="443807"/>
                  </a:lnTo>
                  <a:lnTo>
                    <a:pt x="2840190" y="429275"/>
                  </a:lnTo>
                  <a:lnTo>
                    <a:pt x="2843784" y="411480"/>
                  </a:lnTo>
                  <a:lnTo>
                    <a:pt x="2843784" y="45720"/>
                  </a:lnTo>
                  <a:lnTo>
                    <a:pt x="2840190" y="27924"/>
                  </a:lnTo>
                  <a:lnTo>
                    <a:pt x="2830391" y="13392"/>
                  </a:lnTo>
                  <a:lnTo>
                    <a:pt x="2815859" y="3593"/>
                  </a:lnTo>
                  <a:lnTo>
                    <a:pt x="279806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9808" y="3950208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798064" y="0"/>
                  </a:lnTo>
                  <a:lnTo>
                    <a:pt x="2815859" y="3593"/>
                  </a:lnTo>
                  <a:lnTo>
                    <a:pt x="2830391" y="13392"/>
                  </a:lnTo>
                  <a:lnTo>
                    <a:pt x="2840190" y="27924"/>
                  </a:lnTo>
                  <a:lnTo>
                    <a:pt x="2843784" y="45720"/>
                  </a:lnTo>
                  <a:lnTo>
                    <a:pt x="2843784" y="411480"/>
                  </a:lnTo>
                  <a:lnTo>
                    <a:pt x="2840190" y="429275"/>
                  </a:lnTo>
                  <a:lnTo>
                    <a:pt x="2830391" y="443807"/>
                  </a:lnTo>
                  <a:lnTo>
                    <a:pt x="2815859" y="453606"/>
                  </a:lnTo>
                  <a:lnTo>
                    <a:pt x="2798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7954" y="4008596"/>
            <a:ext cx="2827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Automated</a:t>
            </a:r>
            <a:r>
              <a:rPr sz="1850" b="1" spc="-14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45" dirty="0">
                <a:solidFill>
                  <a:srgbClr val="2D2A5E"/>
                </a:solidFill>
                <a:latin typeface="Trebuchet MS"/>
                <a:cs typeface="Trebuchet MS"/>
              </a:rPr>
              <a:t>reasoning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8585" y="4589880"/>
            <a:ext cx="304673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413384">
              <a:lnSpc>
                <a:spcPct val="100899"/>
              </a:lnSpc>
              <a:spcBef>
                <a:spcPts val="10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Programs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prove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theorems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resolution.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language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Prolog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is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built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it.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79850" y="3834128"/>
            <a:ext cx="3133725" cy="2310765"/>
            <a:chOff x="3879850" y="3834128"/>
            <a:chExt cx="3133725" cy="2310765"/>
          </a:xfrm>
        </p:grpSpPr>
        <p:sp>
          <p:nvSpPr>
            <p:cNvPr id="28" name="object 28"/>
            <p:cNvSpPr/>
            <p:nvPr/>
          </p:nvSpPr>
          <p:spPr>
            <a:xfrm>
              <a:off x="3950207" y="3904486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4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86200" y="384047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30083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185416"/>
                  </a:lnTo>
                  <a:lnTo>
                    <a:pt x="4311" y="2206772"/>
                  </a:lnTo>
                  <a:lnTo>
                    <a:pt x="16068" y="2224211"/>
                  </a:lnTo>
                  <a:lnTo>
                    <a:pt x="33507" y="2235968"/>
                  </a:lnTo>
                  <a:lnTo>
                    <a:pt x="54864" y="2240280"/>
                  </a:lnTo>
                  <a:lnTo>
                    <a:pt x="3008376" y="2240280"/>
                  </a:lnTo>
                  <a:lnTo>
                    <a:pt x="3029732" y="2235968"/>
                  </a:lnTo>
                  <a:lnTo>
                    <a:pt x="3047171" y="2224211"/>
                  </a:lnTo>
                  <a:lnTo>
                    <a:pt x="3058928" y="2206772"/>
                  </a:lnTo>
                  <a:lnTo>
                    <a:pt x="3063240" y="2185416"/>
                  </a:lnTo>
                  <a:lnTo>
                    <a:pt x="3063240" y="54863"/>
                  </a:lnTo>
                  <a:lnTo>
                    <a:pt x="3058928" y="33507"/>
                  </a:lnTo>
                  <a:lnTo>
                    <a:pt x="3047171" y="16068"/>
                  </a:lnTo>
                  <a:lnTo>
                    <a:pt x="3029732" y="4311"/>
                  </a:lnTo>
                  <a:lnTo>
                    <a:pt x="3008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6200" y="3840478"/>
              <a:ext cx="3063240" cy="2240280"/>
            </a:xfrm>
            <a:custGeom>
              <a:avLst/>
              <a:gdLst/>
              <a:ahLst/>
              <a:cxnLst/>
              <a:rect l="l" t="t" r="r" b="b"/>
              <a:pathLst>
                <a:path w="3063240" h="2240279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008376" y="0"/>
                  </a:lnTo>
                  <a:lnTo>
                    <a:pt x="3029732" y="4311"/>
                  </a:lnTo>
                  <a:lnTo>
                    <a:pt x="3047171" y="16068"/>
                  </a:lnTo>
                  <a:lnTo>
                    <a:pt x="3058928" y="33507"/>
                  </a:lnTo>
                  <a:lnTo>
                    <a:pt x="3063240" y="54863"/>
                  </a:lnTo>
                  <a:lnTo>
                    <a:pt x="3063240" y="2185416"/>
                  </a:lnTo>
                  <a:lnTo>
                    <a:pt x="3058928" y="2206772"/>
                  </a:lnTo>
                  <a:lnTo>
                    <a:pt x="3047171" y="2224211"/>
                  </a:lnTo>
                  <a:lnTo>
                    <a:pt x="3029732" y="2235968"/>
                  </a:lnTo>
                  <a:lnTo>
                    <a:pt x="3008376" y="2240280"/>
                  </a:lnTo>
                  <a:lnTo>
                    <a:pt x="54864" y="2240280"/>
                  </a:lnTo>
                  <a:lnTo>
                    <a:pt x="33507" y="2235968"/>
                  </a:lnTo>
                  <a:lnTo>
                    <a:pt x="16068" y="2224211"/>
                  </a:lnTo>
                  <a:lnTo>
                    <a:pt x="4311" y="2206772"/>
                  </a:lnTo>
                  <a:lnTo>
                    <a:pt x="0" y="218541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95928" y="3950208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2798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798064" y="457200"/>
                  </a:lnTo>
                  <a:lnTo>
                    <a:pt x="2815859" y="453606"/>
                  </a:lnTo>
                  <a:lnTo>
                    <a:pt x="2830391" y="443807"/>
                  </a:lnTo>
                  <a:lnTo>
                    <a:pt x="2840190" y="429275"/>
                  </a:lnTo>
                  <a:lnTo>
                    <a:pt x="2843784" y="411480"/>
                  </a:lnTo>
                  <a:lnTo>
                    <a:pt x="2843784" y="45720"/>
                  </a:lnTo>
                  <a:lnTo>
                    <a:pt x="2840190" y="27924"/>
                  </a:lnTo>
                  <a:lnTo>
                    <a:pt x="2830391" y="13392"/>
                  </a:lnTo>
                  <a:lnTo>
                    <a:pt x="2815859" y="3593"/>
                  </a:lnTo>
                  <a:lnTo>
                    <a:pt x="279806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95928" y="3950208"/>
              <a:ext cx="2844165" cy="457200"/>
            </a:xfrm>
            <a:custGeom>
              <a:avLst/>
              <a:gdLst/>
              <a:ahLst/>
              <a:cxnLst/>
              <a:rect l="l" t="t" r="r" b="b"/>
              <a:pathLst>
                <a:path w="2844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798064" y="0"/>
                  </a:lnTo>
                  <a:lnTo>
                    <a:pt x="2815859" y="3593"/>
                  </a:lnTo>
                  <a:lnTo>
                    <a:pt x="2830391" y="13392"/>
                  </a:lnTo>
                  <a:lnTo>
                    <a:pt x="2840190" y="27924"/>
                  </a:lnTo>
                  <a:lnTo>
                    <a:pt x="2843784" y="45720"/>
                  </a:lnTo>
                  <a:lnTo>
                    <a:pt x="2843784" y="411480"/>
                  </a:lnTo>
                  <a:lnTo>
                    <a:pt x="2840190" y="429275"/>
                  </a:lnTo>
                  <a:lnTo>
                    <a:pt x="2830391" y="443807"/>
                  </a:lnTo>
                  <a:lnTo>
                    <a:pt x="2815859" y="453606"/>
                  </a:lnTo>
                  <a:lnTo>
                    <a:pt x="2798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004074" y="4008596"/>
            <a:ext cx="2827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81660">
              <a:lnSpc>
                <a:spcPct val="100000"/>
              </a:lnSpc>
              <a:spcBef>
                <a:spcPts val="120"/>
              </a:spcBef>
            </a:pPr>
            <a:r>
              <a:rPr sz="1850" b="1" spc="95" dirty="0">
                <a:solidFill>
                  <a:srgbClr val="2D2A5E"/>
                </a:solidFill>
                <a:latin typeface="Trebuchet MS"/>
                <a:cs typeface="Trebuchet MS"/>
              </a:rPr>
              <a:t>Access</a:t>
            </a:r>
            <a:r>
              <a:rPr sz="1850" b="1" spc="-1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55" dirty="0">
                <a:solidFill>
                  <a:srgbClr val="2D2A5E"/>
                </a:solidFill>
                <a:latin typeface="Trebuchet MS"/>
                <a:cs typeface="Trebuchet MS"/>
              </a:rPr>
              <a:t>checks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94705" y="4589880"/>
            <a:ext cx="304673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396875">
              <a:lnSpc>
                <a:spcPct val="100899"/>
              </a:lnSpc>
              <a:spcBef>
                <a:spcPts val="10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login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needs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a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1850" spc="-8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password</a:t>
            </a:r>
            <a:r>
              <a:rPr sz="1850" spc="-6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applies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ponens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each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time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sign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308850" y="1410968"/>
            <a:ext cx="4322445" cy="4916805"/>
            <a:chOff x="7308850" y="1410968"/>
            <a:chExt cx="4322445" cy="4916805"/>
          </a:xfrm>
        </p:grpSpPr>
        <p:sp>
          <p:nvSpPr>
            <p:cNvPr id="36" name="object 36"/>
            <p:cNvSpPr/>
            <p:nvPr/>
          </p:nvSpPr>
          <p:spPr>
            <a:xfrm>
              <a:off x="7379207" y="1481326"/>
              <a:ext cx="4251960" cy="4846320"/>
            </a:xfrm>
            <a:custGeom>
              <a:avLst/>
              <a:gdLst/>
              <a:ahLst/>
              <a:cxnLst/>
              <a:rect l="l" t="t" r="r" b="b"/>
              <a:pathLst>
                <a:path w="4251959" h="4846320">
                  <a:moveTo>
                    <a:pt x="419710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791468"/>
                  </a:lnTo>
                  <a:lnTo>
                    <a:pt x="4311" y="4812822"/>
                  </a:lnTo>
                  <a:lnTo>
                    <a:pt x="16067" y="4830257"/>
                  </a:lnTo>
                  <a:lnTo>
                    <a:pt x="33502" y="4842010"/>
                  </a:lnTo>
                  <a:lnTo>
                    <a:pt x="54851" y="4846320"/>
                  </a:lnTo>
                  <a:lnTo>
                    <a:pt x="4197108" y="4846320"/>
                  </a:lnTo>
                  <a:lnTo>
                    <a:pt x="4218457" y="4842010"/>
                  </a:lnTo>
                  <a:lnTo>
                    <a:pt x="4235892" y="4830257"/>
                  </a:lnTo>
                  <a:lnTo>
                    <a:pt x="4247648" y="4812822"/>
                  </a:lnTo>
                  <a:lnTo>
                    <a:pt x="4251960" y="4791468"/>
                  </a:lnTo>
                  <a:lnTo>
                    <a:pt x="4251960" y="54851"/>
                  </a:lnTo>
                  <a:lnTo>
                    <a:pt x="4247648" y="33502"/>
                  </a:lnTo>
                  <a:lnTo>
                    <a:pt x="4235892" y="16067"/>
                  </a:lnTo>
                  <a:lnTo>
                    <a:pt x="4218457" y="4311"/>
                  </a:lnTo>
                  <a:lnTo>
                    <a:pt x="4197108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15200" y="1417318"/>
              <a:ext cx="4251960" cy="4846320"/>
            </a:xfrm>
            <a:custGeom>
              <a:avLst/>
              <a:gdLst/>
              <a:ahLst/>
              <a:cxnLst/>
              <a:rect l="l" t="t" r="r" b="b"/>
              <a:pathLst>
                <a:path w="4251959" h="4846320">
                  <a:moveTo>
                    <a:pt x="419710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791468"/>
                  </a:lnTo>
                  <a:lnTo>
                    <a:pt x="4311" y="4812822"/>
                  </a:lnTo>
                  <a:lnTo>
                    <a:pt x="16067" y="4830257"/>
                  </a:lnTo>
                  <a:lnTo>
                    <a:pt x="33502" y="4842010"/>
                  </a:lnTo>
                  <a:lnTo>
                    <a:pt x="54851" y="4846320"/>
                  </a:lnTo>
                  <a:lnTo>
                    <a:pt x="4197108" y="4846320"/>
                  </a:lnTo>
                  <a:lnTo>
                    <a:pt x="4218457" y="4842010"/>
                  </a:lnTo>
                  <a:lnTo>
                    <a:pt x="4235892" y="4830257"/>
                  </a:lnTo>
                  <a:lnTo>
                    <a:pt x="4247648" y="4812822"/>
                  </a:lnTo>
                  <a:lnTo>
                    <a:pt x="4251960" y="4791468"/>
                  </a:lnTo>
                  <a:lnTo>
                    <a:pt x="4251960" y="54851"/>
                  </a:lnTo>
                  <a:lnTo>
                    <a:pt x="4247648" y="33502"/>
                  </a:lnTo>
                  <a:lnTo>
                    <a:pt x="4235892" y="16067"/>
                  </a:lnTo>
                  <a:lnTo>
                    <a:pt x="4218457" y="4311"/>
                  </a:lnTo>
                  <a:lnTo>
                    <a:pt x="4197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15200" y="1417318"/>
              <a:ext cx="4251960" cy="4846320"/>
            </a:xfrm>
            <a:custGeom>
              <a:avLst/>
              <a:gdLst/>
              <a:ahLst/>
              <a:cxnLst/>
              <a:rect l="l" t="t" r="r" b="b"/>
              <a:pathLst>
                <a:path w="4251959" h="4846320">
                  <a:moveTo>
                    <a:pt x="0" y="54851"/>
                  </a:moveTo>
                  <a:lnTo>
                    <a:pt x="4311" y="33502"/>
                  </a:lnTo>
                  <a:lnTo>
                    <a:pt x="16067" y="16067"/>
                  </a:lnTo>
                  <a:lnTo>
                    <a:pt x="33502" y="4311"/>
                  </a:lnTo>
                  <a:lnTo>
                    <a:pt x="54851" y="0"/>
                  </a:lnTo>
                  <a:lnTo>
                    <a:pt x="4197108" y="0"/>
                  </a:lnTo>
                  <a:lnTo>
                    <a:pt x="4218457" y="4311"/>
                  </a:lnTo>
                  <a:lnTo>
                    <a:pt x="4235892" y="16067"/>
                  </a:lnTo>
                  <a:lnTo>
                    <a:pt x="4247648" y="33502"/>
                  </a:lnTo>
                  <a:lnTo>
                    <a:pt x="4251960" y="54851"/>
                  </a:lnTo>
                  <a:lnTo>
                    <a:pt x="4251960" y="4791468"/>
                  </a:lnTo>
                  <a:lnTo>
                    <a:pt x="4247648" y="4812822"/>
                  </a:lnTo>
                  <a:lnTo>
                    <a:pt x="4235892" y="4830257"/>
                  </a:lnTo>
                  <a:lnTo>
                    <a:pt x="4218457" y="4842010"/>
                  </a:lnTo>
                  <a:lnTo>
                    <a:pt x="4197108" y="4846320"/>
                  </a:lnTo>
                  <a:lnTo>
                    <a:pt x="54851" y="4846320"/>
                  </a:lnTo>
                  <a:lnTo>
                    <a:pt x="33502" y="4842010"/>
                  </a:lnTo>
                  <a:lnTo>
                    <a:pt x="16067" y="4830257"/>
                  </a:lnTo>
                  <a:lnTo>
                    <a:pt x="4311" y="4812822"/>
                  </a:lnTo>
                  <a:lnTo>
                    <a:pt x="0" y="4791468"/>
                  </a:lnTo>
                  <a:lnTo>
                    <a:pt x="0" y="54851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24928" y="1527046"/>
              <a:ext cx="4032885" cy="457200"/>
            </a:xfrm>
            <a:custGeom>
              <a:avLst/>
              <a:gdLst/>
              <a:ahLst/>
              <a:cxnLst/>
              <a:rect l="l" t="t" r="r" b="b"/>
              <a:pathLst>
                <a:path w="4032884" h="457200">
                  <a:moveTo>
                    <a:pt x="398678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3986784" y="457200"/>
                  </a:lnTo>
                  <a:lnTo>
                    <a:pt x="4004579" y="453606"/>
                  </a:lnTo>
                  <a:lnTo>
                    <a:pt x="4019111" y="443807"/>
                  </a:lnTo>
                  <a:lnTo>
                    <a:pt x="4028910" y="429275"/>
                  </a:lnTo>
                  <a:lnTo>
                    <a:pt x="4032504" y="411480"/>
                  </a:lnTo>
                  <a:lnTo>
                    <a:pt x="4032504" y="45720"/>
                  </a:lnTo>
                  <a:lnTo>
                    <a:pt x="4028910" y="27924"/>
                  </a:lnTo>
                  <a:lnTo>
                    <a:pt x="4019111" y="13392"/>
                  </a:lnTo>
                  <a:lnTo>
                    <a:pt x="4004579" y="3593"/>
                  </a:lnTo>
                  <a:lnTo>
                    <a:pt x="398678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24928" y="1527046"/>
              <a:ext cx="4032885" cy="457200"/>
            </a:xfrm>
            <a:custGeom>
              <a:avLst/>
              <a:gdLst/>
              <a:ahLst/>
              <a:cxnLst/>
              <a:rect l="l" t="t" r="r" b="b"/>
              <a:pathLst>
                <a:path w="403288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3986784" y="0"/>
                  </a:lnTo>
                  <a:lnTo>
                    <a:pt x="4004579" y="3593"/>
                  </a:lnTo>
                  <a:lnTo>
                    <a:pt x="4019111" y="13392"/>
                  </a:lnTo>
                  <a:lnTo>
                    <a:pt x="4028910" y="27924"/>
                  </a:lnTo>
                  <a:lnTo>
                    <a:pt x="4032504" y="45720"/>
                  </a:lnTo>
                  <a:lnTo>
                    <a:pt x="4032504" y="411480"/>
                  </a:lnTo>
                  <a:lnTo>
                    <a:pt x="4028910" y="429275"/>
                  </a:lnTo>
                  <a:lnTo>
                    <a:pt x="4019111" y="443807"/>
                  </a:lnTo>
                  <a:lnTo>
                    <a:pt x="4004579" y="453606"/>
                  </a:lnTo>
                  <a:lnTo>
                    <a:pt x="398678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433074" y="1585436"/>
            <a:ext cx="40163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120"/>
              </a:spcBef>
            </a:pPr>
            <a:r>
              <a:rPr sz="1850" b="1" spc="75" dirty="0">
                <a:solidFill>
                  <a:srgbClr val="2D2A5E"/>
                </a:solidFill>
                <a:latin typeface="Trebuchet MS"/>
                <a:cs typeface="Trebuchet MS"/>
              </a:rPr>
              <a:t>Real-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life</a:t>
            </a:r>
            <a:r>
              <a:rPr sz="1850" b="1" spc="-7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example:</a:t>
            </a:r>
            <a:r>
              <a:rPr sz="1850" b="1" spc="-7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120" dirty="0">
                <a:solidFill>
                  <a:srgbClr val="2D2A5E"/>
                </a:solidFill>
                <a:latin typeface="Trebuchet MS"/>
                <a:cs typeface="Trebuchet MS"/>
              </a:rPr>
              <a:t>logging</a:t>
            </a:r>
            <a:r>
              <a:rPr sz="1850" b="1" spc="-4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in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589519" y="2285998"/>
            <a:ext cx="3733800" cy="3735704"/>
            <a:chOff x="7589519" y="2285998"/>
            <a:chExt cx="3733800" cy="3735704"/>
          </a:xfrm>
        </p:grpSpPr>
        <p:sp>
          <p:nvSpPr>
            <p:cNvPr id="43" name="object 43"/>
            <p:cNvSpPr/>
            <p:nvPr/>
          </p:nvSpPr>
          <p:spPr>
            <a:xfrm>
              <a:off x="7589520" y="2285999"/>
              <a:ext cx="3703320" cy="2148840"/>
            </a:xfrm>
            <a:custGeom>
              <a:avLst/>
              <a:gdLst/>
              <a:ahLst/>
              <a:cxnLst/>
              <a:rect l="l" t="t" r="r" b="b"/>
              <a:pathLst>
                <a:path w="3703320" h="2148840">
                  <a:moveTo>
                    <a:pt x="3703320" y="1435608"/>
                  </a:moveTo>
                  <a:lnTo>
                    <a:pt x="3694696" y="1392897"/>
                  </a:lnTo>
                  <a:lnTo>
                    <a:pt x="3671176" y="1358023"/>
                  </a:lnTo>
                  <a:lnTo>
                    <a:pt x="3636302" y="1334503"/>
                  </a:lnTo>
                  <a:lnTo>
                    <a:pt x="3593592" y="1325880"/>
                  </a:lnTo>
                  <a:lnTo>
                    <a:pt x="109728" y="1325880"/>
                  </a:lnTo>
                  <a:lnTo>
                    <a:pt x="67005" y="1334503"/>
                  </a:lnTo>
                  <a:lnTo>
                    <a:pt x="32131" y="1358023"/>
                  </a:lnTo>
                  <a:lnTo>
                    <a:pt x="8610" y="1392897"/>
                  </a:lnTo>
                  <a:lnTo>
                    <a:pt x="0" y="1435608"/>
                  </a:lnTo>
                  <a:lnTo>
                    <a:pt x="0" y="2039112"/>
                  </a:lnTo>
                  <a:lnTo>
                    <a:pt x="8610" y="2081834"/>
                  </a:lnTo>
                  <a:lnTo>
                    <a:pt x="32131" y="2116709"/>
                  </a:lnTo>
                  <a:lnTo>
                    <a:pt x="67005" y="2140216"/>
                  </a:lnTo>
                  <a:lnTo>
                    <a:pt x="109728" y="2148840"/>
                  </a:lnTo>
                  <a:lnTo>
                    <a:pt x="3593592" y="2148840"/>
                  </a:lnTo>
                  <a:lnTo>
                    <a:pt x="3636302" y="2140216"/>
                  </a:lnTo>
                  <a:lnTo>
                    <a:pt x="3671176" y="2116709"/>
                  </a:lnTo>
                  <a:lnTo>
                    <a:pt x="3694696" y="2081834"/>
                  </a:lnTo>
                  <a:lnTo>
                    <a:pt x="3703320" y="2039112"/>
                  </a:lnTo>
                  <a:lnTo>
                    <a:pt x="3703320" y="1435608"/>
                  </a:lnTo>
                  <a:close/>
                </a:path>
                <a:path w="3703320" h="2148840">
                  <a:moveTo>
                    <a:pt x="3703320" y="109728"/>
                  </a:moveTo>
                  <a:lnTo>
                    <a:pt x="3694696" y="67017"/>
                  </a:lnTo>
                  <a:lnTo>
                    <a:pt x="3671176" y="32143"/>
                  </a:lnTo>
                  <a:lnTo>
                    <a:pt x="3636302" y="8623"/>
                  </a:lnTo>
                  <a:lnTo>
                    <a:pt x="3593592" y="0"/>
                  </a:lnTo>
                  <a:lnTo>
                    <a:pt x="109728" y="0"/>
                  </a:lnTo>
                  <a:lnTo>
                    <a:pt x="67005" y="8623"/>
                  </a:lnTo>
                  <a:lnTo>
                    <a:pt x="32131" y="32143"/>
                  </a:lnTo>
                  <a:lnTo>
                    <a:pt x="8610" y="67017"/>
                  </a:lnTo>
                  <a:lnTo>
                    <a:pt x="0" y="109728"/>
                  </a:lnTo>
                  <a:lnTo>
                    <a:pt x="0" y="987552"/>
                  </a:lnTo>
                  <a:lnTo>
                    <a:pt x="8610" y="1030274"/>
                  </a:lnTo>
                  <a:lnTo>
                    <a:pt x="32131" y="1065149"/>
                  </a:lnTo>
                  <a:lnTo>
                    <a:pt x="67005" y="1088656"/>
                  </a:lnTo>
                  <a:lnTo>
                    <a:pt x="109728" y="1097280"/>
                  </a:lnTo>
                  <a:lnTo>
                    <a:pt x="3593592" y="1097280"/>
                  </a:lnTo>
                  <a:lnTo>
                    <a:pt x="3636302" y="1088656"/>
                  </a:lnTo>
                  <a:lnTo>
                    <a:pt x="3671176" y="1065149"/>
                  </a:lnTo>
                  <a:lnTo>
                    <a:pt x="3694696" y="1030274"/>
                  </a:lnTo>
                  <a:lnTo>
                    <a:pt x="3703320" y="987552"/>
                  </a:lnTo>
                  <a:lnTo>
                    <a:pt x="3703320" y="109728"/>
                  </a:lnTo>
                  <a:close/>
                </a:path>
              </a:pathLst>
            </a:custGeom>
            <a:solidFill>
              <a:srgbClr val="F3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9" y="4924042"/>
              <a:ext cx="3703320" cy="109728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323705" y="2379884"/>
            <a:ext cx="4235450" cy="338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8309" marR="765810">
              <a:lnSpc>
                <a:spcPct val="100800"/>
              </a:lnSpc>
              <a:spcBef>
                <a:spcPts val="10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password,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onto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the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network.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850">
              <a:latin typeface="Calibri"/>
              <a:cs typeface="Calibri"/>
            </a:endParaRPr>
          </a:p>
          <a:p>
            <a:pPr marL="448309">
              <a:lnSpc>
                <a:spcPct val="100000"/>
              </a:lnSpc>
            </a:pP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210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210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210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210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D2A5E"/>
                </a:solidFill>
                <a:latin typeface="Calibri"/>
                <a:cs typeface="Calibri"/>
              </a:rPr>
              <a:t>password.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2100">
              <a:latin typeface="Calibri"/>
              <a:cs typeface="Calibri"/>
            </a:endParaRPr>
          </a:p>
          <a:p>
            <a:pPr marL="608330" marR="521970">
              <a:lnSpc>
                <a:spcPct val="101899"/>
              </a:lnSpc>
            </a:pPr>
            <a:r>
              <a:rPr sz="2100" b="1" dirty="0">
                <a:solidFill>
                  <a:srgbClr val="6F2F9F"/>
                </a:solidFill>
                <a:latin typeface="Calibri"/>
                <a:cs typeface="Calibri"/>
              </a:rPr>
              <a:t>Therefore,</a:t>
            </a:r>
            <a:r>
              <a:rPr sz="21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libri"/>
                <a:cs typeface="Calibri"/>
              </a:rPr>
              <a:t>you</a:t>
            </a:r>
            <a:r>
              <a:rPr sz="21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1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libri"/>
                <a:cs typeface="Calibri"/>
              </a:rPr>
              <a:t>log</a:t>
            </a:r>
            <a:r>
              <a:rPr sz="21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100" b="1" spc="-20" dirty="0">
                <a:solidFill>
                  <a:srgbClr val="6F2F9F"/>
                </a:solidFill>
                <a:latin typeface="Calibri"/>
                <a:cs typeface="Calibri"/>
              </a:rPr>
              <a:t>onto </a:t>
            </a:r>
            <a:r>
              <a:rPr sz="21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1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6F2F9F"/>
                </a:solidFill>
                <a:latin typeface="Calibri"/>
                <a:cs typeface="Calibri"/>
              </a:rPr>
              <a:t>network.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4</a:t>
            </a:fld>
            <a:r>
              <a:rPr spc="-2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95" dirty="0"/>
              <a:t>Valid</a:t>
            </a:r>
            <a:r>
              <a:rPr spc="-200" dirty="0"/>
              <a:t> </a:t>
            </a:r>
            <a:r>
              <a:rPr spc="120" dirty="0"/>
              <a:t>arguments</a:t>
            </a:r>
            <a:r>
              <a:rPr spc="-204" dirty="0"/>
              <a:t> </a:t>
            </a:r>
            <a:r>
              <a:rPr spc="-35" dirty="0"/>
              <a:t>in</a:t>
            </a:r>
            <a:r>
              <a:rPr spc="-175" dirty="0"/>
              <a:t> </a:t>
            </a:r>
            <a:r>
              <a:rPr spc="55" dirty="0"/>
              <a:t>propositional</a:t>
            </a:r>
            <a:r>
              <a:rPr spc="-175" dirty="0"/>
              <a:t> </a:t>
            </a:r>
            <a:r>
              <a:rPr spc="130" dirty="0"/>
              <a:t>logic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45431"/>
            <a:ext cx="7721600" cy="1832610"/>
            <a:chOff x="633730" y="1345431"/>
            <a:chExt cx="7721600" cy="1832610"/>
          </a:xfrm>
        </p:grpSpPr>
        <p:sp>
          <p:nvSpPr>
            <p:cNvPr id="4" name="object 4"/>
            <p:cNvSpPr/>
            <p:nvPr/>
          </p:nvSpPr>
          <p:spPr>
            <a:xfrm>
              <a:off x="674352" y="1376141"/>
              <a:ext cx="7680959" cy="1801495"/>
            </a:xfrm>
            <a:custGeom>
              <a:avLst/>
              <a:gdLst/>
              <a:ahLst/>
              <a:cxnLst/>
              <a:rect l="l" t="t" r="r" b="b"/>
              <a:pathLst>
                <a:path w="7680959" h="1801495">
                  <a:moveTo>
                    <a:pt x="762609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746491"/>
                  </a:lnTo>
                  <a:lnTo>
                    <a:pt x="4311" y="1767849"/>
                  </a:lnTo>
                  <a:lnTo>
                    <a:pt x="16068" y="1785292"/>
                  </a:lnTo>
                  <a:lnTo>
                    <a:pt x="33507" y="1797054"/>
                  </a:lnTo>
                  <a:lnTo>
                    <a:pt x="54864" y="1801368"/>
                  </a:lnTo>
                  <a:lnTo>
                    <a:pt x="7626096" y="1801368"/>
                  </a:lnTo>
                  <a:lnTo>
                    <a:pt x="7647452" y="1797054"/>
                  </a:lnTo>
                  <a:lnTo>
                    <a:pt x="7664891" y="1785292"/>
                  </a:lnTo>
                  <a:lnTo>
                    <a:pt x="7676648" y="1767849"/>
                  </a:lnTo>
                  <a:lnTo>
                    <a:pt x="7680959" y="1746491"/>
                  </a:lnTo>
                  <a:lnTo>
                    <a:pt x="7680959" y="54863"/>
                  </a:lnTo>
                  <a:lnTo>
                    <a:pt x="7676648" y="33507"/>
                  </a:lnTo>
                  <a:lnTo>
                    <a:pt x="7664891" y="16068"/>
                  </a:lnTo>
                  <a:lnTo>
                    <a:pt x="7647452" y="4311"/>
                  </a:lnTo>
                  <a:lnTo>
                    <a:pt x="762609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51781"/>
              <a:ext cx="7680959" cy="1801495"/>
            </a:xfrm>
            <a:custGeom>
              <a:avLst/>
              <a:gdLst/>
              <a:ahLst/>
              <a:cxnLst/>
              <a:rect l="l" t="t" r="r" b="b"/>
              <a:pathLst>
                <a:path w="7680959" h="1801495">
                  <a:moveTo>
                    <a:pt x="762609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746491"/>
                  </a:lnTo>
                  <a:lnTo>
                    <a:pt x="4311" y="1767849"/>
                  </a:lnTo>
                  <a:lnTo>
                    <a:pt x="16068" y="1785292"/>
                  </a:lnTo>
                  <a:lnTo>
                    <a:pt x="33507" y="1797054"/>
                  </a:lnTo>
                  <a:lnTo>
                    <a:pt x="54864" y="1801368"/>
                  </a:lnTo>
                  <a:lnTo>
                    <a:pt x="7626096" y="1801368"/>
                  </a:lnTo>
                  <a:lnTo>
                    <a:pt x="7647452" y="1797054"/>
                  </a:lnTo>
                  <a:lnTo>
                    <a:pt x="7664891" y="1785292"/>
                  </a:lnTo>
                  <a:lnTo>
                    <a:pt x="7676648" y="1767849"/>
                  </a:lnTo>
                  <a:lnTo>
                    <a:pt x="7680959" y="1746491"/>
                  </a:lnTo>
                  <a:lnTo>
                    <a:pt x="7680959" y="54863"/>
                  </a:lnTo>
                  <a:lnTo>
                    <a:pt x="7676648" y="33507"/>
                  </a:lnTo>
                  <a:lnTo>
                    <a:pt x="7664891" y="16068"/>
                  </a:lnTo>
                  <a:lnTo>
                    <a:pt x="7647452" y="4311"/>
                  </a:lnTo>
                  <a:lnTo>
                    <a:pt x="7626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51781"/>
              <a:ext cx="7680959" cy="1801495"/>
            </a:xfrm>
            <a:custGeom>
              <a:avLst/>
              <a:gdLst/>
              <a:ahLst/>
              <a:cxnLst/>
              <a:rect l="l" t="t" r="r" b="b"/>
              <a:pathLst>
                <a:path w="7680959" h="1801495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7626096" y="0"/>
                  </a:lnTo>
                  <a:lnTo>
                    <a:pt x="7647452" y="4311"/>
                  </a:lnTo>
                  <a:lnTo>
                    <a:pt x="7664891" y="16068"/>
                  </a:lnTo>
                  <a:lnTo>
                    <a:pt x="7676648" y="33507"/>
                  </a:lnTo>
                  <a:lnTo>
                    <a:pt x="7680959" y="54863"/>
                  </a:lnTo>
                  <a:lnTo>
                    <a:pt x="7680959" y="1746491"/>
                  </a:lnTo>
                  <a:lnTo>
                    <a:pt x="7676648" y="1767849"/>
                  </a:lnTo>
                  <a:lnTo>
                    <a:pt x="7664891" y="1785292"/>
                  </a:lnTo>
                  <a:lnTo>
                    <a:pt x="7647452" y="1797054"/>
                  </a:lnTo>
                  <a:lnTo>
                    <a:pt x="7626096" y="1801368"/>
                  </a:lnTo>
                  <a:lnTo>
                    <a:pt x="54864" y="1801368"/>
                  </a:lnTo>
                  <a:lnTo>
                    <a:pt x="33507" y="1797054"/>
                  </a:lnTo>
                  <a:lnTo>
                    <a:pt x="16068" y="1785292"/>
                  </a:lnTo>
                  <a:lnTo>
                    <a:pt x="4311" y="1767849"/>
                  </a:lnTo>
                  <a:lnTo>
                    <a:pt x="0" y="1746491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8585" y="1480820"/>
            <a:ext cx="7664450" cy="1645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01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FF7045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01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1850" spc="-7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password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onto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network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010"/>
              </a:lnSpc>
              <a:spcBef>
                <a:spcPts val="229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01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1850" spc="-6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password,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onto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network.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password.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onto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network?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080" y="3291841"/>
            <a:ext cx="7680959" cy="713740"/>
          </a:xfrm>
          <a:custGeom>
            <a:avLst/>
            <a:gdLst/>
            <a:ahLst/>
            <a:cxnLst/>
            <a:rect l="l" t="t" r="r" b="b"/>
            <a:pathLst>
              <a:path w="7680959" h="713739">
                <a:moveTo>
                  <a:pt x="755294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5"/>
                </a:lnTo>
                <a:lnTo>
                  <a:pt x="0" y="585215"/>
                </a:lnTo>
                <a:lnTo>
                  <a:pt x="10060" y="635045"/>
                </a:lnTo>
                <a:lnTo>
                  <a:pt x="37495" y="675736"/>
                </a:lnTo>
                <a:lnTo>
                  <a:pt x="78186" y="703171"/>
                </a:lnTo>
                <a:lnTo>
                  <a:pt x="128016" y="713231"/>
                </a:lnTo>
                <a:lnTo>
                  <a:pt x="7552944" y="713231"/>
                </a:lnTo>
                <a:lnTo>
                  <a:pt x="7602773" y="703171"/>
                </a:lnTo>
                <a:lnTo>
                  <a:pt x="7643464" y="675736"/>
                </a:lnTo>
                <a:lnTo>
                  <a:pt x="7670899" y="635045"/>
                </a:lnTo>
                <a:lnTo>
                  <a:pt x="7680959" y="585215"/>
                </a:lnTo>
                <a:lnTo>
                  <a:pt x="7680959" y="128015"/>
                </a:lnTo>
                <a:lnTo>
                  <a:pt x="7670899" y="78186"/>
                </a:lnTo>
                <a:lnTo>
                  <a:pt x="7643464" y="37495"/>
                </a:lnTo>
                <a:lnTo>
                  <a:pt x="7602773" y="10060"/>
                </a:lnTo>
                <a:lnTo>
                  <a:pt x="7552944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1700" y="3436111"/>
            <a:ext cx="751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400" spc="-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4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0500" y="3335972"/>
            <a:ext cx="517969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 current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password,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onto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network.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0080" y="4114801"/>
            <a:ext cx="7680959" cy="713740"/>
          </a:xfrm>
          <a:custGeom>
            <a:avLst/>
            <a:gdLst/>
            <a:ahLst/>
            <a:cxnLst/>
            <a:rect l="l" t="t" r="r" b="b"/>
            <a:pathLst>
              <a:path w="7680959" h="713739">
                <a:moveTo>
                  <a:pt x="755294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6"/>
                </a:lnTo>
                <a:lnTo>
                  <a:pt x="0" y="585216"/>
                </a:lnTo>
                <a:lnTo>
                  <a:pt x="10060" y="635045"/>
                </a:lnTo>
                <a:lnTo>
                  <a:pt x="37495" y="675736"/>
                </a:lnTo>
                <a:lnTo>
                  <a:pt x="78186" y="703171"/>
                </a:lnTo>
                <a:lnTo>
                  <a:pt x="128016" y="713232"/>
                </a:lnTo>
                <a:lnTo>
                  <a:pt x="7552944" y="713232"/>
                </a:lnTo>
                <a:lnTo>
                  <a:pt x="7602773" y="703171"/>
                </a:lnTo>
                <a:lnTo>
                  <a:pt x="7643464" y="675736"/>
                </a:lnTo>
                <a:lnTo>
                  <a:pt x="7670899" y="635045"/>
                </a:lnTo>
                <a:lnTo>
                  <a:pt x="7680959" y="585216"/>
                </a:lnTo>
                <a:lnTo>
                  <a:pt x="7680959" y="128016"/>
                </a:lnTo>
                <a:lnTo>
                  <a:pt x="7670899" y="78186"/>
                </a:lnTo>
                <a:lnTo>
                  <a:pt x="7643464" y="37495"/>
                </a:lnTo>
                <a:lnTo>
                  <a:pt x="7602773" y="10060"/>
                </a:lnTo>
                <a:lnTo>
                  <a:pt x="7552944" y="0"/>
                </a:lnTo>
                <a:close/>
              </a:path>
            </a:pathLst>
          </a:custGeom>
          <a:solidFill>
            <a:srgbClr val="B8E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01700" y="425907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30500" y="4301204"/>
            <a:ext cx="284543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current</a:t>
            </a:r>
            <a:r>
              <a:rPr sz="1850" spc="-7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password.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0080" y="4937761"/>
            <a:ext cx="7680959" cy="713740"/>
          </a:xfrm>
          <a:custGeom>
            <a:avLst/>
            <a:gdLst/>
            <a:ahLst/>
            <a:cxnLst/>
            <a:rect l="l" t="t" r="r" b="b"/>
            <a:pathLst>
              <a:path w="7680959" h="713739">
                <a:moveTo>
                  <a:pt x="755294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6"/>
                </a:lnTo>
                <a:lnTo>
                  <a:pt x="0" y="585216"/>
                </a:lnTo>
                <a:lnTo>
                  <a:pt x="10060" y="635045"/>
                </a:lnTo>
                <a:lnTo>
                  <a:pt x="37495" y="675736"/>
                </a:lnTo>
                <a:lnTo>
                  <a:pt x="78186" y="703171"/>
                </a:lnTo>
                <a:lnTo>
                  <a:pt x="128016" y="713232"/>
                </a:lnTo>
                <a:lnTo>
                  <a:pt x="7552944" y="713232"/>
                </a:lnTo>
                <a:lnTo>
                  <a:pt x="7602773" y="703171"/>
                </a:lnTo>
                <a:lnTo>
                  <a:pt x="7643464" y="675736"/>
                </a:lnTo>
                <a:lnTo>
                  <a:pt x="7670899" y="635045"/>
                </a:lnTo>
                <a:lnTo>
                  <a:pt x="7680959" y="585216"/>
                </a:lnTo>
                <a:lnTo>
                  <a:pt x="7680959" y="128016"/>
                </a:lnTo>
                <a:lnTo>
                  <a:pt x="7670899" y="78186"/>
                </a:lnTo>
                <a:lnTo>
                  <a:pt x="7643464" y="37495"/>
                </a:lnTo>
                <a:lnTo>
                  <a:pt x="7602773" y="10060"/>
                </a:lnTo>
                <a:lnTo>
                  <a:pt x="7552944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1700" y="5082032"/>
            <a:ext cx="429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mbria Math"/>
                <a:cs typeface="Cambria Math"/>
              </a:rPr>
              <a:t>∴</a:t>
            </a:r>
            <a:r>
              <a:rPr sz="2400" b="1" spc="-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mbria Math"/>
                <a:cs typeface="Cambria Math"/>
              </a:rPr>
              <a:t>q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0500" y="5124164"/>
            <a:ext cx="405828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Therefore,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log onto</a:t>
            </a:r>
            <a:r>
              <a:rPr sz="18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network.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080" y="5806442"/>
            <a:ext cx="7680959" cy="457200"/>
          </a:xfrm>
          <a:custGeom>
            <a:avLst/>
            <a:gdLst/>
            <a:ahLst/>
            <a:cxnLst/>
            <a:rect l="l" t="t" r="r" b="b"/>
            <a:pathLst>
              <a:path w="7680959" h="457200">
                <a:moveTo>
                  <a:pt x="7571232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8"/>
                </a:lnTo>
                <a:lnTo>
                  <a:pt x="0" y="347472"/>
                </a:lnTo>
                <a:lnTo>
                  <a:pt x="8622" y="390179"/>
                </a:lnTo>
                <a:lnTo>
                  <a:pt x="32137" y="425057"/>
                </a:lnTo>
                <a:lnTo>
                  <a:pt x="67015" y="448575"/>
                </a:lnTo>
                <a:lnTo>
                  <a:pt x="109728" y="457200"/>
                </a:lnTo>
                <a:lnTo>
                  <a:pt x="7571232" y="457200"/>
                </a:lnTo>
                <a:lnTo>
                  <a:pt x="7613944" y="448575"/>
                </a:lnTo>
                <a:lnTo>
                  <a:pt x="7648822" y="425057"/>
                </a:lnTo>
                <a:lnTo>
                  <a:pt x="7672337" y="390179"/>
                </a:lnTo>
                <a:lnTo>
                  <a:pt x="7680959" y="347472"/>
                </a:lnTo>
                <a:lnTo>
                  <a:pt x="7680959" y="109728"/>
                </a:lnTo>
                <a:lnTo>
                  <a:pt x="7672337" y="67015"/>
                </a:lnTo>
                <a:lnTo>
                  <a:pt x="7648822" y="32137"/>
                </a:lnTo>
                <a:lnTo>
                  <a:pt x="7613944" y="8622"/>
                </a:lnTo>
                <a:lnTo>
                  <a:pt x="7571232" y="0"/>
                </a:lnTo>
                <a:close/>
              </a:path>
            </a:pathLst>
          </a:custGeom>
          <a:solidFill>
            <a:srgbClr val="FFE9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5980" y="5866352"/>
            <a:ext cx="64668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(p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b="1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(p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→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q))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→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b="1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b="1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tautology,</a:t>
            </a:r>
            <a:r>
              <a:rPr sz="1850" b="1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b="1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conclusion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must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true.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80450" y="1365255"/>
            <a:ext cx="2950845" cy="3133725"/>
            <a:chOff x="8680450" y="1365255"/>
            <a:chExt cx="2950845" cy="3133725"/>
          </a:xfrm>
        </p:grpSpPr>
        <p:sp>
          <p:nvSpPr>
            <p:cNvPr id="20" name="object 20"/>
            <p:cNvSpPr/>
            <p:nvPr/>
          </p:nvSpPr>
          <p:spPr>
            <a:xfrm>
              <a:off x="8750807" y="1435613"/>
              <a:ext cx="2880360" cy="3063240"/>
            </a:xfrm>
            <a:custGeom>
              <a:avLst/>
              <a:gdLst/>
              <a:ahLst/>
              <a:cxnLst/>
              <a:rect l="l" t="t" r="r" b="b"/>
              <a:pathLst>
                <a:path w="2880359" h="3063240">
                  <a:moveTo>
                    <a:pt x="282549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3008363"/>
                  </a:lnTo>
                  <a:lnTo>
                    <a:pt x="4311" y="3029721"/>
                  </a:lnTo>
                  <a:lnTo>
                    <a:pt x="16068" y="3047164"/>
                  </a:lnTo>
                  <a:lnTo>
                    <a:pt x="33507" y="3058926"/>
                  </a:lnTo>
                  <a:lnTo>
                    <a:pt x="54864" y="3063240"/>
                  </a:lnTo>
                  <a:lnTo>
                    <a:pt x="2825496" y="3063240"/>
                  </a:lnTo>
                  <a:lnTo>
                    <a:pt x="2846852" y="3058926"/>
                  </a:lnTo>
                  <a:lnTo>
                    <a:pt x="2864291" y="3047164"/>
                  </a:lnTo>
                  <a:lnTo>
                    <a:pt x="2876048" y="3029721"/>
                  </a:lnTo>
                  <a:lnTo>
                    <a:pt x="2880360" y="3008363"/>
                  </a:lnTo>
                  <a:lnTo>
                    <a:pt x="2880360" y="54863"/>
                  </a:lnTo>
                  <a:lnTo>
                    <a:pt x="2876048" y="33507"/>
                  </a:lnTo>
                  <a:lnTo>
                    <a:pt x="2864291" y="16068"/>
                  </a:lnTo>
                  <a:lnTo>
                    <a:pt x="2846852" y="4311"/>
                  </a:lnTo>
                  <a:lnTo>
                    <a:pt x="282549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86800" y="1371605"/>
              <a:ext cx="2880360" cy="3063240"/>
            </a:xfrm>
            <a:custGeom>
              <a:avLst/>
              <a:gdLst/>
              <a:ahLst/>
              <a:cxnLst/>
              <a:rect l="l" t="t" r="r" b="b"/>
              <a:pathLst>
                <a:path w="2880359" h="3063240">
                  <a:moveTo>
                    <a:pt x="282549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3008363"/>
                  </a:lnTo>
                  <a:lnTo>
                    <a:pt x="4311" y="3029721"/>
                  </a:lnTo>
                  <a:lnTo>
                    <a:pt x="16068" y="3047164"/>
                  </a:lnTo>
                  <a:lnTo>
                    <a:pt x="33507" y="3058926"/>
                  </a:lnTo>
                  <a:lnTo>
                    <a:pt x="54864" y="3063240"/>
                  </a:lnTo>
                  <a:lnTo>
                    <a:pt x="2825496" y="3063240"/>
                  </a:lnTo>
                  <a:lnTo>
                    <a:pt x="2846852" y="3058926"/>
                  </a:lnTo>
                  <a:lnTo>
                    <a:pt x="2864291" y="3047164"/>
                  </a:lnTo>
                  <a:lnTo>
                    <a:pt x="2876048" y="3029721"/>
                  </a:lnTo>
                  <a:lnTo>
                    <a:pt x="2880360" y="3008363"/>
                  </a:lnTo>
                  <a:lnTo>
                    <a:pt x="2880360" y="54863"/>
                  </a:lnTo>
                  <a:lnTo>
                    <a:pt x="2876048" y="33507"/>
                  </a:lnTo>
                  <a:lnTo>
                    <a:pt x="2864291" y="16068"/>
                  </a:lnTo>
                  <a:lnTo>
                    <a:pt x="2846852" y="4311"/>
                  </a:lnTo>
                  <a:lnTo>
                    <a:pt x="2825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86800" y="1371605"/>
              <a:ext cx="2880360" cy="3063240"/>
            </a:xfrm>
            <a:custGeom>
              <a:avLst/>
              <a:gdLst/>
              <a:ahLst/>
              <a:cxnLst/>
              <a:rect l="l" t="t" r="r" b="b"/>
              <a:pathLst>
                <a:path w="2880359" h="30632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2825496" y="0"/>
                  </a:lnTo>
                  <a:lnTo>
                    <a:pt x="2846852" y="4311"/>
                  </a:lnTo>
                  <a:lnTo>
                    <a:pt x="2864291" y="16068"/>
                  </a:lnTo>
                  <a:lnTo>
                    <a:pt x="2876048" y="33507"/>
                  </a:lnTo>
                  <a:lnTo>
                    <a:pt x="2880360" y="54863"/>
                  </a:lnTo>
                  <a:lnTo>
                    <a:pt x="2880360" y="3008363"/>
                  </a:lnTo>
                  <a:lnTo>
                    <a:pt x="2876048" y="3029721"/>
                  </a:lnTo>
                  <a:lnTo>
                    <a:pt x="2864291" y="3047164"/>
                  </a:lnTo>
                  <a:lnTo>
                    <a:pt x="2846852" y="3058926"/>
                  </a:lnTo>
                  <a:lnTo>
                    <a:pt x="2825496" y="3063240"/>
                  </a:lnTo>
                  <a:lnTo>
                    <a:pt x="54864" y="3063240"/>
                  </a:lnTo>
                  <a:lnTo>
                    <a:pt x="33507" y="3058926"/>
                  </a:lnTo>
                  <a:lnTo>
                    <a:pt x="16068" y="3047164"/>
                  </a:lnTo>
                  <a:lnTo>
                    <a:pt x="4311" y="3029721"/>
                  </a:lnTo>
                  <a:lnTo>
                    <a:pt x="0" y="3008363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96528" y="1481327"/>
              <a:ext cx="2661285" cy="457200"/>
            </a:xfrm>
            <a:custGeom>
              <a:avLst/>
              <a:gdLst/>
              <a:ahLst/>
              <a:cxnLst/>
              <a:rect l="l" t="t" r="r" b="b"/>
              <a:pathLst>
                <a:path w="2661284" h="457200">
                  <a:moveTo>
                    <a:pt x="261518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615184" y="457200"/>
                  </a:lnTo>
                  <a:lnTo>
                    <a:pt x="2632979" y="453606"/>
                  </a:lnTo>
                  <a:lnTo>
                    <a:pt x="2647511" y="443807"/>
                  </a:lnTo>
                  <a:lnTo>
                    <a:pt x="2657310" y="429275"/>
                  </a:lnTo>
                  <a:lnTo>
                    <a:pt x="2660904" y="411480"/>
                  </a:lnTo>
                  <a:lnTo>
                    <a:pt x="2660904" y="45720"/>
                  </a:lnTo>
                  <a:lnTo>
                    <a:pt x="2657310" y="27924"/>
                  </a:lnTo>
                  <a:lnTo>
                    <a:pt x="2647511" y="13392"/>
                  </a:lnTo>
                  <a:lnTo>
                    <a:pt x="2632979" y="3593"/>
                  </a:lnTo>
                  <a:lnTo>
                    <a:pt x="261518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96528" y="1481326"/>
              <a:ext cx="2661285" cy="457200"/>
            </a:xfrm>
            <a:custGeom>
              <a:avLst/>
              <a:gdLst/>
              <a:ahLst/>
              <a:cxnLst/>
              <a:rect l="l" t="t" r="r" b="b"/>
              <a:pathLst>
                <a:path w="266128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615184" y="0"/>
                  </a:lnTo>
                  <a:lnTo>
                    <a:pt x="2632979" y="3593"/>
                  </a:lnTo>
                  <a:lnTo>
                    <a:pt x="2647511" y="13392"/>
                  </a:lnTo>
                  <a:lnTo>
                    <a:pt x="2657310" y="27924"/>
                  </a:lnTo>
                  <a:lnTo>
                    <a:pt x="2660904" y="45720"/>
                  </a:lnTo>
                  <a:lnTo>
                    <a:pt x="2660904" y="411480"/>
                  </a:lnTo>
                  <a:lnTo>
                    <a:pt x="2657310" y="429275"/>
                  </a:lnTo>
                  <a:lnTo>
                    <a:pt x="2647511" y="443807"/>
                  </a:lnTo>
                  <a:lnTo>
                    <a:pt x="2632979" y="453606"/>
                  </a:lnTo>
                  <a:lnTo>
                    <a:pt x="261518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04674" y="1541240"/>
            <a:ext cx="26447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Truth</a:t>
            </a:r>
            <a:r>
              <a:rPr sz="1850" b="1" spc="-1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table: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105" dirty="0">
                <a:solidFill>
                  <a:srgbClr val="2D2A5E"/>
                </a:solidFill>
                <a:latin typeface="Trebuchet MS"/>
                <a:cs typeface="Trebuchet MS"/>
              </a:rPr>
              <a:t>p</a:t>
            </a:r>
            <a:r>
              <a:rPr sz="1850" b="1" spc="-9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imes New Roman"/>
                <a:cs typeface="Times New Roman"/>
              </a:rPr>
              <a:t>→</a:t>
            </a:r>
            <a:r>
              <a:rPr sz="1850" b="1" spc="-10" dirty="0">
                <a:solidFill>
                  <a:srgbClr val="2D2A5E"/>
                </a:solidFill>
                <a:latin typeface="Times New Roman"/>
                <a:cs typeface="Times New Roman"/>
              </a:rPr>
              <a:t> </a:t>
            </a:r>
            <a:r>
              <a:rPr sz="1850" b="1" spc="55" dirty="0">
                <a:solidFill>
                  <a:srgbClr val="2D2A5E"/>
                </a:solidFill>
                <a:latin typeface="Trebuchet MS"/>
                <a:cs typeface="Trebuchet MS"/>
              </a:rPr>
              <a:t>q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69680" y="2103117"/>
            <a:ext cx="2514600" cy="2057400"/>
            <a:chOff x="8869680" y="2103117"/>
            <a:chExt cx="2514600" cy="2057400"/>
          </a:xfrm>
        </p:grpSpPr>
        <p:sp>
          <p:nvSpPr>
            <p:cNvPr id="27" name="object 27"/>
            <p:cNvSpPr/>
            <p:nvPr/>
          </p:nvSpPr>
          <p:spPr>
            <a:xfrm>
              <a:off x="8869680" y="2103119"/>
              <a:ext cx="2514600" cy="411480"/>
            </a:xfrm>
            <a:custGeom>
              <a:avLst/>
              <a:gdLst/>
              <a:ahLst/>
              <a:cxnLst/>
              <a:rect l="l" t="t" r="r" b="b"/>
              <a:pathLst>
                <a:path w="2514600" h="411480">
                  <a:moveTo>
                    <a:pt x="2514600" y="18288"/>
                  </a:moveTo>
                  <a:lnTo>
                    <a:pt x="2513152" y="11176"/>
                  </a:lnTo>
                  <a:lnTo>
                    <a:pt x="2509240" y="5359"/>
                  </a:lnTo>
                  <a:lnTo>
                    <a:pt x="2503424" y="1447"/>
                  </a:lnTo>
                  <a:lnTo>
                    <a:pt x="2496312" y="0"/>
                  </a:lnTo>
                  <a:lnTo>
                    <a:pt x="1481328" y="0"/>
                  </a:lnTo>
                  <a:lnTo>
                    <a:pt x="1474203" y="1447"/>
                  </a:lnTo>
                  <a:lnTo>
                    <a:pt x="1468386" y="5359"/>
                  </a:lnTo>
                  <a:lnTo>
                    <a:pt x="1464475" y="11176"/>
                  </a:lnTo>
                  <a:lnTo>
                    <a:pt x="1463040" y="18288"/>
                  </a:lnTo>
                  <a:lnTo>
                    <a:pt x="1461592" y="11176"/>
                  </a:lnTo>
                  <a:lnTo>
                    <a:pt x="1457680" y="5359"/>
                  </a:lnTo>
                  <a:lnTo>
                    <a:pt x="1451864" y="1447"/>
                  </a:lnTo>
                  <a:lnTo>
                    <a:pt x="1444752" y="0"/>
                  </a:lnTo>
                  <a:lnTo>
                    <a:pt x="749808" y="0"/>
                  </a:lnTo>
                  <a:lnTo>
                    <a:pt x="742683" y="1447"/>
                  </a:lnTo>
                  <a:lnTo>
                    <a:pt x="736866" y="5359"/>
                  </a:lnTo>
                  <a:lnTo>
                    <a:pt x="732955" y="11176"/>
                  </a:lnTo>
                  <a:lnTo>
                    <a:pt x="731520" y="18288"/>
                  </a:lnTo>
                  <a:lnTo>
                    <a:pt x="730072" y="11176"/>
                  </a:lnTo>
                  <a:lnTo>
                    <a:pt x="726160" y="5359"/>
                  </a:lnTo>
                  <a:lnTo>
                    <a:pt x="720344" y="1447"/>
                  </a:lnTo>
                  <a:lnTo>
                    <a:pt x="713232" y="0"/>
                  </a:lnTo>
                  <a:lnTo>
                    <a:pt x="18288" y="0"/>
                  </a:lnTo>
                  <a:lnTo>
                    <a:pt x="11163" y="1447"/>
                  </a:lnTo>
                  <a:lnTo>
                    <a:pt x="5346" y="5359"/>
                  </a:lnTo>
                  <a:lnTo>
                    <a:pt x="1435" y="11176"/>
                  </a:lnTo>
                  <a:lnTo>
                    <a:pt x="0" y="18288"/>
                  </a:lnTo>
                  <a:lnTo>
                    <a:pt x="0" y="393192"/>
                  </a:lnTo>
                  <a:lnTo>
                    <a:pt x="1435" y="400316"/>
                  </a:lnTo>
                  <a:lnTo>
                    <a:pt x="5346" y="406133"/>
                  </a:lnTo>
                  <a:lnTo>
                    <a:pt x="11163" y="410044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4" y="410044"/>
                  </a:lnTo>
                  <a:lnTo>
                    <a:pt x="726160" y="406133"/>
                  </a:lnTo>
                  <a:lnTo>
                    <a:pt x="730072" y="400316"/>
                  </a:lnTo>
                  <a:lnTo>
                    <a:pt x="731520" y="393192"/>
                  </a:lnTo>
                  <a:lnTo>
                    <a:pt x="732955" y="400316"/>
                  </a:lnTo>
                  <a:lnTo>
                    <a:pt x="736866" y="406133"/>
                  </a:lnTo>
                  <a:lnTo>
                    <a:pt x="742683" y="410044"/>
                  </a:lnTo>
                  <a:lnTo>
                    <a:pt x="749808" y="411480"/>
                  </a:lnTo>
                  <a:lnTo>
                    <a:pt x="1444752" y="411480"/>
                  </a:lnTo>
                  <a:lnTo>
                    <a:pt x="1451864" y="410044"/>
                  </a:lnTo>
                  <a:lnTo>
                    <a:pt x="1457680" y="406133"/>
                  </a:lnTo>
                  <a:lnTo>
                    <a:pt x="1461592" y="400316"/>
                  </a:lnTo>
                  <a:lnTo>
                    <a:pt x="1463040" y="393192"/>
                  </a:lnTo>
                  <a:lnTo>
                    <a:pt x="1464475" y="400316"/>
                  </a:lnTo>
                  <a:lnTo>
                    <a:pt x="1468386" y="406120"/>
                  </a:lnTo>
                  <a:lnTo>
                    <a:pt x="1474203" y="410044"/>
                  </a:lnTo>
                  <a:lnTo>
                    <a:pt x="1481328" y="411480"/>
                  </a:lnTo>
                  <a:lnTo>
                    <a:pt x="2496312" y="411480"/>
                  </a:lnTo>
                  <a:lnTo>
                    <a:pt x="2503424" y="410044"/>
                  </a:lnTo>
                  <a:lnTo>
                    <a:pt x="2509240" y="406120"/>
                  </a:lnTo>
                  <a:lnTo>
                    <a:pt x="2513152" y="400316"/>
                  </a:lnTo>
                  <a:lnTo>
                    <a:pt x="2514600" y="393192"/>
                  </a:lnTo>
                  <a:lnTo>
                    <a:pt x="2514600" y="18288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69680" y="251459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80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01200" y="251459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80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32720" y="2514597"/>
              <a:ext cx="1051560" cy="411480"/>
            </a:xfrm>
            <a:custGeom>
              <a:avLst/>
              <a:gdLst/>
              <a:ahLst/>
              <a:cxnLst/>
              <a:rect l="l" t="t" r="r" b="b"/>
              <a:pathLst>
                <a:path w="1051559" h="411480">
                  <a:moveTo>
                    <a:pt x="103327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1033272" y="411480"/>
                  </a:lnTo>
                  <a:lnTo>
                    <a:pt x="1040388" y="410042"/>
                  </a:lnTo>
                  <a:lnTo>
                    <a:pt x="1046202" y="406122"/>
                  </a:lnTo>
                  <a:lnTo>
                    <a:pt x="1050122" y="400308"/>
                  </a:lnTo>
                  <a:lnTo>
                    <a:pt x="1051560" y="393191"/>
                  </a:lnTo>
                  <a:lnTo>
                    <a:pt x="1051560" y="18287"/>
                  </a:lnTo>
                  <a:lnTo>
                    <a:pt x="1050122" y="11171"/>
                  </a:lnTo>
                  <a:lnTo>
                    <a:pt x="1046202" y="5357"/>
                  </a:lnTo>
                  <a:lnTo>
                    <a:pt x="1040388" y="1437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69680" y="292607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79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E2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01200" y="292607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79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E2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32720" y="2926077"/>
              <a:ext cx="1051560" cy="411480"/>
            </a:xfrm>
            <a:custGeom>
              <a:avLst/>
              <a:gdLst/>
              <a:ahLst/>
              <a:cxnLst/>
              <a:rect l="l" t="t" r="r" b="b"/>
              <a:pathLst>
                <a:path w="1051559" h="411479">
                  <a:moveTo>
                    <a:pt x="103327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1033272" y="411480"/>
                  </a:lnTo>
                  <a:lnTo>
                    <a:pt x="1040388" y="410042"/>
                  </a:lnTo>
                  <a:lnTo>
                    <a:pt x="1046202" y="406122"/>
                  </a:lnTo>
                  <a:lnTo>
                    <a:pt x="1050122" y="400308"/>
                  </a:lnTo>
                  <a:lnTo>
                    <a:pt x="1051560" y="393191"/>
                  </a:lnTo>
                  <a:lnTo>
                    <a:pt x="1051560" y="18287"/>
                  </a:lnTo>
                  <a:lnTo>
                    <a:pt x="1050122" y="11171"/>
                  </a:lnTo>
                  <a:lnTo>
                    <a:pt x="1046202" y="5357"/>
                  </a:lnTo>
                  <a:lnTo>
                    <a:pt x="1040388" y="1437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E2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69680" y="333755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79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601200" y="333755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79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69680" y="3337559"/>
              <a:ext cx="2514600" cy="822960"/>
            </a:xfrm>
            <a:custGeom>
              <a:avLst/>
              <a:gdLst/>
              <a:ahLst/>
              <a:cxnLst/>
              <a:rect l="l" t="t" r="r" b="b"/>
              <a:pathLst>
                <a:path w="2514600" h="822960">
                  <a:moveTo>
                    <a:pt x="731520" y="429768"/>
                  </a:moveTo>
                  <a:lnTo>
                    <a:pt x="730072" y="422656"/>
                  </a:lnTo>
                  <a:lnTo>
                    <a:pt x="726160" y="416839"/>
                  </a:lnTo>
                  <a:lnTo>
                    <a:pt x="720344" y="412927"/>
                  </a:lnTo>
                  <a:lnTo>
                    <a:pt x="713232" y="411480"/>
                  </a:lnTo>
                  <a:lnTo>
                    <a:pt x="18288" y="411480"/>
                  </a:lnTo>
                  <a:lnTo>
                    <a:pt x="11163" y="412927"/>
                  </a:lnTo>
                  <a:lnTo>
                    <a:pt x="5346" y="416839"/>
                  </a:lnTo>
                  <a:lnTo>
                    <a:pt x="1435" y="422656"/>
                  </a:lnTo>
                  <a:lnTo>
                    <a:pt x="0" y="429768"/>
                  </a:lnTo>
                  <a:lnTo>
                    <a:pt x="0" y="804672"/>
                  </a:lnTo>
                  <a:lnTo>
                    <a:pt x="1435" y="811796"/>
                  </a:lnTo>
                  <a:lnTo>
                    <a:pt x="5346" y="817613"/>
                  </a:lnTo>
                  <a:lnTo>
                    <a:pt x="11163" y="821524"/>
                  </a:lnTo>
                  <a:lnTo>
                    <a:pt x="18288" y="822960"/>
                  </a:lnTo>
                  <a:lnTo>
                    <a:pt x="713232" y="822960"/>
                  </a:lnTo>
                  <a:lnTo>
                    <a:pt x="720344" y="821524"/>
                  </a:lnTo>
                  <a:lnTo>
                    <a:pt x="726160" y="817613"/>
                  </a:lnTo>
                  <a:lnTo>
                    <a:pt x="730072" y="811796"/>
                  </a:lnTo>
                  <a:lnTo>
                    <a:pt x="731520" y="804672"/>
                  </a:lnTo>
                  <a:lnTo>
                    <a:pt x="731520" y="429768"/>
                  </a:lnTo>
                  <a:close/>
                </a:path>
                <a:path w="2514600" h="822960">
                  <a:moveTo>
                    <a:pt x="2514600" y="18288"/>
                  </a:moveTo>
                  <a:lnTo>
                    <a:pt x="2513152" y="11176"/>
                  </a:lnTo>
                  <a:lnTo>
                    <a:pt x="2509240" y="5359"/>
                  </a:lnTo>
                  <a:lnTo>
                    <a:pt x="2503424" y="1447"/>
                  </a:lnTo>
                  <a:lnTo>
                    <a:pt x="2496312" y="0"/>
                  </a:lnTo>
                  <a:lnTo>
                    <a:pt x="1481328" y="0"/>
                  </a:lnTo>
                  <a:lnTo>
                    <a:pt x="1474203" y="1447"/>
                  </a:lnTo>
                  <a:lnTo>
                    <a:pt x="1468386" y="5359"/>
                  </a:lnTo>
                  <a:lnTo>
                    <a:pt x="1464475" y="11176"/>
                  </a:lnTo>
                  <a:lnTo>
                    <a:pt x="1463040" y="18288"/>
                  </a:lnTo>
                  <a:lnTo>
                    <a:pt x="1463040" y="393192"/>
                  </a:lnTo>
                  <a:lnTo>
                    <a:pt x="1464475" y="400316"/>
                  </a:lnTo>
                  <a:lnTo>
                    <a:pt x="1468386" y="406133"/>
                  </a:lnTo>
                  <a:lnTo>
                    <a:pt x="1474203" y="410044"/>
                  </a:lnTo>
                  <a:lnTo>
                    <a:pt x="1481328" y="411480"/>
                  </a:lnTo>
                  <a:lnTo>
                    <a:pt x="2496312" y="411480"/>
                  </a:lnTo>
                  <a:lnTo>
                    <a:pt x="2503424" y="410044"/>
                  </a:lnTo>
                  <a:lnTo>
                    <a:pt x="2509240" y="406133"/>
                  </a:lnTo>
                  <a:lnTo>
                    <a:pt x="2513152" y="400316"/>
                  </a:lnTo>
                  <a:lnTo>
                    <a:pt x="2514600" y="393192"/>
                  </a:lnTo>
                  <a:lnTo>
                    <a:pt x="2514600" y="18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601200" y="3749038"/>
              <a:ext cx="731520" cy="411480"/>
            </a:xfrm>
            <a:custGeom>
              <a:avLst/>
              <a:gdLst/>
              <a:ahLst/>
              <a:cxnLst/>
              <a:rect l="l" t="t" r="r" b="b"/>
              <a:pathLst>
                <a:path w="731520" h="411479">
                  <a:moveTo>
                    <a:pt x="71323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7"/>
                  </a:lnTo>
                  <a:lnTo>
                    <a:pt x="0" y="393191"/>
                  </a:lnTo>
                  <a:lnTo>
                    <a:pt x="1437" y="400308"/>
                  </a:lnTo>
                  <a:lnTo>
                    <a:pt x="5357" y="406122"/>
                  </a:lnTo>
                  <a:lnTo>
                    <a:pt x="11171" y="410042"/>
                  </a:lnTo>
                  <a:lnTo>
                    <a:pt x="18288" y="411480"/>
                  </a:lnTo>
                  <a:lnTo>
                    <a:pt x="713232" y="411480"/>
                  </a:lnTo>
                  <a:lnTo>
                    <a:pt x="720348" y="410042"/>
                  </a:lnTo>
                  <a:lnTo>
                    <a:pt x="726162" y="406122"/>
                  </a:lnTo>
                  <a:lnTo>
                    <a:pt x="730082" y="400308"/>
                  </a:lnTo>
                  <a:lnTo>
                    <a:pt x="731520" y="393191"/>
                  </a:lnTo>
                  <a:lnTo>
                    <a:pt x="731520" y="18287"/>
                  </a:lnTo>
                  <a:lnTo>
                    <a:pt x="730082" y="11171"/>
                  </a:lnTo>
                  <a:lnTo>
                    <a:pt x="726162" y="5357"/>
                  </a:lnTo>
                  <a:lnTo>
                    <a:pt x="720348" y="1437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332720" y="3749037"/>
              <a:ext cx="1051560" cy="411480"/>
            </a:xfrm>
            <a:custGeom>
              <a:avLst/>
              <a:gdLst/>
              <a:ahLst/>
              <a:cxnLst/>
              <a:rect l="l" t="t" r="r" b="b"/>
              <a:pathLst>
                <a:path w="1051559" h="411479">
                  <a:moveTo>
                    <a:pt x="1033272" y="0"/>
                  </a:moveTo>
                  <a:lnTo>
                    <a:pt x="18288" y="0"/>
                  </a:lnTo>
                  <a:lnTo>
                    <a:pt x="11171" y="1437"/>
                  </a:lnTo>
                  <a:lnTo>
                    <a:pt x="5357" y="5357"/>
                  </a:lnTo>
                  <a:lnTo>
                    <a:pt x="1437" y="11171"/>
                  </a:lnTo>
                  <a:lnTo>
                    <a:pt x="0" y="18288"/>
                  </a:lnTo>
                  <a:lnTo>
                    <a:pt x="0" y="393192"/>
                  </a:lnTo>
                  <a:lnTo>
                    <a:pt x="1437" y="400314"/>
                  </a:lnTo>
                  <a:lnTo>
                    <a:pt x="5357" y="406126"/>
                  </a:lnTo>
                  <a:lnTo>
                    <a:pt x="11171" y="410044"/>
                  </a:lnTo>
                  <a:lnTo>
                    <a:pt x="18288" y="411480"/>
                  </a:lnTo>
                  <a:lnTo>
                    <a:pt x="1033272" y="411480"/>
                  </a:lnTo>
                  <a:lnTo>
                    <a:pt x="1040388" y="410044"/>
                  </a:lnTo>
                  <a:lnTo>
                    <a:pt x="1046202" y="406126"/>
                  </a:lnTo>
                  <a:lnTo>
                    <a:pt x="1050122" y="400314"/>
                  </a:lnTo>
                  <a:lnTo>
                    <a:pt x="1051560" y="393192"/>
                  </a:lnTo>
                  <a:lnTo>
                    <a:pt x="1051560" y="18288"/>
                  </a:lnTo>
                  <a:lnTo>
                    <a:pt x="1050122" y="11171"/>
                  </a:lnTo>
                  <a:lnTo>
                    <a:pt x="1046202" y="5357"/>
                  </a:lnTo>
                  <a:lnTo>
                    <a:pt x="1040388" y="1437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8860651" y="2094356"/>
          <a:ext cx="2496185" cy="2055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b="1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p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19050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b="1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q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19050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b="1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p</a:t>
                      </a:r>
                      <a:r>
                        <a:rPr sz="1850" b="1" spc="1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50" b="1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→</a:t>
                      </a:r>
                      <a:r>
                        <a:rPr sz="1850" b="1" spc="-15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50" b="1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q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T w="19050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F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F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F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T w="28575">
                      <a:solidFill>
                        <a:srgbClr val="D9D2F5"/>
                      </a:solidFill>
                      <a:prstDash val="solid"/>
                    </a:lnT>
                    <a:lnB w="28575">
                      <a:solidFill>
                        <a:srgbClr val="D9D2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F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19050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F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R w="28575">
                      <a:solidFill>
                        <a:srgbClr val="D9D2F5"/>
                      </a:solidFill>
                      <a:prstDash val="solid"/>
                    </a:lnR>
                    <a:lnT w="28575">
                      <a:solidFill>
                        <a:srgbClr val="D9D2F5"/>
                      </a:solidFill>
                      <a:prstDash val="solid"/>
                    </a:lnT>
                    <a:lnB w="19050">
                      <a:solidFill>
                        <a:srgbClr val="D9D2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50" spc="-50" dirty="0">
                          <a:solidFill>
                            <a:srgbClr val="2D2A5E"/>
                          </a:solidFill>
                          <a:latin typeface="Cambria Math"/>
                          <a:cs typeface="Cambria Math"/>
                        </a:rPr>
                        <a:t>T</a:t>
                      </a:r>
                      <a:endParaRPr sz="185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28575">
                      <a:solidFill>
                        <a:srgbClr val="D9D2F5"/>
                      </a:solidFill>
                      <a:prstDash val="solid"/>
                    </a:lnL>
                    <a:lnT w="28575">
                      <a:solidFill>
                        <a:srgbClr val="D9D2F5"/>
                      </a:solidFill>
                      <a:prstDash val="solid"/>
                    </a:lnT>
                    <a:lnB w="19050">
                      <a:solidFill>
                        <a:srgbClr val="D9D2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5</a:t>
            </a:fld>
            <a:r>
              <a:rPr spc="-20" dirty="0"/>
              <a:t>/28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788741" y="4635551"/>
            <a:ext cx="2677795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3175" algn="ctr">
              <a:lnSpc>
                <a:spcPct val="100800"/>
              </a:lnSpc>
              <a:spcBef>
                <a:spcPts val="105"/>
              </a:spcBef>
            </a:pP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A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valid</a:t>
            </a:r>
            <a:r>
              <a:rPr sz="1850" spc="-3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form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with</a:t>
            </a:r>
            <a:r>
              <a:rPr sz="185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a</a:t>
            </a:r>
            <a:r>
              <a:rPr sz="1850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6B6890"/>
                </a:solidFill>
                <a:latin typeface="Calibri"/>
                <a:cs typeface="Calibri"/>
              </a:rPr>
              <a:t>false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premise</a:t>
            </a:r>
            <a:r>
              <a:rPr sz="1850" spc="-5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still</a:t>
            </a:r>
            <a:r>
              <a:rPr sz="1850" spc="-7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proves</a:t>
            </a:r>
            <a:r>
              <a:rPr sz="1850" spc="-6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nothing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about</a:t>
            </a:r>
            <a:r>
              <a:rPr sz="185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the</a:t>
            </a:r>
            <a:r>
              <a:rPr sz="1850" spc="-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conclusion.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33968" y="1658348"/>
            <a:ext cx="35883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145" dirty="0">
                <a:solidFill>
                  <a:srgbClr val="2F254D"/>
                </a:solidFill>
              </a:rPr>
              <a:t>TOPICS</a:t>
            </a:r>
            <a:r>
              <a:rPr sz="3050" spc="-200" dirty="0">
                <a:solidFill>
                  <a:srgbClr val="2F254D"/>
                </a:solidFill>
              </a:rPr>
              <a:t> </a:t>
            </a:r>
            <a:r>
              <a:rPr sz="3050" spc="-50" dirty="0">
                <a:solidFill>
                  <a:srgbClr val="2F254D"/>
                </a:solidFill>
              </a:rPr>
              <a:t>I’LL</a:t>
            </a:r>
            <a:r>
              <a:rPr sz="3050" spc="-180" dirty="0">
                <a:solidFill>
                  <a:srgbClr val="2F254D"/>
                </a:solidFill>
              </a:rPr>
              <a:t> </a:t>
            </a:r>
            <a:r>
              <a:rPr sz="3050" spc="145" dirty="0">
                <a:solidFill>
                  <a:srgbClr val="2F254D"/>
                </a:solidFill>
              </a:rPr>
              <a:t>COVER</a:t>
            </a:r>
            <a:endParaRPr sz="3050"/>
          </a:p>
        </p:txBody>
      </p:sp>
      <p:grpSp>
        <p:nvGrpSpPr>
          <p:cNvPr id="4" name="object 4"/>
          <p:cNvGrpSpPr/>
          <p:nvPr/>
        </p:nvGrpSpPr>
        <p:grpSpPr>
          <a:xfrm>
            <a:off x="7546670" y="2306662"/>
            <a:ext cx="3753485" cy="102235"/>
            <a:chOff x="7546670" y="2306662"/>
            <a:chExt cx="3753485" cy="102235"/>
          </a:xfrm>
        </p:grpSpPr>
        <p:sp>
          <p:nvSpPr>
            <p:cNvPr id="5" name="object 5"/>
            <p:cNvSpPr/>
            <p:nvPr/>
          </p:nvSpPr>
          <p:spPr>
            <a:xfrm>
              <a:off x="7546670" y="2306662"/>
              <a:ext cx="3753485" cy="102235"/>
            </a:xfrm>
            <a:custGeom>
              <a:avLst/>
              <a:gdLst/>
              <a:ahLst/>
              <a:cxnLst/>
              <a:rect l="l" t="t" r="r" b="b"/>
              <a:pathLst>
                <a:path w="3753484" h="102235">
                  <a:moveTo>
                    <a:pt x="3753230" y="0"/>
                  </a:moveTo>
                  <a:lnTo>
                    <a:pt x="0" y="0"/>
                  </a:lnTo>
                  <a:lnTo>
                    <a:pt x="0" y="101993"/>
                  </a:lnTo>
                  <a:lnTo>
                    <a:pt x="3753230" y="101993"/>
                  </a:lnTo>
                  <a:lnTo>
                    <a:pt x="3753230" y="0"/>
                  </a:lnTo>
                  <a:close/>
                </a:path>
              </a:pathLst>
            </a:custGeom>
            <a:solidFill>
              <a:srgbClr val="926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46670" y="2306662"/>
              <a:ext cx="3753485" cy="102235"/>
            </a:xfrm>
            <a:custGeom>
              <a:avLst/>
              <a:gdLst/>
              <a:ahLst/>
              <a:cxnLst/>
              <a:rect l="l" t="t" r="r" b="b"/>
              <a:pathLst>
                <a:path w="3753484" h="102235">
                  <a:moveTo>
                    <a:pt x="0" y="0"/>
                  </a:moveTo>
                  <a:lnTo>
                    <a:pt x="3753230" y="0"/>
                  </a:lnTo>
                  <a:lnTo>
                    <a:pt x="3753230" y="101993"/>
                  </a:lnTo>
                  <a:lnTo>
                    <a:pt x="0" y="10199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03773" y="2800005"/>
            <a:ext cx="366395" cy="2386965"/>
            <a:chOff x="7603773" y="2800005"/>
            <a:chExt cx="366395" cy="2386965"/>
          </a:xfrm>
        </p:grpSpPr>
        <p:sp>
          <p:nvSpPr>
            <p:cNvPr id="8" name="object 8"/>
            <p:cNvSpPr/>
            <p:nvPr/>
          </p:nvSpPr>
          <p:spPr>
            <a:xfrm>
              <a:off x="7766672" y="2919996"/>
              <a:ext cx="34925" cy="2266950"/>
            </a:xfrm>
            <a:custGeom>
              <a:avLst/>
              <a:gdLst/>
              <a:ahLst/>
              <a:cxnLst/>
              <a:rect l="l" t="t" r="r" b="b"/>
              <a:pathLst>
                <a:path w="34925" h="2266950">
                  <a:moveTo>
                    <a:pt x="34671" y="0"/>
                  </a:moveTo>
                  <a:lnTo>
                    <a:pt x="0" y="0"/>
                  </a:lnTo>
                  <a:lnTo>
                    <a:pt x="0" y="2266670"/>
                  </a:lnTo>
                  <a:lnTo>
                    <a:pt x="34671" y="2266670"/>
                  </a:lnTo>
                  <a:lnTo>
                    <a:pt x="34671" y="0"/>
                  </a:lnTo>
                  <a:close/>
                </a:path>
              </a:pathLst>
            </a:custGeom>
            <a:solidFill>
              <a:srgbClr val="D9D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6672" y="2919996"/>
              <a:ext cx="34925" cy="2266950"/>
            </a:xfrm>
            <a:custGeom>
              <a:avLst/>
              <a:gdLst/>
              <a:ahLst/>
              <a:cxnLst/>
              <a:rect l="l" t="t" r="r" b="b"/>
              <a:pathLst>
                <a:path w="34925" h="2266950">
                  <a:moveTo>
                    <a:pt x="0" y="0"/>
                  </a:moveTo>
                  <a:lnTo>
                    <a:pt x="34671" y="0"/>
                  </a:lnTo>
                  <a:lnTo>
                    <a:pt x="34671" y="2266670"/>
                  </a:lnTo>
                  <a:lnTo>
                    <a:pt x="0" y="226667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D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03773" y="2800005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29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59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29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926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03773" y="2800005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29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29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59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29"/>
                  </a:lnTo>
                  <a:close/>
                </a:path>
              </a:pathLst>
            </a:custGeom>
            <a:ln w="3175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65050" y="2827172"/>
            <a:ext cx="250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0633" y="2733752"/>
            <a:ext cx="343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F254D"/>
                </a:solidFill>
                <a:latin typeface="Trebuchet MS"/>
                <a:cs typeface="Trebuchet MS"/>
              </a:rPr>
              <a:t>Eight</a:t>
            </a:r>
            <a:r>
              <a:rPr sz="2400" b="1" spc="2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F254D"/>
                </a:solidFill>
                <a:latin typeface="Trebuchet MS"/>
                <a:cs typeface="Trebuchet MS"/>
              </a:rPr>
              <a:t>rules</a:t>
            </a:r>
            <a:r>
              <a:rPr sz="2400" b="1" spc="2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F254D"/>
                </a:solidFill>
                <a:latin typeface="Trebuchet MS"/>
                <a:cs typeface="Trebuchet MS"/>
              </a:rPr>
              <a:t>of</a:t>
            </a:r>
            <a:r>
              <a:rPr sz="2400" b="1" spc="2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2F254D"/>
                </a:solidFill>
                <a:latin typeface="Trebuchet MS"/>
                <a:cs typeface="Trebuchet MS"/>
              </a:rPr>
              <a:t>inference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03773" y="3933338"/>
            <a:ext cx="366395" cy="378460"/>
            <a:chOff x="7603773" y="3933338"/>
            <a:chExt cx="366395" cy="378460"/>
          </a:xfrm>
        </p:grpSpPr>
        <p:sp>
          <p:nvSpPr>
            <p:cNvPr id="15" name="object 15"/>
            <p:cNvSpPr/>
            <p:nvPr/>
          </p:nvSpPr>
          <p:spPr>
            <a:xfrm>
              <a:off x="7603773" y="3933338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30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60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30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25A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03773" y="3933338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30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30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60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30"/>
                  </a:lnTo>
                  <a:close/>
                </a:path>
              </a:pathLst>
            </a:custGeom>
            <a:ln w="3175">
              <a:solidFill>
                <a:srgbClr val="25A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58986" y="3990242"/>
            <a:ext cx="264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0633" y="3682681"/>
            <a:ext cx="2789555" cy="7588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400" b="1" spc="60" dirty="0">
                <a:solidFill>
                  <a:srgbClr val="2F254D"/>
                </a:solidFill>
                <a:latin typeface="Trebuchet MS"/>
                <a:cs typeface="Trebuchet MS"/>
              </a:rPr>
              <a:t>Valid</a:t>
            </a:r>
            <a:r>
              <a:rPr sz="2400" b="1" spc="-13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2F254D"/>
                </a:solidFill>
                <a:latin typeface="Trebuchet MS"/>
                <a:cs typeface="Trebuchet MS"/>
              </a:rPr>
              <a:t>propositional </a:t>
            </a:r>
            <a:r>
              <a:rPr sz="2400" b="1" spc="70" dirty="0">
                <a:solidFill>
                  <a:srgbClr val="2F254D"/>
                </a:solidFill>
                <a:latin typeface="Trebuchet MS"/>
                <a:cs typeface="Trebuchet MS"/>
              </a:rPr>
              <a:t>arguments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13684" y="5086497"/>
            <a:ext cx="366395" cy="378460"/>
            <a:chOff x="7613684" y="5086497"/>
            <a:chExt cx="366395" cy="378460"/>
          </a:xfrm>
        </p:grpSpPr>
        <p:sp>
          <p:nvSpPr>
            <p:cNvPr id="20" name="object 20"/>
            <p:cNvSpPr/>
            <p:nvPr/>
          </p:nvSpPr>
          <p:spPr>
            <a:xfrm>
              <a:off x="7613684" y="5086497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30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60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30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EF7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13684" y="5086497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30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30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60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30"/>
                  </a:lnTo>
                  <a:close/>
                </a:path>
              </a:pathLst>
            </a:custGeom>
            <a:ln w="3175">
              <a:solidFill>
                <a:srgbClr val="EF7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58954" y="5123574"/>
            <a:ext cx="263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20633" y="5000418"/>
            <a:ext cx="2697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95" dirty="0">
                <a:solidFill>
                  <a:srgbClr val="2F254D"/>
                </a:solidFill>
                <a:latin typeface="Trebuchet MS"/>
                <a:cs typeface="Trebuchet MS"/>
              </a:rPr>
              <a:t>Worked</a:t>
            </a:r>
            <a:r>
              <a:rPr sz="2400" b="1" spc="-13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spc="65" dirty="0">
                <a:solidFill>
                  <a:srgbClr val="2F254D"/>
                </a:solidFill>
                <a:latin typeface="Trebuchet MS"/>
                <a:cs typeface="Trebuchet MS"/>
              </a:rPr>
              <a:t>examples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281" y="262638"/>
            <a:ext cx="3012772" cy="90168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13128" y="2089893"/>
            <a:ext cx="6061710" cy="175641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19"/>
              </a:spcBef>
            </a:pPr>
            <a:r>
              <a:rPr sz="4800" spc="-100" dirty="0">
                <a:solidFill>
                  <a:srgbClr val="2D2A5E"/>
                </a:solidFill>
                <a:latin typeface="Calibri"/>
                <a:cs typeface="Calibri"/>
              </a:rPr>
              <a:t>FAYSAL</a:t>
            </a:r>
            <a:r>
              <a:rPr sz="4800" spc="-1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2D2A5E"/>
                </a:solidFill>
                <a:latin typeface="Calibri"/>
                <a:cs typeface="Calibri"/>
              </a:rPr>
              <a:t>AHMED</a:t>
            </a:r>
            <a:r>
              <a:rPr sz="4800" spc="-9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2D2A5E"/>
                </a:solidFill>
                <a:latin typeface="Calibri"/>
                <a:cs typeface="Calibri"/>
              </a:rPr>
              <a:t>SRABON</a:t>
            </a:r>
            <a:endParaRPr sz="4800">
              <a:latin typeface="Calibri"/>
              <a:cs typeface="Calibri"/>
            </a:endParaRPr>
          </a:p>
          <a:p>
            <a:pPr marL="55244">
              <a:lnSpc>
                <a:spcPct val="100000"/>
              </a:lnSpc>
              <a:spcBef>
                <a:spcPts val="535"/>
              </a:spcBef>
            </a:pPr>
            <a:r>
              <a:rPr sz="2800" b="1" dirty="0">
                <a:solidFill>
                  <a:srgbClr val="6C3EDF"/>
                </a:solidFill>
                <a:latin typeface="Calibri"/>
                <a:cs typeface="Calibri"/>
              </a:rPr>
              <a:t>ROLL</a:t>
            </a:r>
            <a:r>
              <a:rPr sz="2800" b="1" spc="-50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6C3ED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6C3EDF"/>
                </a:solidFill>
                <a:latin typeface="Calibri"/>
                <a:cs typeface="Calibri"/>
              </a:rPr>
              <a:t>03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BATCH</a:t>
            </a:r>
            <a:r>
              <a:rPr sz="1850" spc="-60" dirty="0">
                <a:solidFill>
                  <a:srgbClr val="6A63B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:</a:t>
            </a:r>
            <a:r>
              <a:rPr sz="1850" spc="-55" dirty="0">
                <a:solidFill>
                  <a:srgbClr val="6A63B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CSD-</a:t>
            </a:r>
            <a:r>
              <a:rPr sz="1850" spc="-25" dirty="0">
                <a:solidFill>
                  <a:srgbClr val="6A63B9"/>
                </a:solidFill>
                <a:latin typeface="Arial"/>
                <a:cs typeface="Arial"/>
              </a:rPr>
              <a:t>105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6</a:t>
            </a:fld>
            <a:r>
              <a:rPr spc="-2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dirty="0"/>
              <a:t>The</a:t>
            </a:r>
            <a:r>
              <a:rPr spc="-170" dirty="0"/>
              <a:t> </a:t>
            </a:r>
            <a:r>
              <a:rPr spc="60" dirty="0"/>
              <a:t>8</a:t>
            </a:r>
            <a:r>
              <a:rPr spc="-160" dirty="0"/>
              <a:t> </a:t>
            </a:r>
            <a:r>
              <a:rPr spc="70" dirty="0"/>
              <a:t>rules</a:t>
            </a:r>
            <a:r>
              <a:rPr spc="-200" dirty="0"/>
              <a:t> </a:t>
            </a:r>
            <a:r>
              <a:rPr spc="60" dirty="0"/>
              <a:t>of</a:t>
            </a:r>
            <a:r>
              <a:rPr spc="-170" dirty="0"/>
              <a:t> </a:t>
            </a:r>
            <a:r>
              <a:rPr spc="-10" dirty="0"/>
              <a:t>inference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410976"/>
            <a:ext cx="1807845" cy="1670685"/>
            <a:chOff x="633730" y="1410976"/>
            <a:chExt cx="1807845" cy="1670685"/>
          </a:xfrm>
        </p:grpSpPr>
        <p:sp>
          <p:nvSpPr>
            <p:cNvPr id="4" name="object 4"/>
            <p:cNvSpPr/>
            <p:nvPr/>
          </p:nvSpPr>
          <p:spPr>
            <a:xfrm>
              <a:off x="704088" y="148133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95" y="0"/>
                  </a:lnTo>
                  <a:lnTo>
                    <a:pt x="1703852" y="4311"/>
                  </a:lnTo>
                  <a:lnTo>
                    <a:pt x="1721291" y="16068"/>
                  </a:lnTo>
                  <a:lnTo>
                    <a:pt x="1733048" y="33507"/>
                  </a:lnTo>
                  <a:lnTo>
                    <a:pt x="1737360" y="54863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91" y="1584124"/>
                  </a:lnTo>
                  <a:lnTo>
                    <a:pt x="1703852" y="1595886"/>
                  </a:lnTo>
                  <a:lnTo>
                    <a:pt x="1682495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20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80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29768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8"/>
                  </a:lnTo>
                  <a:lnTo>
                    <a:pt x="1508760" y="475488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8"/>
                  </a:lnTo>
                  <a:lnTo>
                    <a:pt x="1554480" y="45720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520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80" h="475614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20"/>
                  </a:lnTo>
                  <a:lnTo>
                    <a:pt x="1554480" y="429768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8"/>
                  </a:lnTo>
                  <a:lnTo>
                    <a:pt x="45720" y="475488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8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1030" y="3578097"/>
            <a:ext cx="10946130" cy="250825"/>
            <a:chOff x="621030" y="3578097"/>
            <a:chExt cx="10946130" cy="250825"/>
          </a:xfrm>
        </p:grpSpPr>
        <p:sp>
          <p:nvSpPr>
            <p:cNvPr id="10" name="object 10"/>
            <p:cNvSpPr/>
            <p:nvPr/>
          </p:nvSpPr>
          <p:spPr>
            <a:xfrm>
              <a:off x="640080" y="3703319"/>
              <a:ext cx="10831830" cy="0"/>
            </a:xfrm>
            <a:custGeom>
              <a:avLst/>
              <a:gdLst/>
              <a:ahLst/>
              <a:cxnLst/>
              <a:rect l="l" t="t" r="r" b="b"/>
              <a:pathLst>
                <a:path w="10831830">
                  <a:moveTo>
                    <a:pt x="0" y="0"/>
                  </a:moveTo>
                  <a:lnTo>
                    <a:pt x="10831830" y="0"/>
                  </a:lnTo>
                </a:path>
              </a:pathLst>
            </a:custGeom>
            <a:ln w="381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52864" y="364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0970" y="3578097"/>
              <a:ext cx="195580" cy="25044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71378" y="1616456"/>
            <a:ext cx="12738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85" dirty="0">
                <a:solidFill>
                  <a:srgbClr val="2D2A5E"/>
                </a:solidFill>
                <a:latin typeface="Trebuchet MS"/>
                <a:cs typeface="Trebuchet MS"/>
              </a:rPr>
              <a:t>Modus</a:t>
            </a:r>
            <a:r>
              <a:rPr sz="1400" b="1" spc="-8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ponens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0259" y="2040127"/>
            <a:ext cx="589915" cy="879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3980" y="3812540"/>
            <a:ext cx="2895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01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32177" y="4291336"/>
            <a:ext cx="1807845" cy="1670685"/>
            <a:chOff x="1932177" y="4291336"/>
            <a:chExt cx="1807845" cy="1670685"/>
          </a:xfrm>
        </p:grpSpPr>
        <p:sp>
          <p:nvSpPr>
            <p:cNvPr id="17" name="object 17"/>
            <p:cNvSpPr/>
            <p:nvPr/>
          </p:nvSpPr>
          <p:spPr>
            <a:xfrm>
              <a:off x="2002535" y="436169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199"/>
                  </a:lnTo>
                  <a:lnTo>
                    <a:pt x="1682495" y="1600199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38527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4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38527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95" y="0"/>
                  </a:lnTo>
                  <a:lnTo>
                    <a:pt x="1703852" y="4311"/>
                  </a:lnTo>
                  <a:lnTo>
                    <a:pt x="1721291" y="16068"/>
                  </a:lnTo>
                  <a:lnTo>
                    <a:pt x="1733048" y="33507"/>
                  </a:lnTo>
                  <a:lnTo>
                    <a:pt x="1737360" y="54864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91" y="1584124"/>
                  </a:lnTo>
                  <a:lnTo>
                    <a:pt x="1703852" y="1595886"/>
                  </a:lnTo>
                  <a:lnTo>
                    <a:pt x="1682495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29967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29767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7"/>
                  </a:lnTo>
                  <a:lnTo>
                    <a:pt x="1508760" y="475487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7"/>
                  </a:lnTo>
                  <a:lnTo>
                    <a:pt x="1554480" y="45719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9967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19"/>
                  </a:lnTo>
                  <a:lnTo>
                    <a:pt x="1554480" y="429767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7"/>
                  </a:lnTo>
                  <a:lnTo>
                    <a:pt x="45720" y="475487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7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189638" y="4496815"/>
            <a:ext cx="1233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5" dirty="0">
                <a:solidFill>
                  <a:srgbClr val="2D2A5E"/>
                </a:solidFill>
                <a:latin typeface="Trebuchet MS"/>
                <a:cs typeface="Trebuchet MS"/>
              </a:rPr>
              <a:t>Modus</a:t>
            </a:r>
            <a:r>
              <a:rPr sz="1400" b="1" spc="-8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tollens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08707" y="4957064"/>
            <a:ext cx="589915" cy="879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9417" y="3578097"/>
            <a:ext cx="195580" cy="25044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653283" y="3812540"/>
            <a:ext cx="30607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02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30626" y="1410976"/>
            <a:ext cx="1807845" cy="1670685"/>
            <a:chOff x="3230626" y="1410976"/>
            <a:chExt cx="1807845" cy="1670685"/>
          </a:xfrm>
        </p:grpSpPr>
        <p:sp>
          <p:nvSpPr>
            <p:cNvPr id="27" name="object 27"/>
            <p:cNvSpPr/>
            <p:nvPr/>
          </p:nvSpPr>
          <p:spPr>
            <a:xfrm>
              <a:off x="3300984" y="148133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36976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36976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95" y="0"/>
                  </a:lnTo>
                  <a:lnTo>
                    <a:pt x="1703852" y="4311"/>
                  </a:lnTo>
                  <a:lnTo>
                    <a:pt x="1721291" y="16068"/>
                  </a:lnTo>
                  <a:lnTo>
                    <a:pt x="1733048" y="33507"/>
                  </a:lnTo>
                  <a:lnTo>
                    <a:pt x="1737360" y="54863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91" y="1584124"/>
                  </a:lnTo>
                  <a:lnTo>
                    <a:pt x="1703852" y="1595886"/>
                  </a:lnTo>
                  <a:lnTo>
                    <a:pt x="1682495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28416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29768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8"/>
                  </a:lnTo>
                  <a:lnTo>
                    <a:pt x="1508760" y="475488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8"/>
                  </a:lnTo>
                  <a:lnTo>
                    <a:pt x="1554480" y="45720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28416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20"/>
                  </a:lnTo>
                  <a:lnTo>
                    <a:pt x="1554480" y="429768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8"/>
                  </a:lnTo>
                  <a:lnTo>
                    <a:pt x="45720" y="475488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8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538378" y="1512824"/>
            <a:ext cx="1133475" cy="45021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57480" marR="5080" indent="-144780">
              <a:lnSpc>
                <a:spcPts val="1660"/>
              </a:lnSpc>
              <a:spcBef>
                <a:spcPts val="175"/>
              </a:spcBef>
            </a:pP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Hypothetical </a:t>
            </a:r>
            <a:r>
              <a:rPr sz="1400" b="1" spc="45" dirty="0">
                <a:solidFill>
                  <a:srgbClr val="2D2A5E"/>
                </a:solidFill>
                <a:latin typeface="Trebuchet MS"/>
                <a:cs typeface="Trebuchet MS"/>
              </a:rPr>
              <a:t>syllogism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07155" y="2076703"/>
            <a:ext cx="747395" cy="879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7865" y="3578097"/>
            <a:ext cx="195579" cy="25044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953224" y="3812540"/>
            <a:ext cx="3048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03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29073" y="4291336"/>
            <a:ext cx="1807845" cy="1670685"/>
            <a:chOff x="4529073" y="4291336"/>
            <a:chExt cx="1807845" cy="1670685"/>
          </a:xfrm>
        </p:grpSpPr>
        <p:sp>
          <p:nvSpPr>
            <p:cNvPr id="37" name="object 37"/>
            <p:cNvSpPr/>
            <p:nvPr/>
          </p:nvSpPr>
          <p:spPr>
            <a:xfrm>
              <a:off x="4599431" y="436169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199"/>
                  </a:lnTo>
                  <a:lnTo>
                    <a:pt x="1682495" y="1600199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35423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4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35423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60" h="160020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95" y="0"/>
                  </a:lnTo>
                  <a:lnTo>
                    <a:pt x="1703852" y="4311"/>
                  </a:lnTo>
                  <a:lnTo>
                    <a:pt x="1721291" y="16068"/>
                  </a:lnTo>
                  <a:lnTo>
                    <a:pt x="1733048" y="33507"/>
                  </a:lnTo>
                  <a:lnTo>
                    <a:pt x="1737360" y="54864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91" y="1584124"/>
                  </a:lnTo>
                  <a:lnTo>
                    <a:pt x="1703852" y="1595886"/>
                  </a:lnTo>
                  <a:lnTo>
                    <a:pt x="1682495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26863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29767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7"/>
                  </a:lnTo>
                  <a:lnTo>
                    <a:pt x="1508760" y="475487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7"/>
                  </a:lnTo>
                  <a:lnTo>
                    <a:pt x="1554480" y="45719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26863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19"/>
                  </a:lnTo>
                  <a:lnTo>
                    <a:pt x="1554480" y="429767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7"/>
                  </a:lnTo>
                  <a:lnTo>
                    <a:pt x="45720" y="475487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7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17566" y="4393184"/>
            <a:ext cx="972185" cy="45021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76200" marR="5080" indent="-64135">
              <a:lnSpc>
                <a:spcPts val="1660"/>
              </a:lnSpc>
              <a:spcBef>
                <a:spcPts val="175"/>
              </a:spcBef>
            </a:pP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Disjunctive </a:t>
            </a:r>
            <a:r>
              <a:rPr sz="1400" b="1" spc="45" dirty="0">
                <a:solidFill>
                  <a:srgbClr val="2D2A5E"/>
                </a:solidFill>
                <a:latin typeface="Trebuchet MS"/>
                <a:cs typeface="Trebuchet MS"/>
              </a:rPr>
              <a:t>syllogism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05603" y="4957064"/>
            <a:ext cx="532130" cy="879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6314" y="3578097"/>
            <a:ext cx="195579" cy="250444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5250148" y="3812540"/>
            <a:ext cx="3079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04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827521" y="1410976"/>
            <a:ext cx="1807845" cy="1670685"/>
            <a:chOff x="5827521" y="1410976"/>
            <a:chExt cx="1807845" cy="1670685"/>
          </a:xfrm>
        </p:grpSpPr>
        <p:sp>
          <p:nvSpPr>
            <p:cNvPr id="47" name="object 47"/>
            <p:cNvSpPr/>
            <p:nvPr/>
          </p:nvSpPr>
          <p:spPr>
            <a:xfrm>
              <a:off x="5897879" y="148133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95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95" y="1600200"/>
                  </a:lnTo>
                  <a:lnTo>
                    <a:pt x="1703852" y="1595886"/>
                  </a:lnTo>
                  <a:lnTo>
                    <a:pt x="1721291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91" y="16068"/>
                  </a:lnTo>
                  <a:lnTo>
                    <a:pt x="1703852" y="4311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33871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83" y="1600200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33871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95" y="0"/>
                  </a:lnTo>
                  <a:lnTo>
                    <a:pt x="1703852" y="4311"/>
                  </a:lnTo>
                  <a:lnTo>
                    <a:pt x="1721291" y="16068"/>
                  </a:lnTo>
                  <a:lnTo>
                    <a:pt x="1733048" y="33507"/>
                  </a:lnTo>
                  <a:lnTo>
                    <a:pt x="1737360" y="54863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91" y="1584124"/>
                  </a:lnTo>
                  <a:lnTo>
                    <a:pt x="1703852" y="1595886"/>
                  </a:lnTo>
                  <a:lnTo>
                    <a:pt x="1682495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25311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29768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8"/>
                  </a:lnTo>
                  <a:lnTo>
                    <a:pt x="1508760" y="475488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8"/>
                  </a:lnTo>
                  <a:lnTo>
                    <a:pt x="1554480" y="45720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25311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20"/>
                  </a:lnTo>
                  <a:lnTo>
                    <a:pt x="1554480" y="429768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8"/>
                  </a:lnTo>
                  <a:lnTo>
                    <a:pt x="45720" y="475488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8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27266" y="1616456"/>
            <a:ext cx="750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Addition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04052" y="2076703"/>
            <a:ext cx="721360" cy="596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761" y="3578097"/>
            <a:ext cx="195579" cy="250444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6550120" y="3812540"/>
            <a:ext cx="30416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05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125969" y="4291336"/>
            <a:ext cx="1807845" cy="1670685"/>
            <a:chOff x="7125969" y="4291336"/>
            <a:chExt cx="1807845" cy="1670685"/>
          </a:xfrm>
        </p:grpSpPr>
        <p:sp>
          <p:nvSpPr>
            <p:cNvPr id="57" name="object 57"/>
            <p:cNvSpPr/>
            <p:nvPr/>
          </p:nvSpPr>
          <p:spPr>
            <a:xfrm>
              <a:off x="7196327" y="436169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199"/>
                  </a:lnTo>
                  <a:lnTo>
                    <a:pt x="1682483" y="1600199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132319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83" y="1600200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4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32319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83" y="0"/>
                  </a:lnTo>
                  <a:lnTo>
                    <a:pt x="1703846" y="4311"/>
                  </a:lnTo>
                  <a:lnTo>
                    <a:pt x="1721289" y="16068"/>
                  </a:lnTo>
                  <a:lnTo>
                    <a:pt x="1733048" y="33507"/>
                  </a:lnTo>
                  <a:lnTo>
                    <a:pt x="1737360" y="54864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89" y="1584124"/>
                  </a:lnTo>
                  <a:lnTo>
                    <a:pt x="1703846" y="1595886"/>
                  </a:lnTo>
                  <a:lnTo>
                    <a:pt x="1682483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223759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29767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7"/>
                  </a:lnTo>
                  <a:lnTo>
                    <a:pt x="1508760" y="475487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7"/>
                  </a:lnTo>
                  <a:lnTo>
                    <a:pt x="1554480" y="45719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23759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19"/>
                  </a:lnTo>
                  <a:lnTo>
                    <a:pt x="1554480" y="429767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7"/>
                  </a:lnTo>
                  <a:lnTo>
                    <a:pt x="45720" y="475487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7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397146" y="4496815"/>
            <a:ext cx="1206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Simplification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02500" y="4957064"/>
            <a:ext cx="532130" cy="596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64" name="object 6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3209" y="3578097"/>
            <a:ext cx="195579" cy="250444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7842472" y="3812540"/>
            <a:ext cx="3162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25" dirty="0">
                <a:solidFill>
                  <a:srgbClr val="2D2A5E"/>
                </a:solidFill>
                <a:latin typeface="Trebuchet MS"/>
                <a:cs typeface="Trebuchet MS"/>
              </a:rPr>
              <a:t>06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424418" y="1410976"/>
            <a:ext cx="1807845" cy="1670685"/>
            <a:chOff x="8424418" y="1410976"/>
            <a:chExt cx="1807845" cy="1670685"/>
          </a:xfrm>
        </p:grpSpPr>
        <p:sp>
          <p:nvSpPr>
            <p:cNvPr id="67" name="object 67"/>
            <p:cNvSpPr/>
            <p:nvPr/>
          </p:nvSpPr>
          <p:spPr>
            <a:xfrm>
              <a:off x="8494776" y="148133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83" y="1600200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430768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83" y="1600200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430768" y="141732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95" y="0"/>
                  </a:lnTo>
                  <a:lnTo>
                    <a:pt x="1703852" y="4311"/>
                  </a:lnTo>
                  <a:lnTo>
                    <a:pt x="1721291" y="16068"/>
                  </a:lnTo>
                  <a:lnTo>
                    <a:pt x="1733048" y="33507"/>
                  </a:lnTo>
                  <a:lnTo>
                    <a:pt x="1737360" y="54863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91" y="1584124"/>
                  </a:lnTo>
                  <a:lnTo>
                    <a:pt x="1703852" y="1595886"/>
                  </a:lnTo>
                  <a:lnTo>
                    <a:pt x="1682495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522208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29768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8"/>
                  </a:lnTo>
                  <a:lnTo>
                    <a:pt x="1508760" y="475488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8"/>
                  </a:lnTo>
                  <a:lnTo>
                    <a:pt x="1554480" y="45720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522207" y="1508757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20"/>
                  </a:lnTo>
                  <a:lnTo>
                    <a:pt x="1554480" y="429768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8"/>
                  </a:lnTo>
                  <a:lnTo>
                    <a:pt x="45720" y="475488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8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8768715" y="1616456"/>
            <a:ext cx="1060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Conjunction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600947" y="2076703"/>
            <a:ext cx="721360" cy="879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74" name="object 7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01656" y="3578097"/>
            <a:ext cx="195579" cy="250444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9145523" y="3812540"/>
            <a:ext cx="30543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07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9722866" y="4291336"/>
            <a:ext cx="1807845" cy="1670685"/>
            <a:chOff x="9722866" y="4291336"/>
            <a:chExt cx="1807845" cy="1670685"/>
          </a:xfrm>
        </p:grpSpPr>
        <p:sp>
          <p:nvSpPr>
            <p:cNvPr id="77" name="object 77"/>
            <p:cNvSpPr/>
            <p:nvPr/>
          </p:nvSpPr>
          <p:spPr>
            <a:xfrm>
              <a:off x="9793224" y="4361694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199"/>
                  </a:lnTo>
                  <a:lnTo>
                    <a:pt x="1682483" y="1600199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3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729216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1682483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1545323"/>
                  </a:lnTo>
                  <a:lnTo>
                    <a:pt x="4311" y="1566681"/>
                  </a:lnTo>
                  <a:lnTo>
                    <a:pt x="16068" y="1584124"/>
                  </a:lnTo>
                  <a:lnTo>
                    <a:pt x="33507" y="1595886"/>
                  </a:lnTo>
                  <a:lnTo>
                    <a:pt x="54864" y="1600200"/>
                  </a:lnTo>
                  <a:lnTo>
                    <a:pt x="1682483" y="1600200"/>
                  </a:lnTo>
                  <a:lnTo>
                    <a:pt x="1703846" y="1595886"/>
                  </a:lnTo>
                  <a:lnTo>
                    <a:pt x="1721289" y="1584124"/>
                  </a:lnTo>
                  <a:lnTo>
                    <a:pt x="1733048" y="1566681"/>
                  </a:lnTo>
                  <a:lnTo>
                    <a:pt x="1737360" y="1545323"/>
                  </a:lnTo>
                  <a:lnTo>
                    <a:pt x="1737360" y="54864"/>
                  </a:lnTo>
                  <a:lnTo>
                    <a:pt x="1733048" y="33507"/>
                  </a:lnTo>
                  <a:lnTo>
                    <a:pt x="1721289" y="16068"/>
                  </a:lnTo>
                  <a:lnTo>
                    <a:pt x="1703846" y="4311"/>
                  </a:lnTo>
                  <a:lnTo>
                    <a:pt x="168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729216" y="4297686"/>
              <a:ext cx="1737360" cy="1600200"/>
            </a:xfrm>
            <a:custGeom>
              <a:avLst/>
              <a:gdLst/>
              <a:ahLst/>
              <a:cxnLst/>
              <a:rect l="l" t="t" r="r" b="b"/>
              <a:pathLst>
                <a:path w="1737359" h="160020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682483" y="0"/>
                  </a:lnTo>
                  <a:lnTo>
                    <a:pt x="1703846" y="4311"/>
                  </a:lnTo>
                  <a:lnTo>
                    <a:pt x="1721289" y="16068"/>
                  </a:lnTo>
                  <a:lnTo>
                    <a:pt x="1733048" y="33507"/>
                  </a:lnTo>
                  <a:lnTo>
                    <a:pt x="1737360" y="54864"/>
                  </a:lnTo>
                  <a:lnTo>
                    <a:pt x="1737360" y="1545323"/>
                  </a:lnTo>
                  <a:lnTo>
                    <a:pt x="1733048" y="1566681"/>
                  </a:lnTo>
                  <a:lnTo>
                    <a:pt x="1721289" y="1584124"/>
                  </a:lnTo>
                  <a:lnTo>
                    <a:pt x="1703846" y="1595886"/>
                  </a:lnTo>
                  <a:lnTo>
                    <a:pt x="1682483" y="1600200"/>
                  </a:lnTo>
                  <a:lnTo>
                    <a:pt x="54864" y="1600200"/>
                  </a:lnTo>
                  <a:lnTo>
                    <a:pt x="33507" y="1595886"/>
                  </a:lnTo>
                  <a:lnTo>
                    <a:pt x="16068" y="1584124"/>
                  </a:lnTo>
                  <a:lnTo>
                    <a:pt x="4311" y="1566681"/>
                  </a:lnTo>
                  <a:lnTo>
                    <a:pt x="0" y="1545323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820656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1508760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29767"/>
                  </a:lnTo>
                  <a:lnTo>
                    <a:pt x="3593" y="447563"/>
                  </a:lnTo>
                  <a:lnTo>
                    <a:pt x="13392" y="462095"/>
                  </a:lnTo>
                  <a:lnTo>
                    <a:pt x="27924" y="471894"/>
                  </a:lnTo>
                  <a:lnTo>
                    <a:pt x="45720" y="475487"/>
                  </a:lnTo>
                  <a:lnTo>
                    <a:pt x="1508760" y="475487"/>
                  </a:lnTo>
                  <a:lnTo>
                    <a:pt x="1526555" y="471894"/>
                  </a:lnTo>
                  <a:lnTo>
                    <a:pt x="1541087" y="462095"/>
                  </a:lnTo>
                  <a:lnTo>
                    <a:pt x="1550886" y="447563"/>
                  </a:lnTo>
                  <a:lnTo>
                    <a:pt x="1554480" y="429767"/>
                  </a:lnTo>
                  <a:lnTo>
                    <a:pt x="1554480" y="45719"/>
                  </a:lnTo>
                  <a:lnTo>
                    <a:pt x="1550886" y="27924"/>
                  </a:lnTo>
                  <a:lnTo>
                    <a:pt x="1541087" y="13392"/>
                  </a:lnTo>
                  <a:lnTo>
                    <a:pt x="1526555" y="3593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820656" y="4389118"/>
              <a:ext cx="1554480" cy="475615"/>
            </a:xfrm>
            <a:custGeom>
              <a:avLst/>
              <a:gdLst/>
              <a:ahLst/>
              <a:cxnLst/>
              <a:rect l="l" t="t" r="r" b="b"/>
              <a:pathLst>
                <a:path w="1554479" h="475614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1508760" y="0"/>
                  </a:lnTo>
                  <a:lnTo>
                    <a:pt x="1526555" y="3593"/>
                  </a:lnTo>
                  <a:lnTo>
                    <a:pt x="1541087" y="13392"/>
                  </a:lnTo>
                  <a:lnTo>
                    <a:pt x="1550886" y="27924"/>
                  </a:lnTo>
                  <a:lnTo>
                    <a:pt x="1554480" y="45719"/>
                  </a:lnTo>
                  <a:lnTo>
                    <a:pt x="1554480" y="429767"/>
                  </a:lnTo>
                  <a:lnTo>
                    <a:pt x="1550886" y="447563"/>
                  </a:lnTo>
                  <a:lnTo>
                    <a:pt x="1541087" y="462095"/>
                  </a:lnTo>
                  <a:lnTo>
                    <a:pt x="1526555" y="471894"/>
                  </a:lnTo>
                  <a:lnTo>
                    <a:pt x="1508760" y="475487"/>
                  </a:lnTo>
                  <a:lnTo>
                    <a:pt x="45720" y="475487"/>
                  </a:lnTo>
                  <a:lnTo>
                    <a:pt x="27924" y="471894"/>
                  </a:lnTo>
                  <a:lnTo>
                    <a:pt x="13392" y="462095"/>
                  </a:lnTo>
                  <a:lnTo>
                    <a:pt x="3593" y="447563"/>
                  </a:lnTo>
                  <a:lnTo>
                    <a:pt x="0" y="429767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0125105" y="4496815"/>
            <a:ext cx="94424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D2A5E"/>
                </a:solidFill>
                <a:latin typeface="Trebuchet MS"/>
                <a:cs typeface="Trebuchet MS"/>
              </a:rPr>
              <a:t>Resolution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899395" y="4957064"/>
            <a:ext cx="687705" cy="879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¬p ∨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84" name="object 8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0106" y="3578097"/>
            <a:ext cx="195579" cy="250444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10439398" y="3812540"/>
            <a:ext cx="3155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08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7</a:t>
            </a:fld>
            <a:r>
              <a:rPr spc="-2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Rule</a:t>
            </a:r>
            <a:r>
              <a:rPr spc="-220" dirty="0"/>
              <a:t> </a:t>
            </a:r>
            <a:r>
              <a:rPr spc="-375" dirty="0"/>
              <a:t>1:</a:t>
            </a:r>
            <a:r>
              <a:rPr spc="-190" dirty="0"/>
              <a:t> </a:t>
            </a:r>
            <a:r>
              <a:rPr spc="215" dirty="0"/>
              <a:t>Modus</a:t>
            </a:r>
            <a:r>
              <a:rPr spc="-204" dirty="0"/>
              <a:t> </a:t>
            </a:r>
            <a:r>
              <a:rPr spc="105" dirty="0"/>
              <a:t>ponens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47634" y="497300"/>
            <a:ext cx="30924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1243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→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1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q))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73759"/>
            <a:ext cx="4368165" cy="1262380"/>
            <a:chOff x="633730" y="5173759"/>
            <a:chExt cx="4368165" cy="1262380"/>
          </a:xfrm>
        </p:grpSpPr>
        <p:sp>
          <p:nvSpPr>
            <p:cNvPr id="21" name="object 21"/>
            <p:cNvSpPr/>
            <p:nvPr/>
          </p:nvSpPr>
          <p:spPr>
            <a:xfrm>
              <a:off x="704088" y="5234208"/>
              <a:ext cx="4297680" cy="1202055"/>
            </a:xfrm>
            <a:custGeom>
              <a:avLst/>
              <a:gdLst/>
              <a:ahLst/>
              <a:cxnLst/>
              <a:rect l="l" t="t" r="r" b="b"/>
              <a:pathLst>
                <a:path w="4297680" h="1202054">
                  <a:moveTo>
                    <a:pt x="4239996" y="0"/>
                  </a:moveTo>
                  <a:lnTo>
                    <a:pt x="57683" y="0"/>
                  </a:lnTo>
                  <a:lnTo>
                    <a:pt x="35232" y="4533"/>
                  </a:lnTo>
                  <a:lnTo>
                    <a:pt x="16897" y="16897"/>
                  </a:lnTo>
                  <a:lnTo>
                    <a:pt x="4533" y="35232"/>
                  </a:lnTo>
                  <a:lnTo>
                    <a:pt x="0" y="57683"/>
                  </a:lnTo>
                  <a:lnTo>
                    <a:pt x="0" y="1144015"/>
                  </a:lnTo>
                  <a:lnTo>
                    <a:pt x="4533" y="1166471"/>
                  </a:lnTo>
                  <a:lnTo>
                    <a:pt x="16897" y="1184806"/>
                  </a:lnTo>
                  <a:lnTo>
                    <a:pt x="35232" y="1197167"/>
                  </a:lnTo>
                  <a:lnTo>
                    <a:pt x="57683" y="1201699"/>
                  </a:lnTo>
                  <a:lnTo>
                    <a:pt x="4239996" y="1201699"/>
                  </a:lnTo>
                  <a:lnTo>
                    <a:pt x="4262447" y="1197167"/>
                  </a:lnTo>
                  <a:lnTo>
                    <a:pt x="4280782" y="1184806"/>
                  </a:lnTo>
                  <a:lnTo>
                    <a:pt x="4293146" y="1166471"/>
                  </a:lnTo>
                  <a:lnTo>
                    <a:pt x="4297680" y="1144015"/>
                  </a:lnTo>
                  <a:lnTo>
                    <a:pt x="4297680" y="57683"/>
                  </a:lnTo>
                  <a:lnTo>
                    <a:pt x="4293146" y="35232"/>
                  </a:lnTo>
                  <a:lnTo>
                    <a:pt x="4280782" y="16897"/>
                  </a:lnTo>
                  <a:lnTo>
                    <a:pt x="4262447" y="4533"/>
                  </a:lnTo>
                  <a:lnTo>
                    <a:pt x="423999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80109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0618" y="0"/>
                  </a:moveTo>
                  <a:lnTo>
                    <a:pt x="57061" y="0"/>
                  </a:lnTo>
                  <a:lnTo>
                    <a:pt x="34847" y="4484"/>
                  </a:lnTo>
                  <a:lnTo>
                    <a:pt x="16710" y="16714"/>
                  </a:lnTo>
                  <a:lnTo>
                    <a:pt x="4483" y="34852"/>
                  </a:lnTo>
                  <a:lnTo>
                    <a:pt x="0" y="57061"/>
                  </a:lnTo>
                  <a:lnTo>
                    <a:pt x="0" y="1131658"/>
                  </a:lnTo>
                  <a:lnTo>
                    <a:pt x="4483" y="1153872"/>
                  </a:lnTo>
                  <a:lnTo>
                    <a:pt x="16710" y="1172009"/>
                  </a:lnTo>
                  <a:lnTo>
                    <a:pt x="34847" y="1184236"/>
                  </a:lnTo>
                  <a:lnTo>
                    <a:pt x="57061" y="1188719"/>
                  </a:lnTo>
                  <a:lnTo>
                    <a:pt x="4240618" y="1188719"/>
                  </a:lnTo>
                  <a:lnTo>
                    <a:pt x="4262832" y="1184236"/>
                  </a:lnTo>
                  <a:lnTo>
                    <a:pt x="4280969" y="1172009"/>
                  </a:lnTo>
                  <a:lnTo>
                    <a:pt x="4293196" y="1153872"/>
                  </a:lnTo>
                  <a:lnTo>
                    <a:pt x="4297680" y="1131658"/>
                  </a:lnTo>
                  <a:lnTo>
                    <a:pt x="4297680" y="57061"/>
                  </a:lnTo>
                  <a:lnTo>
                    <a:pt x="4293196" y="34852"/>
                  </a:lnTo>
                  <a:lnTo>
                    <a:pt x="4280969" y="16714"/>
                  </a:lnTo>
                  <a:lnTo>
                    <a:pt x="4262832" y="4484"/>
                  </a:lnTo>
                  <a:lnTo>
                    <a:pt x="4240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80109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7061"/>
                  </a:moveTo>
                  <a:lnTo>
                    <a:pt x="4483" y="34852"/>
                  </a:lnTo>
                  <a:lnTo>
                    <a:pt x="16710" y="16714"/>
                  </a:lnTo>
                  <a:lnTo>
                    <a:pt x="34847" y="4484"/>
                  </a:lnTo>
                  <a:lnTo>
                    <a:pt x="57061" y="0"/>
                  </a:lnTo>
                  <a:lnTo>
                    <a:pt x="4240618" y="0"/>
                  </a:lnTo>
                  <a:lnTo>
                    <a:pt x="4262832" y="4484"/>
                  </a:lnTo>
                  <a:lnTo>
                    <a:pt x="4280969" y="16714"/>
                  </a:lnTo>
                  <a:lnTo>
                    <a:pt x="4293196" y="34852"/>
                  </a:lnTo>
                  <a:lnTo>
                    <a:pt x="4297680" y="57061"/>
                  </a:lnTo>
                  <a:lnTo>
                    <a:pt x="4297680" y="1131658"/>
                  </a:lnTo>
                  <a:lnTo>
                    <a:pt x="4293196" y="1153872"/>
                  </a:lnTo>
                  <a:lnTo>
                    <a:pt x="4280969" y="1172009"/>
                  </a:lnTo>
                  <a:lnTo>
                    <a:pt x="4262832" y="1184236"/>
                  </a:lnTo>
                  <a:lnTo>
                    <a:pt x="4240618" y="1188719"/>
                  </a:lnTo>
                  <a:lnTo>
                    <a:pt x="57061" y="1188719"/>
                  </a:lnTo>
                  <a:lnTo>
                    <a:pt x="34847" y="1184236"/>
                  </a:lnTo>
                  <a:lnTo>
                    <a:pt x="16710" y="1172009"/>
                  </a:lnTo>
                  <a:lnTo>
                    <a:pt x="4483" y="1153872"/>
                  </a:lnTo>
                  <a:lnTo>
                    <a:pt x="0" y="1131658"/>
                  </a:lnTo>
                  <a:lnTo>
                    <a:pt x="0" y="57061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671" y="5202428"/>
            <a:ext cx="4280535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conditional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hypothesis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true,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conclusion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must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true.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41"/>
            <a:ext cx="5897880" cy="896619"/>
          </a:xfrm>
          <a:custGeom>
            <a:avLst/>
            <a:gdLst/>
            <a:ahLst/>
            <a:cxnLst/>
            <a:rect l="l" t="t" r="r" b="b"/>
            <a:pathLst>
              <a:path w="5897880" h="896619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04671"/>
                </a:lnTo>
                <a:lnTo>
                  <a:pt x="7186" y="840262"/>
                </a:lnTo>
                <a:lnTo>
                  <a:pt x="26784" y="869327"/>
                </a:lnTo>
                <a:lnTo>
                  <a:pt x="55849" y="888925"/>
                </a:lnTo>
                <a:lnTo>
                  <a:pt x="91440" y="896111"/>
                </a:lnTo>
                <a:lnTo>
                  <a:pt x="5806440" y="896111"/>
                </a:lnTo>
                <a:lnTo>
                  <a:pt x="5842030" y="888925"/>
                </a:lnTo>
                <a:lnTo>
                  <a:pt x="5871095" y="869327"/>
                </a:lnTo>
                <a:lnTo>
                  <a:pt x="5890693" y="840262"/>
                </a:lnTo>
                <a:lnTo>
                  <a:pt x="5897880" y="804671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2045335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 snowing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today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go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skiing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364994"/>
            <a:ext cx="5897880" cy="960119"/>
          </a:xfrm>
          <a:custGeom>
            <a:avLst/>
            <a:gdLst/>
            <a:ahLst/>
            <a:cxnLst/>
            <a:rect l="l" t="t" r="r" b="b"/>
            <a:pathLst>
              <a:path w="5897880" h="960120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68679"/>
                </a:lnTo>
                <a:lnTo>
                  <a:pt x="7186" y="904270"/>
                </a:lnTo>
                <a:lnTo>
                  <a:pt x="26784" y="933335"/>
                </a:lnTo>
                <a:lnTo>
                  <a:pt x="55849" y="952933"/>
                </a:lnTo>
                <a:lnTo>
                  <a:pt x="91440" y="960119"/>
                </a:lnTo>
                <a:lnTo>
                  <a:pt x="5806440" y="960119"/>
                </a:lnTo>
                <a:lnTo>
                  <a:pt x="5842030" y="952933"/>
                </a:lnTo>
                <a:lnTo>
                  <a:pt x="5871095" y="933335"/>
                </a:lnTo>
                <a:lnTo>
                  <a:pt x="5890693" y="904270"/>
                </a:lnTo>
                <a:lnTo>
                  <a:pt x="5897880" y="868679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410204"/>
            <a:ext cx="504825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snows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today,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go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skiing.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snowing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today.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conclude?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645154"/>
            <a:ext cx="2926080" cy="1481455"/>
          </a:xfrm>
          <a:custGeom>
            <a:avLst/>
            <a:gdLst/>
            <a:ahLst/>
            <a:cxnLst/>
            <a:rect l="l" t="t" r="r" b="b"/>
            <a:pathLst>
              <a:path w="2926079" h="1481454">
                <a:moveTo>
                  <a:pt x="28346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834640" y="1481327"/>
                </a:lnTo>
                <a:lnTo>
                  <a:pt x="2870230" y="1474141"/>
                </a:lnTo>
                <a:lnTo>
                  <a:pt x="2899295" y="1454543"/>
                </a:lnTo>
                <a:lnTo>
                  <a:pt x="2918893" y="1425478"/>
                </a:lnTo>
                <a:lnTo>
                  <a:pt x="2926080" y="1389887"/>
                </a:lnTo>
                <a:lnTo>
                  <a:pt x="2926080" y="91439"/>
                </a:lnTo>
                <a:lnTo>
                  <a:pt x="2918893" y="55844"/>
                </a:lnTo>
                <a:lnTo>
                  <a:pt x="2899295" y="26779"/>
                </a:lnTo>
                <a:lnTo>
                  <a:pt x="2870230" y="7184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690364"/>
            <a:ext cx="1037590" cy="1178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645153"/>
            <a:ext cx="2880360" cy="1481455"/>
          </a:xfrm>
          <a:custGeom>
            <a:avLst/>
            <a:gdLst/>
            <a:ahLst/>
            <a:cxnLst/>
            <a:rect l="l" t="t" r="r" b="b"/>
            <a:pathLst>
              <a:path w="2880359" h="1481454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788920" y="1481327"/>
                </a:lnTo>
                <a:lnTo>
                  <a:pt x="2824510" y="1474141"/>
                </a:lnTo>
                <a:lnTo>
                  <a:pt x="2853575" y="1454543"/>
                </a:lnTo>
                <a:lnTo>
                  <a:pt x="2873173" y="1425478"/>
                </a:lnTo>
                <a:lnTo>
                  <a:pt x="2880360" y="1389887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690364"/>
            <a:ext cx="1718310" cy="548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skiing.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8</a:t>
            </a:fld>
            <a:r>
              <a:rPr spc="-2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Rule</a:t>
            </a:r>
            <a:r>
              <a:rPr spc="-220" dirty="0"/>
              <a:t> </a:t>
            </a:r>
            <a:r>
              <a:rPr spc="-254" dirty="0"/>
              <a:t>2:</a:t>
            </a:r>
            <a:r>
              <a:rPr spc="-195" dirty="0"/>
              <a:t> </a:t>
            </a:r>
            <a:r>
              <a:rPr spc="220" dirty="0"/>
              <a:t>Modus</a:t>
            </a:r>
            <a:r>
              <a:rPr spc="-200" dirty="0"/>
              <a:t> </a:t>
            </a:r>
            <a:r>
              <a:rPr spc="75" dirty="0"/>
              <a:t>tollens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2843" y="497300"/>
            <a:ext cx="27876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¬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1243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→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spc="-25" dirty="0">
                <a:solidFill>
                  <a:srgbClr val="2D2A5E"/>
                </a:solidFill>
                <a:latin typeface="Cambria Math"/>
                <a:cs typeface="Cambria Math"/>
              </a:rPr>
              <a:t>¬q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1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 </a:t>
            </a:r>
            <a:r>
              <a:rPr sz="26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(¬q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q))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14288"/>
            <a:ext cx="4368165" cy="1213485"/>
            <a:chOff x="633730" y="5114288"/>
            <a:chExt cx="4368165" cy="1213485"/>
          </a:xfrm>
        </p:grpSpPr>
        <p:sp>
          <p:nvSpPr>
            <p:cNvPr id="21" name="object 21"/>
            <p:cNvSpPr/>
            <p:nvPr/>
          </p:nvSpPr>
          <p:spPr>
            <a:xfrm>
              <a:off x="704088" y="5184646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5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2999"/>
                  </a:lnTo>
                  <a:lnTo>
                    <a:pt x="4242816" y="1142999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5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conditional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conclusion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false,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hypothesis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must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false.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41"/>
            <a:ext cx="5897880" cy="896619"/>
          </a:xfrm>
          <a:custGeom>
            <a:avLst/>
            <a:gdLst/>
            <a:ahLst/>
            <a:cxnLst/>
            <a:rect l="l" t="t" r="r" b="b"/>
            <a:pathLst>
              <a:path w="5897880" h="896619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04671"/>
                </a:lnTo>
                <a:lnTo>
                  <a:pt x="7186" y="840262"/>
                </a:lnTo>
                <a:lnTo>
                  <a:pt x="26784" y="869327"/>
                </a:lnTo>
                <a:lnTo>
                  <a:pt x="55849" y="888925"/>
                </a:lnTo>
                <a:lnTo>
                  <a:pt x="91440" y="896111"/>
                </a:lnTo>
                <a:lnTo>
                  <a:pt x="5806440" y="896111"/>
                </a:lnTo>
                <a:lnTo>
                  <a:pt x="5842030" y="888925"/>
                </a:lnTo>
                <a:lnTo>
                  <a:pt x="5871095" y="869327"/>
                </a:lnTo>
                <a:lnTo>
                  <a:pt x="5890693" y="840262"/>
                </a:lnTo>
                <a:lnTo>
                  <a:pt x="5897880" y="804671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1971675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rains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ground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wet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364994"/>
            <a:ext cx="5897880" cy="960119"/>
          </a:xfrm>
          <a:custGeom>
            <a:avLst/>
            <a:gdLst/>
            <a:ahLst/>
            <a:cxnLst/>
            <a:rect l="l" t="t" r="r" b="b"/>
            <a:pathLst>
              <a:path w="5897880" h="960120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68679"/>
                </a:lnTo>
                <a:lnTo>
                  <a:pt x="7186" y="904270"/>
                </a:lnTo>
                <a:lnTo>
                  <a:pt x="26784" y="933335"/>
                </a:lnTo>
                <a:lnTo>
                  <a:pt x="55849" y="952933"/>
                </a:lnTo>
                <a:lnTo>
                  <a:pt x="91440" y="960119"/>
                </a:lnTo>
                <a:lnTo>
                  <a:pt x="5806440" y="960119"/>
                </a:lnTo>
                <a:lnTo>
                  <a:pt x="5842030" y="952933"/>
                </a:lnTo>
                <a:lnTo>
                  <a:pt x="5871095" y="933335"/>
                </a:lnTo>
                <a:lnTo>
                  <a:pt x="5890693" y="904270"/>
                </a:lnTo>
                <a:lnTo>
                  <a:pt x="5897880" y="868679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370555"/>
            <a:ext cx="5414645" cy="853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13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13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rains,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ground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wet.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ground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wet.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conclude?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645154"/>
            <a:ext cx="2926080" cy="1481455"/>
          </a:xfrm>
          <a:custGeom>
            <a:avLst/>
            <a:gdLst/>
            <a:ahLst/>
            <a:cxnLst/>
            <a:rect l="l" t="t" r="r" b="b"/>
            <a:pathLst>
              <a:path w="2926079" h="1481454">
                <a:moveTo>
                  <a:pt x="28346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834640" y="1481327"/>
                </a:lnTo>
                <a:lnTo>
                  <a:pt x="2870230" y="1474141"/>
                </a:lnTo>
                <a:lnTo>
                  <a:pt x="2899295" y="1454543"/>
                </a:lnTo>
                <a:lnTo>
                  <a:pt x="2918893" y="1425478"/>
                </a:lnTo>
                <a:lnTo>
                  <a:pt x="2926080" y="1389887"/>
                </a:lnTo>
                <a:lnTo>
                  <a:pt x="2926080" y="91439"/>
                </a:lnTo>
                <a:lnTo>
                  <a:pt x="2918893" y="55844"/>
                </a:lnTo>
                <a:lnTo>
                  <a:pt x="2899295" y="26779"/>
                </a:lnTo>
                <a:lnTo>
                  <a:pt x="2870230" y="7184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690364"/>
            <a:ext cx="1037590" cy="1178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¬q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 ¬p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645153"/>
            <a:ext cx="2880360" cy="1481455"/>
          </a:xfrm>
          <a:custGeom>
            <a:avLst/>
            <a:gdLst/>
            <a:ahLst/>
            <a:cxnLst/>
            <a:rect l="l" t="t" r="r" b="b"/>
            <a:pathLst>
              <a:path w="2880359" h="1481454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788920" y="1481327"/>
                </a:lnTo>
                <a:lnTo>
                  <a:pt x="2824510" y="1474141"/>
                </a:lnTo>
                <a:lnTo>
                  <a:pt x="2853575" y="1454543"/>
                </a:lnTo>
                <a:lnTo>
                  <a:pt x="2873173" y="1425478"/>
                </a:lnTo>
                <a:lnTo>
                  <a:pt x="2880360" y="1389887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288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690364"/>
            <a:ext cx="1416050" cy="548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did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rain.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145"/>
              </a:lnSpc>
            </a:pPr>
            <a:fld id="{81D60167-4931-47E6-BA6A-407CBD079E47}" type="slidenum">
              <a:rPr spc="-20" dirty="0"/>
              <a:t>9</a:t>
            </a:fld>
            <a:r>
              <a:rPr spc="-2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Rule</a:t>
            </a:r>
            <a:r>
              <a:rPr spc="-204" dirty="0"/>
              <a:t> </a:t>
            </a:r>
            <a:r>
              <a:rPr spc="-265" dirty="0"/>
              <a:t>3:</a:t>
            </a:r>
            <a:r>
              <a:rPr spc="-170" dirty="0"/>
              <a:t> </a:t>
            </a:r>
            <a:r>
              <a:rPr spc="70" dirty="0"/>
              <a:t>Hypothetical</a:t>
            </a:r>
            <a:r>
              <a:rPr spc="-160" dirty="0"/>
              <a:t> </a:t>
            </a:r>
            <a:r>
              <a:rPr spc="135" dirty="0"/>
              <a:t>syllogism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43062" y="497300"/>
            <a:ext cx="31877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⇒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1243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→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→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1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 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((p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q)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(q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r))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r)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14288"/>
            <a:ext cx="4368165" cy="1213485"/>
            <a:chOff x="633730" y="5114288"/>
            <a:chExt cx="4368165" cy="1213485"/>
          </a:xfrm>
        </p:grpSpPr>
        <p:sp>
          <p:nvSpPr>
            <p:cNvPr id="21" name="object 21"/>
            <p:cNvSpPr/>
            <p:nvPr/>
          </p:nvSpPr>
          <p:spPr>
            <a:xfrm>
              <a:off x="704088" y="5184646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5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2999"/>
                  </a:lnTo>
                  <a:lnTo>
                    <a:pt x="4242816" y="1142999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5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Conditionals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chain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together: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leads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leads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65" dirty="0">
                <a:solidFill>
                  <a:srgbClr val="2D2A5E"/>
                </a:solidFill>
                <a:latin typeface="Calibri"/>
                <a:cs typeface="Calibri"/>
              </a:rPr>
              <a:t>r,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 then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leads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r.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86400" y="2148836"/>
            <a:ext cx="5897880" cy="2496820"/>
            <a:chOff x="5486400" y="2148836"/>
            <a:chExt cx="5897880" cy="2496820"/>
          </a:xfrm>
        </p:grpSpPr>
        <p:sp>
          <p:nvSpPr>
            <p:cNvPr id="33" name="object 33"/>
            <p:cNvSpPr/>
            <p:nvPr/>
          </p:nvSpPr>
          <p:spPr>
            <a:xfrm>
              <a:off x="5486400" y="2148836"/>
              <a:ext cx="5897880" cy="1152525"/>
            </a:xfrm>
            <a:custGeom>
              <a:avLst/>
              <a:gdLst/>
              <a:ahLst/>
              <a:cxnLst/>
              <a:rect l="l" t="t" r="r" b="b"/>
              <a:pathLst>
                <a:path w="5897880" h="1152525">
                  <a:moveTo>
                    <a:pt x="5806427" y="0"/>
                  </a:moveTo>
                  <a:lnTo>
                    <a:pt x="91452" y="0"/>
                  </a:lnTo>
                  <a:lnTo>
                    <a:pt x="55855" y="7186"/>
                  </a:lnTo>
                  <a:lnTo>
                    <a:pt x="26785" y="26785"/>
                  </a:lnTo>
                  <a:lnTo>
                    <a:pt x="7186" y="55855"/>
                  </a:lnTo>
                  <a:lnTo>
                    <a:pt x="0" y="91452"/>
                  </a:lnTo>
                  <a:lnTo>
                    <a:pt x="0" y="1060704"/>
                  </a:lnTo>
                  <a:lnTo>
                    <a:pt x="7186" y="1096294"/>
                  </a:lnTo>
                  <a:lnTo>
                    <a:pt x="26785" y="1125359"/>
                  </a:lnTo>
                  <a:lnTo>
                    <a:pt x="55855" y="1144957"/>
                  </a:lnTo>
                  <a:lnTo>
                    <a:pt x="91452" y="1152144"/>
                  </a:lnTo>
                  <a:lnTo>
                    <a:pt x="5806427" y="1152144"/>
                  </a:lnTo>
                  <a:lnTo>
                    <a:pt x="5842024" y="1144957"/>
                  </a:lnTo>
                  <a:lnTo>
                    <a:pt x="5871094" y="1125359"/>
                  </a:lnTo>
                  <a:lnTo>
                    <a:pt x="5890693" y="1096294"/>
                  </a:lnTo>
                  <a:lnTo>
                    <a:pt x="5897880" y="1060704"/>
                  </a:lnTo>
                  <a:lnTo>
                    <a:pt x="5897880" y="91452"/>
                  </a:lnTo>
                  <a:lnTo>
                    <a:pt x="5890693" y="55855"/>
                  </a:lnTo>
                  <a:lnTo>
                    <a:pt x="5871094" y="26785"/>
                  </a:lnTo>
                  <a:lnTo>
                    <a:pt x="5842024" y="7186"/>
                  </a:lnTo>
                  <a:lnTo>
                    <a:pt x="5806427" y="0"/>
                  </a:lnTo>
                  <a:close/>
                </a:path>
              </a:pathLst>
            </a:custGeom>
            <a:solidFill>
              <a:srgbClr val="F3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86400" y="3410707"/>
              <a:ext cx="5897880" cy="1234440"/>
            </a:xfrm>
            <a:custGeom>
              <a:avLst/>
              <a:gdLst/>
              <a:ahLst/>
              <a:cxnLst/>
              <a:rect l="l" t="t" r="r" b="b"/>
              <a:pathLst>
                <a:path w="5897880" h="1234439">
                  <a:moveTo>
                    <a:pt x="5806440" y="0"/>
                  </a:moveTo>
                  <a:lnTo>
                    <a:pt x="91440" y="0"/>
                  </a:lnTo>
                  <a:lnTo>
                    <a:pt x="55844" y="7186"/>
                  </a:lnTo>
                  <a:lnTo>
                    <a:pt x="26779" y="26784"/>
                  </a:lnTo>
                  <a:lnTo>
                    <a:pt x="7184" y="55849"/>
                  </a:lnTo>
                  <a:lnTo>
                    <a:pt x="0" y="91439"/>
                  </a:lnTo>
                  <a:lnTo>
                    <a:pt x="0" y="1143012"/>
                  </a:lnTo>
                  <a:lnTo>
                    <a:pt x="7184" y="1178600"/>
                  </a:lnTo>
                  <a:lnTo>
                    <a:pt x="26779" y="1207662"/>
                  </a:lnTo>
                  <a:lnTo>
                    <a:pt x="55844" y="1227255"/>
                  </a:lnTo>
                  <a:lnTo>
                    <a:pt x="91440" y="1234439"/>
                  </a:lnTo>
                  <a:lnTo>
                    <a:pt x="5806440" y="1234439"/>
                  </a:lnTo>
                  <a:lnTo>
                    <a:pt x="5842035" y="1227255"/>
                  </a:lnTo>
                  <a:lnTo>
                    <a:pt x="5871100" y="1207662"/>
                  </a:lnTo>
                  <a:lnTo>
                    <a:pt x="5890695" y="1178600"/>
                  </a:lnTo>
                  <a:lnTo>
                    <a:pt x="5897880" y="1143012"/>
                  </a:lnTo>
                  <a:lnTo>
                    <a:pt x="5897880" y="91439"/>
                  </a:lnTo>
                  <a:lnTo>
                    <a:pt x="5890695" y="55849"/>
                  </a:lnTo>
                  <a:lnTo>
                    <a:pt x="5871100" y="26784"/>
                  </a:lnTo>
                  <a:lnTo>
                    <a:pt x="5842035" y="7186"/>
                  </a:lnTo>
                  <a:lnTo>
                    <a:pt x="5806440" y="0"/>
                  </a:lnTo>
                  <a:close/>
                </a:path>
              </a:pathLst>
            </a:custGeom>
            <a:solidFill>
              <a:srgbClr val="FFF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23559" y="2194052"/>
            <a:ext cx="5404485" cy="2360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 rains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today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 barbecue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today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barbecue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tomorrow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825"/>
              </a:lnSpc>
              <a:spcBef>
                <a:spcPts val="1510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12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 it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today,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 barbecue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today.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endParaRPr sz="1850">
              <a:latin typeface="Calibri"/>
              <a:cs typeface="Calibri"/>
            </a:endParaRPr>
          </a:p>
          <a:p>
            <a:pPr marR="831850">
              <a:lnSpc>
                <a:spcPts val="2240"/>
              </a:lnSpc>
              <a:spcBef>
                <a:spcPts val="7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barbecue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today,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have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one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tomorrow.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follows?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754883"/>
            <a:ext cx="2926080" cy="1481455"/>
          </a:xfrm>
          <a:custGeom>
            <a:avLst/>
            <a:gdLst/>
            <a:ahLst/>
            <a:cxnLst/>
            <a:rect l="l" t="t" r="r" b="b"/>
            <a:pathLst>
              <a:path w="2926079" h="1481454">
                <a:moveTo>
                  <a:pt x="28346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834640" y="1481327"/>
                </a:lnTo>
                <a:lnTo>
                  <a:pt x="2870230" y="1474141"/>
                </a:lnTo>
                <a:lnTo>
                  <a:pt x="2899295" y="1454543"/>
                </a:lnTo>
                <a:lnTo>
                  <a:pt x="2918893" y="1425478"/>
                </a:lnTo>
                <a:lnTo>
                  <a:pt x="2926080" y="1389887"/>
                </a:lnTo>
                <a:lnTo>
                  <a:pt x="2926080" y="91439"/>
                </a:lnTo>
                <a:lnTo>
                  <a:pt x="2918893" y="55844"/>
                </a:lnTo>
                <a:lnTo>
                  <a:pt x="2899295" y="26779"/>
                </a:lnTo>
                <a:lnTo>
                  <a:pt x="2870230" y="7184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800091"/>
            <a:ext cx="1037590" cy="1178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754881"/>
            <a:ext cx="2880360" cy="1481455"/>
          </a:xfrm>
          <a:custGeom>
            <a:avLst/>
            <a:gdLst/>
            <a:ahLst/>
            <a:cxnLst/>
            <a:rect l="l" t="t" r="r" b="b"/>
            <a:pathLst>
              <a:path w="2880359" h="1481454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788920" y="1481327"/>
                </a:lnTo>
                <a:lnTo>
                  <a:pt x="2824510" y="1474141"/>
                </a:lnTo>
                <a:lnTo>
                  <a:pt x="2853575" y="1454543"/>
                </a:lnTo>
                <a:lnTo>
                  <a:pt x="2873173" y="1425478"/>
                </a:lnTo>
                <a:lnTo>
                  <a:pt x="2880360" y="1389887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6A6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800091"/>
            <a:ext cx="2397125" cy="1116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it rains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today,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18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endParaRPr sz="1850">
              <a:latin typeface="Calibri"/>
              <a:cs typeface="Calibri"/>
            </a:endParaRPr>
          </a:p>
          <a:p>
            <a:pPr marR="362585">
              <a:lnSpc>
                <a:spcPts val="2240"/>
              </a:lnSpc>
              <a:spcBef>
                <a:spcPts val="70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5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barbecue tomorrow.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05" dirty="0"/>
              <a:t>Rule</a:t>
            </a:r>
            <a:r>
              <a:rPr spc="-155" dirty="0"/>
              <a:t> </a:t>
            </a:r>
            <a:r>
              <a:rPr spc="-245" dirty="0"/>
              <a:t>4:</a:t>
            </a:r>
            <a:r>
              <a:rPr spc="-125" dirty="0"/>
              <a:t> </a:t>
            </a:r>
            <a:r>
              <a:rPr dirty="0"/>
              <a:t>Disjunctive</a:t>
            </a:r>
            <a:r>
              <a:rPr spc="-125" dirty="0"/>
              <a:t> </a:t>
            </a:r>
            <a:r>
              <a:rPr spc="140" dirty="0"/>
              <a:t>syllogism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88782" y="497300"/>
            <a:ext cx="22542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1243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1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((p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q)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¬p)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14288"/>
            <a:ext cx="4368165" cy="1213485"/>
            <a:chOff x="633730" y="5114288"/>
            <a:chExt cx="4368165" cy="1213485"/>
          </a:xfrm>
        </p:grpSpPr>
        <p:sp>
          <p:nvSpPr>
            <p:cNvPr id="21" name="object 21"/>
            <p:cNvSpPr/>
            <p:nvPr/>
          </p:nvSpPr>
          <p:spPr>
            <a:xfrm>
              <a:off x="704088" y="5184646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5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2999"/>
                  </a:lnTo>
                  <a:lnTo>
                    <a:pt x="4242816" y="1142999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5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two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options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first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false,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second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must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true.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41"/>
            <a:ext cx="5897880" cy="896619"/>
          </a:xfrm>
          <a:custGeom>
            <a:avLst/>
            <a:gdLst/>
            <a:ahLst/>
            <a:cxnLst/>
            <a:rect l="l" t="t" r="r" b="b"/>
            <a:pathLst>
              <a:path w="5897880" h="896619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04671"/>
                </a:lnTo>
                <a:lnTo>
                  <a:pt x="7186" y="840262"/>
                </a:lnTo>
                <a:lnTo>
                  <a:pt x="26784" y="869327"/>
                </a:lnTo>
                <a:lnTo>
                  <a:pt x="55849" y="888925"/>
                </a:lnTo>
                <a:lnTo>
                  <a:pt x="91440" y="896111"/>
                </a:lnTo>
                <a:lnTo>
                  <a:pt x="5806440" y="896111"/>
                </a:lnTo>
                <a:lnTo>
                  <a:pt x="5842030" y="888925"/>
                </a:lnTo>
                <a:lnTo>
                  <a:pt x="5871095" y="869327"/>
                </a:lnTo>
                <a:lnTo>
                  <a:pt x="5890693" y="840262"/>
                </a:lnTo>
                <a:lnTo>
                  <a:pt x="5897880" y="804671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226695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server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down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network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down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364994"/>
            <a:ext cx="5897880" cy="960119"/>
          </a:xfrm>
          <a:custGeom>
            <a:avLst/>
            <a:gdLst/>
            <a:ahLst/>
            <a:cxnLst/>
            <a:rect l="l" t="t" r="r" b="b"/>
            <a:pathLst>
              <a:path w="5897880" h="960120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68679"/>
                </a:lnTo>
                <a:lnTo>
                  <a:pt x="7186" y="904270"/>
                </a:lnTo>
                <a:lnTo>
                  <a:pt x="26784" y="933335"/>
                </a:lnTo>
                <a:lnTo>
                  <a:pt x="55849" y="952933"/>
                </a:lnTo>
                <a:lnTo>
                  <a:pt x="91440" y="960119"/>
                </a:lnTo>
                <a:lnTo>
                  <a:pt x="5806440" y="960119"/>
                </a:lnTo>
                <a:lnTo>
                  <a:pt x="5842030" y="952933"/>
                </a:lnTo>
                <a:lnTo>
                  <a:pt x="5871095" y="933335"/>
                </a:lnTo>
                <a:lnTo>
                  <a:pt x="5890693" y="904270"/>
                </a:lnTo>
                <a:lnTo>
                  <a:pt x="5897880" y="868679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410204"/>
            <a:ext cx="543433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server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down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or 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network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down.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server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down.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conclude?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645154"/>
            <a:ext cx="2926080" cy="1481455"/>
          </a:xfrm>
          <a:custGeom>
            <a:avLst/>
            <a:gdLst/>
            <a:ahLst/>
            <a:cxnLst/>
            <a:rect l="l" t="t" r="r" b="b"/>
            <a:pathLst>
              <a:path w="2926079" h="1481454">
                <a:moveTo>
                  <a:pt x="28346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834640" y="1481327"/>
                </a:lnTo>
                <a:lnTo>
                  <a:pt x="2870230" y="1474141"/>
                </a:lnTo>
                <a:lnTo>
                  <a:pt x="2899295" y="1454543"/>
                </a:lnTo>
                <a:lnTo>
                  <a:pt x="2918893" y="1425478"/>
                </a:lnTo>
                <a:lnTo>
                  <a:pt x="2926080" y="1389887"/>
                </a:lnTo>
                <a:lnTo>
                  <a:pt x="2926080" y="91439"/>
                </a:lnTo>
                <a:lnTo>
                  <a:pt x="2918893" y="55844"/>
                </a:lnTo>
                <a:lnTo>
                  <a:pt x="2899295" y="26779"/>
                </a:lnTo>
                <a:lnTo>
                  <a:pt x="2870230" y="7184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690364"/>
            <a:ext cx="1037590" cy="1178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00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645153"/>
            <a:ext cx="2880360" cy="1481455"/>
          </a:xfrm>
          <a:custGeom>
            <a:avLst/>
            <a:gdLst/>
            <a:ahLst/>
            <a:cxnLst/>
            <a:rect l="l" t="t" r="r" b="b"/>
            <a:pathLst>
              <a:path w="2880359" h="1481454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788920" y="1481327"/>
                </a:lnTo>
                <a:lnTo>
                  <a:pt x="2824510" y="1474141"/>
                </a:lnTo>
                <a:lnTo>
                  <a:pt x="2853575" y="1454543"/>
                </a:lnTo>
                <a:lnTo>
                  <a:pt x="2873173" y="1425478"/>
                </a:lnTo>
                <a:lnTo>
                  <a:pt x="2880360" y="1389887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690364"/>
            <a:ext cx="2143125" cy="548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The network</a:t>
            </a:r>
            <a:r>
              <a:rPr sz="1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5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down.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11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Rule</a:t>
            </a:r>
            <a:r>
              <a:rPr spc="-225" dirty="0"/>
              <a:t> </a:t>
            </a:r>
            <a:r>
              <a:rPr spc="-275" dirty="0"/>
              <a:t>5:</a:t>
            </a:r>
            <a:r>
              <a:rPr spc="-190" dirty="0"/>
              <a:t> </a:t>
            </a:r>
            <a:r>
              <a:rPr spc="40" dirty="0"/>
              <a:t>Addition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62843" y="497300"/>
            <a:ext cx="27876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+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838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65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q)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14288"/>
            <a:ext cx="4368165" cy="1213485"/>
            <a:chOff x="633730" y="5114288"/>
            <a:chExt cx="4368165" cy="1213485"/>
          </a:xfrm>
        </p:grpSpPr>
        <p:sp>
          <p:nvSpPr>
            <p:cNvPr id="21" name="object 21"/>
            <p:cNvSpPr/>
            <p:nvPr/>
          </p:nvSpPr>
          <p:spPr>
            <a:xfrm>
              <a:off x="704088" y="5184646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5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2999"/>
                  </a:lnTo>
                  <a:lnTo>
                    <a:pt x="4242816" y="1142999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5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From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any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statement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form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or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q,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any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statement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q.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41"/>
            <a:ext cx="5897880" cy="896619"/>
          </a:xfrm>
          <a:custGeom>
            <a:avLst/>
            <a:gdLst/>
            <a:ahLst/>
            <a:cxnLst/>
            <a:rect l="l" t="t" r="r" b="b"/>
            <a:pathLst>
              <a:path w="5897880" h="896619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04671"/>
                </a:lnTo>
                <a:lnTo>
                  <a:pt x="7186" y="840262"/>
                </a:lnTo>
                <a:lnTo>
                  <a:pt x="26784" y="869327"/>
                </a:lnTo>
                <a:lnTo>
                  <a:pt x="55849" y="888925"/>
                </a:lnTo>
                <a:lnTo>
                  <a:pt x="91440" y="896111"/>
                </a:lnTo>
                <a:lnTo>
                  <a:pt x="5806440" y="896111"/>
                </a:lnTo>
                <a:lnTo>
                  <a:pt x="5842030" y="888925"/>
                </a:lnTo>
                <a:lnTo>
                  <a:pt x="5871095" y="869327"/>
                </a:lnTo>
                <a:lnTo>
                  <a:pt x="5890693" y="840262"/>
                </a:lnTo>
                <a:lnTo>
                  <a:pt x="5897880" y="804671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253111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 is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below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freezing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now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now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364994"/>
            <a:ext cx="5897880" cy="960119"/>
          </a:xfrm>
          <a:custGeom>
            <a:avLst/>
            <a:gdLst/>
            <a:ahLst/>
            <a:cxnLst/>
            <a:rect l="l" t="t" r="r" b="b"/>
            <a:pathLst>
              <a:path w="5897880" h="960120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68679"/>
                </a:lnTo>
                <a:lnTo>
                  <a:pt x="7186" y="904270"/>
                </a:lnTo>
                <a:lnTo>
                  <a:pt x="26784" y="933335"/>
                </a:lnTo>
                <a:lnTo>
                  <a:pt x="55849" y="952933"/>
                </a:lnTo>
                <a:lnTo>
                  <a:pt x="91440" y="960119"/>
                </a:lnTo>
                <a:lnTo>
                  <a:pt x="5806440" y="960119"/>
                </a:lnTo>
                <a:lnTo>
                  <a:pt x="5842030" y="952933"/>
                </a:lnTo>
                <a:lnTo>
                  <a:pt x="5871095" y="933335"/>
                </a:lnTo>
                <a:lnTo>
                  <a:pt x="5890693" y="904270"/>
                </a:lnTo>
                <a:lnTo>
                  <a:pt x="5897880" y="868679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410204"/>
            <a:ext cx="519049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below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freezing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now.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conclude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about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"below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freezing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or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raining"?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645145"/>
            <a:ext cx="2926080" cy="1134110"/>
          </a:xfrm>
          <a:custGeom>
            <a:avLst/>
            <a:gdLst/>
            <a:ahLst/>
            <a:cxnLst/>
            <a:rect l="l" t="t" r="r" b="b"/>
            <a:pathLst>
              <a:path w="2926079" h="1134110">
                <a:moveTo>
                  <a:pt x="2834640" y="0"/>
                </a:moveTo>
                <a:lnTo>
                  <a:pt x="91452" y="0"/>
                </a:lnTo>
                <a:lnTo>
                  <a:pt x="55855" y="7186"/>
                </a:lnTo>
                <a:lnTo>
                  <a:pt x="26785" y="26785"/>
                </a:lnTo>
                <a:lnTo>
                  <a:pt x="7186" y="55855"/>
                </a:lnTo>
                <a:lnTo>
                  <a:pt x="0" y="91452"/>
                </a:lnTo>
                <a:lnTo>
                  <a:pt x="0" y="1042416"/>
                </a:lnTo>
                <a:lnTo>
                  <a:pt x="7186" y="1078011"/>
                </a:lnTo>
                <a:lnTo>
                  <a:pt x="26785" y="1107076"/>
                </a:lnTo>
                <a:lnTo>
                  <a:pt x="55855" y="1126671"/>
                </a:lnTo>
                <a:lnTo>
                  <a:pt x="91452" y="1133855"/>
                </a:lnTo>
                <a:lnTo>
                  <a:pt x="2834640" y="1133855"/>
                </a:lnTo>
                <a:lnTo>
                  <a:pt x="2870230" y="1126671"/>
                </a:lnTo>
                <a:lnTo>
                  <a:pt x="2899295" y="1107076"/>
                </a:lnTo>
                <a:lnTo>
                  <a:pt x="2918893" y="1078011"/>
                </a:lnTo>
                <a:lnTo>
                  <a:pt x="2926080" y="1042416"/>
                </a:lnTo>
                <a:lnTo>
                  <a:pt x="2926080" y="91452"/>
                </a:lnTo>
                <a:lnTo>
                  <a:pt x="2918893" y="55855"/>
                </a:lnTo>
                <a:lnTo>
                  <a:pt x="2899295" y="26785"/>
                </a:lnTo>
                <a:lnTo>
                  <a:pt x="2870230" y="7186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690364"/>
            <a:ext cx="1037590" cy="873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645155"/>
            <a:ext cx="2880360" cy="1134110"/>
          </a:xfrm>
          <a:custGeom>
            <a:avLst/>
            <a:gdLst/>
            <a:ahLst/>
            <a:cxnLst/>
            <a:rect l="l" t="t" r="r" b="b"/>
            <a:pathLst>
              <a:path w="2880359" h="1134110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042403"/>
                </a:lnTo>
                <a:lnTo>
                  <a:pt x="7186" y="1078000"/>
                </a:lnTo>
                <a:lnTo>
                  <a:pt x="26784" y="1107070"/>
                </a:lnTo>
                <a:lnTo>
                  <a:pt x="55849" y="1126669"/>
                </a:lnTo>
                <a:lnTo>
                  <a:pt x="91440" y="1133855"/>
                </a:lnTo>
                <a:lnTo>
                  <a:pt x="2788920" y="1133855"/>
                </a:lnTo>
                <a:lnTo>
                  <a:pt x="2824510" y="1126669"/>
                </a:lnTo>
                <a:lnTo>
                  <a:pt x="2853575" y="1107070"/>
                </a:lnTo>
                <a:lnTo>
                  <a:pt x="2873173" y="1078000"/>
                </a:lnTo>
                <a:lnTo>
                  <a:pt x="2880360" y="1042403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FFAA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690364"/>
            <a:ext cx="2133600" cy="831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A21DC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333300"/>
                </a:solidFill>
                <a:latin typeface="Calibri"/>
                <a:cs typeface="Calibri"/>
              </a:rPr>
              <a:t>It</a:t>
            </a:r>
            <a:r>
              <a:rPr sz="1850" b="1" spc="10" dirty="0">
                <a:solidFill>
                  <a:srgbClr val="33330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33300"/>
                </a:solidFill>
                <a:latin typeface="Calibri"/>
                <a:cs typeface="Calibri"/>
              </a:rPr>
              <a:t>is</a:t>
            </a:r>
            <a:r>
              <a:rPr sz="1850" b="1" spc="30" dirty="0">
                <a:solidFill>
                  <a:srgbClr val="33330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33300"/>
                </a:solidFill>
                <a:latin typeface="Calibri"/>
                <a:cs typeface="Calibri"/>
              </a:rPr>
              <a:t>below</a:t>
            </a:r>
            <a:r>
              <a:rPr sz="1850" b="1" spc="-25" dirty="0">
                <a:solidFill>
                  <a:srgbClr val="33330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33300"/>
                </a:solidFill>
                <a:latin typeface="Calibri"/>
                <a:cs typeface="Calibri"/>
              </a:rPr>
              <a:t>freezing</a:t>
            </a:r>
            <a:r>
              <a:rPr sz="1850" b="1" spc="-15" dirty="0">
                <a:solidFill>
                  <a:srgbClr val="333300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333300"/>
                </a:solidFill>
                <a:latin typeface="Calibri"/>
                <a:cs typeface="Calibri"/>
              </a:rPr>
              <a:t>or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dirty="0">
                <a:solidFill>
                  <a:srgbClr val="333300"/>
                </a:solidFill>
                <a:latin typeface="Calibri"/>
                <a:cs typeface="Calibri"/>
              </a:rPr>
              <a:t>raining</a:t>
            </a:r>
            <a:r>
              <a:rPr sz="1850" b="1" spc="-5" dirty="0">
                <a:solidFill>
                  <a:srgbClr val="333300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333300"/>
                </a:solidFill>
                <a:latin typeface="Calibri"/>
                <a:cs typeface="Calibri"/>
              </a:rPr>
              <a:t>now.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12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Rule</a:t>
            </a:r>
            <a:r>
              <a:rPr spc="-215" dirty="0"/>
              <a:t> </a:t>
            </a:r>
            <a:r>
              <a:rPr spc="-190" dirty="0"/>
              <a:t>6:</a:t>
            </a:r>
            <a:r>
              <a:rPr spc="-185" dirty="0"/>
              <a:t> </a:t>
            </a:r>
            <a:r>
              <a:rPr spc="40" dirty="0"/>
              <a:t>Simplification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88782" y="497300"/>
            <a:ext cx="22542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838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 ∧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q)</a:t>
            </a:r>
            <a:r>
              <a:rPr sz="1850" spc="3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14288"/>
            <a:ext cx="4368165" cy="1213485"/>
            <a:chOff x="633730" y="5114288"/>
            <a:chExt cx="4368165" cy="1213485"/>
          </a:xfrm>
        </p:grpSpPr>
        <p:sp>
          <p:nvSpPr>
            <p:cNvPr id="21" name="object 21"/>
            <p:cNvSpPr/>
            <p:nvPr/>
          </p:nvSpPr>
          <p:spPr>
            <a:xfrm>
              <a:off x="704088" y="5184646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5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2999"/>
                  </a:lnTo>
                  <a:lnTo>
                    <a:pt x="4242816" y="1142999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5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From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conjunction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take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either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part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its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own.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41"/>
            <a:ext cx="5897880" cy="896619"/>
          </a:xfrm>
          <a:custGeom>
            <a:avLst/>
            <a:gdLst/>
            <a:ahLst/>
            <a:cxnLst/>
            <a:rect l="l" t="t" r="r" b="b"/>
            <a:pathLst>
              <a:path w="5897880" h="896619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04671"/>
                </a:lnTo>
                <a:lnTo>
                  <a:pt x="7186" y="840262"/>
                </a:lnTo>
                <a:lnTo>
                  <a:pt x="26784" y="869327"/>
                </a:lnTo>
                <a:lnTo>
                  <a:pt x="55849" y="888925"/>
                </a:lnTo>
                <a:lnTo>
                  <a:pt x="91440" y="896111"/>
                </a:lnTo>
                <a:lnTo>
                  <a:pt x="5806440" y="896111"/>
                </a:lnTo>
                <a:lnTo>
                  <a:pt x="5842030" y="888925"/>
                </a:lnTo>
                <a:lnTo>
                  <a:pt x="5871095" y="869327"/>
                </a:lnTo>
                <a:lnTo>
                  <a:pt x="5890693" y="840262"/>
                </a:lnTo>
                <a:lnTo>
                  <a:pt x="5897880" y="804671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253111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 is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below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freezing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now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now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364994"/>
            <a:ext cx="5897880" cy="960119"/>
          </a:xfrm>
          <a:custGeom>
            <a:avLst/>
            <a:gdLst/>
            <a:ahLst/>
            <a:cxnLst/>
            <a:rect l="l" t="t" r="r" b="b"/>
            <a:pathLst>
              <a:path w="5897880" h="960120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68679"/>
                </a:lnTo>
                <a:lnTo>
                  <a:pt x="7186" y="904270"/>
                </a:lnTo>
                <a:lnTo>
                  <a:pt x="26784" y="933335"/>
                </a:lnTo>
                <a:lnTo>
                  <a:pt x="55849" y="952933"/>
                </a:lnTo>
                <a:lnTo>
                  <a:pt x="91440" y="960119"/>
                </a:lnTo>
                <a:lnTo>
                  <a:pt x="5806440" y="960119"/>
                </a:lnTo>
                <a:lnTo>
                  <a:pt x="5842030" y="952933"/>
                </a:lnTo>
                <a:lnTo>
                  <a:pt x="5871095" y="933335"/>
                </a:lnTo>
                <a:lnTo>
                  <a:pt x="5890693" y="904270"/>
                </a:lnTo>
                <a:lnTo>
                  <a:pt x="5897880" y="868679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410204"/>
            <a:ext cx="477647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below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freezing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raining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now.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conclude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about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freezing?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645145"/>
            <a:ext cx="2926080" cy="1134110"/>
          </a:xfrm>
          <a:custGeom>
            <a:avLst/>
            <a:gdLst/>
            <a:ahLst/>
            <a:cxnLst/>
            <a:rect l="l" t="t" r="r" b="b"/>
            <a:pathLst>
              <a:path w="2926079" h="1134110">
                <a:moveTo>
                  <a:pt x="2834640" y="0"/>
                </a:moveTo>
                <a:lnTo>
                  <a:pt x="91452" y="0"/>
                </a:lnTo>
                <a:lnTo>
                  <a:pt x="55855" y="7186"/>
                </a:lnTo>
                <a:lnTo>
                  <a:pt x="26785" y="26785"/>
                </a:lnTo>
                <a:lnTo>
                  <a:pt x="7186" y="55855"/>
                </a:lnTo>
                <a:lnTo>
                  <a:pt x="0" y="91452"/>
                </a:lnTo>
                <a:lnTo>
                  <a:pt x="0" y="1042416"/>
                </a:lnTo>
                <a:lnTo>
                  <a:pt x="7186" y="1078011"/>
                </a:lnTo>
                <a:lnTo>
                  <a:pt x="26785" y="1107076"/>
                </a:lnTo>
                <a:lnTo>
                  <a:pt x="55855" y="1126671"/>
                </a:lnTo>
                <a:lnTo>
                  <a:pt x="91452" y="1133855"/>
                </a:lnTo>
                <a:lnTo>
                  <a:pt x="2834640" y="1133855"/>
                </a:lnTo>
                <a:lnTo>
                  <a:pt x="2870230" y="1126671"/>
                </a:lnTo>
                <a:lnTo>
                  <a:pt x="2899295" y="1107076"/>
                </a:lnTo>
                <a:lnTo>
                  <a:pt x="2918893" y="1078011"/>
                </a:lnTo>
                <a:lnTo>
                  <a:pt x="2926080" y="1042416"/>
                </a:lnTo>
                <a:lnTo>
                  <a:pt x="2926080" y="91452"/>
                </a:lnTo>
                <a:lnTo>
                  <a:pt x="2918893" y="55855"/>
                </a:lnTo>
                <a:lnTo>
                  <a:pt x="2899295" y="26785"/>
                </a:lnTo>
                <a:lnTo>
                  <a:pt x="2870230" y="7186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690364"/>
            <a:ext cx="1037590" cy="873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200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645155"/>
            <a:ext cx="2880360" cy="1134110"/>
          </a:xfrm>
          <a:custGeom>
            <a:avLst/>
            <a:gdLst/>
            <a:ahLst/>
            <a:cxnLst/>
            <a:rect l="l" t="t" r="r" b="b"/>
            <a:pathLst>
              <a:path w="2880359" h="1134110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042403"/>
                </a:lnTo>
                <a:lnTo>
                  <a:pt x="7186" y="1078000"/>
                </a:lnTo>
                <a:lnTo>
                  <a:pt x="26784" y="1107070"/>
                </a:lnTo>
                <a:lnTo>
                  <a:pt x="55849" y="1126669"/>
                </a:lnTo>
                <a:lnTo>
                  <a:pt x="91440" y="1133855"/>
                </a:lnTo>
                <a:lnTo>
                  <a:pt x="2788920" y="1133855"/>
                </a:lnTo>
                <a:lnTo>
                  <a:pt x="2824510" y="1126669"/>
                </a:lnTo>
                <a:lnTo>
                  <a:pt x="2853575" y="1107070"/>
                </a:lnTo>
                <a:lnTo>
                  <a:pt x="2873173" y="1078000"/>
                </a:lnTo>
                <a:lnTo>
                  <a:pt x="2880360" y="1042403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690364"/>
            <a:ext cx="2403475" cy="548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below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freezing</a:t>
            </a:r>
            <a:r>
              <a:rPr sz="1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now.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13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Rule</a:t>
            </a:r>
            <a:r>
              <a:rPr spc="-220" dirty="0"/>
              <a:t> </a:t>
            </a:r>
            <a:r>
              <a:rPr spc="-254" dirty="0"/>
              <a:t>7:</a:t>
            </a:r>
            <a:r>
              <a:rPr spc="-190" dirty="0"/>
              <a:t> </a:t>
            </a:r>
            <a:r>
              <a:rPr spc="-10" dirty="0"/>
              <a:t>Conjunction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73509" y="497300"/>
            <a:ext cx="25844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&amp;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1243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1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65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((p)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(q))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q)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114288"/>
            <a:ext cx="4368165" cy="1213485"/>
            <a:chOff x="633730" y="5114288"/>
            <a:chExt cx="4368165" cy="1213485"/>
          </a:xfrm>
        </p:grpSpPr>
        <p:sp>
          <p:nvSpPr>
            <p:cNvPr id="21" name="object 21"/>
            <p:cNvSpPr/>
            <p:nvPr/>
          </p:nvSpPr>
          <p:spPr>
            <a:xfrm>
              <a:off x="704088" y="5184646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5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2999"/>
                  </a:lnTo>
                  <a:lnTo>
                    <a:pt x="4242816" y="1142999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5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120638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850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 and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 are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each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true,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"p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q"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together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true.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41"/>
            <a:ext cx="5897880" cy="896619"/>
          </a:xfrm>
          <a:custGeom>
            <a:avLst/>
            <a:gdLst/>
            <a:ahLst/>
            <a:cxnLst/>
            <a:rect l="l" t="t" r="r" b="b"/>
            <a:pathLst>
              <a:path w="5897880" h="896619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804671"/>
                </a:lnTo>
                <a:lnTo>
                  <a:pt x="7186" y="840262"/>
                </a:lnTo>
                <a:lnTo>
                  <a:pt x="26784" y="869327"/>
                </a:lnTo>
                <a:lnTo>
                  <a:pt x="55849" y="888925"/>
                </a:lnTo>
                <a:lnTo>
                  <a:pt x="91440" y="896111"/>
                </a:lnTo>
                <a:lnTo>
                  <a:pt x="5806440" y="896111"/>
                </a:lnTo>
                <a:lnTo>
                  <a:pt x="5842030" y="888925"/>
                </a:lnTo>
                <a:lnTo>
                  <a:pt x="5871095" y="869327"/>
                </a:lnTo>
                <a:lnTo>
                  <a:pt x="5890693" y="840262"/>
                </a:lnTo>
                <a:lnTo>
                  <a:pt x="5897880" y="804671"/>
                </a:lnTo>
                <a:lnTo>
                  <a:pt x="5897880" y="91439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1584325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studied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logic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studied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sets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364988"/>
            <a:ext cx="5897880" cy="685800"/>
          </a:xfrm>
          <a:custGeom>
            <a:avLst/>
            <a:gdLst/>
            <a:ahLst/>
            <a:cxnLst/>
            <a:rect l="l" t="t" r="r" b="b"/>
            <a:pathLst>
              <a:path w="5897880" h="685800">
                <a:moveTo>
                  <a:pt x="580644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594372"/>
                </a:lnTo>
                <a:lnTo>
                  <a:pt x="7184" y="629960"/>
                </a:lnTo>
                <a:lnTo>
                  <a:pt x="26779" y="659022"/>
                </a:lnTo>
                <a:lnTo>
                  <a:pt x="55844" y="678615"/>
                </a:lnTo>
                <a:lnTo>
                  <a:pt x="91440" y="685799"/>
                </a:lnTo>
                <a:lnTo>
                  <a:pt x="5806440" y="685799"/>
                </a:lnTo>
                <a:lnTo>
                  <a:pt x="5842035" y="678615"/>
                </a:lnTo>
                <a:lnTo>
                  <a:pt x="5871100" y="659022"/>
                </a:lnTo>
                <a:lnTo>
                  <a:pt x="5890695" y="629960"/>
                </a:lnTo>
                <a:lnTo>
                  <a:pt x="5897880" y="594372"/>
                </a:lnTo>
                <a:lnTo>
                  <a:pt x="5897880" y="91439"/>
                </a:lnTo>
                <a:lnTo>
                  <a:pt x="5890695" y="55849"/>
                </a:lnTo>
                <a:lnTo>
                  <a:pt x="5871100" y="26784"/>
                </a:lnTo>
                <a:lnTo>
                  <a:pt x="5842035" y="7186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410204"/>
            <a:ext cx="5117465" cy="530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 studied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logic.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 studied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sets.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conclude?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370835"/>
            <a:ext cx="2926080" cy="1481455"/>
          </a:xfrm>
          <a:custGeom>
            <a:avLst/>
            <a:gdLst/>
            <a:ahLst/>
            <a:cxnLst/>
            <a:rect l="l" t="t" r="r" b="b"/>
            <a:pathLst>
              <a:path w="2926079" h="1481454">
                <a:moveTo>
                  <a:pt x="28346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834640" y="1481327"/>
                </a:lnTo>
                <a:lnTo>
                  <a:pt x="2870230" y="1474141"/>
                </a:lnTo>
                <a:lnTo>
                  <a:pt x="2899295" y="1454543"/>
                </a:lnTo>
                <a:lnTo>
                  <a:pt x="2918893" y="1425478"/>
                </a:lnTo>
                <a:lnTo>
                  <a:pt x="2926080" y="1389887"/>
                </a:lnTo>
                <a:lnTo>
                  <a:pt x="2926080" y="91439"/>
                </a:lnTo>
                <a:lnTo>
                  <a:pt x="2918893" y="55844"/>
                </a:lnTo>
                <a:lnTo>
                  <a:pt x="2899295" y="26779"/>
                </a:lnTo>
                <a:lnTo>
                  <a:pt x="2870230" y="7184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416044"/>
            <a:ext cx="1037590" cy="1178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370833"/>
            <a:ext cx="2880360" cy="1481455"/>
          </a:xfrm>
          <a:custGeom>
            <a:avLst/>
            <a:gdLst/>
            <a:ahLst/>
            <a:cxnLst/>
            <a:rect l="l" t="t" r="r" b="b"/>
            <a:pathLst>
              <a:path w="2880359" h="1481454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788920" y="1481327"/>
                </a:lnTo>
                <a:lnTo>
                  <a:pt x="2824510" y="1474141"/>
                </a:lnTo>
                <a:lnTo>
                  <a:pt x="2853575" y="1454543"/>
                </a:lnTo>
                <a:lnTo>
                  <a:pt x="2873173" y="1425478"/>
                </a:lnTo>
                <a:lnTo>
                  <a:pt x="2880360" y="1389887"/>
                </a:lnTo>
                <a:lnTo>
                  <a:pt x="2880360" y="91439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416044"/>
            <a:ext cx="2308225" cy="548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studied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sz="18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sets.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14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05" dirty="0"/>
              <a:t>Rule</a:t>
            </a:r>
            <a:r>
              <a:rPr spc="-215" dirty="0"/>
              <a:t> </a:t>
            </a:r>
            <a:r>
              <a:rPr spc="-185" dirty="0"/>
              <a:t>8:</a:t>
            </a:r>
            <a:r>
              <a:rPr spc="-175" dirty="0"/>
              <a:t> </a:t>
            </a:r>
            <a:r>
              <a:rPr spc="65" dirty="0"/>
              <a:t>Resolution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22940" y="353059"/>
            <a:ext cx="756920" cy="756920"/>
            <a:chOff x="10822940" y="353059"/>
            <a:chExt cx="756920" cy="756920"/>
          </a:xfrm>
        </p:grpSpPr>
        <p:sp>
          <p:nvSpPr>
            <p:cNvPr id="4" name="object 4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9879" y="2849"/>
                  </a:lnTo>
                  <a:lnTo>
                    <a:pt x="275699" y="11170"/>
                  </a:lnTo>
                  <a:lnTo>
                    <a:pt x="233563" y="24619"/>
                  </a:lnTo>
                  <a:lnTo>
                    <a:pt x="193813" y="42854"/>
                  </a:lnTo>
                  <a:lnTo>
                    <a:pt x="156792" y="65531"/>
                  </a:lnTo>
                  <a:lnTo>
                    <a:pt x="122843" y="92308"/>
                  </a:lnTo>
                  <a:lnTo>
                    <a:pt x="92308" y="122843"/>
                  </a:lnTo>
                  <a:lnTo>
                    <a:pt x="65531" y="156792"/>
                  </a:lnTo>
                  <a:lnTo>
                    <a:pt x="42854" y="193813"/>
                  </a:lnTo>
                  <a:lnTo>
                    <a:pt x="24619" y="233563"/>
                  </a:lnTo>
                  <a:lnTo>
                    <a:pt x="11170" y="275699"/>
                  </a:lnTo>
                  <a:lnTo>
                    <a:pt x="2849" y="319879"/>
                  </a:lnTo>
                  <a:lnTo>
                    <a:pt x="0" y="365760"/>
                  </a:lnTo>
                  <a:lnTo>
                    <a:pt x="2849" y="411640"/>
                  </a:lnTo>
                  <a:lnTo>
                    <a:pt x="11170" y="455820"/>
                  </a:lnTo>
                  <a:lnTo>
                    <a:pt x="24619" y="497956"/>
                  </a:lnTo>
                  <a:lnTo>
                    <a:pt x="42854" y="537706"/>
                  </a:lnTo>
                  <a:lnTo>
                    <a:pt x="65531" y="574727"/>
                  </a:lnTo>
                  <a:lnTo>
                    <a:pt x="92308" y="608676"/>
                  </a:lnTo>
                  <a:lnTo>
                    <a:pt x="122843" y="639211"/>
                  </a:lnTo>
                  <a:lnTo>
                    <a:pt x="156792" y="665988"/>
                  </a:lnTo>
                  <a:lnTo>
                    <a:pt x="193813" y="688665"/>
                  </a:lnTo>
                  <a:lnTo>
                    <a:pt x="233563" y="706900"/>
                  </a:lnTo>
                  <a:lnTo>
                    <a:pt x="275699" y="720349"/>
                  </a:lnTo>
                  <a:lnTo>
                    <a:pt x="319879" y="728670"/>
                  </a:lnTo>
                  <a:lnTo>
                    <a:pt x="365760" y="731520"/>
                  </a:lnTo>
                  <a:lnTo>
                    <a:pt x="411640" y="728670"/>
                  </a:lnTo>
                  <a:lnTo>
                    <a:pt x="455820" y="720349"/>
                  </a:lnTo>
                  <a:lnTo>
                    <a:pt x="497956" y="706900"/>
                  </a:lnTo>
                  <a:lnTo>
                    <a:pt x="537706" y="688665"/>
                  </a:lnTo>
                  <a:lnTo>
                    <a:pt x="574727" y="665988"/>
                  </a:lnTo>
                  <a:lnTo>
                    <a:pt x="608676" y="639211"/>
                  </a:lnTo>
                  <a:lnTo>
                    <a:pt x="639211" y="608676"/>
                  </a:lnTo>
                  <a:lnTo>
                    <a:pt x="665988" y="574727"/>
                  </a:lnTo>
                  <a:lnTo>
                    <a:pt x="688665" y="537706"/>
                  </a:lnTo>
                  <a:lnTo>
                    <a:pt x="706900" y="497956"/>
                  </a:lnTo>
                  <a:lnTo>
                    <a:pt x="720349" y="455820"/>
                  </a:lnTo>
                  <a:lnTo>
                    <a:pt x="728670" y="411640"/>
                  </a:lnTo>
                  <a:lnTo>
                    <a:pt x="731520" y="365760"/>
                  </a:lnTo>
                  <a:lnTo>
                    <a:pt x="728670" y="319879"/>
                  </a:lnTo>
                  <a:lnTo>
                    <a:pt x="720349" y="275699"/>
                  </a:lnTo>
                  <a:lnTo>
                    <a:pt x="706900" y="233563"/>
                  </a:lnTo>
                  <a:lnTo>
                    <a:pt x="688665" y="193813"/>
                  </a:lnTo>
                  <a:lnTo>
                    <a:pt x="665988" y="156792"/>
                  </a:lnTo>
                  <a:lnTo>
                    <a:pt x="639211" y="122843"/>
                  </a:lnTo>
                  <a:lnTo>
                    <a:pt x="608676" y="92308"/>
                  </a:lnTo>
                  <a:lnTo>
                    <a:pt x="574727" y="65531"/>
                  </a:lnTo>
                  <a:lnTo>
                    <a:pt x="537706" y="42854"/>
                  </a:lnTo>
                  <a:lnTo>
                    <a:pt x="497956" y="24619"/>
                  </a:lnTo>
                  <a:lnTo>
                    <a:pt x="455820" y="11170"/>
                  </a:lnTo>
                  <a:lnTo>
                    <a:pt x="411640" y="2849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35640" y="36575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2849" y="319879"/>
                  </a:lnTo>
                  <a:lnTo>
                    <a:pt x="11170" y="275699"/>
                  </a:lnTo>
                  <a:lnTo>
                    <a:pt x="24619" y="233563"/>
                  </a:lnTo>
                  <a:lnTo>
                    <a:pt x="42854" y="193813"/>
                  </a:lnTo>
                  <a:lnTo>
                    <a:pt x="65531" y="156792"/>
                  </a:lnTo>
                  <a:lnTo>
                    <a:pt x="92308" y="122843"/>
                  </a:lnTo>
                  <a:lnTo>
                    <a:pt x="122843" y="92308"/>
                  </a:lnTo>
                  <a:lnTo>
                    <a:pt x="156792" y="65531"/>
                  </a:lnTo>
                  <a:lnTo>
                    <a:pt x="193813" y="42854"/>
                  </a:lnTo>
                  <a:lnTo>
                    <a:pt x="233563" y="24619"/>
                  </a:lnTo>
                  <a:lnTo>
                    <a:pt x="275699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20" y="11170"/>
                  </a:lnTo>
                  <a:lnTo>
                    <a:pt x="497956" y="24619"/>
                  </a:lnTo>
                  <a:lnTo>
                    <a:pt x="537706" y="42854"/>
                  </a:lnTo>
                  <a:lnTo>
                    <a:pt x="574727" y="65531"/>
                  </a:lnTo>
                  <a:lnTo>
                    <a:pt x="608676" y="92308"/>
                  </a:lnTo>
                  <a:lnTo>
                    <a:pt x="639211" y="122843"/>
                  </a:lnTo>
                  <a:lnTo>
                    <a:pt x="665988" y="156792"/>
                  </a:lnTo>
                  <a:lnTo>
                    <a:pt x="688665" y="193813"/>
                  </a:lnTo>
                  <a:lnTo>
                    <a:pt x="706900" y="233563"/>
                  </a:lnTo>
                  <a:lnTo>
                    <a:pt x="720349" y="275699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20"/>
                  </a:lnTo>
                  <a:lnTo>
                    <a:pt x="706900" y="497956"/>
                  </a:lnTo>
                  <a:lnTo>
                    <a:pt x="688665" y="537706"/>
                  </a:lnTo>
                  <a:lnTo>
                    <a:pt x="665988" y="574727"/>
                  </a:lnTo>
                  <a:lnTo>
                    <a:pt x="639211" y="608676"/>
                  </a:lnTo>
                  <a:lnTo>
                    <a:pt x="608676" y="639211"/>
                  </a:lnTo>
                  <a:lnTo>
                    <a:pt x="574727" y="665988"/>
                  </a:lnTo>
                  <a:lnTo>
                    <a:pt x="537706" y="688665"/>
                  </a:lnTo>
                  <a:lnTo>
                    <a:pt x="497956" y="706900"/>
                  </a:lnTo>
                  <a:lnTo>
                    <a:pt x="455820" y="720349"/>
                  </a:lnTo>
                  <a:lnTo>
                    <a:pt x="411640" y="728670"/>
                  </a:lnTo>
                  <a:lnTo>
                    <a:pt x="365760" y="731520"/>
                  </a:lnTo>
                  <a:lnTo>
                    <a:pt x="319879" y="728670"/>
                  </a:lnTo>
                  <a:lnTo>
                    <a:pt x="275699" y="720349"/>
                  </a:lnTo>
                  <a:lnTo>
                    <a:pt x="233563" y="706900"/>
                  </a:lnTo>
                  <a:lnTo>
                    <a:pt x="193813" y="688665"/>
                  </a:lnTo>
                  <a:lnTo>
                    <a:pt x="156792" y="665988"/>
                  </a:lnTo>
                  <a:lnTo>
                    <a:pt x="122843" y="639211"/>
                  </a:lnTo>
                  <a:lnTo>
                    <a:pt x="92308" y="608676"/>
                  </a:lnTo>
                  <a:lnTo>
                    <a:pt x="65531" y="574727"/>
                  </a:lnTo>
                  <a:lnTo>
                    <a:pt x="42854" y="537706"/>
                  </a:lnTo>
                  <a:lnTo>
                    <a:pt x="24619" y="497956"/>
                  </a:lnTo>
                  <a:lnTo>
                    <a:pt x="11170" y="455820"/>
                  </a:lnTo>
                  <a:lnTo>
                    <a:pt x="2849" y="411640"/>
                  </a:lnTo>
                  <a:lnTo>
                    <a:pt x="0" y="365760"/>
                  </a:lnTo>
                  <a:close/>
                </a:path>
              </a:pathLst>
            </a:custGeom>
            <a:ln w="254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91797" y="497300"/>
            <a:ext cx="21971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1410964"/>
            <a:ext cx="4368165" cy="2219325"/>
            <a:chOff x="633730" y="1410964"/>
            <a:chExt cx="4368165" cy="2219325"/>
          </a:xfrm>
        </p:grpSpPr>
        <p:sp>
          <p:nvSpPr>
            <p:cNvPr id="8" name="object 8"/>
            <p:cNvSpPr/>
            <p:nvPr/>
          </p:nvSpPr>
          <p:spPr>
            <a:xfrm>
              <a:off x="704088" y="1481322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93988"/>
                  </a:lnTo>
                  <a:lnTo>
                    <a:pt x="4311" y="2115342"/>
                  </a:lnTo>
                  <a:lnTo>
                    <a:pt x="16068" y="2132777"/>
                  </a:lnTo>
                  <a:lnTo>
                    <a:pt x="33507" y="2144530"/>
                  </a:lnTo>
                  <a:lnTo>
                    <a:pt x="54864" y="2148840"/>
                  </a:lnTo>
                  <a:lnTo>
                    <a:pt x="4242816" y="2148840"/>
                  </a:lnTo>
                  <a:lnTo>
                    <a:pt x="4264172" y="2144530"/>
                  </a:lnTo>
                  <a:lnTo>
                    <a:pt x="4281611" y="2132777"/>
                  </a:lnTo>
                  <a:lnTo>
                    <a:pt x="4293368" y="2115342"/>
                  </a:lnTo>
                  <a:lnTo>
                    <a:pt x="4297680" y="209398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417314"/>
              <a:ext cx="4297680" cy="2148840"/>
            </a:xfrm>
            <a:custGeom>
              <a:avLst/>
              <a:gdLst/>
              <a:ahLst/>
              <a:cxnLst/>
              <a:rect l="l" t="t" r="r" b="b"/>
              <a:pathLst>
                <a:path w="4297680" h="214884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2093988"/>
                  </a:lnTo>
                  <a:lnTo>
                    <a:pt x="4293368" y="2115342"/>
                  </a:lnTo>
                  <a:lnTo>
                    <a:pt x="4281611" y="2132777"/>
                  </a:lnTo>
                  <a:lnTo>
                    <a:pt x="4264172" y="2144530"/>
                  </a:lnTo>
                  <a:lnTo>
                    <a:pt x="4242816" y="2148840"/>
                  </a:lnTo>
                  <a:lnTo>
                    <a:pt x="54864" y="2148840"/>
                  </a:lnTo>
                  <a:lnTo>
                    <a:pt x="33507" y="2144530"/>
                  </a:lnTo>
                  <a:lnTo>
                    <a:pt x="16068" y="2132777"/>
                  </a:lnTo>
                  <a:lnTo>
                    <a:pt x="4311" y="2115342"/>
                  </a:lnTo>
                  <a:lnTo>
                    <a:pt x="0" y="209398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40325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4032504" y="457200"/>
                  </a:lnTo>
                  <a:lnTo>
                    <a:pt x="4050299" y="453606"/>
                  </a:lnTo>
                  <a:lnTo>
                    <a:pt x="4064831" y="443807"/>
                  </a:lnTo>
                  <a:lnTo>
                    <a:pt x="4074630" y="429275"/>
                  </a:lnTo>
                  <a:lnTo>
                    <a:pt x="4078224" y="411480"/>
                  </a:lnTo>
                  <a:lnTo>
                    <a:pt x="4078224" y="45720"/>
                  </a:lnTo>
                  <a:lnTo>
                    <a:pt x="4074630" y="27924"/>
                  </a:lnTo>
                  <a:lnTo>
                    <a:pt x="4064831" y="13392"/>
                  </a:lnTo>
                  <a:lnTo>
                    <a:pt x="4050299" y="3593"/>
                  </a:lnTo>
                  <a:lnTo>
                    <a:pt x="403250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808" y="1527048"/>
              <a:ext cx="4078604" cy="457200"/>
            </a:xfrm>
            <a:custGeom>
              <a:avLst/>
              <a:gdLst/>
              <a:ahLst/>
              <a:cxnLst/>
              <a:rect l="l" t="t" r="r" b="b"/>
              <a:pathLst>
                <a:path w="40786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4032504" y="0"/>
                  </a:lnTo>
                  <a:lnTo>
                    <a:pt x="4050299" y="3593"/>
                  </a:lnTo>
                  <a:lnTo>
                    <a:pt x="4064831" y="13392"/>
                  </a:lnTo>
                  <a:lnTo>
                    <a:pt x="4074630" y="27924"/>
                  </a:lnTo>
                  <a:lnTo>
                    <a:pt x="4078224" y="45720"/>
                  </a:lnTo>
                  <a:lnTo>
                    <a:pt x="4078224" y="411480"/>
                  </a:lnTo>
                  <a:lnTo>
                    <a:pt x="4074630" y="429275"/>
                  </a:lnTo>
                  <a:lnTo>
                    <a:pt x="4064831" y="443807"/>
                  </a:lnTo>
                  <a:lnTo>
                    <a:pt x="4050299" y="453606"/>
                  </a:lnTo>
                  <a:lnTo>
                    <a:pt x="40325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954" y="1585436"/>
            <a:ext cx="40620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form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585" y="2117851"/>
            <a:ext cx="4281170" cy="1243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2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¬p ∨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650">
              <a:latin typeface="Cambria Math"/>
              <a:cs typeface="Cambria Math"/>
            </a:endParaRPr>
          </a:p>
          <a:p>
            <a:pPr marL="356870">
              <a:lnSpc>
                <a:spcPct val="100000"/>
              </a:lnSpc>
              <a:spcBef>
                <a:spcPts val="15"/>
              </a:spcBef>
            </a:pP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65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26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6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65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6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730" y="3742683"/>
            <a:ext cx="4368165" cy="1259205"/>
            <a:chOff x="633730" y="3742683"/>
            <a:chExt cx="4368165" cy="1259205"/>
          </a:xfrm>
        </p:grpSpPr>
        <p:sp>
          <p:nvSpPr>
            <p:cNvPr id="16" name="object 16"/>
            <p:cNvSpPr/>
            <p:nvPr/>
          </p:nvSpPr>
          <p:spPr>
            <a:xfrm>
              <a:off x="704088" y="3813042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1133868"/>
                  </a:lnTo>
                  <a:lnTo>
                    <a:pt x="4311" y="1155217"/>
                  </a:lnTo>
                  <a:lnTo>
                    <a:pt x="16068" y="1172652"/>
                  </a:lnTo>
                  <a:lnTo>
                    <a:pt x="33507" y="1184408"/>
                  </a:lnTo>
                  <a:lnTo>
                    <a:pt x="54864" y="1188720"/>
                  </a:lnTo>
                  <a:lnTo>
                    <a:pt x="4242816" y="1188720"/>
                  </a:lnTo>
                  <a:lnTo>
                    <a:pt x="4264172" y="1184408"/>
                  </a:lnTo>
                  <a:lnTo>
                    <a:pt x="4281611" y="1172652"/>
                  </a:lnTo>
                  <a:lnTo>
                    <a:pt x="4293368" y="1155217"/>
                  </a:lnTo>
                  <a:lnTo>
                    <a:pt x="4297680" y="1133868"/>
                  </a:lnTo>
                  <a:lnTo>
                    <a:pt x="4297680" y="54863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3749033"/>
              <a:ext cx="4297680" cy="1188720"/>
            </a:xfrm>
            <a:custGeom>
              <a:avLst/>
              <a:gdLst/>
              <a:ahLst/>
              <a:cxnLst/>
              <a:rect l="l" t="t" r="r" b="b"/>
              <a:pathLst>
                <a:path w="4297680" h="11887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3"/>
                  </a:lnTo>
                  <a:lnTo>
                    <a:pt x="4297680" y="1133868"/>
                  </a:lnTo>
                  <a:lnTo>
                    <a:pt x="4293368" y="1155217"/>
                  </a:lnTo>
                  <a:lnTo>
                    <a:pt x="4281611" y="1172652"/>
                  </a:lnTo>
                  <a:lnTo>
                    <a:pt x="4264172" y="1184408"/>
                  </a:lnTo>
                  <a:lnTo>
                    <a:pt x="4242816" y="1188720"/>
                  </a:lnTo>
                  <a:lnTo>
                    <a:pt x="54864" y="1188720"/>
                  </a:lnTo>
                  <a:lnTo>
                    <a:pt x="33507" y="1184408"/>
                  </a:lnTo>
                  <a:lnTo>
                    <a:pt x="16068" y="1172652"/>
                  </a:lnTo>
                  <a:lnTo>
                    <a:pt x="4311" y="1155217"/>
                  </a:lnTo>
                  <a:lnTo>
                    <a:pt x="0" y="1133868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8585" y="3830828"/>
            <a:ext cx="4281170" cy="791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TAUTOLOGY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5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((p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q)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∧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(¬p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r))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(q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r)</a:t>
            </a:r>
            <a:endParaRPr sz="18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730" y="5203497"/>
            <a:ext cx="4368165" cy="1203960"/>
            <a:chOff x="633730" y="5203497"/>
            <a:chExt cx="4368165" cy="1203960"/>
          </a:xfrm>
        </p:grpSpPr>
        <p:sp>
          <p:nvSpPr>
            <p:cNvPr id="21" name="object 21"/>
            <p:cNvSpPr/>
            <p:nvPr/>
          </p:nvSpPr>
          <p:spPr>
            <a:xfrm>
              <a:off x="704088" y="5263943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4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80" y="5209847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42428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1088136"/>
                  </a:lnTo>
                  <a:lnTo>
                    <a:pt x="4311" y="1109492"/>
                  </a:lnTo>
                  <a:lnTo>
                    <a:pt x="16068" y="1126931"/>
                  </a:lnTo>
                  <a:lnTo>
                    <a:pt x="33507" y="1138688"/>
                  </a:lnTo>
                  <a:lnTo>
                    <a:pt x="54864" y="1143000"/>
                  </a:lnTo>
                  <a:lnTo>
                    <a:pt x="4242816" y="1143000"/>
                  </a:lnTo>
                  <a:lnTo>
                    <a:pt x="4264172" y="1138688"/>
                  </a:lnTo>
                  <a:lnTo>
                    <a:pt x="4281611" y="1126931"/>
                  </a:lnTo>
                  <a:lnTo>
                    <a:pt x="4293368" y="1109492"/>
                  </a:lnTo>
                  <a:lnTo>
                    <a:pt x="4297680" y="1088136"/>
                  </a:lnTo>
                  <a:lnTo>
                    <a:pt x="4297680" y="54864"/>
                  </a:lnTo>
                  <a:lnTo>
                    <a:pt x="4293368" y="33507"/>
                  </a:lnTo>
                  <a:lnTo>
                    <a:pt x="4281611" y="16068"/>
                  </a:lnTo>
                  <a:lnTo>
                    <a:pt x="4264172" y="4311"/>
                  </a:lnTo>
                  <a:lnTo>
                    <a:pt x="4242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80" y="5209847"/>
              <a:ext cx="4297680" cy="1143000"/>
            </a:xfrm>
            <a:custGeom>
              <a:avLst/>
              <a:gdLst/>
              <a:ahLst/>
              <a:cxnLst/>
              <a:rect l="l" t="t" r="r" b="b"/>
              <a:pathLst>
                <a:path w="4297680" h="114300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4242816" y="0"/>
                  </a:lnTo>
                  <a:lnTo>
                    <a:pt x="4264172" y="4311"/>
                  </a:lnTo>
                  <a:lnTo>
                    <a:pt x="4281611" y="16068"/>
                  </a:lnTo>
                  <a:lnTo>
                    <a:pt x="4293368" y="33507"/>
                  </a:lnTo>
                  <a:lnTo>
                    <a:pt x="4297680" y="54864"/>
                  </a:lnTo>
                  <a:lnTo>
                    <a:pt x="4297680" y="1088136"/>
                  </a:lnTo>
                  <a:lnTo>
                    <a:pt x="4293368" y="1109492"/>
                  </a:lnTo>
                  <a:lnTo>
                    <a:pt x="4281611" y="1126931"/>
                  </a:lnTo>
                  <a:lnTo>
                    <a:pt x="4264172" y="1138688"/>
                  </a:lnTo>
                  <a:lnTo>
                    <a:pt x="4242816" y="1143000"/>
                  </a:lnTo>
                  <a:lnTo>
                    <a:pt x="54864" y="1143000"/>
                  </a:lnTo>
                  <a:lnTo>
                    <a:pt x="33507" y="1138688"/>
                  </a:lnTo>
                  <a:lnTo>
                    <a:pt x="16068" y="1126931"/>
                  </a:lnTo>
                  <a:lnTo>
                    <a:pt x="4311" y="1109492"/>
                  </a:lnTo>
                  <a:lnTo>
                    <a:pt x="0" y="1088136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8585" y="5202428"/>
            <a:ext cx="4281170" cy="1135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2120"/>
              </a:lnSpc>
              <a:spcBef>
                <a:spcPts val="12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</a:t>
            </a:r>
            <a:r>
              <a:rPr sz="1850" b="1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PLAIN</a:t>
            </a:r>
            <a:r>
              <a:rPr sz="1850" b="1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WORDS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Two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disjunctions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contain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its</a:t>
            </a:r>
            <a:endParaRPr sz="1850">
              <a:latin typeface="Calibri"/>
              <a:cs typeface="Calibri"/>
            </a:endParaRPr>
          </a:p>
          <a:p>
            <a:pPr marL="219710" marR="355600">
              <a:lnSpc>
                <a:spcPts val="2240"/>
              </a:lnSpc>
              <a:spcBef>
                <a:spcPts val="7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negation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combine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into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disjunction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of</a:t>
            </a:r>
            <a:r>
              <a:rPr sz="185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left.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97170" y="1410967"/>
            <a:ext cx="6334125" cy="4916805"/>
            <a:chOff x="5297170" y="1410967"/>
            <a:chExt cx="6334125" cy="4916805"/>
          </a:xfrm>
        </p:grpSpPr>
        <p:sp>
          <p:nvSpPr>
            <p:cNvPr id="26" name="object 26"/>
            <p:cNvSpPr/>
            <p:nvPr/>
          </p:nvSpPr>
          <p:spPr>
            <a:xfrm>
              <a:off x="5367528" y="1481325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62087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791456"/>
                  </a:lnTo>
                  <a:lnTo>
                    <a:pt x="4311" y="4812812"/>
                  </a:lnTo>
                  <a:lnTo>
                    <a:pt x="16068" y="4830251"/>
                  </a:lnTo>
                  <a:lnTo>
                    <a:pt x="33507" y="4842008"/>
                  </a:lnTo>
                  <a:lnTo>
                    <a:pt x="54864" y="4846320"/>
                  </a:lnTo>
                  <a:lnTo>
                    <a:pt x="6208776" y="4846320"/>
                  </a:lnTo>
                  <a:lnTo>
                    <a:pt x="6230132" y="4842008"/>
                  </a:lnTo>
                  <a:lnTo>
                    <a:pt x="6247571" y="4830251"/>
                  </a:lnTo>
                  <a:lnTo>
                    <a:pt x="6259328" y="4812812"/>
                  </a:lnTo>
                  <a:lnTo>
                    <a:pt x="6263640" y="4791456"/>
                  </a:lnTo>
                  <a:lnTo>
                    <a:pt x="6263640" y="54863"/>
                  </a:lnTo>
                  <a:lnTo>
                    <a:pt x="6259328" y="33507"/>
                  </a:lnTo>
                  <a:lnTo>
                    <a:pt x="6247571" y="16068"/>
                  </a:lnTo>
                  <a:lnTo>
                    <a:pt x="6230132" y="4311"/>
                  </a:lnTo>
                  <a:lnTo>
                    <a:pt x="6208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3520" y="1417317"/>
              <a:ext cx="6263640" cy="4846320"/>
            </a:xfrm>
            <a:custGeom>
              <a:avLst/>
              <a:gdLst/>
              <a:ahLst/>
              <a:cxnLst/>
              <a:rect l="l" t="t" r="r" b="b"/>
              <a:pathLst>
                <a:path w="6263640" h="48463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6208776" y="0"/>
                  </a:lnTo>
                  <a:lnTo>
                    <a:pt x="6230132" y="4311"/>
                  </a:lnTo>
                  <a:lnTo>
                    <a:pt x="6247571" y="16068"/>
                  </a:lnTo>
                  <a:lnTo>
                    <a:pt x="6259328" y="33507"/>
                  </a:lnTo>
                  <a:lnTo>
                    <a:pt x="6263640" y="54863"/>
                  </a:lnTo>
                  <a:lnTo>
                    <a:pt x="6263640" y="4791456"/>
                  </a:lnTo>
                  <a:lnTo>
                    <a:pt x="6259328" y="4812812"/>
                  </a:lnTo>
                  <a:lnTo>
                    <a:pt x="6247571" y="4830251"/>
                  </a:lnTo>
                  <a:lnTo>
                    <a:pt x="6230132" y="4842008"/>
                  </a:lnTo>
                  <a:lnTo>
                    <a:pt x="6208776" y="4846320"/>
                  </a:lnTo>
                  <a:lnTo>
                    <a:pt x="54864" y="4846320"/>
                  </a:lnTo>
                  <a:lnTo>
                    <a:pt x="33507" y="4842008"/>
                  </a:lnTo>
                  <a:lnTo>
                    <a:pt x="16068" y="4830251"/>
                  </a:lnTo>
                  <a:lnTo>
                    <a:pt x="4311" y="4812812"/>
                  </a:lnTo>
                  <a:lnTo>
                    <a:pt x="0" y="47914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59984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998464" y="457200"/>
                  </a:lnTo>
                  <a:lnTo>
                    <a:pt x="6016259" y="453606"/>
                  </a:lnTo>
                  <a:lnTo>
                    <a:pt x="6030791" y="443807"/>
                  </a:lnTo>
                  <a:lnTo>
                    <a:pt x="6040590" y="429275"/>
                  </a:lnTo>
                  <a:lnTo>
                    <a:pt x="6044184" y="411480"/>
                  </a:lnTo>
                  <a:lnTo>
                    <a:pt x="6044184" y="45720"/>
                  </a:lnTo>
                  <a:lnTo>
                    <a:pt x="6040590" y="27924"/>
                  </a:lnTo>
                  <a:lnTo>
                    <a:pt x="6030791" y="13392"/>
                  </a:lnTo>
                  <a:lnTo>
                    <a:pt x="6016259" y="3593"/>
                  </a:lnTo>
                  <a:lnTo>
                    <a:pt x="599846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3248" y="1527049"/>
              <a:ext cx="6044565" cy="457200"/>
            </a:xfrm>
            <a:custGeom>
              <a:avLst/>
              <a:gdLst/>
              <a:ahLst/>
              <a:cxnLst/>
              <a:rect l="l" t="t" r="r" b="b"/>
              <a:pathLst>
                <a:path w="60445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998464" y="0"/>
                  </a:lnTo>
                  <a:lnTo>
                    <a:pt x="6016259" y="3593"/>
                  </a:lnTo>
                  <a:lnTo>
                    <a:pt x="6030791" y="13392"/>
                  </a:lnTo>
                  <a:lnTo>
                    <a:pt x="6040590" y="27924"/>
                  </a:lnTo>
                  <a:lnTo>
                    <a:pt x="6044184" y="45720"/>
                  </a:lnTo>
                  <a:lnTo>
                    <a:pt x="6044184" y="411480"/>
                  </a:lnTo>
                  <a:lnTo>
                    <a:pt x="6040590" y="429275"/>
                  </a:lnTo>
                  <a:lnTo>
                    <a:pt x="6030791" y="443807"/>
                  </a:lnTo>
                  <a:lnTo>
                    <a:pt x="6016259" y="453606"/>
                  </a:lnTo>
                  <a:lnTo>
                    <a:pt x="59984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421394" y="1585436"/>
            <a:ext cx="60280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86400" y="2148836"/>
            <a:ext cx="5897880" cy="1152525"/>
          </a:xfrm>
          <a:custGeom>
            <a:avLst/>
            <a:gdLst/>
            <a:ahLst/>
            <a:cxnLst/>
            <a:rect l="l" t="t" r="r" b="b"/>
            <a:pathLst>
              <a:path w="5897880" h="1152525">
                <a:moveTo>
                  <a:pt x="5806427" y="0"/>
                </a:moveTo>
                <a:lnTo>
                  <a:pt x="91452" y="0"/>
                </a:lnTo>
                <a:lnTo>
                  <a:pt x="55855" y="7186"/>
                </a:lnTo>
                <a:lnTo>
                  <a:pt x="26785" y="26785"/>
                </a:lnTo>
                <a:lnTo>
                  <a:pt x="7186" y="55855"/>
                </a:lnTo>
                <a:lnTo>
                  <a:pt x="0" y="91452"/>
                </a:lnTo>
                <a:lnTo>
                  <a:pt x="0" y="1060704"/>
                </a:lnTo>
                <a:lnTo>
                  <a:pt x="7186" y="1096294"/>
                </a:lnTo>
                <a:lnTo>
                  <a:pt x="26785" y="1125359"/>
                </a:lnTo>
                <a:lnTo>
                  <a:pt x="55855" y="1144957"/>
                </a:lnTo>
                <a:lnTo>
                  <a:pt x="91452" y="1152144"/>
                </a:lnTo>
                <a:lnTo>
                  <a:pt x="5806427" y="1152144"/>
                </a:lnTo>
                <a:lnTo>
                  <a:pt x="5842024" y="1144957"/>
                </a:lnTo>
                <a:lnTo>
                  <a:pt x="5871094" y="1125359"/>
                </a:lnTo>
                <a:lnTo>
                  <a:pt x="5890693" y="1096294"/>
                </a:lnTo>
                <a:lnTo>
                  <a:pt x="5897880" y="1060704"/>
                </a:lnTo>
                <a:lnTo>
                  <a:pt x="5897880" y="91452"/>
                </a:lnTo>
                <a:lnTo>
                  <a:pt x="5890693" y="55855"/>
                </a:lnTo>
                <a:lnTo>
                  <a:pt x="5871094" y="26785"/>
                </a:lnTo>
                <a:lnTo>
                  <a:pt x="5842024" y="7186"/>
                </a:lnTo>
                <a:lnTo>
                  <a:pt x="5806427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3559" y="2194052"/>
            <a:ext cx="2286000" cy="10991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snowing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Jasmine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skiing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r: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Bart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 playing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hockey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86400" y="3515870"/>
            <a:ext cx="5897880" cy="960119"/>
          </a:xfrm>
          <a:custGeom>
            <a:avLst/>
            <a:gdLst/>
            <a:ahLst/>
            <a:cxnLst/>
            <a:rect l="l" t="t" r="r" b="b"/>
            <a:pathLst>
              <a:path w="5897880" h="960120">
                <a:moveTo>
                  <a:pt x="58064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40"/>
                </a:lnTo>
                <a:lnTo>
                  <a:pt x="0" y="868680"/>
                </a:lnTo>
                <a:lnTo>
                  <a:pt x="7186" y="904270"/>
                </a:lnTo>
                <a:lnTo>
                  <a:pt x="26784" y="933335"/>
                </a:lnTo>
                <a:lnTo>
                  <a:pt x="55849" y="952933"/>
                </a:lnTo>
                <a:lnTo>
                  <a:pt x="91440" y="960120"/>
                </a:lnTo>
                <a:lnTo>
                  <a:pt x="5806440" y="960120"/>
                </a:lnTo>
                <a:lnTo>
                  <a:pt x="5842030" y="952933"/>
                </a:lnTo>
                <a:lnTo>
                  <a:pt x="5871095" y="933335"/>
                </a:lnTo>
                <a:lnTo>
                  <a:pt x="5890693" y="904270"/>
                </a:lnTo>
                <a:lnTo>
                  <a:pt x="5897880" y="868680"/>
                </a:lnTo>
                <a:lnTo>
                  <a:pt x="5897880" y="91440"/>
                </a:lnTo>
                <a:lnTo>
                  <a:pt x="5890693" y="55844"/>
                </a:lnTo>
                <a:lnTo>
                  <a:pt x="5871095" y="26779"/>
                </a:lnTo>
                <a:lnTo>
                  <a:pt x="5842030" y="7184"/>
                </a:lnTo>
                <a:lnTo>
                  <a:pt x="580644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3559" y="3561079"/>
            <a:ext cx="549021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Jasmine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skiing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or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 is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snowing.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snowing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or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Bart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playing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hockey.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conclude?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6400" y="4690874"/>
            <a:ext cx="2926080" cy="1481455"/>
          </a:xfrm>
          <a:custGeom>
            <a:avLst/>
            <a:gdLst/>
            <a:ahLst/>
            <a:cxnLst/>
            <a:rect l="l" t="t" r="r" b="b"/>
            <a:pathLst>
              <a:path w="2926079" h="1481454">
                <a:moveTo>
                  <a:pt x="283464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39"/>
                </a:lnTo>
                <a:lnTo>
                  <a:pt x="0" y="1389887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7"/>
                </a:lnTo>
                <a:lnTo>
                  <a:pt x="2834640" y="1481327"/>
                </a:lnTo>
                <a:lnTo>
                  <a:pt x="2870230" y="1474141"/>
                </a:lnTo>
                <a:lnTo>
                  <a:pt x="2899295" y="1454543"/>
                </a:lnTo>
                <a:lnTo>
                  <a:pt x="2918893" y="1425478"/>
                </a:lnTo>
                <a:lnTo>
                  <a:pt x="2926080" y="1389887"/>
                </a:lnTo>
                <a:lnTo>
                  <a:pt x="2926080" y="91439"/>
                </a:lnTo>
                <a:lnTo>
                  <a:pt x="2918893" y="55844"/>
                </a:lnTo>
                <a:lnTo>
                  <a:pt x="2899295" y="26779"/>
                </a:lnTo>
                <a:lnTo>
                  <a:pt x="2870230" y="7184"/>
                </a:lnTo>
                <a:lnTo>
                  <a:pt x="28346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23559" y="4736084"/>
            <a:ext cx="1037590" cy="1178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3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6B6890"/>
                </a:solidFill>
                <a:latin typeface="Calibri"/>
                <a:cs typeface="Calibri"/>
              </a:rPr>
              <a:t>SOLUTION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21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000" spc="-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00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2000" spc="-2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∨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3919" y="4690873"/>
            <a:ext cx="2880360" cy="1481455"/>
          </a:xfrm>
          <a:custGeom>
            <a:avLst/>
            <a:gdLst/>
            <a:ahLst/>
            <a:cxnLst/>
            <a:rect l="l" t="t" r="r" b="b"/>
            <a:pathLst>
              <a:path w="2880359" h="1481454">
                <a:moveTo>
                  <a:pt x="2788920" y="0"/>
                </a:moveTo>
                <a:lnTo>
                  <a:pt x="91440" y="0"/>
                </a:lnTo>
                <a:lnTo>
                  <a:pt x="55849" y="7184"/>
                </a:lnTo>
                <a:lnTo>
                  <a:pt x="26784" y="26779"/>
                </a:lnTo>
                <a:lnTo>
                  <a:pt x="7186" y="55844"/>
                </a:lnTo>
                <a:lnTo>
                  <a:pt x="0" y="91440"/>
                </a:lnTo>
                <a:lnTo>
                  <a:pt x="0" y="1389888"/>
                </a:lnTo>
                <a:lnTo>
                  <a:pt x="7186" y="1425478"/>
                </a:lnTo>
                <a:lnTo>
                  <a:pt x="26784" y="1454543"/>
                </a:lnTo>
                <a:lnTo>
                  <a:pt x="55849" y="1474141"/>
                </a:lnTo>
                <a:lnTo>
                  <a:pt x="91440" y="1481328"/>
                </a:lnTo>
                <a:lnTo>
                  <a:pt x="2788920" y="1481328"/>
                </a:lnTo>
                <a:lnTo>
                  <a:pt x="2824510" y="1474141"/>
                </a:lnTo>
                <a:lnTo>
                  <a:pt x="2853575" y="1454543"/>
                </a:lnTo>
                <a:lnTo>
                  <a:pt x="2873173" y="1425478"/>
                </a:lnTo>
                <a:lnTo>
                  <a:pt x="2880360" y="1389888"/>
                </a:lnTo>
                <a:lnTo>
                  <a:pt x="2880360" y="91440"/>
                </a:lnTo>
                <a:lnTo>
                  <a:pt x="2873173" y="55844"/>
                </a:lnTo>
                <a:lnTo>
                  <a:pt x="2853575" y="26779"/>
                </a:lnTo>
                <a:lnTo>
                  <a:pt x="2824510" y="7184"/>
                </a:lnTo>
                <a:lnTo>
                  <a:pt x="278892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1080" y="4736084"/>
            <a:ext cx="2573020" cy="831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204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Jasmine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5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skiing</a:t>
            </a:r>
            <a:r>
              <a:rPr sz="18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5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Bart</a:t>
            </a:r>
            <a:r>
              <a:rPr sz="18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playing</a:t>
            </a:r>
            <a:r>
              <a:rPr sz="18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hockey.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730" y="6580322"/>
            <a:ext cx="572770" cy="146050"/>
            <a:chOff x="633730" y="6580322"/>
            <a:chExt cx="572770" cy="146050"/>
          </a:xfrm>
        </p:grpSpPr>
        <p:sp>
          <p:nvSpPr>
            <p:cNvPr id="41" name="object 41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287062" y="6580322"/>
            <a:ext cx="572770" cy="146050"/>
            <a:chOff x="1287062" y="6580322"/>
            <a:chExt cx="572770" cy="146050"/>
          </a:xfrm>
        </p:grpSpPr>
        <p:sp>
          <p:nvSpPr>
            <p:cNvPr id="44" name="object 44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93412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940397" y="6580322"/>
            <a:ext cx="572770" cy="146050"/>
            <a:chOff x="1940397" y="6580322"/>
            <a:chExt cx="572770" cy="146050"/>
          </a:xfrm>
        </p:grpSpPr>
        <p:sp>
          <p:nvSpPr>
            <p:cNvPr id="47" name="object 47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4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593729" y="6580322"/>
            <a:ext cx="572770" cy="146050"/>
            <a:chOff x="2593729" y="6580322"/>
            <a:chExt cx="572770" cy="146050"/>
          </a:xfrm>
        </p:grpSpPr>
        <p:sp>
          <p:nvSpPr>
            <p:cNvPr id="50" name="object 50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69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247063" y="6580322"/>
            <a:ext cx="572770" cy="146050"/>
            <a:chOff x="3247063" y="6580322"/>
            <a:chExt cx="572770" cy="146050"/>
          </a:xfrm>
        </p:grpSpPr>
        <p:sp>
          <p:nvSpPr>
            <p:cNvPr id="53" name="object 53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00397" y="6580322"/>
            <a:ext cx="572770" cy="146050"/>
            <a:chOff x="3900397" y="6580322"/>
            <a:chExt cx="572770" cy="146050"/>
          </a:xfrm>
        </p:grpSpPr>
        <p:sp>
          <p:nvSpPr>
            <p:cNvPr id="56" name="object 56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06747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553729" y="6580322"/>
            <a:ext cx="572770" cy="146050"/>
            <a:chOff x="4553729" y="6580322"/>
            <a:chExt cx="572770" cy="146050"/>
          </a:xfrm>
        </p:grpSpPr>
        <p:sp>
          <p:nvSpPr>
            <p:cNvPr id="59" name="object 59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DAD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0079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DAD3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207063" y="6580322"/>
            <a:ext cx="572770" cy="146050"/>
            <a:chOff x="5207063" y="6580322"/>
            <a:chExt cx="572770" cy="146050"/>
          </a:xfrm>
        </p:grpSpPr>
        <p:sp>
          <p:nvSpPr>
            <p:cNvPr id="62" name="object 62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493331" y="0"/>
                  </a:moveTo>
                  <a:lnTo>
                    <a:pt x="66662" y="0"/>
                  </a:lnTo>
                  <a:lnTo>
                    <a:pt x="40714" y="5238"/>
                  </a:lnTo>
                  <a:lnTo>
                    <a:pt x="19524" y="19524"/>
                  </a:lnTo>
                  <a:lnTo>
                    <a:pt x="5238" y="40714"/>
                  </a:lnTo>
                  <a:lnTo>
                    <a:pt x="0" y="66662"/>
                  </a:lnTo>
                  <a:lnTo>
                    <a:pt x="5238" y="92610"/>
                  </a:lnTo>
                  <a:lnTo>
                    <a:pt x="19524" y="113799"/>
                  </a:lnTo>
                  <a:lnTo>
                    <a:pt x="40714" y="128086"/>
                  </a:lnTo>
                  <a:lnTo>
                    <a:pt x="66662" y="133324"/>
                  </a:lnTo>
                  <a:lnTo>
                    <a:pt x="493331" y="133324"/>
                  </a:lnTo>
                  <a:lnTo>
                    <a:pt x="519279" y="128086"/>
                  </a:lnTo>
                  <a:lnTo>
                    <a:pt x="540469" y="113799"/>
                  </a:lnTo>
                  <a:lnTo>
                    <a:pt x="554755" y="92610"/>
                  </a:lnTo>
                  <a:lnTo>
                    <a:pt x="559993" y="66662"/>
                  </a:lnTo>
                  <a:lnTo>
                    <a:pt x="554765" y="40714"/>
                  </a:lnTo>
                  <a:lnTo>
                    <a:pt x="540475" y="19524"/>
                  </a:lnTo>
                  <a:lnTo>
                    <a:pt x="519281" y="5238"/>
                  </a:lnTo>
                  <a:lnTo>
                    <a:pt x="49333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13413" y="6586672"/>
              <a:ext cx="560070" cy="133350"/>
            </a:xfrm>
            <a:custGeom>
              <a:avLst/>
              <a:gdLst/>
              <a:ahLst/>
              <a:cxnLst/>
              <a:rect l="l" t="t" r="r" b="b"/>
              <a:pathLst>
                <a:path w="560070" h="133350">
                  <a:moveTo>
                    <a:pt x="0" y="66662"/>
                  </a:moveTo>
                  <a:lnTo>
                    <a:pt x="5238" y="40714"/>
                  </a:lnTo>
                  <a:lnTo>
                    <a:pt x="19524" y="19524"/>
                  </a:lnTo>
                  <a:lnTo>
                    <a:pt x="40714" y="5238"/>
                  </a:lnTo>
                  <a:lnTo>
                    <a:pt x="66662" y="0"/>
                  </a:lnTo>
                  <a:lnTo>
                    <a:pt x="493331" y="0"/>
                  </a:lnTo>
                  <a:lnTo>
                    <a:pt x="519281" y="5238"/>
                  </a:lnTo>
                  <a:lnTo>
                    <a:pt x="540475" y="19524"/>
                  </a:lnTo>
                  <a:lnTo>
                    <a:pt x="554765" y="40714"/>
                  </a:lnTo>
                  <a:lnTo>
                    <a:pt x="560006" y="66662"/>
                  </a:lnTo>
                  <a:lnTo>
                    <a:pt x="554755" y="92610"/>
                  </a:lnTo>
                  <a:lnTo>
                    <a:pt x="540469" y="113799"/>
                  </a:lnTo>
                  <a:lnTo>
                    <a:pt x="519279" y="128086"/>
                  </a:lnTo>
                  <a:lnTo>
                    <a:pt x="493331" y="133324"/>
                  </a:lnTo>
                  <a:lnTo>
                    <a:pt x="66662" y="133324"/>
                  </a:lnTo>
                  <a:lnTo>
                    <a:pt x="40714" y="128086"/>
                  </a:lnTo>
                  <a:lnTo>
                    <a:pt x="19524" y="113799"/>
                  </a:lnTo>
                  <a:lnTo>
                    <a:pt x="5238" y="92610"/>
                  </a:lnTo>
                  <a:lnTo>
                    <a:pt x="0" y="66662"/>
                  </a:lnTo>
                  <a:close/>
                </a:path>
              </a:pathLst>
            </a:custGeom>
            <a:ln w="12699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15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936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Building</a:t>
            </a:r>
            <a:r>
              <a:rPr spc="-200" dirty="0"/>
              <a:t> </a:t>
            </a:r>
            <a:r>
              <a:rPr spc="90" dirty="0"/>
              <a:t>an</a:t>
            </a:r>
            <a:r>
              <a:rPr spc="-180" dirty="0"/>
              <a:t> </a:t>
            </a:r>
            <a:r>
              <a:rPr spc="110" dirty="0"/>
              <a:t>argument</a:t>
            </a:r>
            <a:r>
              <a:rPr spc="-210" dirty="0"/>
              <a:t> </a:t>
            </a:r>
            <a:r>
              <a:rPr spc="65" dirty="0"/>
              <a:t>(Example</a:t>
            </a:r>
            <a:r>
              <a:rPr spc="-195" dirty="0"/>
              <a:t> </a:t>
            </a:r>
            <a:r>
              <a:rPr spc="-25" dirty="0"/>
              <a:t>6)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054281"/>
            <a:ext cx="10939780" cy="1165225"/>
            <a:chOff x="633730" y="1054281"/>
            <a:chExt cx="10939780" cy="1165225"/>
          </a:xfrm>
        </p:grpSpPr>
        <p:sp>
          <p:nvSpPr>
            <p:cNvPr id="4" name="object 4"/>
            <p:cNvSpPr/>
            <p:nvPr/>
          </p:nvSpPr>
          <p:spPr>
            <a:xfrm>
              <a:off x="640080" y="1060631"/>
              <a:ext cx="10927080" cy="1152525"/>
            </a:xfrm>
            <a:custGeom>
              <a:avLst/>
              <a:gdLst/>
              <a:ahLst/>
              <a:cxnLst/>
              <a:rect l="l" t="t" r="r" b="b"/>
              <a:pathLst>
                <a:path w="10927080" h="1152525">
                  <a:moveTo>
                    <a:pt x="10801388" y="0"/>
                  </a:moveTo>
                  <a:lnTo>
                    <a:pt x="125691" y="0"/>
                  </a:lnTo>
                  <a:lnTo>
                    <a:pt x="76766" y="9877"/>
                  </a:lnTo>
                  <a:lnTo>
                    <a:pt x="36814" y="36814"/>
                  </a:lnTo>
                  <a:lnTo>
                    <a:pt x="9877" y="76766"/>
                  </a:lnTo>
                  <a:lnTo>
                    <a:pt x="0" y="125691"/>
                  </a:lnTo>
                  <a:lnTo>
                    <a:pt x="0" y="1026452"/>
                  </a:lnTo>
                  <a:lnTo>
                    <a:pt x="9877" y="1075377"/>
                  </a:lnTo>
                  <a:lnTo>
                    <a:pt x="36814" y="1115329"/>
                  </a:lnTo>
                  <a:lnTo>
                    <a:pt x="76766" y="1142266"/>
                  </a:lnTo>
                  <a:lnTo>
                    <a:pt x="125691" y="1152143"/>
                  </a:lnTo>
                  <a:lnTo>
                    <a:pt x="10801388" y="1152143"/>
                  </a:lnTo>
                  <a:lnTo>
                    <a:pt x="10850313" y="1142266"/>
                  </a:lnTo>
                  <a:lnTo>
                    <a:pt x="10890265" y="1115329"/>
                  </a:lnTo>
                  <a:lnTo>
                    <a:pt x="10917202" y="1075377"/>
                  </a:lnTo>
                  <a:lnTo>
                    <a:pt x="10927080" y="1026452"/>
                  </a:lnTo>
                  <a:lnTo>
                    <a:pt x="10927080" y="125691"/>
                  </a:lnTo>
                  <a:lnTo>
                    <a:pt x="10917202" y="76766"/>
                  </a:lnTo>
                  <a:lnTo>
                    <a:pt x="10890265" y="36814"/>
                  </a:lnTo>
                  <a:lnTo>
                    <a:pt x="10850313" y="9877"/>
                  </a:lnTo>
                  <a:lnTo>
                    <a:pt x="10801388" y="0"/>
                  </a:lnTo>
                  <a:close/>
                </a:path>
              </a:pathLst>
            </a:custGeom>
            <a:solidFill>
              <a:srgbClr val="FFF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060631"/>
              <a:ext cx="10927080" cy="1152525"/>
            </a:xfrm>
            <a:custGeom>
              <a:avLst/>
              <a:gdLst/>
              <a:ahLst/>
              <a:cxnLst/>
              <a:rect l="l" t="t" r="r" b="b"/>
              <a:pathLst>
                <a:path w="10927080" h="1152525">
                  <a:moveTo>
                    <a:pt x="0" y="125691"/>
                  </a:moveTo>
                  <a:lnTo>
                    <a:pt x="9877" y="76766"/>
                  </a:lnTo>
                  <a:lnTo>
                    <a:pt x="36814" y="36814"/>
                  </a:lnTo>
                  <a:lnTo>
                    <a:pt x="76766" y="9877"/>
                  </a:lnTo>
                  <a:lnTo>
                    <a:pt x="125691" y="0"/>
                  </a:lnTo>
                  <a:lnTo>
                    <a:pt x="10801388" y="0"/>
                  </a:lnTo>
                  <a:lnTo>
                    <a:pt x="10850313" y="9877"/>
                  </a:lnTo>
                  <a:lnTo>
                    <a:pt x="10890265" y="36814"/>
                  </a:lnTo>
                  <a:lnTo>
                    <a:pt x="10917202" y="76766"/>
                  </a:lnTo>
                  <a:lnTo>
                    <a:pt x="10927080" y="125691"/>
                  </a:lnTo>
                  <a:lnTo>
                    <a:pt x="10927080" y="1026452"/>
                  </a:lnTo>
                  <a:lnTo>
                    <a:pt x="10917202" y="1075377"/>
                  </a:lnTo>
                  <a:lnTo>
                    <a:pt x="10890265" y="1115329"/>
                  </a:lnTo>
                  <a:lnTo>
                    <a:pt x="10850313" y="1142266"/>
                  </a:lnTo>
                  <a:lnTo>
                    <a:pt x="10801388" y="1152143"/>
                  </a:lnTo>
                  <a:lnTo>
                    <a:pt x="125691" y="1152143"/>
                  </a:lnTo>
                  <a:lnTo>
                    <a:pt x="76766" y="1142266"/>
                  </a:lnTo>
                  <a:lnTo>
                    <a:pt x="36814" y="1115329"/>
                  </a:lnTo>
                  <a:lnTo>
                    <a:pt x="9877" y="1075377"/>
                  </a:lnTo>
                  <a:lnTo>
                    <a:pt x="0" y="1026452"/>
                  </a:lnTo>
                  <a:lnTo>
                    <a:pt x="0" y="125691"/>
                  </a:lnTo>
                  <a:close/>
                </a:path>
              </a:pathLst>
            </a:custGeom>
            <a:ln w="12700">
              <a:solidFill>
                <a:srgbClr val="F1C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2640" y="1141574"/>
            <a:ext cx="10575925" cy="1033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685">
              <a:lnSpc>
                <a:spcPts val="219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ts val="1920"/>
              </a:lnSpc>
              <a:spcBef>
                <a:spcPts val="35"/>
              </a:spcBef>
            </a:pP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Premises:</a:t>
            </a:r>
            <a:r>
              <a:rPr sz="1600" spc="-3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"It</a:t>
            </a:r>
            <a:r>
              <a:rPr sz="1600" spc="-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is</a:t>
            </a:r>
            <a:r>
              <a:rPr sz="1600" spc="-3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not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sunny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this</a:t>
            </a:r>
            <a:r>
              <a:rPr sz="1600" spc="-3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afternoon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it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is</a:t>
            </a:r>
            <a:r>
              <a:rPr sz="1600" spc="-3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colder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than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yesterday",</a:t>
            </a:r>
            <a:r>
              <a:rPr sz="1600" spc="2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"We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will</a:t>
            </a:r>
            <a:r>
              <a:rPr sz="1600" spc="-3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go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swimming</a:t>
            </a:r>
            <a:r>
              <a:rPr sz="1600" spc="-1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only</a:t>
            </a:r>
            <a:r>
              <a:rPr sz="1600" spc="-4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if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it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is</a:t>
            </a:r>
            <a:r>
              <a:rPr sz="1600" spc="-3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sunny",</a:t>
            </a:r>
            <a:r>
              <a:rPr sz="1600" spc="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2D2A5E"/>
                </a:solidFill>
                <a:latin typeface="Arial"/>
                <a:cs typeface="Arial"/>
              </a:rPr>
              <a:t>"If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we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do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not</a:t>
            </a:r>
            <a:r>
              <a:rPr sz="1600" spc="-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go</a:t>
            </a:r>
            <a:r>
              <a:rPr sz="1600" spc="-2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swimming,</a:t>
            </a:r>
            <a:r>
              <a:rPr sz="1600" spc="-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then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we</a:t>
            </a:r>
            <a:r>
              <a:rPr sz="1600" spc="-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will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take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a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canoe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trip",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and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"If we</a:t>
            </a:r>
            <a:r>
              <a:rPr sz="1600" spc="-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take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a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canoe</a:t>
            </a:r>
            <a:r>
              <a:rPr sz="1600" spc="-2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trip,</a:t>
            </a:r>
            <a:r>
              <a:rPr sz="1600" spc="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then</a:t>
            </a:r>
            <a:r>
              <a:rPr sz="1600" spc="-2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we</a:t>
            </a:r>
            <a:r>
              <a:rPr sz="1600" spc="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will</a:t>
            </a:r>
            <a:r>
              <a:rPr sz="1600" spc="-3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be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home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by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sunset".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What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conclusion</a:t>
            </a:r>
            <a:r>
              <a:rPr sz="1600" spc="-4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can</a:t>
            </a:r>
            <a:r>
              <a:rPr sz="1600" spc="-25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D2A5E"/>
                </a:solidFill>
                <a:latin typeface="Arial"/>
                <a:cs typeface="Arial"/>
              </a:rPr>
              <a:t>be</a:t>
            </a:r>
            <a:r>
              <a:rPr sz="1600" spc="-2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D2A5E"/>
                </a:solidFill>
                <a:latin typeface="Arial"/>
                <a:cs typeface="Arial"/>
              </a:rPr>
              <a:t>drawn?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2508244"/>
            <a:ext cx="4002404" cy="3819525"/>
            <a:chOff x="633730" y="2508244"/>
            <a:chExt cx="4002404" cy="3819525"/>
          </a:xfrm>
        </p:grpSpPr>
        <p:sp>
          <p:nvSpPr>
            <p:cNvPr id="8" name="object 8"/>
            <p:cNvSpPr/>
            <p:nvPr/>
          </p:nvSpPr>
          <p:spPr>
            <a:xfrm>
              <a:off x="704088" y="2578602"/>
              <a:ext cx="3931920" cy="3749040"/>
            </a:xfrm>
            <a:custGeom>
              <a:avLst/>
              <a:gdLst/>
              <a:ahLst/>
              <a:cxnLst/>
              <a:rect l="l" t="t" r="r" b="b"/>
              <a:pathLst>
                <a:path w="3931920" h="3749040">
                  <a:moveTo>
                    <a:pt x="387706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3694201"/>
                  </a:lnTo>
                  <a:lnTo>
                    <a:pt x="4311" y="3715548"/>
                  </a:lnTo>
                  <a:lnTo>
                    <a:pt x="16067" y="3732979"/>
                  </a:lnTo>
                  <a:lnTo>
                    <a:pt x="33502" y="3744730"/>
                  </a:lnTo>
                  <a:lnTo>
                    <a:pt x="54851" y="3749040"/>
                  </a:lnTo>
                  <a:lnTo>
                    <a:pt x="3877068" y="3749040"/>
                  </a:lnTo>
                  <a:lnTo>
                    <a:pt x="3898422" y="3744730"/>
                  </a:lnTo>
                  <a:lnTo>
                    <a:pt x="3915857" y="3732979"/>
                  </a:lnTo>
                  <a:lnTo>
                    <a:pt x="3927610" y="3715548"/>
                  </a:lnTo>
                  <a:lnTo>
                    <a:pt x="3931920" y="3694201"/>
                  </a:lnTo>
                  <a:lnTo>
                    <a:pt x="3931920" y="54851"/>
                  </a:lnTo>
                  <a:lnTo>
                    <a:pt x="3927610" y="33502"/>
                  </a:lnTo>
                  <a:lnTo>
                    <a:pt x="3915857" y="16067"/>
                  </a:lnTo>
                  <a:lnTo>
                    <a:pt x="3898422" y="4311"/>
                  </a:lnTo>
                  <a:lnTo>
                    <a:pt x="3877068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2514594"/>
              <a:ext cx="3931920" cy="3749040"/>
            </a:xfrm>
            <a:custGeom>
              <a:avLst/>
              <a:gdLst/>
              <a:ahLst/>
              <a:cxnLst/>
              <a:rect l="l" t="t" r="r" b="b"/>
              <a:pathLst>
                <a:path w="3931920" h="3749040">
                  <a:moveTo>
                    <a:pt x="387706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3694201"/>
                  </a:lnTo>
                  <a:lnTo>
                    <a:pt x="4311" y="3715548"/>
                  </a:lnTo>
                  <a:lnTo>
                    <a:pt x="16067" y="3732979"/>
                  </a:lnTo>
                  <a:lnTo>
                    <a:pt x="33502" y="3744730"/>
                  </a:lnTo>
                  <a:lnTo>
                    <a:pt x="54851" y="3749040"/>
                  </a:lnTo>
                  <a:lnTo>
                    <a:pt x="3877068" y="3749040"/>
                  </a:lnTo>
                  <a:lnTo>
                    <a:pt x="3898422" y="3744730"/>
                  </a:lnTo>
                  <a:lnTo>
                    <a:pt x="3915857" y="3732979"/>
                  </a:lnTo>
                  <a:lnTo>
                    <a:pt x="3927610" y="3715548"/>
                  </a:lnTo>
                  <a:lnTo>
                    <a:pt x="3931920" y="3694201"/>
                  </a:lnTo>
                  <a:lnTo>
                    <a:pt x="3931920" y="54851"/>
                  </a:lnTo>
                  <a:lnTo>
                    <a:pt x="3927610" y="33502"/>
                  </a:lnTo>
                  <a:lnTo>
                    <a:pt x="3915857" y="16067"/>
                  </a:lnTo>
                  <a:lnTo>
                    <a:pt x="3898422" y="4311"/>
                  </a:lnTo>
                  <a:lnTo>
                    <a:pt x="387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2514594"/>
              <a:ext cx="3931920" cy="3749040"/>
            </a:xfrm>
            <a:custGeom>
              <a:avLst/>
              <a:gdLst/>
              <a:ahLst/>
              <a:cxnLst/>
              <a:rect l="l" t="t" r="r" b="b"/>
              <a:pathLst>
                <a:path w="3931920" h="3749040">
                  <a:moveTo>
                    <a:pt x="0" y="54851"/>
                  </a:moveTo>
                  <a:lnTo>
                    <a:pt x="4311" y="33502"/>
                  </a:lnTo>
                  <a:lnTo>
                    <a:pt x="16067" y="16067"/>
                  </a:lnTo>
                  <a:lnTo>
                    <a:pt x="33502" y="4311"/>
                  </a:lnTo>
                  <a:lnTo>
                    <a:pt x="54851" y="0"/>
                  </a:lnTo>
                  <a:lnTo>
                    <a:pt x="3877068" y="0"/>
                  </a:lnTo>
                  <a:lnTo>
                    <a:pt x="3898422" y="4311"/>
                  </a:lnTo>
                  <a:lnTo>
                    <a:pt x="3915857" y="16067"/>
                  </a:lnTo>
                  <a:lnTo>
                    <a:pt x="3927610" y="33502"/>
                  </a:lnTo>
                  <a:lnTo>
                    <a:pt x="3931920" y="54851"/>
                  </a:lnTo>
                  <a:lnTo>
                    <a:pt x="3931920" y="3694201"/>
                  </a:lnTo>
                  <a:lnTo>
                    <a:pt x="3927610" y="3715548"/>
                  </a:lnTo>
                  <a:lnTo>
                    <a:pt x="3915857" y="3732979"/>
                  </a:lnTo>
                  <a:lnTo>
                    <a:pt x="3898422" y="3744730"/>
                  </a:lnTo>
                  <a:lnTo>
                    <a:pt x="3877068" y="3749040"/>
                  </a:lnTo>
                  <a:lnTo>
                    <a:pt x="54851" y="3749040"/>
                  </a:lnTo>
                  <a:lnTo>
                    <a:pt x="33502" y="3744730"/>
                  </a:lnTo>
                  <a:lnTo>
                    <a:pt x="16067" y="3732979"/>
                  </a:lnTo>
                  <a:lnTo>
                    <a:pt x="4311" y="3715548"/>
                  </a:lnTo>
                  <a:lnTo>
                    <a:pt x="0" y="3694201"/>
                  </a:lnTo>
                  <a:lnTo>
                    <a:pt x="0" y="54851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8680" y="5577837"/>
              <a:ext cx="3474720" cy="502920"/>
            </a:xfrm>
            <a:custGeom>
              <a:avLst/>
              <a:gdLst/>
              <a:ahLst/>
              <a:cxnLst/>
              <a:rect l="l" t="t" r="r" b="b"/>
              <a:pathLst>
                <a:path w="3474720" h="502920">
                  <a:moveTo>
                    <a:pt x="3364991" y="0"/>
                  </a:moveTo>
                  <a:lnTo>
                    <a:pt x="109728" y="0"/>
                  </a:lnTo>
                  <a:lnTo>
                    <a:pt x="67015" y="8622"/>
                  </a:lnTo>
                  <a:lnTo>
                    <a:pt x="32137" y="32137"/>
                  </a:lnTo>
                  <a:lnTo>
                    <a:pt x="8622" y="67015"/>
                  </a:lnTo>
                  <a:lnTo>
                    <a:pt x="0" y="109728"/>
                  </a:lnTo>
                  <a:lnTo>
                    <a:pt x="0" y="393192"/>
                  </a:lnTo>
                  <a:lnTo>
                    <a:pt x="8622" y="435904"/>
                  </a:lnTo>
                  <a:lnTo>
                    <a:pt x="32137" y="470782"/>
                  </a:lnTo>
                  <a:lnTo>
                    <a:pt x="67015" y="494297"/>
                  </a:lnTo>
                  <a:lnTo>
                    <a:pt x="109728" y="502920"/>
                  </a:lnTo>
                  <a:lnTo>
                    <a:pt x="3364991" y="502920"/>
                  </a:lnTo>
                  <a:lnTo>
                    <a:pt x="3407704" y="494297"/>
                  </a:lnTo>
                  <a:lnTo>
                    <a:pt x="3442582" y="470782"/>
                  </a:lnTo>
                  <a:lnTo>
                    <a:pt x="3466097" y="435904"/>
                  </a:lnTo>
                  <a:lnTo>
                    <a:pt x="3474720" y="393192"/>
                  </a:lnTo>
                  <a:lnTo>
                    <a:pt x="3474720" y="109728"/>
                  </a:lnTo>
                  <a:lnTo>
                    <a:pt x="3466097" y="67015"/>
                  </a:lnTo>
                  <a:lnTo>
                    <a:pt x="3442582" y="32137"/>
                  </a:lnTo>
                  <a:lnTo>
                    <a:pt x="3407704" y="8622"/>
                  </a:lnTo>
                  <a:lnTo>
                    <a:pt x="3364991" y="0"/>
                  </a:lnTo>
                  <a:close/>
                </a:path>
              </a:pathLst>
            </a:custGeom>
            <a:solidFill>
              <a:srgbClr val="FF7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8585" y="2605532"/>
            <a:ext cx="3915410" cy="3364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FF7045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sunny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afternoon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 colder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yesterday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r: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go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swimming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s: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take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canoe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trip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196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will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home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by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sunset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1760"/>
              </a:lnSpc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PREMISES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014"/>
              </a:lnSpc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¬p ∧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 marL="21971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  <a:p>
            <a:pPr marL="219710" marR="3005455">
              <a:lnSpc>
                <a:spcPts val="2240"/>
              </a:lnSpc>
              <a:spcBef>
                <a:spcPts val="7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¬r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s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s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t</a:t>
            </a:r>
            <a:endParaRPr sz="18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Goal:</a:t>
            </a:r>
            <a:r>
              <a:rPr sz="185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46320" y="2514601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5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46320" y="2990089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FFE2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46320" y="3465577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46320" y="3941065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FFE2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46320" y="4416553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46320" y="4892041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FFE2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46320" y="5367529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46320" y="5843017"/>
            <a:ext cx="6720840" cy="421005"/>
          </a:xfrm>
          <a:custGeom>
            <a:avLst/>
            <a:gdLst/>
            <a:ahLst/>
            <a:cxnLst/>
            <a:rect l="l" t="t" r="r" b="b"/>
            <a:pathLst>
              <a:path w="6720840" h="421004">
                <a:moveTo>
                  <a:pt x="6611111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10895"/>
                </a:lnTo>
                <a:lnTo>
                  <a:pt x="8622" y="353608"/>
                </a:lnTo>
                <a:lnTo>
                  <a:pt x="32137" y="388486"/>
                </a:lnTo>
                <a:lnTo>
                  <a:pt x="67015" y="412001"/>
                </a:lnTo>
                <a:lnTo>
                  <a:pt x="109728" y="420623"/>
                </a:lnTo>
                <a:lnTo>
                  <a:pt x="6611111" y="420623"/>
                </a:lnTo>
                <a:lnTo>
                  <a:pt x="6653824" y="412001"/>
                </a:lnTo>
                <a:lnTo>
                  <a:pt x="6688702" y="388486"/>
                </a:lnTo>
                <a:lnTo>
                  <a:pt x="6712217" y="353608"/>
                </a:lnTo>
                <a:lnTo>
                  <a:pt x="6720840" y="310895"/>
                </a:lnTo>
                <a:lnTo>
                  <a:pt x="6720840" y="109727"/>
                </a:lnTo>
                <a:lnTo>
                  <a:pt x="6712217" y="67015"/>
                </a:lnTo>
                <a:lnTo>
                  <a:pt x="6688702" y="32137"/>
                </a:lnTo>
                <a:lnTo>
                  <a:pt x="6653824" y="8622"/>
                </a:lnTo>
                <a:lnTo>
                  <a:pt x="6611111" y="0"/>
                </a:lnTo>
                <a:close/>
              </a:path>
            </a:pathLst>
          </a:custGeom>
          <a:solidFill>
            <a:srgbClr val="FFE2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16500" y="2556126"/>
            <a:ext cx="5625465" cy="36391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0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¬p ∧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Premise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Simplification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using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(1)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r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Premise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¬r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tollens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using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(2)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(3)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0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¬r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s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Premise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s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ponens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using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(4)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(5)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s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t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Premise</a:t>
            </a:r>
            <a:endParaRPr sz="18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Clr>
                <a:srgbClr val="6B6890"/>
              </a:buClr>
              <a:buFont typeface="Calibri"/>
              <a:buAutoNum type="arabicPeriod"/>
              <a:tabLst>
                <a:tab pos="469265" algn="l"/>
                <a:tab pos="2572385" algn="l"/>
              </a:tabLst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t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ponens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using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(6)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(7)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16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6350" y="1658348"/>
            <a:ext cx="35883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spc="145" dirty="0">
                <a:solidFill>
                  <a:srgbClr val="2F254D"/>
                </a:solidFill>
                <a:latin typeface="Trebuchet MS"/>
                <a:cs typeface="Trebuchet MS"/>
              </a:rPr>
              <a:t>TOPICS</a:t>
            </a:r>
            <a:r>
              <a:rPr sz="3050" b="1" spc="-20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3050" b="1" spc="-50" dirty="0">
                <a:solidFill>
                  <a:srgbClr val="2F254D"/>
                </a:solidFill>
                <a:latin typeface="Trebuchet MS"/>
                <a:cs typeface="Trebuchet MS"/>
              </a:rPr>
              <a:t>I’LL</a:t>
            </a:r>
            <a:r>
              <a:rPr sz="3050" b="1" spc="-18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3050" b="1" spc="145" dirty="0">
                <a:solidFill>
                  <a:srgbClr val="2F254D"/>
                </a:solidFill>
                <a:latin typeface="Trebuchet MS"/>
                <a:cs typeface="Trebuchet MS"/>
              </a:rPr>
              <a:t>COVER</a:t>
            </a:r>
            <a:endParaRPr sz="30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49047" y="2306662"/>
            <a:ext cx="3753485" cy="102235"/>
            <a:chOff x="6149047" y="2306662"/>
            <a:chExt cx="3753485" cy="102235"/>
          </a:xfrm>
        </p:grpSpPr>
        <p:sp>
          <p:nvSpPr>
            <p:cNvPr id="4" name="object 4"/>
            <p:cNvSpPr/>
            <p:nvPr/>
          </p:nvSpPr>
          <p:spPr>
            <a:xfrm>
              <a:off x="6149047" y="2306662"/>
              <a:ext cx="3753485" cy="102235"/>
            </a:xfrm>
            <a:custGeom>
              <a:avLst/>
              <a:gdLst/>
              <a:ahLst/>
              <a:cxnLst/>
              <a:rect l="l" t="t" r="r" b="b"/>
              <a:pathLst>
                <a:path w="3753484" h="102235">
                  <a:moveTo>
                    <a:pt x="3753230" y="0"/>
                  </a:moveTo>
                  <a:lnTo>
                    <a:pt x="0" y="0"/>
                  </a:lnTo>
                  <a:lnTo>
                    <a:pt x="0" y="101993"/>
                  </a:lnTo>
                  <a:lnTo>
                    <a:pt x="3753230" y="101993"/>
                  </a:lnTo>
                  <a:lnTo>
                    <a:pt x="3753230" y="0"/>
                  </a:lnTo>
                  <a:close/>
                </a:path>
              </a:pathLst>
            </a:custGeom>
            <a:solidFill>
              <a:srgbClr val="926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9047" y="2306662"/>
              <a:ext cx="3753485" cy="102235"/>
            </a:xfrm>
            <a:custGeom>
              <a:avLst/>
              <a:gdLst/>
              <a:ahLst/>
              <a:cxnLst/>
              <a:rect l="l" t="t" r="r" b="b"/>
              <a:pathLst>
                <a:path w="3753484" h="102235">
                  <a:moveTo>
                    <a:pt x="0" y="0"/>
                  </a:moveTo>
                  <a:lnTo>
                    <a:pt x="3753230" y="0"/>
                  </a:lnTo>
                  <a:lnTo>
                    <a:pt x="3753230" y="101993"/>
                  </a:lnTo>
                  <a:lnTo>
                    <a:pt x="0" y="10199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06156" y="2800005"/>
            <a:ext cx="366395" cy="2386965"/>
            <a:chOff x="6206156" y="2800005"/>
            <a:chExt cx="366395" cy="2386965"/>
          </a:xfrm>
        </p:grpSpPr>
        <p:sp>
          <p:nvSpPr>
            <p:cNvPr id="7" name="object 7"/>
            <p:cNvSpPr/>
            <p:nvPr/>
          </p:nvSpPr>
          <p:spPr>
            <a:xfrm>
              <a:off x="6369050" y="2919996"/>
              <a:ext cx="34925" cy="2266950"/>
            </a:xfrm>
            <a:custGeom>
              <a:avLst/>
              <a:gdLst/>
              <a:ahLst/>
              <a:cxnLst/>
              <a:rect l="l" t="t" r="r" b="b"/>
              <a:pathLst>
                <a:path w="34925" h="2266950">
                  <a:moveTo>
                    <a:pt x="34671" y="0"/>
                  </a:moveTo>
                  <a:lnTo>
                    <a:pt x="0" y="0"/>
                  </a:lnTo>
                  <a:lnTo>
                    <a:pt x="0" y="2266670"/>
                  </a:lnTo>
                  <a:lnTo>
                    <a:pt x="34671" y="2266670"/>
                  </a:lnTo>
                  <a:lnTo>
                    <a:pt x="34671" y="0"/>
                  </a:lnTo>
                  <a:close/>
                </a:path>
              </a:pathLst>
            </a:custGeom>
            <a:solidFill>
              <a:srgbClr val="D9D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69050" y="2919996"/>
              <a:ext cx="34925" cy="2266950"/>
            </a:xfrm>
            <a:custGeom>
              <a:avLst/>
              <a:gdLst/>
              <a:ahLst/>
              <a:cxnLst/>
              <a:rect l="l" t="t" r="r" b="b"/>
              <a:pathLst>
                <a:path w="34925" h="2266950">
                  <a:moveTo>
                    <a:pt x="0" y="0"/>
                  </a:moveTo>
                  <a:lnTo>
                    <a:pt x="34671" y="0"/>
                  </a:lnTo>
                  <a:lnTo>
                    <a:pt x="34671" y="2266670"/>
                  </a:lnTo>
                  <a:lnTo>
                    <a:pt x="0" y="226667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D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06157" y="2800005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29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59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29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926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06156" y="2800005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29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29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59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29"/>
                  </a:lnTo>
                  <a:close/>
                </a:path>
              </a:pathLst>
            </a:custGeom>
            <a:ln w="3175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67434" y="2733752"/>
            <a:ext cx="1782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7995" algn="l"/>
              </a:tabLst>
            </a:pPr>
            <a:r>
              <a:rPr sz="2400" b="1" spc="-37" baseline="1736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r>
              <a:rPr sz="2400" b="1" baseline="1736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b="1" spc="40" dirty="0">
                <a:solidFill>
                  <a:srgbClr val="2F254D"/>
                </a:solidFill>
                <a:latin typeface="Trebuchet MS"/>
                <a:cs typeface="Trebuchet MS"/>
              </a:rPr>
              <a:t>Fallacies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06156" y="3933338"/>
            <a:ext cx="366395" cy="378460"/>
            <a:chOff x="6206156" y="3933338"/>
            <a:chExt cx="366395" cy="378460"/>
          </a:xfrm>
        </p:grpSpPr>
        <p:sp>
          <p:nvSpPr>
            <p:cNvPr id="13" name="object 13"/>
            <p:cNvSpPr/>
            <p:nvPr/>
          </p:nvSpPr>
          <p:spPr>
            <a:xfrm>
              <a:off x="6206157" y="3933338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30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60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30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25A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06156" y="3933338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30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30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60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30"/>
                  </a:lnTo>
                  <a:close/>
                </a:path>
              </a:pathLst>
            </a:custGeom>
            <a:ln w="3175">
              <a:solidFill>
                <a:srgbClr val="25A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61371" y="3990242"/>
            <a:ext cx="264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3193" y="3951359"/>
            <a:ext cx="3712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D2A5E"/>
                </a:solidFill>
                <a:latin typeface="Arial"/>
                <a:cs typeface="Arial"/>
              </a:rPr>
              <a:t>Affirming</a:t>
            </a:r>
            <a:r>
              <a:rPr sz="2400" b="1" spc="-7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D2A5E"/>
                </a:solidFill>
                <a:latin typeface="Arial"/>
                <a:cs typeface="Arial"/>
              </a:rPr>
              <a:t>the</a:t>
            </a:r>
            <a:r>
              <a:rPr sz="2400" b="1" spc="-5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D2A5E"/>
                </a:solidFill>
                <a:latin typeface="Arial"/>
                <a:cs typeface="Arial"/>
              </a:rPr>
              <a:t>consequent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6068" y="5086497"/>
            <a:ext cx="366395" cy="378460"/>
            <a:chOff x="6216068" y="5086497"/>
            <a:chExt cx="366395" cy="378460"/>
          </a:xfrm>
        </p:grpSpPr>
        <p:sp>
          <p:nvSpPr>
            <p:cNvPr id="18" name="object 18"/>
            <p:cNvSpPr/>
            <p:nvPr/>
          </p:nvSpPr>
          <p:spPr>
            <a:xfrm>
              <a:off x="6216068" y="5086497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30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60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30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EF7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6068" y="5086497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30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30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60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30"/>
                  </a:lnTo>
                  <a:close/>
                </a:path>
              </a:pathLst>
            </a:custGeom>
            <a:ln w="3175">
              <a:solidFill>
                <a:srgbClr val="EF7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61338" y="5123574"/>
            <a:ext cx="263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23016" y="5072850"/>
            <a:ext cx="345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D2A5E"/>
                </a:solidFill>
                <a:latin typeface="Arial"/>
                <a:cs typeface="Arial"/>
              </a:rPr>
              <a:t>Denying</a:t>
            </a:r>
            <a:r>
              <a:rPr sz="2400" b="1" spc="-4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D2A5E"/>
                </a:solidFill>
                <a:latin typeface="Arial"/>
                <a:cs typeface="Arial"/>
              </a:rPr>
              <a:t>the</a:t>
            </a:r>
            <a:r>
              <a:rPr sz="2400" b="1" spc="-70" dirty="0">
                <a:solidFill>
                  <a:srgbClr val="2D2A5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D2A5E"/>
                </a:solidFill>
                <a:latin typeface="Arial"/>
                <a:cs typeface="Arial"/>
              </a:rPr>
              <a:t>hypothesis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396969" y="1614262"/>
            <a:ext cx="2948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latin typeface="Calibri"/>
                <a:cs typeface="Calibri"/>
              </a:rPr>
              <a:t>SAJAL</a:t>
            </a:r>
            <a:r>
              <a:rPr sz="4800" b="0" spc="-95" dirty="0">
                <a:latin typeface="Calibri"/>
                <a:cs typeface="Calibri"/>
              </a:rPr>
              <a:t> </a:t>
            </a:r>
            <a:r>
              <a:rPr sz="4800" b="0" spc="-20" dirty="0">
                <a:latin typeface="Calibri"/>
                <a:cs typeface="Calibri"/>
              </a:rPr>
              <a:t>SAHA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2717" y="2261834"/>
            <a:ext cx="1988185" cy="991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95"/>
              </a:spcBef>
            </a:pPr>
            <a:r>
              <a:rPr sz="2800" b="1" dirty="0">
                <a:solidFill>
                  <a:srgbClr val="6C3EDF"/>
                </a:solidFill>
                <a:latin typeface="Calibri"/>
                <a:cs typeface="Calibri"/>
              </a:rPr>
              <a:t>ROLL</a:t>
            </a:r>
            <a:r>
              <a:rPr sz="2800" b="1" spc="-50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6C3ED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6C3EDF"/>
                </a:solidFill>
                <a:latin typeface="Calibri"/>
                <a:cs typeface="Calibri"/>
              </a:rPr>
              <a:t>36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BATCH</a:t>
            </a:r>
            <a:r>
              <a:rPr sz="1850" spc="-60" dirty="0">
                <a:solidFill>
                  <a:srgbClr val="6A63B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:</a:t>
            </a:r>
            <a:r>
              <a:rPr sz="1850" spc="-55" dirty="0">
                <a:solidFill>
                  <a:srgbClr val="6A63B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CSD-</a:t>
            </a:r>
            <a:r>
              <a:rPr sz="1850" spc="-25" dirty="0">
                <a:solidFill>
                  <a:srgbClr val="6A63B9"/>
                </a:solidFill>
                <a:latin typeface="Arial"/>
                <a:cs typeface="Arial"/>
              </a:rPr>
              <a:t>105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674" y="267385"/>
            <a:ext cx="2586545" cy="774125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17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75" dirty="0"/>
              <a:t>What</a:t>
            </a:r>
            <a:r>
              <a:rPr spc="-175" dirty="0"/>
              <a:t> </a:t>
            </a:r>
            <a:r>
              <a:rPr dirty="0"/>
              <a:t>is</a:t>
            </a:r>
            <a:r>
              <a:rPr spc="-165" dirty="0"/>
              <a:t> </a:t>
            </a:r>
            <a:r>
              <a:rPr spc="145" dirty="0"/>
              <a:t>a</a:t>
            </a:r>
            <a:r>
              <a:rPr spc="-185" dirty="0"/>
              <a:t> </a:t>
            </a:r>
            <a:r>
              <a:rPr spc="100" dirty="0"/>
              <a:t>fallacy?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65248"/>
            <a:ext cx="5419725" cy="4322445"/>
            <a:chOff x="633730" y="1365248"/>
            <a:chExt cx="5419725" cy="4322445"/>
          </a:xfrm>
        </p:grpSpPr>
        <p:sp>
          <p:nvSpPr>
            <p:cNvPr id="4" name="object 4"/>
            <p:cNvSpPr/>
            <p:nvPr/>
          </p:nvSpPr>
          <p:spPr>
            <a:xfrm>
              <a:off x="704088" y="1435606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0" y="54851"/>
                  </a:moveTo>
                  <a:lnTo>
                    <a:pt x="4311" y="33502"/>
                  </a:lnTo>
                  <a:lnTo>
                    <a:pt x="16067" y="16067"/>
                  </a:lnTo>
                  <a:lnTo>
                    <a:pt x="33502" y="4311"/>
                  </a:lnTo>
                  <a:lnTo>
                    <a:pt x="54851" y="0"/>
                  </a:lnTo>
                  <a:lnTo>
                    <a:pt x="5294388" y="0"/>
                  </a:lnTo>
                  <a:lnTo>
                    <a:pt x="5315737" y="4311"/>
                  </a:lnTo>
                  <a:lnTo>
                    <a:pt x="5333172" y="16067"/>
                  </a:lnTo>
                  <a:lnTo>
                    <a:pt x="5344928" y="33502"/>
                  </a:lnTo>
                  <a:lnTo>
                    <a:pt x="5349240" y="54851"/>
                  </a:lnTo>
                  <a:lnTo>
                    <a:pt x="5349240" y="4197108"/>
                  </a:lnTo>
                  <a:lnTo>
                    <a:pt x="5344928" y="4218462"/>
                  </a:lnTo>
                  <a:lnTo>
                    <a:pt x="5333172" y="4235897"/>
                  </a:lnTo>
                  <a:lnTo>
                    <a:pt x="5315737" y="4247650"/>
                  </a:lnTo>
                  <a:lnTo>
                    <a:pt x="5294388" y="4251960"/>
                  </a:lnTo>
                  <a:lnTo>
                    <a:pt x="54851" y="4251960"/>
                  </a:lnTo>
                  <a:lnTo>
                    <a:pt x="33502" y="4247650"/>
                  </a:lnTo>
                  <a:lnTo>
                    <a:pt x="16067" y="4235897"/>
                  </a:lnTo>
                  <a:lnTo>
                    <a:pt x="4311" y="4218462"/>
                  </a:lnTo>
                  <a:lnTo>
                    <a:pt x="0" y="4197108"/>
                  </a:lnTo>
                  <a:lnTo>
                    <a:pt x="0" y="54851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95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75" dirty="0">
                <a:solidFill>
                  <a:srgbClr val="2D2A5E"/>
                </a:solidFill>
                <a:latin typeface="Trebuchet MS"/>
                <a:cs typeface="Trebuchet MS"/>
              </a:rPr>
              <a:t>Real-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life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45" dirty="0">
                <a:solidFill>
                  <a:srgbClr val="2D2A5E"/>
                </a:solidFill>
                <a:latin typeface="Trebuchet MS"/>
                <a:cs typeface="Trebuchet MS"/>
              </a:rPr>
              <a:t>example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2960" y="2057400"/>
            <a:ext cx="4983480" cy="2468880"/>
            <a:chOff x="822960" y="2057400"/>
            <a:chExt cx="4983480" cy="2468880"/>
          </a:xfrm>
        </p:grpSpPr>
        <p:sp>
          <p:nvSpPr>
            <p:cNvPr id="11" name="object 11"/>
            <p:cNvSpPr/>
            <p:nvPr/>
          </p:nvSpPr>
          <p:spPr>
            <a:xfrm>
              <a:off x="822960" y="2057400"/>
              <a:ext cx="4983480" cy="777240"/>
            </a:xfrm>
            <a:custGeom>
              <a:avLst/>
              <a:gdLst/>
              <a:ahLst/>
              <a:cxnLst/>
              <a:rect l="l" t="t" r="r" b="b"/>
              <a:pathLst>
                <a:path w="4983480" h="777239">
                  <a:moveTo>
                    <a:pt x="4892040" y="0"/>
                  </a:moveTo>
                  <a:lnTo>
                    <a:pt x="91440" y="0"/>
                  </a:lnTo>
                  <a:lnTo>
                    <a:pt x="55849" y="7186"/>
                  </a:lnTo>
                  <a:lnTo>
                    <a:pt x="26784" y="26784"/>
                  </a:lnTo>
                  <a:lnTo>
                    <a:pt x="7186" y="55849"/>
                  </a:lnTo>
                  <a:lnTo>
                    <a:pt x="0" y="91439"/>
                  </a:lnTo>
                  <a:lnTo>
                    <a:pt x="0" y="685799"/>
                  </a:lnTo>
                  <a:lnTo>
                    <a:pt x="7186" y="721390"/>
                  </a:lnTo>
                  <a:lnTo>
                    <a:pt x="26784" y="750455"/>
                  </a:lnTo>
                  <a:lnTo>
                    <a:pt x="55849" y="770053"/>
                  </a:lnTo>
                  <a:lnTo>
                    <a:pt x="91440" y="777239"/>
                  </a:lnTo>
                  <a:lnTo>
                    <a:pt x="4892040" y="777239"/>
                  </a:lnTo>
                  <a:lnTo>
                    <a:pt x="4927630" y="770053"/>
                  </a:lnTo>
                  <a:lnTo>
                    <a:pt x="4956695" y="750455"/>
                  </a:lnTo>
                  <a:lnTo>
                    <a:pt x="4976293" y="721390"/>
                  </a:lnTo>
                  <a:lnTo>
                    <a:pt x="4983480" y="685799"/>
                  </a:lnTo>
                  <a:lnTo>
                    <a:pt x="4983480" y="91439"/>
                  </a:lnTo>
                  <a:lnTo>
                    <a:pt x="4976293" y="55849"/>
                  </a:lnTo>
                  <a:lnTo>
                    <a:pt x="4956695" y="26784"/>
                  </a:lnTo>
                  <a:lnTo>
                    <a:pt x="4927630" y="7186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F3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960" y="2926074"/>
              <a:ext cx="4983480" cy="1600200"/>
            </a:xfrm>
            <a:custGeom>
              <a:avLst/>
              <a:gdLst/>
              <a:ahLst/>
              <a:cxnLst/>
              <a:rect l="l" t="t" r="r" b="b"/>
              <a:pathLst>
                <a:path w="4983480" h="1600200">
                  <a:moveTo>
                    <a:pt x="4892040" y="0"/>
                  </a:moveTo>
                  <a:lnTo>
                    <a:pt x="91440" y="0"/>
                  </a:lnTo>
                  <a:lnTo>
                    <a:pt x="55844" y="7186"/>
                  </a:lnTo>
                  <a:lnTo>
                    <a:pt x="26779" y="26784"/>
                  </a:lnTo>
                  <a:lnTo>
                    <a:pt x="7184" y="55849"/>
                  </a:lnTo>
                  <a:lnTo>
                    <a:pt x="0" y="91439"/>
                  </a:lnTo>
                  <a:lnTo>
                    <a:pt x="0" y="1508772"/>
                  </a:lnTo>
                  <a:lnTo>
                    <a:pt x="7184" y="1544360"/>
                  </a:lnTo>
                  <a:lnTo>
                    <a:pt x="26779" y="1573422"/>
                  </a:lnTo>
                  <a:lnTo>
                    <a:pt x="55844" y="1593015"/>
                  </a:lnTo>
                  <a:lnTo>
                    <a:pt x="91440" y="1600199"/>
                  </a:lnTo>
                  <a:lnTo>
                    <a:pt x="4892040" y="1600199"/>
                  </a:lnTo>
                  <a:lnTo>
                    <a:pt x="4927635" y="1593015"/>
                  </a:lnTo>
                  <a:lnTo>
                    <a:pt x="4956700" y="1573422"/>
                  </a:lnTo>
                  <a:lnTo>
                    <a:pt x="4976295" y="1544360"/>
                  </a:lnTo>
                  <a:lnTo>
                    <a:pt x="4983480" y="1508772"/>
                  </a:lnTo>
                  <a:lnTo>
                    <a:pt x="4983480" y="91439"/>
                  </a:lnTo>
                  <a:lnTo>
                    <a:pt x="4976295" y="55849"/>
                  </a:lnTo>
                  <a:lnTo>
                    <a:pt x="4956700" y="26784"/>
                  </a:lnTo>
                  <a:lnTo>
                    <a:pt x="4927635" y="7186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E3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0119" y="2105660"/>
            <a:ext cx="1906270" cy="1176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680"/>
              </a:lnSpc>
              <a:spcBef>
                <a:spcPts val="95"/>
              </a:spcBef>
            </a:pPr>
            <a:r>
              <a:rPr sz="1600" b="1" spc="-10" dirty="0">
                <a:solidFill>
                  <a:srgbClr val="6B6890"/>
                </a:solidFill>
                <a:latin typeface="Calibri"/>
                <a:cs typeface="Calibri"/>
              </a:rPr>
              <a:t>SCENARIO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198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rains.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street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wet.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INVALID</a:t>
            </a:r>
            <a:r>
              <a:rPr sz="1850" b="1" spc="-8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6B6890"/>
                </a:solidFill>
                <a:latin typeface="Calibri"/>
                <a:cs typeface="Calibri"/>
              </a:rPr>
              <a:t>FORM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0119" y="3174087"/>
            <a:ext cx="57721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 q</a:t>
            </a:r>
            <a:endParaRPr sz="18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0374" y="3172660"/>
            <a:ext cx="2882900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street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does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not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prove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rained.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2960" y="4617717"/>
            <a:ext cx="2194560" cy="868680"/>
          </a:xfrm>
          <a:custGeom>
            <a:avLst/>
            <a:gdLst/>
            <a:ahLst/>
            <a:cxnLst/>
            <a:rect l="l" t="t" r="r" b="b"/>
            <a:pathLst>
              <a:path w="2194560" h="868679">
                <a:moveTo>
                  <a:pt x="210312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4" y="812835"/>
                </a:lnTo>
                <a:lnTo>
                  <a:pt x="26779" y="841900"/>
                </a:lnTo>
                <a:lnTo>
                  <a:pt x="55844" y="861495"/>
                </a:lnTo>
                <a:lnTo>
                  <a:pt x="91440" y="868679"/>
                </a:lnTo>
                <a:lnTo>
                  <a:pt x="2103120" y="868679"/>
                </a:lnTo>
                <a:lnTo>
                  <a:pt x="2138715" y="861495"/>
                </a:lnTo>
                <a:lnTo>
                  <a:pt x="2167780" y="841900"/>
                </a:lnTo>
                <a:lnTo>
                  <a:pt x="2187375" y="812835"/>
                </a:lnTo>
                <a:lnTo>
                  <a:pt x="2194560" y="777239"/>
                </a:lnTo>
                <a:lnTo>
                  <a:pt x="2194560" y="91439"/>
                </a:lnTo>
                <a:lnTo>
                  <a:pt x="2187375" y="55849"/>
                </a:lnTo>
                <a:lnTo>
                  <a:pt x="2167780" y="26784"/>
                </a:lnTo>
                <a:lnTo>
                  <a:pt x="2138715" y="7186"/>
                </a:lnTo>
                <a:lnTo>
                  <a:pt x="210312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60119" y="4665979"/>
            <a:ext cx="1473835" cy="79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5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55"/>
              </a:lnSpc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Why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might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street</a:t>
            </a:r>
            <a:r>
              <a:rPr sz="1850" b="1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b="1" spc="-20" dirty="0">
                <a:solidFill>
                  <a:srgbClr val="2D2A5E"/>
                </a:solidFill>
                <a:latin typeface="Calibri"/>
                <a:cs typeface="Calibri"/>
              </a:rPr>
              <a:t> wet?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08960" y="4617718"/>
            <a:ext cx="2697480" cy="868680"/>
          </a:xfrm>
          <a:custGeom>
            <a:avLst/>
            <a:gdLst/>
            <a:ahLst/>
            <a:cxnLst/>
            <a:rect l="l" t="t" r="r" b="b"/>
            <a:pathLst>
              <a:path w="2697479" h="868679">
                <a:moveTo>
                  <a:pt x="260604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4" y="812835"/>
                </a:lnTo>
                <a:lnTo>
                  <a:pt x="26779" y="841900"/>
                </a:lnTo>
                <a:lnTo>
                  <a:pt x="55844" y="861495"/>
                </a:lnTo>
                <a:lnTo>
                  <a:pt x="91440" y="868679"/>
                </a:lnTo>
                <a:lnTo>
                  <a:pt x="2606040" y="868679"/>
                </a:lnTo>
                <a:lnTo>
                  <a:pt x="2641635" y="861495"/>
                </a:lnTo>
                <a:lnTo>
                  <a:pt x="2670700" y="841900"/>
                </a:lnTo>
                <a:lnTo>
                  <a:pt x="2690295" y="812835"/>
                </a:lnTo>
                <a:lnTo>
                  <a:pt x="2697480" y="777239"/>
                </a:lnTo>
                <a:lnTo>
                  <a:pt x="2697480" y="91439"/>
                </a:lnTo>
                <a:lnTo>
                  <a:pt x="2690295" y="55849"/>
                </a:lnTo>
                <a:lnTo>
                  <a:pt x="2670700" y="26784"/>
                </a:lnTo>
                <a:lnTo>
                  <a:pt x="2641635" y="7186"/>
                </a:lnTo>
                <a:lnTo>
                  <a:pt x="260604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46120" y="4662932"/>
            <a:ext cx="2159000" cy="795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00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A street</a:t>
            </a:r>
            <a:r>
              <a:rPr sz="18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cleaner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wet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it.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11570" y="1365248"/>
            <a:ext cx="5419725" cy="4322445"/>
            <a:chOff x="6211570" y="1365248"/>
            <a:chExt cx="5419725" cy="4322445"/>
          </a:xfrm>
        </p:grpSpPr>
        <p:sp>
          <p:nvSpPr>
            <p:cNvPr id="21" name="object 21"/>
            <p:cNvSpPr/>
            <p:nvPr/>
          </p:nvSpPr>
          <p:spPr>
            <a:xfrm>
              <a:off x="6281928" y="1435606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792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1792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0" y="54851"/>
                  </a:moveTo>
                  <a:lnTo>
                    <a:pt x="4311" y="33502"/>
                  </a:lnTo>
                  <a:lnTo>
                    <a:pt x="16067" y="16067"/>
                  </a:lnTo>
                  <a:lnTo>
                    <a:pt x="33502" y="4311"/>
                  </a:lnTo>
                  <a:lnTo>
                    <a:pt x="54851" y="0"/>
                  </a:lnTo>
                  <a:lnTo>
                    <a:pt x="5294388" y="0"/>
                  </a:lnTo>
                  <a:lnTo>
                    <a:pt x="5315737" y="4311"/>
                  </a:lnTo>
                  <a:lnTo>
                    <a:pt x="5333172" y="16067"/>
                  </a:lnTo>
                  <a:lnTo>
                    <a:pt x="5344928" y="33502"/>
                  </a:lnTo>
                  <a:lnTo>
                    <a:pt x="5349240" y="54851"/>
                  </a:lnTo>
                  <a:lnTo>
                    <a:pt x="5349240" y="4197108"/>
                  </a:lnTo>
                  <a:lnTo>
                    <a:pt x="5344928" y="4218462"/>
                  </a:lnTo>
                  <a:lnTo>
                    <a:pt x="5333172" y="4235897"/>
                  </a:lnTo>
                  <a:lnTo>
                    <a:pt x="5315737" y="4247650"/>
                  </a:lnTo>
                  <a:lnTo>
                    <a:pt x="5294388" y="4251960"/>
                  </a:lnTo>
                  <a:lnTo>
                    <a:pt x="54851" y="4251960"/>
                  </a:lnTo>
                  <a:lnTo>
                    <a:pt x="33502" y="4247650"/>
                  </a:lnTo>
                  <a:lnTo>
                    <a:pt x="16067" y="4235897"/>
                  </a:lnTo>
                  <a:lnTo>
                    <a:pt x="4311" y="4218462"/>
                  </a:lnTo>
                  <a:lnTo>
                    <a:pt x="0" y="4197108"/>
                  </a:lnTo>
                  <a:lnTo>
                    <a:pt x="0" y="54851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3579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125" dirty="0">
                <a:solidFill>
                  <a:srgbClr val="2D2A5E"/>
                </a:solidFill>
                <a:latin typeface="Trebuchet MS"/>
                <a:cs typeface="Trebuchet MS"/>
              </a:rPr>
              <a:t>Why</a:t>
            </a:r>
            <a:r>
              <a:rPr sz="1850" b="1" spc="-114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60" dirty="0">
                <a:solidFill>
                  <a:srgbClr val="2D2A5E"/>
                </a:solidFill>
                <a:latin typeface="Trebuchet MS"/>
                <a:cs typeface="Trebuchet MS"/>
              </a:rPr>
              <a:t>it</a:t>
            </a:r>
            <a:r>
              <a:rPr sz="1850" b="1" spc="-10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fails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00800" y="2057400"/>
            <a:ext cx="4983480" cy="2468880"/>
            <a:chOff x="6400800" y="2057400"/>
            <a:chExt cx="4983480" cy="2468880"/>
          </a:xfrm>
        </p:grpSpPr>
        <p:sp>
          <p:nvSpPr>
            <p:cNvPr id="28" name="object 28"/>
            <p:cNvSpPr/>
            <p:nvPr/>
          </p:nvSpPr>
          <p:spPr>
            <a:xfrm>
              <a:off x="6400800" y="2057400"/>
              <a:ext cx="4983480" cy="777240"/>
            </a:xfrm>
            <a:custGeom>
              <a:avLst/>
              <a:gdLst/>
              <a:ahLst/>
              <a:cxnLst/>
              <a:rect l="l" t="t" r="r" b="b"/>
              <a:pathLst>
                <a:path w="4983480" h="777239">
                  <a:moveTo>
                    <a:pt x="4892040" y="0"/>
                  </a:moveTo>
                  <a:lnTo>
                    <a:pt x="91440" y="0"/>
                  </a:lnTo>
                  <a:lnTo>
                    <a:pt x="55849" y="7186"/>
                  </a:lnTo>
                  <a:lnTo>
                    <a:pt x="26784" y="26784"/>
                  </a:lnTo>
                  <a:lnTo>
                    <a:pt x="7186" y="55849"/>
                  </a:lnTo>
                  <a:lnTo>
                    <a:pt x="0" y="91439"/>
                  </a:lnTo>
                  <a:lnTo>
                    <a:pt x="0" y="685799"/>
                  </a:lnTo>
                  <a:lnTo>
                    <a:pt x="7186" y="721390"/>
                  </a:lnTo>
                  <a:lnTo>
                    <a:pt x="26784" y="750455"/>
                  </a:lnTo>
                  <a:lnTo>
                    <a:pt x="55849" y="770053"/>
                  </a:lnTo>
                  <a:lnTo>
                    <a:pt x="91440" y="777239"/>
                  </a:lnTo>
                  <a:lnTo>
                    <a:pt x="4892040" y="777239"/>
                  </a:lnTo>
                  <a:lnTo>
                    <a:pt x="4927630" y="770053"/>
                  </a:lnTo>
                  <a:lnTo>
                    <a:pt x="4956695" y="750455"/>
                  </a:lnTo>
                  <a:lnTo>
                    <a:pt x="4976293" y="721390"/>
                  </a:lnTo>
                  <a:lnTo>
                    <a:pt x="4983480" y="685799"/>
                  </a:lnTo>
                  <a:lnTo>
                    <a:pt x="4983480" y="91439"/>
                  </a:lnTo>
                  <a:lnTo>
                    <a:pt x="4976293" y="55849"/>
                  </a:lnTo>
                  <a:lnTo>
                    <a:pt x="4956695" y="26784"/>
                  </a:lnTo>
                  <a:lnTo>
                    <a:pt x="4927630" y="7186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F3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00800" y="2926074"/>
              <a:ext cx="4983480" cy="1600200"/>
            </a:xfrm>
            <a:custGeom>
              <a:avLst/>
              <a:gdLst/>
              <a:ahLst/>
              <a:cxnLst/>
              <a:rect l="l" t="t" r="r" b="b"/>
              <a:pathLst>
                <a:path w="4983480" h="1600200">
                  <a:moveTo>
                    <a:pt x="4892040" y="0"/>
                  </a:moveTo>
                  <a:lnTo>
                    <a:pt x="91440" y="0"/>
                  </a:lnTo>
                  <a:lnTo>
                    <a:pt x="55844" y="7186"/>
                  </a:lnTo>
                  <a:lnTo>
                    <a:pt x="26779" y="26784"/>
                  </a:lnTo>
                  <a:lnTo>
                    <a:pt x="7184" y="55849"/>
                  </a:lnTo>
                  <a:lnTo>
                    <a:pt x="0" y="91439"/>
                  </a:lnTo>
                  <a:lnTo>
                    <a:pt x="0" y="1508772"/>
                  </a:lnTo>
                  <a:lnTo>
                    <a:pt x="7184" y="1544360"/>
                  </a:lnTo>
                  <a:lnTo>
                    <a:pt x="26779" y="1573422"/>
                  </a:lnTo>
                  <a:lnTo>
                    <a:pt x="55844" y="1593015"/>
                  </a:lnTo>
                  <a:lnTo>
                    <a:pt x="91440" y="1600199"/>
                  </a:lnTo>
                  <a:lnTo>
                    <a:pt x="4892040" y="1600199"/>
                  </a:lnTo>
                  <a:lnTo>
                    <a:pt x="4927635" y="1593015"/>
                  </a:lnTo>
                  <a:lnTo>
                    <a:pt x="4956700" y="1573422"/>
                  </a:lnTo>
                  <a:lnTo>
                    <a:pt x="4976295" y="1544360"/>
                  </a:lnTo>
                  <a:lnTo>
                    <a:pt x="4983480" y="1508772"/>
                  </a:lnTo>
                  <a:lnTo>
                    <a:pt x="4983480" y="91439"/>
                  </a:lnTo>
                  <a:lnTo>
                    <a:pt x="4976295" y="55849"/>
                  </a:lnTo>
                  <a:lnTo>
                    <a:pt x="4956700" y="26784"/>
                  </a:lnTo>
                  <a:lnTo>
                    <a:pt x="4927635" y="7186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E3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537959" y="2105660"/>
            <a:ext cx="4629785" cy="1947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680"/>
              </a:lnSpc>
              <a:spcBef>
                <a:spcPts val="95"/>
              </a:spcBef>
            </a:pPr>
            <a:r>
              <a:rPr sz="1600" b="1" dirty="0">
                <a:solidFill>
                  <a:srgbClr val="6B6890"/>
                </a:solidFill>
                <a:latin typeface="Calibri"/>
                <a:cs typeface="Calibri"/>
              </a:rPr>
              <a:t>LOGIC</a:t>
            </a:r>
            <a:r>
              <a:rPr sz="1600" b="1" spc="-6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B6890"/>
                </a:solidFill>
                <a:latin typeface="Calibri"/>
                <a:cs typeface="Calibri"/>
              </a:rPr>
              <a:t>CHECK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198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implication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says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enough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make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street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wet;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does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say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rain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only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cause.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760"/>
              </a:lnSpc>
              <a:spcBef>
                <a:spcPts val="950"/>
              </a:spcBef>
            </a:pPr>
            <a:r>
              <a:rPr sz="1600" b="1" dirty="0">
                <a:solidFill>
                  <a:srgbClr val="6B6890"/>
                </a:solidFill>
                <a:latin typeface="Calibri"/>
                <a:cs typeface="Calibri"/>
              </a:rPr>
              <a:t>NAME</a:t>
            </a:r>
            <a:r>
              <a:rPr sz="1600" b="1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B6890"/>
                </a:solidFill>
                <a:latin typeface="Calibri"/>
                <a:cs typeface="Calibri"/>
              </a:rPr>
              <a:t>THE</a:t>
            </a:r>
            <a:r>
              <a:rPr sz="1600" b="1" spc="-10" dirty="0">
                <a:solidFill>
                  <a:srgbClr val="6B6890"/>
                </a:solidFill>
                <a:latin typeface="Calibri"/>
                <a:cs typeface="Calibri"/>
              </a:rPr>
              <a:t> PATTERN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60"/>
              </a:lnSpc>
              <a:tabLst>
                <a:tab pos="159956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This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invalid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form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called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599565" algn="l"/>
              </a:tabLst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affirming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consequent.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00800" y="4617717"/>
            <a:ext cx="2194560" cy="868680"/>
          </a:xfrm>
          <a:custGeom>
            <a:avLst/>
            <a:gdLst/>
            <a:ahLst/>
            <a:cxnLst/>
            <a:rect l="l" t="t" r="r" b="b"/>
            <a:pathLst>
              <a:path w="2194559" h="868679">
                <a:moveTo>
                  <a:pt x="210312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4" y="812835"/>
                </a:lnTo>
                <a:lnTo>
                  <a:pt x="26779" y="841900"/>
                </a:lnTo>
                <a:lnTo>
                  <a:pt x="55844" y="861495"/>
                </a:lnTo>
                <a:lnTo>
                  <a:pt x="91440" y="868679"/>
                </a:lnTo>
                <a:lnTo>
                  <a:pt x="2103120" y="868679"/>
                </a:lnTo>
                <a:lnTo>
                  <a:pt x="2138715" y="861495"/>
                </a:lnTo>
                <a:lnTo>
                  <a:pt x="2167780" y="841900"/>
                </a:lnTo>
                <a:lnTo>
                  <a:pt x="2187375" y="812835"/>
                </a:lnTo>
                <a:lnTo>
                  <a:pt x="2194560" y="777239"/>
                </a:lnTo>
                <a:lnTo>
                  <a:pt x="2194560" y="91439"/>
                </a:lnTo>
                <a:lnTo>
                  <a:pt x="2187375" y="55849"/>
                </a:lnTo>
                <a:lnTo>
                  <a:pt x="2167780" y="26784"/>
                </a:lnTo>
                <a:lnTo>
                  <a:pt x="2138715" y="7186"/>
                </a:lnTo>
                <a:lnTo>
                  <a:pt x="210312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537959" y="4665979"/>
            <a:ext cx="1520825" cy="79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5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55"/>
              </a:lnSpc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What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would </a:t>
            </a:r>
            <a:r>
              <a:rPr sz="1850" b="1" spc="-25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valid?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686800" y="4617718"/>
            <a:ext cx="2697480" cy="868680"/>
          </a:xfrm>
          <a:custGeom>
            <a:avLst/>
            <a:gdLst/>
            <a:ahLst/>
            <a:cxnLst/>
            <a:rect l="l" t="t" r="r" b="b"/>
            <a:pathLst>
              <a:path w="2697479" h="868679">
                <a:moveTo>
                  <a:pt x="2606040" y="0"/>
                </a:moveTo>
                <a:lnTo>
                  <a:pt x="91440" y="0"/>
                </a:lnTo>
                <a:lnTo>
                  <a:pt x="55849" y="7186"/>
                </a:lnTo>
                <a:lnTo>
                  <a:pt x="26784" y="26784"/>
                </a:lnTo>
                <a:lnTo>
                  <a:pt x="7186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6" y="812835"/>
                </a:lnTo>
                <a:lnTo>
                  <a:pt x="26784" y="841900"/>
                </a:lnTo>
                <a:lnTo>
                  <a:pt x="55849" y="861495"/>
                </a:lnTo>
                <a:lnTo>
                  <a:pt x="91440" y="868679"/>
                </a:lnTo>
                <a:lnTo>
                  <a:pt x="2606040" y="868679"/>
                </a:lnTo>
                <a:lnTo>
                  <a:pt x="2641635" y="861495"/>
                </a:lnTo>
                <a:lnTo>
                  <a:pt x="2670700" y="841900"/>
                </a:lnTo>
                <a:lnTo>
                  <a:pt x="2690295" y="812835"/>
                </a:lnTo>
                <a:lnTo>
                  <a:pt x="2697480" y="777239"/>
                </a:lnTo>
                <a:lnTo>
                  <a:pt x="2697480" y="91439"/>
                </a:lnTo>
                <a:lnTo>
                  <a:pt x="2690295" y="55849"/>
                </a:lnTo>
                <a:lnTo>
                  <a:pt x="2670700" y="26784"/>
                </a:lnTo>
                <a:lnTo>
                  <a:pt x="2641635" y="7186"/>
                </a:lnTo>
                <a:lnTo>
                  <a:pt x="260604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23959" y="4662932"/>
            <a:ext cx="2235200" cy="798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00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900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Modus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ponens:</a:t>
            </a:r>
            <a:r>
              <a:rPr sz="1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q;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p;</a:t>
            </a:r>
            <a:r>
              <a:rPr sz="18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mbria Math"/>
                <a:cs typeface="Cambria Math"/>
              </a:rPr>
              <a:t>∴</a:t>
            </a:r>
            <a:r>
              <a:rPr sz="1850" b="1" spc="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q.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0080" y="5879662"/>
            <a:ext cx="10927080" cy="502920"/>
          </a:xfrm>
          <a:custGeom>
            <a:avLst/>
            <a:gdLst/>
            <a:ahLst/>
            <a:cxnLst/>
            <a:rect l="l" t="t" r="r" b="b"/>
            <a:pathLst>
              <a:path w="10927080" h="502920">
                <a:moveTo>
                  <a:pt x="10817352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93191"/>
                </a:lnTo>
                <a:lnTo>
                  <a:pt x="8622" y="435904"/>
                </a:lnTo>
                <a:lnTo>
                  <a:pt x="32137" y="470782"/>
                </a:lnTo>
                <a:lnTo>
                  <a:pt x="67015" y="494297"/>
                </a:lnTo>
                <a:lnTo>
                  <a:pt x="109728" y="502919"/>
                </a:lnTo>
                <a:lnTo>
                  <a:pt x="10817352" y="502919"/>
                </a:lnTo>
                <a:lnTo>
                  <a:pt x="10860064" y="494297"/>
                </a:lnTo>
                <a:lnTo>
                  <a:pt x="10894942" y="470782"/>
                </a:lnTo>
                <a:lnTo>
                  <a:pt x="10918457" y="435904"/>
                </a:lnTo>
                <a:lnTo>
                  <a:pt x="10927080" y="393191"/>
                </a:lnTo>
                <a:lnTo>
                  <a:pt x="10927080" y="109727"/>
                </a:lnTo>
                <a:lnTo>
                  <a:pt x="10918457" y="67015"/>
                </a:lnTo>
                <a:lnTo>
                  <a:pt x="10894942" y="32137"/>
                </a:lnTo>
                <a:lnTo>
                  <a:pt x="10860064" y="8622"/>
                </a:lnTo>
                <a:lnTo>
                  <a:pt x="10817352" y="0"/>
                </a:lnTo>
                <a:close/>
              </a:path>
            </a:pathLst>
          </a:custGeom>
          <a:solidFill>
            <a:srgbClr val="B8E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55980" y="5941088"/>
            <a:ext cx="6522084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fallacy</a:t>
            </a:r>
            <a:r>
              <a:rPr sz="1850" b="1" spc="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sounds convincing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but</a:t>
            </a:r>
            <a:r>
              <a:rPr sz="1850" b="1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does</a:t>
            </a:r>
            <a:r>
              <a:rPr sz="1850" b="1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not guarantee</a:t>
            </a:r>
            <a:r>
              <a:rPr sz="1850" b="1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its</a:t>
            </a:r>
            <a:r>
              <a:rPr sz="1850" b="1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conclusion.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18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432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55" dirty="0">
                <a:solidFill>
                  <a:srgbClr val="2F254D"/>
                </a:solidFill>
              </a:rPr>
              <a:t>Rain</a:t>
            </a:r>
            <a:r>
              <a:rPr spc="-175" dirty="0">
                <a:solidFill>
                  <a:srgbClr val="2F254D"/>
                </a:solidFill>
              </a:rPr>
              <a:t> </a:t>
            </a:r>
            <a:r>
              <a:rPr spc="135" dirty="0">
                <a:solidFill>
                  <a:srgbClr val="2F254D"/>
                </a:solidFill>
              </a:rPr>
              <a:t>and</a:t>
            </a:r>
            <a:r>
              <a:rPr spc="-170" dirty="0">
                <a:solidFill>
                  <a:srgbClr val="2F254D"/>
                </a:solidFill>
              </a:rPr>
              <a:t> </a:t>
            </a:r>
            <a:r>
              <a:rPr spc="145" dirty="0">
                <a:solidFill>
                  <a:srgbClr val="2F254D"/>
                </a:solidFill>
              </a:rPr>
              <a:t>a</a:t>
            </a:r>
            <a:r>
              <a:rPr spc="-180" dirty="0">
                <a:solidFill>
                  <a:srgbClr val="2F254D"/>
                </a:solidFill>
              </a:rPr>
              <a:t> </a:t>
            </a:r>
            <a:r>
              <a:rPr dirty="0">
                <a:solidFill>
                  <a:srgbClr val="2F254D"/>
                </a:solidFill>
              </a:rPr>
              <a:t>dry</a:t>
            </a:r>
            <a:r>
              <a:rPr spc="-165" dirty="0">
                <a:solidFill>
                  <a:srgbClr val="2F254D"/>
                </a:solidFill>
              </a:rPr>
              <a:t> </a:t>
            </a:r>
            <a:r>
              <a:rPr spc="70" dirty="0">
                <a:solidFill>
                  <a:srgbClr val="2F254D"/>
                </a:solidFill>
              </a:rPr>
              <a:t>road</a:t>
            </a:r>
          </a:p>
          <a:p>
            <a:pPr marL="22225">
              <a:lnSpc>
                <a:spcPct val="100000"/>
              </a:lnSpc>
              <a:spcBef>
                <a:spcPts val="25"/>
              </a:spcBef>
            </a:pPr>
            <a:r>
              <a:rPr sz="1600" b="0" spc="120" dirty="0">
                <a:solidFill>
                  <a:srgbClr val="766B94"/>
                </a:solidFill>
                <a:latin typeface="Trebuchet MS"/>
                <a:cs typeface="Trebuchet MS"/>
              </a:rPr>
              <a:t>A</a:t>
            </a:r>
            <a:r>
              <a:rPr sz="1600" b="0" spc="-40" dirty="0">
                <a:solidFill>
                  <a:srgbClr val="766B94"/>
                </a:solidFill>
                <a:latin typeface="Trebuchet MS"/>
                <a:cs typeface="Trebuchet MS"/>
              </a:rPr>
              <a:t> </a:t>
            </a:r>
            <a:r>
              <a:rPr sz="1600" b="0" dirty="0">
                <a:solidFill>
                  <a:srgbClr val="766B94"/>
                </a:solidFill>
                <a:latin typeface="Trebuchet MS"/>
                <a:cs typeface="Trebuchet MS"/>
              </a:rPr>
              <a:t>visual</a:t>
            </a:r>
            <a:r>
              <a:rPr sz="1600" b="0" spc="-25" dirty="0">
                <a:solidFill>
                  <a:srgbClr val="766B94"/>
                </a:solidFill>
                <a:latin typeface="Trebuchet MS"/>
                <a:cs typeface="Trebuchet MS"/>
              </a:rPr>
              <a:t> </a:t>
            </a:r>
            <a:r>
              <a:rPr sz="1600" b="0" spc="45" dirty="0">
                <a:solidFill>
                  <a:srgbClr val="766B94"/>
                </a:solidFill>
                <a:latin typeface="Trebuchet MS"/>
                <a:cs typeface="Trebuchet MS"/>
              </a:rPr>
              <a:t>example</a:t>
            </a:r>
            <a:r>
              <a:rPr sz="1600" b="0" dirty="0">
                <a:solidFill>
                  <a:srgbClr val="766B94"/>
                </a:solidFill>
                <a:latin typeface="Trebuchet MS"/>
                <a:cs typeface="Trebuchet MS"/>
              </a:rPr>
              <a:t> of</a:t>
            </a:r>
            <a:r>
              <a:rPr sz="1600" b="0" spc="-35" dirty="0">
                <a:solidFill>
                  <a:srgbClr val="766B94"/>
                </a:solidFill>
                <a:latin typeface="Trebuchet MS"/>
                <a:cs typeface="Trebuchet MS"/>
              </a:rPr>
              <a:t> </a:t>
            </a:r>
            <a:r>
              <a:rPr sz="1600" b="0" spc="95" dirty="0">
                <a:solidFill>
                  <a:srgbClr val="766B94"/>
                </a:solidFill>
                <a:latin typeface="Trebuchet MS"/>
                <a:cs typeface="Trebuchet MS"/>
              </a:rPr>
              <a:t>modus</a:t>
            </a:r>
            <a:r>
              <a:rPr sz="1600" b="0" spc="-30" dirty="0">
                <a:solidFill>
                  <a:srgbClr val="766B94"/>
                </a:solidFill>
                <a:latin typeface="Trebuchet MS"/>
                <a:cs typeface="Trebuchet MS"/>
              </a:rPr>
              <a:t> </a:t>
            </a:r>
            <a:r>
              <a:rPr sz="1600" b="0" spc="-10" dirty="0">
                <a:solidFill>
                  <a:srgbClr val="766B94"/>
                </a:solidFill>
                <a:latin typeface="Trebuchet MS"/>
                <a:cs typeface="Trebuchet MS"/>
              </a:rPr>
              <a:t>tollens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0474" y="1230477"/>
            <a:ext cx="5365750" cy="2952750"/>
            <a:chOff x="630474" y="1230477"/>
            <a:chExt cx="5365750" cy="2952750"/>
          </a:xfrm>
        </p:grpSpPr>
        <p:sp>
          <p:nvSpPr>
            <p:cNvPr id="5" name="object 5"/>
            <p:cNvSpPr/>
            <p:nvPr/>
          </p:nvSpPr>
          <p:spPr>
            <a:xfrm>
              <a:off x="639999" y="1240002"/>
              <a:ext cx="5346700" cy="2933700"/>
            </a:xfrm>
            <a:custGeom>
              <a:avLst/>
              <a:gdLst/>
              <a:ahLst/>
              <a:cxnLst/>
              <a:rect l="l" t="t" r="r" b="b"/>
              <a:pathLst>
                <a:path w="5346700" h="2933700">
                  <a:moveTo>
                    <a:pt x="4857762" y="0"/>
                  </a:moveTo>
                  <a:lnTo>
                    <a:pt x="488899" y="0"/>
                  </a:lnTo>
                  <a:lnTo>
                    <a:pt x="441814" y="2238"/>
                  </a:lnTo>
                  <a:lnTo>
                    <a:pt x="395996" y="8815"/>
                  </a:lnTo>
                  <a:lnTo>
                    <a:pt x="351649" y="19527"/>
                  </a:lnTo>
                  <a:lnTo>
                    <a:pt x="308978" y="34169"/>
                  </a:lnTo>
                  <a:lnTo>
                    <a:pt x="268188" y="52535"/>
                  </a:lnTo>
                  <a:lnTo>
                    <a:pt x="229484" y="74422"/>
                  </a:lnTo>
                  <a:lnTo>
                    <a:pt x="193070" y="99623"/>
                  </a:lnTo>
                  <a:lnTo>
                    <a:pt x="159153" y="127935"/>
                  </a:lnTo>
                  <a:lnTo>
                    <a:pt x="127935" y="159153"/>
                  </a:lnTo>
                  <a:lnTo>
                    <a:pt x="99623" y="193070"/>
                  </a:lnTo>
                  <a:lnTo>
                    <a:pt x="74422" y="229484"/>
                  </a:lnTo>
                  <a:lnTo>
                    <a:pt x="52535" y="268188"/>
                  </a:lnTo>
                  <a:lnTo>
                    <a:pt x="34169" y="308978"/>
                  </a:lnTo>
                  <a:lnTo>
                    <a:pt x="19527" y="351649"/>
                  </a:lnTo>
                  <a:lnTo>
                    <a:pt x="8815" y="395996"/>
                  </a:lnTo>
                  <a:lnTo>
                    <a:pt x="2238" y="441814"/>
                  </a:lnTo>
                  <a:lnTo>
                    <a:pt x="0" y="488899"/>
                  </a:lnTo>
                  <a:lnTo>
                    <a:pt x="0" y="2444432"/>
                  </a:lnTo>
                  <a:lnTo>
                    <a:pt x="2238" y="2491517"/>
                  </a:lnTo>
                  <a:lnTo>
                    <a:pt x="8815" y="2537335"/>
                  </a:lnTo>
                  <a:lnTo>
                    <a:pt x="19527" y="2581682"/>
                  </a:lnTo>
                  <a:lnTo>
                    <a:pt x="34169" y="2624353"/>
                  </a:lnTo>
                  <a:lnTo>
                    <a:pt x="52535" y="2665143"/>
                  </a:lnTo>
                  <a:lnTo>
                    <a:pt x="74422" y="2703847"/>
                  </a:lnTo>
                  <a:lnTo>
                    <a:pt x="99623" y="2740260"/>
                  </a:lnTo>
                  <a:lnTo>
                    <a:pt x="127935" y="2774178"/>
                  </a:lnTo>
                  <a:lnTo>
                    <a:pt x="159153" y="2805395"/>
                  </a:lnTo>
                  <a:lnTo>
                    <a:pt x="193070" y="2833707"/>
                  </a:lnTo>
                  <a:lnTo>
                    <a:pt x="229484" y="2858909"/>
                  </a:lnTo>
                  <a:lnTo>
                    <a:pt x="268188" y="2880795"/>
                  </a:lnTo>
                  <a:lnTo>
                    <a:pt x="308978" y="2899162"/>
                  </a:lnTo>
                  <a:lnTo>
                    <a:pt x="351649" y="2913804"/>
                  </a:lnTo>
                  <a:lnTo>
                    <a:pt x="395996" y="2924516"/>
                  </a:lnTo>
                  <a:lnTo>
                    <a:pt x="441814" y="2931093"/>
                  </a:lnTo>
                  <a:lnTo>
                    <a:pt x="488899" y="2933331"/>
                  </a:lnTo>
                  <a:lnTo>
                    <a:pt x="4857762" y="2933331"/>
                  </a:lnTo>
                  <a:lnTo>
                    <a:pt x="4904847" y="2931093"/>
                  </a:lnTo>
                  <a:lnTo>
                    <a:pt x="4950665" y="2924516"/>
                  </a:lnTo>
                  <a:lnTo>
                    <a:pt x="4995012" y="2913804"/>
                  </a:lnTo>
                  <a:lnTo>
                    <a:pt x="5037683" y="2899162"/>
                  </a:lnTo>
                  <a:lnTo>
                    <a:pt x="5078473" y="2880795"/>
                  </a:lnTo>
                  <a:lnTo>
                    <a:pt x="5117177" y="2858909"/>
                  </a:lnTo>
                  <a:lnTo>
                    <a:pt x="5153591" y="2833707"/>
                  </a:lnTo>
                  <a:lnTo>
                    <a:pt x="5187508" y="2805395"/>
                  </a:lnTo>
                  <a:lnTo>
                    <a:pt x="5218726" y="2774178"/>
                  </a:lnTo>
                  <a:lnTo>
                    <a:pt x="5247037" y="2740260"/>
                  </a:lnTo>
                  <a:lnTo>
                    <a:pt x="5272239" y="2703847"/>
                  </a:lnTo>
                  <a:lnTo>
                    <a:pt x="5294126" y="2665143"/>
                  </a:lnTo>
                  <a:lnTo>
                    <a:pt x="5312492" y="2624353"/>
                  </a:lnTo>
                  <a:lnTo>
                    <a:pt x="5327134" y="2581682"/>
                  </a:lnTo>
                  <a:lnTo>
                    <a:pt x="5337846" y="2537335"/>
                  </a:lnTo>
                  <a:lnTo>
                    <a:pt x="5344423" y="2491517"/>
                  </a:lnTo>
                  <a:lnTo>
                    <a:pt x="5346661" y="2444432"/>
                  </a:lnTo>
                  <a:lnTo>
                    <a:pt x="5346661" y="488899"/>
                  </a:lnTo>
                  <a:lnTo>
                    <a:pt x="5344423" y="441814"/>
                  </a:lnTo>
                  <a:lnTo>
                    <a:pt x="5337846" y="395996"/>
                  </a:lnTo>
                  <a:lnTo>
                    <a:pt x="5327134" y="351649"/>
                  </a:lnTo>
                  <a:lnTo>
                    <a:pt x="5312492" y="308978"/>
                  </a:lnTo>
                  <a:lnTo>
                    <a:pt x="5294126" y="268188"/>
                  </a:lnTo>
                  <a:lnTo>
                    <a:pt x="5272239" y="229484"/>
                  </a:lnTo>
                  <a:lnTo>
                    <a:pt x="5247037" y="193070"/>
                  </a:lnTo>
                  <a:lnTo>
                    <a:pt x="5218726" y="159153"/>
                  </a:lnTo>
                  <a:lnTo>
                    <a:pt x="5187508" y="127935"/>
                  </a:lnTo>
                  <a:lnTo>
                    <a:pt x="5153591" y="99623"/>
                  </a:lnTo>
                  <a:lnTo>
                    <a:pt x="5117177" y="74422"/>
                  </a:lnTo>
                  <a:lnTo>
                    <a:pt x="5078473" y="52535"/>
                  </a:lnTo>
                  <a:lnTo>
                    <a:pt x="5037683" y="34169"/>
                  </a:lnTo>
                  <a:lnTo>
                    <a:pt x="4995012" y="19527"/>
                  </a:lnTo>
                  <a:lnTo>
                    <a:pt x="4950665" y="8815"/>
                  </a:lnTo>
                  <a:lnTo>
                    <a:pt x="4904847" y="2238"/>
                  </a:lnTo>
                  <a:lnTo>
                    <a:pt x="4857762" y="0"/>
                  </a:lnTo>
                  <a:close/>
                </a:path>
              </a:pathLst>
            </a:custGeom>
            <a:solidFill>
              <a:srgbClr val="F4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999" y="1240002"/>
              <a:ext cx="5346700" cy="2933700"/>
            </a:xfrm>
            <a:custGeom>
              <a:avLst/>
              <a:gdLst/>
              <a:ahLst/>
              <a:cxnLst/>
              <a:rect l="l" t="t" r="r" b="b"/>
              <a:pathLst>
                <a:path w="5346700" h="2933700">
                  <a:moveTo>
                    <a:pt x="0" y="488899"/>
                  </a:moveTo>
                  <a:lnTo>
                    <a:pt x="2238" y="441814"/>
                  </a:lnTo>
                  <a:lnTo>
                    <a:pt x="8815" y="395996"/>
                  </a:lnTo>
                  <a:lnTo>
                    <a:pt x="19527" y="351649"/>
                  </a:lnTo>
                  <a:lnTo>
                    <a:pt x="34169" y="308978"/>
                  </a:lnTo>
                  <a:lnTo>
                    <a:pt x="52535" y="268188"/>
                  </a:lnTo>
                  <a:lnTo>
                    <a:pt x="74422" y="229484"/>
                  </a:lnTo>
                  <a:lnTo>
                    <a:pt x="99623" y="193070"/>
                  </a:lnTo>
                  <a:lnTo>
                    <a:pt x="127935" y="159153"/>
                  </a:lnTo>
                  <a:lnTo>
                    <a:pt x="159153" y="127935"/>
                  </a:lnTo>
                  <a:lnTo>
                    <a:pt x="193070" y="99623"/>
                  </a:lnTo>
                  <a:lnTo>
                    <a:pt x="229484" y="74422"/>
                  </a:lnTo>
                  <a:lnTo>
                    <a:pt x="268188" y="52535"/>
                  </a:lnTo>
                  <a:lnTo>
                    <a:pt x="308978" y="34169"/>
                  </a:lnTo>
                  <a:lnTo>
                    <a:pt x="351649" y="19527"/>
                  </a:lnTo>
                  <a:lnTo>
                    <a:pt x="395996" y="8815"/>
                  </a:lnTo>
                  <a:lnTo>
                    <a:pt x="441814" y="2238"/>
                  </a:lnTo>
                  <a:lnTo>
                    <a:pt x="488899" y="0"/>
                  </a:lnTo>
                  <a:lnTo>
                    <a:pt x="4857762" y="0"/>
                  </a:lnTo>
                  <a:lnTo>
                    <a:pt x="4904847" y="2238"/>
                  </a:lnTo>
                  <a:lnTo>
                    <a:pt x="4950665" y="8815"/>
                  </a:lnTo>
                  <a:lnTo>
                    <a:pt x="4995012" y="19527"/>
                  </a:lnTo>
                  <a:lnTo>
                    <a:pt x="5037683" y="34169"/>
                  </a:lnTo>
                  <a:lnTo>
                    <a:pt x="5078473" y="52535"/>
                  </a:lnTo>
                  <a:lnTo>
                    <a:pt x="5117177" y="74422"/>
                  </a:lnTo>
                  <a:lnTo>
                    <a:pt x="5153591" y="99623"/>
                  </a:lnTo>
                  <a:lnTo>
                    <a:pt x="5187508" y="127935"/>
                  </a:lnTo>
                  <a:lnTo>
                    <a:pt x="5218726" y="159153"/>
                  </a:lnTo>
                  <a:lnTo>
                    <a:pt x="5247037" y="193070"/>
                  </a:lnTo>
                  <a:lnTo>
                    <a:pt x="5272239" y="229484"/>
                  </a:lnTo>
                  <a:lnTo>
                    <a:pt x="5294126" y="268188"/>
                  </a:lnTo>
                  <a:lnTo>
                    <a:pt x="5312492" y="308978"/>
                  </a:lnTo>
                  <a:lnTo>
                    <a:pt x="5327134" y="351649"/>
                  </a:lnTo>
                  <a:lnTo>
                    <a:pt x="5337846" y="395996"/>
                  </a:lnTo>
                  <a:lnTo>
                    <a:pt x="5344423" y="441814"/>
                  </a:lnTo>
                  <a:lnTo>
                    <a:pt x="5346661" y="488899"/>
                  </a:lnTo>
                  <a:lnTo>
                    <a:pt x="5346661" y="2444432"/>
                  </a:lnTo>
                  <a:lnTo>
                    <a:pt x="5344423" y="2491517"/>
                  </a:lnTo>
                  <a:lnTo>
                    <a:pt x="5337846" y="2537335"/>
                  </a:lnTo>
                  <a:lnTo>
                    <a:pt x="5327134" y="2581682"/>
                  </a:lnTo>
                  <a:lnTo>
                    <a:pt x="5312492" y="2624353"/>
                  </a:lnTo>
                  <a:lnTo>
                    <a:pt x="5294126" y="2665143"/>
                  </a:lnTo>
                  <a:lnTo>
                    <a:pt x="5272239" y="2703847"/>
                  </a:lnTo>
                  <a:lnTo>
                    <a:pt x="5247037" y="2740260"/>
                  </a:lnTo>
                  <a:lnTo>
                    <a:pt x="5218726" y="2774178"/>
                  </a:lnTo>
                  <a:lnTo>
                    <a:pt x="5187508" y="2805395"/>
                  </a:lnTo>
                  <a:lnTo>
                    <a:pt x="5153591" y="2833707"/>
                  </a:lnTo>
                  <a:lnTo>
                    <a:pt x="5117177" y="2858909"/>
                  </a:lnTo>
                  <a:lnTo>
                    <a:pt x="5078473" y="2880795"/>
                  </a:lnTo>
                  <a:lnTo>
                    <a:pt x="5037683" y="2899162"/>
                  </a:lnTo>
                  <a:lnTo>
                    <a:pt x="4995012" y="2913804"/>
                  </a:lnTo>
                  <a:lnTo>
                    <a:pt x="4950665" y="2924516"/>
                  </a:lnTo>
                  <a:lnTo>
                    <a:pt x="4904847" y="2931093"/>
                  </a:lnTo>
                  <a:lnTo>
                    <a:pt x="4857762" y="2933331"/>
                  </a:lnTo>
                  <a:lnTo>
                    <a:pt x="488899" y="2933331"/>
                  </a:lnTo>
                  <a:lnTo>
                    <a:pt x="441814" y="2931093"/>
                  </a:lnTo>
                  <a:lnTo>
                    <a:pt x="395996" y="2924516"/>
                  </a:lnTo>
                  <a:lnTo>
                    <a:pt x="351649" y="2913804"/>
                  </a:lnTo>
                  <a:lnTo>
                    <a:pt x="308978" y="2899162"/>
                  </a:lnTo>
                  <a:lnTo>
                    <a:pt x="268188" y="2880795"/>
                  </a:lnTo>
                  <a:lnTo>
                    <a:pt x="229484" y="2858909"/>
                  </a:lnTo>
                  <a:lnTo>
                    <a:pt x="193070" y="2833707"/>
                  </a:lnTo>
                  <a:lnTo>
                    <a:pt x="159153" y="2805395"/>
                  </a:lnTo>
                  <a:lnTo>
                    <a:pt x="127935" y="2774178"/>
                  </a:lnTo>
                  <a:lnTo>
                    <a:pt x="99623" y="2740260"/>
                  </a:lnTo>
                  <a:lnTo>
                    <a:pt x="74422" y="2703847"/>
                  </a:lnTo>
                  <a:lnTo>
                    <a:pt x="52535" y="2665143"/>
                  </a:lnTo>
                  <a:lnTo>
                    <a:pt x="34169" y="2624353"/>
                  </a:lnTo>
                  <a:lnTo>
                    <a:pt x="19527" y="2581682"/>
                  </a:lnTo>
                  <a:lnTo>
                    <a:pt x="8815" y="2537335"/>
                  </a:lnTo>
                  <a:lnTo>
                    <a:pt x="2238" y="2491517"/>
                  </a:lnTo>
                  <a:lnTo>
                    <a:pt x="0" y="2444432"/>
                  </a:lnTo>
                  <a:lnTo>
                    <a:pt x="0" y="488899"/>
                  </a:lnTo>
                  <a:close/>
                </a:path>
              </a:pathLst>
            </a:custGeom>
            <a:ln w="19050">
              <a:solidFill>
                <a:srgbClr val="C6B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190474" y="1230477"/>
            <a:ext cx="5365750" cy="2952750"/>
            <a:chOff x="6190474" y="1230477"/>
            <a:chExt cx="5365750" cy="2952750"/>
          </a:xfrm>
        </p:grpSpPr>
        <p:sp>
          <p:nvSpPr>
            <p:cNvPr id="8" name="object 8"/>
            <p:cNvSpPr/>
            <p:nvPr/>
          </p:nvSpPr>
          <p:spPr>
            <a:xfrm>
              <a:off x="6200000" y="1240002"/>
              <a:ext cx="5346700" cy="2933700"/>
            </a:xfrm>
            <a:custGeom>
              <a:avLst/>
              <a:gdLst/>
              <a:ahLst/>
              <a:cxnLst/>
              <a:rect l="l" t="t" r="r" b="b"/>
              <a:pathLst>
                <a:path w="5346700" h="2933700">
                  <a:moveTo>
                    <a:pt x="4857762" y="0"/>
                  </a:moveTo>
                  <a:lnTo>
                    <a:pt x="488899" y="0"/>
                  </a:lnTo>
                  <a:lnTo>
                    <a:pt x="441814" y="2238"/>
                  </a:lnTo>
                  <a:lnTo>
                    <a:pt x="395996" y="8815"/>
                  </a:lnTo>
                  <a:lnTo>
                    <a:pt x="351649" y="19527"/>
                  </a:lnTo>
                  <a:lnTo>
                    <a:pt x="308978" y="34169"/>
                  </a:lnTo>
                  <a:lnTo>
                    <a:pt x="268188" y="52535"/>
                  </a:lnTo>
                  <a:lnTo>
                    <a:pt x="229484" y="74422"/>
                  </a:lnTo>
                  <a:lnTo>
                    <a:pt x="193070" y="99623"/>
                  </a:lnTo>
                  <a:lnTo>
                    <a:pt x="159153" y="127935"/>
                  </a:lnTo>
                  <a:lnTo>
                    <a:pt x="127935" y="159153"/>
                  </a:lnTo>
                  <a:lnTo>
                    <a:pt x="99623" y="193070"/>
                  </a:lnTo>
                  <a:lnTo>
                    <a:pt x="74422" y="229484"/>
                  </a:lnTo>
                  <a:lnTo>
                    <a:pt x="52535" y="268188"/>
                  </a:lnTo>
                  <a:lnTo>
                    <a:pt x="34169" y="308978"/>
                  </a:lnTo>
                  <a:lnTo>
                    <a:pt x="19527" y="351649"/>
                  </a:lnTo>
                  <a:lnTo>
                    <a:pt x="8815" y="395996"/>
                  </a:lnTo>
                  <a:lnTo>
                    <a:pt x="2238" y="441814"/>
                  </a:lnTo>
                  <a:lnTo>
                    <a:pt x="0" y="488899"/>
                  </a:lnTo>
                  <a:lnTo>
                    <a:pt x="0" y="2444432"/>
                  </a:lnTo>
                  <a:lnTo>
                    <a:pt x="2238" y="2491517"/>
                  </a:lnTo>
                  <a:lnTo>
                    <a:pt x="8815" y="2537335"/>
                  </a:lnTo>
                  <a:lnTo>
                    <a:pt x="19527" y="2581682"/>
                  </a:lnTo>
                  <a:lnTo>
                    <a:pt x="34169" y="2624353"/>
                  </a:lnTo>
                  <a:lnTo>
                    <a:pt x="52535" y="2665143"/>
                  </a:lnTo>
                  <a:lnTo>
                    <a:pt x="74422" y="2703847"/>
                  </a:lnTo>
                  <a:lnTo>
                    <a:pt x="99623" y="2740260"/>
                  </a:lnTo>
                  <a:lnTo>
                    <a:pt x="127935" y="2774178"/>
                  </a:lnTo>
                  <a:lnTo>
                    <a:pt x="159153" y="2805395"/>
                  </a:lnTo>
                  <a:lnTo>
                    <a:pt x="193070" y="2833707"/>
                  </a:lnTo>
                  <a:lnTo>
                    <a:pt x="229484" y="2858909"/>
                  </a:lnTo>
                  <a:lnTo>
                    <a:pt x="268188" y="2880795"/>
                  </a:lnTo>
                  <a:lnTo>
                    <a:pt x="308978" y="2899162"/>
                  </a:lnTo>
                  <a:lnTo>
                    <a:pt x="351649" y="2913804"/>
                  </a:lnTo>
                  <a:lnTo>
                    <a:pt x="395996" y="2924516"/>
                  </a:lnTo>
                  <a:lnTo>
                    <a:pt x="441814" y="2931093"/>
                  </a:lnTo>
                  <a:lnTo>
                    <a:pt x="488899" y="2933331"/>
                  </a:lnTo>
                  <a:lnTo>
                    <a:pt x="4857762" y="2933331"/>
                  </a:lnTo>
                  <a:lnTo>
                    <a:pt x="4904847" y="2931093"/>
                  </a:lnTo>
                  <a:lnTo>
                    <a:pt x="4950665" y="2924516"/>
                  </a:lnTo>
                  <a:lnTo>
                    <a:pt x="4995012" y="2913804"/>
                  </a:lnTo>
                  <a:lnTo>
                    <a:pt x="5037683" y="2899162"/>
                  </a:lnTo>
                  <a:lnTo>
                    <a:pt x="5078473" y="2880795"/>
                  </a:lnTo>
                  <a:lnTo>
                    <a:pt x="5117177" y="2858909"/>
                  </a:lnTo>
                  <a:lnTo>
                    <a:pt x="5153591" y="2833707"/>
                  </a:lnTo>
                  <a:lnTo>
                    <a:pt x="5187508" y="2805395"/>
                  </a:lnTo>
                  <a:lnTo>
                    <a:pt x="5218726" y="2774178"/>
                  </a:lnTo>
                  <a:lnTo>
                    <a:pt x="5247037" y="2740260"/>
                  </a:lnTo>
                  <a:lnTo>
                    <a:pt x="5272239" y="2703847"/>
                  </a:lnTo>
                  <a:lnTo>
                    <a:pt x="5294126" y="2665143"/>
                  </a:lnTo>
                  <a:lnTo>
                    <a:pt x="5312492" y="2624353"/>
                  </a:lnTo>
                  <a:lnTo>
                    <a:pt x="5327134" y="2581682"/>
                  </a:lnTo>
                  <a:lnTo>
                    <a:pt x="5337846" y="2537335"/>
                  </a:lnTo>
                  <a:lnTo>
                    <a:pt x="5344423" y="2491517"/>
                  </a:lnTo>
                  <a:lnTo>
                    <a:pt x="5346661" y="2444432"/>
                  </a:lnTo>
                  <a:lnTo>
                    <a:pt x="5346661" y="488899"/>
                  </a:lnTo>
                  <a:lnTo>
                    <a:pt x="5344423" y="441814"/>
                  </a:lnTo>
                  <a:lnTo>
                    <a:pt x="5337846" y="395996"/>
                  </a:lnTo>
                  <a:lnTo>
                    <a:pt x="5327134" y="351649"/>
                  </a:lnTo>
                  <a:lnTo>
                    <a:pt x="5312492" y="308978"/>
                  </a:lnTo>
                  <a:lnTo>
                    <a:pt x="5294126" y="268188"/>
                  </a:lnTo>
                  <a:lnTo>
                    <a:pt x="5272239" y="229484"/>
                  </a:lnTo>
                  <a:lnTo>
                    <a:pt x="5247037" y="193070"/>
                  </a:lnTo>
                  <a:lnTo>
                    <a:pt x="5218726" y="159153"/>
                  </a:lnTo>
                  <a:lnTo>
                    <a:pt x="5187508" y="127935"/>
                  </a:lnTo>
                  <a:lnTo>
                    <a:pt x="5153591" y="99623"/>
                  </a:lnTo>
                  <a:lnTo>
                    <a:pt x="5117177" y="74422"/>
                  </a:lnTo>
                  <a:lnTo>
                    <a:pt x="5078473" y="52535"/>
                  </a:lnTo>
                  <a:lnTo>
                    <a:pt x="5037683" y="34169"/>
                  </a:lnTo>
                  <a:lnTo>
                    <a:pt x="4995012" y="19527"/>
                  </a:lnTo>
                  <a:lnTo>
                    <a:pt x="4950665" y="8815"/>
                  </a:lnTo>
                  <a:lnTo>
                    <a:pt x="4904847" y="2238"/>
                  </a:lnTo>
                  <a:lnTo>
                    <a:pt x="4857762" y="0"/>
                  </a:lnTo>
                  <a:close/>
                </a:path>
              </a:pathLst>
            </a:custGeom>
            <a:solidFill>
              <a:srgbClr val="F6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99999" y="1240002"/>
              <a:ext cx="5346700" cy="2933700"/>
            </a:xfrm>
            <a:custGeom>
              <a:avLst/>
              <a:gdLst/>
              <a:ahLst/>
              <a:cxnLst/>
              <a:rect l="l" t="t" r="r" b="b"/>
              <a:pathLst>
                <a:path w="5346700" h="2933700">
                  <a:moveTo>
                    <a:pt x="0" y="488899"/>
                  </a:moveTo>
                  <a:lnTo>
                    <a:pt x="2238" y="441814"/>
                  </a:lnTo>
                  <a:lnTo>
                    <a:pt x="8815" y="395996"/>
                  </a:lnTo>
                  <a:lnTo>
                    <a:pt x="19527" y="351649"/>
                  </a:lnTo>
                  <a:lnTo>
                    <a:pt x="34169" y="308978"/>
                  </a:lnTo>
                  <a:lnTo>
                    <a:pt x="52535" y="268188"/>
                  </a:lnTo>
                  <a:lnTo>
                    <a:pt x="74422" y="229484"/>
                  </a:lnTo>
                  <a:lnTo>
                    <a:pt x="99623" y="193070"/>
                  </a:lnTo>
                  <a:lnTo>
                    <a:pt x="127935" y="159153"/>
                  </a:lnTo>
                  <a:lnTo>
                    <a:pt x="159153" y="127935"/>
                  </a:lnTo>
                  <a:lnTo>
                    <a:pt x="193070" y="99623"/>
                  </a:lnTo>
                  <a:lnTo>
                    <a:pt x="229484" y="74422"/>
                  </a:lnTo>
                  <a:lnTo>
                    <a:pt x="268188" y="52535"/>
                  </a:lnTo>
                  <a:lnTo>
                    <a:pt x="308978" y="34169"/>
                  </a:lnTo>
                  <a:lnTo>
                    <a:pt x="351649" y="19527"/>
                  </a:lnTo>
                  <a:lnTo>
                    <a:pt x="395996" y="8815"/>
                  </a:lnTo>
                  <a:lnTo>
                    <a:pt x="441814" y="2238"/>
                  </a:lnTo>
                  <a:lnTo>
                    <a:pt x="488899" y="0"/>
                  </a:lnTo>
                  <a:lnTo>
                    <a:pt x="4857762" y="0"/>
                  </a:lnTo>
                  <a:lnTo>
                    <a:pt x="4904847" y="2238"/>
                  </a:lnTo>
                  <a:lnTo>
                    <a:pt x="4950665" y="8815"/>
                  </a:lnTo>
                  <a:lnTo>
                    <a:pt x="4995012" y="19527"/>
                  </a:lnTo>
                  <a:lnTo>
                    <a:pt x="5037683" y="34169"/>
                  </a:lnTo>
                  <a:lnTo>
                    <a:pt x="5078473" y="52535"/>
                  </a:lnTo>
                  <a:lnTo>
                    <a:pt x="5117177" y="74422"/>
                  </a:lnTo>
                  <a:lnTo>
                    <a:pt x="5153591" y="99623"/>
                  </a:lnTo>
                  <a:lnTo>
                    <a:pt x="5187508" y="127935"/>
                  </a:lnTo>
                  <a:lnTo>
                    <a:pt x="5218726" y="159153"/>
                  </a:lnTo>
                  <a:lnTo>
                    <a:pt x="5247037" y="193070"/>
                  </a:lnTo>
                  <a:lnTo>
                    <a:pt x="5272239" y="229484"/>
                  </a:lnTo>
                  <a:lnTo>
                    <a:pt x="5294126" y="268188"/>
                  </a:lnTo>
                  <a:lnTo>
                    <a:pt x="5312492" y="308978"/>
                  </a:lnTo>
                  <a:lnTo>
                    <a:pt x="5327134" y="351649"/>
                  </a:lnTo>
                  <a:lnTo>
                    <a:pt x="5337846" y="395996"/>
                  </a:lnTo>
                  <a:lnTo>
                    <a:pt x="5344423" y="441814"/>
                  </a:lnTo>
                  <a:lnTo>
                    <a:pt x="5346661" y="488899"/>
                  </a:lnTo>
                  <a:lnTo>
                    <a:pt x="5346661" y="2444432"/>
                  </a:lnTo>
                  <a:lnTo>
                    <a:pt x="5344423" y="2491517"/>
                  </a:lnTo>
                  <a:lnTo>
                    <a:pt x="5337846" y="2537335"/>
                  </a:lnTo>
                  <a:lnTo>
                    <a:pt x="5327134" y="2581682"/>
                  </a:lnTo>
                  <a:lnTo>
                    <a:pt x="5312492" y="2624353"/>
                  </a:lnTo>
                  <a:lnTo>
                    <a:pt x="5294126" y="2665143"/>
                  </a:lnTo>
                  <a:lnTo>
                    <a:pt x="5272239" y="2703847"/>
                  </a:lnTo>
                  <a:lnTo>
                    <a:pt x="5247037" y="2740260"/>
                  </a:lnTo>
                  <a:lnTo>
                    <a:pt x="5218726" y="2774178"/>
                  </a:lnTo>
                  <a:lnTo>
                    <a:pt x="5187508" y="2805395"/>
                  </a:lnTo>
                  <a:lnTo>
                    <a:pt x="5153591" y="2833707"/>
                  </a:lnTo>
                  <a:lnTo>
                    <a:pt x="5117177" y="2858909"/>
                  </a:lnTo>
                  <a:lnTo>
                    <a:pt x="5078473" y="2880795"/>
                  </a:lnTo>
                  <a:lnTo>
                    <a:pt x="5037683" y="2899162"/>
                  </a:lnTo>
                  <a:lnTo>
                    <a:pt x="4995012" y="2913804"/>
                  </a:lnTo>
                  <a:lnTo>
                    <a:pt x="4950665" y="2924516"/>
                  </a:lnTo>
                  <a:lnTo>
                    <a:pt x="4904847" y="2931093"/>
                  </a:lnTo>
                  <a:lnTo>
                    <a:pt x="4857762" y="2933331"/>
                  </a:lnTo>
                  <a:lnTo>
                    <a:pt x="488899" y="2933331"/>
                  </a:lnTo>
                  <a:lnTo>
                    <a:pt x="441814" y="2931093"/>
                  </a:lnTo>
                  <a:lnTo>
                    <a:pt x="395996" y="2924516"/>
                  </a:lnTo>
                  <a:lnTo>
                    <a:pt x="351649" y="2913804"/>
                  </a:lnTo>
                  <a:lnTo>
                    <a:pt x="308978" y="2899162"/>
                  </a:lnTo>
                  <a:lnTo>
                    <a:pt x="268188" y="2880795"/>
                  </a:lnTo>
                  <a:lnTo>
                    <a:pt x="229484" y="2858909"/>
                  </a:lnTo>
                  <a:lnTo>
                    <a:pt x="193070" y="2833707"/>
                  </a:lnTo>
                  <a:lnTo>
                    <a:pt x="159153" y="2805395"/>
                  </a:lnTo>
                  <a:lnTo>
                    <a:pt x="127935" y="2774178"/>
                  </a:lnTo>
                  <a:lnTo>
                    <a:pt x="99623" y="2740260"/>
                  </a:lnTo>
                  <a:lnTo>
                    <a:pt x="74422" y="2703847"/>
                  </a:lnTo>
                  <a:lnTo>
                    <a:pt x="52535" y="2665143"/>
                  </a:lnTo>
                  <a:lnTo>
                    <a:pt x="34169" y="2624353"/>
                  </a:lnTo>
                  <a:lnTo>
                    <a:pt x="19527" y="2581682"/>
                  </a:lnTo>
                  <a:lnTo>
                    <a:pt x="8815" y="2537335"/>
                  </a:lnTo>
                  <a:lnTo>
                    <a:pt x="2238" y="2491517"/>
                  </a:lnTo>
                  <a:lnTo>
                    <a:pt x="0" y="2444432"/>
                  </a:lnTo>
                  <a:lnTo>
                    <a:pt x="0" y="488899"/>
                  </a:lnTo>
                  <a:close/>
                </a:path>
              </a:pathLst>
            </a:custGeom>
            <a:ln w="19050">
              <a:solidFill>
                <a:srgbClr val="CAC5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299" y="1387436"/>
            <a:ext cx="425577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dirty="0">
                <a:solidFill>
                  <a:srgbClr val="2F254D"/>
                </a:solidFill>
                <a:latin typeface="Trebuchet MS"/>
                <a:cs typeface="Trebuchet MS"/>
              </a:rPr>
              <a:t>If</a:t>
            </a:r>
            <a:r>
              <a:rPr sz="2100" b="1" spc="-11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F254D"/>
                </a:solidFill>
                <a:latin typeface="Trebuchet MS"/>
                <a:cs typeface="Trebuchet MS"/>
              </a:rPr>
              <a:t>It</a:t>
            </a:r>
            <a:r>
              <a:rPr sz="2100" b="1" spc="-8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spc="65" dirty="0">
                <a:solidFill>
                  <a:srgbClr val="2F254D"/>
                </a:solidFill>
                <a:latin typeface="Trebuchet MS"/>
                <a:cs typeface="Trebuchet MS"/>
              </a:rPr>
              <a:t>Rains</a:t>
            </a:r>
            <a:r>
              <a:rPr sz="2100" b="1" spc="-10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F254D"/>
                </a:solidFill>
                <a:latin typeface="Times New Roman"/>
                <a:cs typeface="Times New Roman"/>
              </a:rPr>
              <a:t>→</a:t>
            </a:r>
            <a:r>
              <a:rPr sz="2100" b="1" spc="5" dirty="0">
                <a:solidFill>
                  <a:srgbClr val="2F254D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2F254D"/>
                </a:solidFill>
                <a:latin typeface="Trebuchet MS"/>
                <a:cs typeface="Trebuchet MS"/>
              </a:rPr>
              <a:t>the</a:t>
            </a:r>
            <a:r>
              <a:rPr sz="2100" b="1" spc="-10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spc="95" dirty="0">
                <a:solidFill>
                  <a:srgbClr val="2F254D"/>
                </a:solidFill>
                <a:latin typeface="Trebuchet MS"/>
                <a:cs typeface="Trebuchet MS"/>
              </a:rPr>
              <a:t>ground</a:t>
            </a:r>
            <a:r>
              <a:rPr sz="2100" b="1" spc="-14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spc="120" dirty="0">
                <a:solidFill>
                  <a:srgbClr val="2F254D"/>
                </a:solidFill>
                <a:latin typeface="Trebuchet MS"/>
                <a:cs typeface="Trebuchet MS"/>
              </a:rPr>
              <a:t>gets</a:t>
            </a:r>
            <a:r>
              <a:rPr sz="2100" b="1" spc="-10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spc="25" dirty="0">
                <a:solidFill>
                  <a:srgbClr val="2F254D"/>
                </a:solidFill>
                <a:latin typeface="Trebuchet MS"/>
                <a:cs typeface="Trebuchet MS"/>
              </a:rPr>
              <a:t>wet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20516" y="1589534"/>
            <a:ext cx="238252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dirty="0">
                <a:solidFill>
                  <a:srgbClr val="2F254D"/>
                </a:solidFill>
                <a:latin typeface="Trebuchet MS"/>
                <a:cs typeface="Trebuchet MS"/>
              </a:rPr>
              <a:t>The</a:t>
            </a:r>
            <a:r>
              <a:rPr sz="2100" b="1" spc="-6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spc="70" dirty="0">
                <a:solidFill>
                  <a:srgbClr val="2F254D"/>
                </a:solidFill>
                <a:latin typeface="Trebuchet MS"/>
                <a:cs typeface="Trebuchet MS"/>
              </a:rPr>
              <a:t>Ground</a:t>
            </a:r>
            <a:r>
              <a:rPr sz="2100" b="1" spc="-8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F254D"/>
                </a:solidFill>
                <a:latin typeface="Trebuchet MS"/>
                <a:cs typeface="Trebuchet MS"/>
              </a:rPr>
              <a:t>is</a:t>
            </a:r>
            <a:r>
              <a:rPr sz="2100" b="1" spc="-5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100" b="1" spc="25" dirty="0">
                <a:solidFill>
                  <a:srgbClr val="2F254D"/>
                </a:solidFill>
                <a:latin typeface="Trebuchet MS"/>
                <a:cs typeface="Trebuchet MS"/>
              </a:rPr>
              <a:t>wet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9998" y="1866670"/>
            <a:ext cx="5027295" cy="2026920"/>
            <a:chOff x="799998" y="1866670"/>
            <a:chExt cx="5027295" cy="2026920"/>
          </a:xfrm>
        </p:grpSpPr>
        <p:sp>
          <p:nvSpPr>
            <p:cNvPr id="13" name="object 13"/>
            <p:cNvSpPr/>
            <p:nvPr/>
          </p:nvSpPr>
          <p:spPr>
            <a:xfrm>
              <a:off x="2493333" y="1973332"/>
              <a:ext cx="933450" cy="426720"/>
            </a:xfrm>
            <a:custGeom>
              <a:avLst/>
              <a:gdLst/>
              <a:ahLst/>
              <a:cxnLst/>
              <a:rect l="l" t="t" r="r" b="b"/>
              <a:pathLst>
                <a:path w="933450" h="426719">
                  <a:moveTo>
                    <a:pt x="466661" y="0"/>
                  </a:moveTo>
                  <a:lnTo>
                    <a:pt x="403337" y="1947"/>
                  </a:lnTo>
                  <a:lnTo>
                    <a:pt x="342603" y="7620"/>
                  </a:lnTo>
                  <a:lnTo>
                    <a:pt x="285014" y="16765"/>
                  </a:lnTo>
                  <a:lnTo>
                    <a:pt x="231126" y="29127"/>
                  </a:lnTo>
                  <a:lnTo>
                    <a:pt x="181496" y="44452"/>
                  </a:lnTo>
                  <a:lnTo>
                    <a:pt x="136680" y="62485"/>
                  </a:lnTo>
                  <a:lnTo>
                    <a:pt x="97233" y="82973"/>
                  </a:lnTo>
                  <a:lnTo>
                    <a:pt x="63712" y="105662"/>
                  </a:lnTo>
                  <a:lnTo>
                    <a:pt x="16669" y="156623"/>
                  </a:lnTo>
                  <a:lnTo>
                    <a:pt x="0" y="213334"/>
                  </a:lnTo>
                  <a:lnTo>
                    <a:pt x="4259" y="242282"/>
                  </a:lnTo>
                  <a:lnTo>
                    <a:pt x="36672" y="296372"/>
                  </a:lnTo>
                  <a:lnTo>
                    <a:pt x="97233" y="343695"/>
                  </a:lnTo>
                  <a:lnTo>
                    <a:pt x="136680" y="364183"/>
                  </a:lnTo>
                  <a:lnTo>
                    <a:pt x="181496" y="382217"/>
                  </a:lnTo>
                  <a:lnTo>
                    <a:pt x="231126" y="397541"/>
                  </a:lnTo>
                  <a:lnTo>
                    <a:pt x="285014" y="409903"/>
                  </a:lnTo>
                  <a:lnTo>
                    <a:pt x="342603" y="419048"/>
                  </a:lnTo>
                  <a:lnTo>
                    <a:pt x="403337" y="424721"/>
                  </a:lnTo>
                  <a:lnTo>
                    <a:pt x="466661" y="426669"/>
                  </a:lnTo>
                  <a:lnTo>
                    <a:pt x="529985" y="424721"/>
                  </a:lnTo>
                  <a:lnTo>
                    <a:pt x="590720" y="419048"/>
                  </a:lnTo>
                  <a:lnTo>
                    <a:pt x="648310" y="409903"/>
                  </a:lnTo>
                  <a:lnTo>
                    <a:pt x="702199" y="397541"/>
                  </a:lnTo>
                  <a:lnTo>
                    <a:pt x="751830" y="382217"/>
                  </a:lnTo>
                  <a:lnTo>
                    <a:pt x="796648" y="364183"/>
                  </a:lnTo>
                  <a:lnTo>
                    <a:pt x="836097" y="343695"/>
                  </a:lnTo>
                  <a:lnTo>
                    <a:pt x="869620" y="321007"/>
                  </a:lnTo>
                  <a:lnTo>
                    <a:pt x="916665" y="270046"/>
                  </a:lnTo>
                  <a:lnTo>
                    <a:pt x="933335" y="213334"/>
                  </a:lnTo>
                  <a:lnTo>
                    <a:pt x="929075" y="184387"/>
                  </a:lnTo>
                  <a:lnTo>
                    <a:pt x="896661" y="130296"/>
                  </a:lnTo>
                  <a:lnTo>
                    <a:pt x="836097" y="82973"/>
                  </a:lnTo>
                  <a:lnTo>
                    <a:pt x="796648" y="62485"/>
                  </a:lnTo>
                  <a:lnTo>
                    <a:pt x="751830" y="44452"/>
                  </a:lnTo>
                  <a:lnTo>
                    <a:pt x="702199" y="29127"/>
                  </a:lnTo>
                  <a:lnTo>
                    <a:pt x="648310" y="16765"/>
                  </a:lnTo>
                  <a:lnTo>
                    <a:pt x="590720" y="7620"/>
                  </a:lnTo>
                  <a:lnTo>
                    <a:pt x="529985" y="1947"/>
                  </a:lnTo>
                  <a:lnTo>
                    <a:pt x="466661" y="0"/>
                  </a:lnTo>
                  <a:close/>
                </a:path>
              </a:pathLst>
            </a:custGeom>
            <a:solidFill>
              <a:srgbClr val="869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93333" y="1973332"/>
              <a:ext cx="933450" cy="426720"/>
            </a:xfrm>
            <a:custGeom>
              <a:avLst/>
              <a:gdLst/>
              <a:ahLst/>
              <a:cxnLst/>
              <a:rect l="l" t="t" r="r" b="b"/>
              <a:pathLst>
                <a:path w="933450" h="426719">
                  <a:moveTo>
                    <a:pt x="0" y="213334"/>
                  </a:moveTo>
                  <a:lnTo>
                    <a:pt x="16669" y="156623"/>
                  </a:lnTo>
                  <a:lnTo>
                    <a:pt x="63712" y="105662"/>
                  </a:lnTo>
                  <a:lnTo>
                    <a:pt x="97233" y="82973"/>
                  </a:lnTo>
                  <a:lnTo>
                    <a:pt x="136680" y="62485"/>
                  </a:lnTo>
                  <a:lnTo>
                    <a:pt x="181496" y="44452"/>
                  </a:lnTo>
                  <a:lnTo>
                    <a:pt x="231126" y="29127"/>
                  </a:lnTo>
                  <a:lnTo>
                    <a:pt x="285014" y="16765"/>
                  </a:lnTo>
                  <a:lnTo>
                    <a:pt x="342603" y="7620"/>
                  </a:lnTo>
                  <a:lnTo>
                    <a:pt x="403337" y="1947"/>
                  </a:lnTo>
                  <a:lnTo>
                    <a:pt x="466661" y="0"/>
                  </a:lnTo>
                  <a:lnTo>
                    <a:pt x="529985" y="1947"/>
                  </a:lnTo>
                  <a:lnTo>
                    <a:pt x="590720" y="7620"/>
                  </a:lnTo>
                  <a:lnTo>
                    <a:pt x="648310" y="16765"/>
                  </a:lnTo>
                  <a:lnTo>
                    <a:pt x="702199" y="29127"/>
                  </a:lnTo>
                  <a:lnTo>
                    <a:pt x="751830" y="44452"/>
                  </a:lnTo>
                  <a:lnTo>
                    <a:pt x="796648" y="62485"/>
                  </a:lnTo>
                  <a:lnTo>
                    <a:pt x="836097" y="82973"/>
                  </a:lnTo>
                  <a:lnTo>
                    <a:pt x="869620" y="105662"/>
                  </a:lnTo>
                  <a:lnTo>
                    <a:pt x="916665" y="156623"/>
                  </a:lnTo>
                  <a:lnTo>
                    <a:pt x="933335" y="213334"/>
                  </a:lnTo>
                  <a:lnTo>
                    <a:pt x="929075" y="242282"/>
                  </a:lnTo>
                  <a:lnTo>
                    <a:pt x="896661" y="296372"/>
                  </a:lnTo>
                  <a:lnTo>
                    <a:pt x="836097" y="343695"/>
                  </a:lnTo>
                  <a:lnTo>
                    <a:pt x="796648" y="364183"/>
                  </a:lnTo>
                  <a:lnTo>
                    <a:pt x="751830" y="382217"/>
                  </a:lnTo>
                  <a:lnTo>
                    <a:pt x="702199" y="397541"/>
                  </a:lnTo>
                  <a:lnTo>
                    <a:pt x="648310" y="409903"/>
                  </a:lnTo>
                  <a:lnTo>
                    <a:pt x="590720" y="419048"/>
                  </a:lnTo>
                  <a:lnTo>
                    <a:pt x="529985" y="424721"/>
                  </a:lnTo>
                  <a:lnTo>
                    <a:pt x="466661" y="426669"/>
                  </a:lnTo>
                  <a:lnTo>
                    <a:pt x="403337" y="424721"/>
                  </a:lnTo>
                  <a:lnTo>
                    <a:pt x="342603" y="419048"/>
                  </a:lnTo>
                  <a:lnTo>
                    <a:pt x="285014" y="409903"/>
                  </a:lnTo>
                  <a:lnTo>
                    <a:pt x="231126" y="397541"/>
                  </a:lnTo>
                  <a:lnTo>
                    <a:pt x="181496" y="382217"/>
                  </a:lnTo>
                  <a:lnTo>
                    <a:pt x="136680" y="364183"/>
                  </a:lnTo>
                  <a:lnTo>
                    <a:pt x="97233" y="343695"/>
                  </a:lnTo>
                  <a:lnTo>
                    <a:pt x="63712" y="321007"/>
                  </a:lnTo>
                  <a:lnTo>
                    <a:pt x="16669" y="270046"/>
                  </a:lnTo>
                  <a:lnTo>
                    <a:pt x="0" y="213334"/>
                  </a:lnTo>
                  <a:close/>
                </a:path>
              </a:pathLst>
            </a:custGeom>
            <a:ln w="3175">
              <a:solidFill>
                <a:srgbClr val="869A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99999" y="1866670"/>
              <a:ext cx="866775" cy="560070"/>
            </a:xfrm>
            <a:custGeom>
              <a:avLst/>
              <a:gdLst/>
              <a:ahLst/>
              <a:cxnLst/>
              <a:rect l="l" t="t" r="r" b="b"/>
              <a:pathLst>
                <a:path w="866775" h="560069">
                  <a:moveTo>
                    <a:pt x="433336" y="0"/>
                  </a:moveTo>
                  <a:lnTo>
                    <a:pt x="374534" y="2556"/>
                  </a:lnTo>
                  <a:lnTo>
                    <a:pt x="318136" y="10001"/>
                  </a:lnTo>
                  <a:lnTo>
                    <a:pt x="264659" y="22003"/>
                  </a:lnTo>
                  <a:lnTo>
                    <a:pt x="214620" y="38228"/>
                  </a:lnTo>
                  <a:lnTo>
                    <a:pt x="168534" y="58341"/>
                  </a:lnTo>
                  <a:lnTo>
                    <a:pt x="126919" y="82010"/>
                  </a:lnTo>
                  <a:lnTo>
                    <a:pt x="90289" y="108900"/>
                  </a:lnTo>
                  <a:lnTo>
                    <a:pt x="59161" y="138678"/>
                  </a:lnTo>
                  <a:lnTo>
                    <a:pt x="34052" y="171010"/>
                  </a:lnTo>
                  <a:lnTo>
                    <a:pt x="15478" y="205563"/>
                  </a:lnTo>
                  <a:lnTo>
                    <a:pt x="3955" y="242003"/>
                  </a:lnTo>
                  <a:lnTo>
                    <a:pt x="0" y="279996"/>
                  </a:lnTo>
                  <a:lnTo>
                    <a:pt x="3955" y="317990"/>
                  </a:lnTo>
                  <a:lnTo>
                    <a:pt x="15478" y="354430"/>
                  </a:lnTo>
                  <a:lnTo>
                    <a:pt x="34052" y="388983"/>
                  </a:lnTo>
                  <a:lnTo>
                    <a:pt x="59161" y="421315"/>
                  </a:lnTo>
                  <a:lnTo>
                    <a:pt x="90289" y="451093"/>
                  </a:lnTo>
                  <a:lnTo>
                    <a:pt x="126919" y="477983"/>
                  </a:lnTo>
                  <a:lnTo>
                    <a:pt x="168534" y="501652"/>
                  </a:lnTo>
                  <a:lnTo>
                    <a:pt x="214620" y="521765"/>
                  </a:lnTo>
                  <a:lnTo>
                    <a:pt x="264659" y="537989"/>
                  </a:lnTo>
                  <a:lnTo>
                    <a:pt x="318136" y="549991"/>
                  </a:lnTo>
                  <a:lnTo>
                    <a:pt x="374534" y="557437"/>
                  </a:lnTo>
                  <a:lnTo>
                    <a:pt x="433336" y="559993"/>
                  </a:lnTo>
                  <a:lnTo>
                    <a:pt x="492136" y="557437"/>
                  </a:lnTo>
                  <a:lnTo>
                    <a:pt x="548531" y="549991"/>
                  </a:lnTo>
                  <a:lnTo>
                    <a:pt x="602006" y="537989"/>
                  </a:lnTo>
                  <a:lnTo>
                    <a:pt x="652043" y="521765"/>
                  </a:lnTo>
                  <a:lnTo>
                    <a:pt x="698128" y="501652"/>
                  </a:lnTo>
                  <a:lnTo>
                    <a:pt x="739743" y="477983"/>
                  </a:lnTo>
                  <a:lnTo>
                    <a:pt x="776372" y="451093"/>
                  </a:lnTo>
                  <a:lnTo>
                    <a:pt x="807499" y="421315"/>
                  </a:lnTo>
                  <a:lnTo>
                    <a:pt x="832608" y="388983"/>
                  </a:lnTo>
                  <a:lnTo>
                    <a:pt x="851181" y="354430"/>
                  </a:lnTo>
                  <a:lnTo>
                    <a:pt x="862704" y="317990"/>
                  </a:lnTo>
                  <a:lnTo>
                    <a:pt x="866660" y="279996"/>
                  </a:lnTo>
                  <a:lnTo>
                    <a:pt x="862704" y="242003"/>
                  </a:lnTo>
                  <a:lnTo>
                    <a:pt x="851181" y="205563"/>
                  </a:lnTo>
                  <a:lnTo>
                    <a:pt x="832608" y="171010"/>
                  </a:lnTo>
                  <a:lnTo>
                    <a:pt x="807499" y="138678"/>
                  </a:lnTo>
                  <a:lnTo>
                    <a:pt x="776372" y="108900"/>
                  </a:lnTo>
                  <a:lnTo>
                    <a:pt x="739743" y="82010"/>
                  </a:lnTo>
                  <a:lnTo>
                    <a:pt x="698128" y="58341"/>
                  </a:lnTo>
                  <a:lnTo>
                    <a:pt x="652043" y="38228"/>
                  </a:lnTo>
                  <a:lnTo>
                    <a:pt x="602006" y="22003"/>
                  </a:lnTo>
                  <a:lnTo>
                    <a:pt x="548531" y="10001"/>
                  </a:lnTo>
                  <a:lnTo>
                    <a:pt x="492136" y="2556"/>
                  </a:lnTo>
                  <a:lnTo>
                    <a:pt x="433336" y="0"/>
                  </a:lnTo>
                  <a:close/>
                </a:path>
              </a:pathLst>
            </a:custGeom>
            <a:solidFill>
              <a:srgbClr val="869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9999" y="1866670"/>
              <a:ext cx="866775" cy="560070"/>
            </a:xfrm>
            <a:custGeom>
              <a:avLst/>
              <a:gdLst/>
              <a:ahLst/>
              <a:cxnLst/>
              <a:rect l="l" t="t" r="r" b="b"/>
              <a:pathLst>
                <a:path w="866775" h="560069">
                  <a:moveTo>
                    <a:pt x="0" y="279996"/>
                  </a:moveTo>
                  <a:lnTo>
                    <a:pt x="3955" y="242003"/>
                  </a:lnTo>
                  <a:lnTo>
                    <a:pt x="15478" y="205563"/>
                  </a:lnTo>
                  <a:lnTo>
                    <a:pt x="34052" y="171010"/>
                  </a:lnTo>
                  <a:lnTo>
                    <a:pt x="59161" y="138678"/>
                  </a:lnTo>
                  <a:lnTo>
                    <a:pt x="90289" y="108900"/>
                  </a:lnTo>
                  <a:lnTo>
                    <a:pt x="126919" y="82010"/>
                  </a:lnTo>
                  <a:lnTo>
                    <a:pt x="168534" y="58341"/>
                  </a:lnTo>
                  <a:lnTo>
                    <a:pt x="214620" y="38228"/>
                  </a:lnTo>
                  <a:lnTo>
                    <a:pt x="264659" y="22003"/>
                  </a:lnTo>
                  <a:lnTo>
                    <a:pt x="318136" y="10001"/>
                  </a:lnTo>
                  <a:lnTo>
                    <a:pt x="374534" y="2556"/>
                  </a:lnTo>
                  <a:lnTo>
                    <a:pt x="433336" y="0"/>
                  </a:lnTo>
                  <a:lnTo>
                    <a:pt x="492136" y="2556"/>
                  </a:lnTo>
                  <a:lnTo>
                    <a:pt x="548531" y="10001"/>
                  </a:lnTo>
                  <a:lnTo>
                    <a:pt x="602006" y="22003"/>
                  </a:lnTo>
                  <a:lnTo>
                    <a:pt x="652043" y="38228"/>
                  </a:lnTo>
                  <a:lnTo>
                    <a:pt x="698128" y="58341"/>
                  </a:lnTo>
                  <a:lnTo>
                    <a:pt x="739743" y="82010"/>
                  </a:lnTo>
                  <a:lnTo>
                    <a:pt x="776372" y="108900"/>
                  </a:lnTo>
                  <a:lnTo>
                    <a:pt x="807499" y="138678"/>
                  </a:lnTo>
                  <a:lnTo>
                    <a:pt x="832608" y="171010"/>
                  </a:lnTo>
                  <a:lnTo>
                    <a:pt x="851181" y="205563"/>
                  </a:lnTo>
                  <a:lnTo>
                    <a:pt x="862704" y="242003"/>
                  </a:lnTo>
                  <a:lnTo>
                    <a:pt x="866660" y="279996"/>
                  </a:lnTo>
                  <a:lnTo>
                    <a:pt x="862704" y="317990"/>
                  </a:lnTo>
                  <a:lnTo>
                    <a:pt x="851181" y="354430"/>
                  </a:lnTo>
                  <a:lnTo>
                    <a:pt x="832608" y="388983"/>
                  </a:lnTo>
                  <a:lnTo>
                    <a:pt x="807499" y="421315"/>
                  </a:lnTo>
                  <a:lnTo>
                    <a:pt x="776372" y="451093"/>
                  </a:lnTo>
                  <a:lnTo>
                    <a:pt x="739743" y="477983"/>
                  </a:lnTo>
                  <a:lnTo>
                    <a:pt x="698128" y="501652"/>
                  </a:lnTo>
                  <a:lnTo>
                    <a:pt x="652043" y="521765"/>
                  </a:lnTo>
                  <a:lnTo>
                    <a:pt x="602006" y="537989"/>
                  </a:lnTo>
                  <a:lnTo>
                    <a:pt x="548531" y="549991"/>
                  </a:lnTo>
                  <a:lnTo>
                    <a:pt x="492136" y="557437"/>
                  </a:lnTo>
                  <a:lnTo>
                    <a:pt x="433336" y="559993"/>
                  </a:lnTo>
                  <a:lnTo>
                    <a:pt x="374534" y="557437"/>
                  </a:lnTo>
                  <a:lnTo>
                    <a:pt x="318136" y="549991"/>
                  </a:lnTo>
                  <a:lnTo>
                    <a:pt x="264659" y="537989"/>
                  </a:lnTo>
                  <a:lnTo>
                    <a:pt x="214620" y="521765"/>
                  </a:lnTo>
                  <a:lnTo>
                    <a:pt x="168534" y="501652"/>
                  </a:lnTo>
                  <a:lnTo>
                    <a:pt x="126919" y="477983"/>
                  </a:lnTo>
                  <a:lnTo>
                    <a:pt x="90289" y="451093"/>
                  </a:lnTo>
                  <a:lnTo>
                    <a:pt x="59161" y="421315"/>
                  </a:lnTo>
                  <a:lnTo>
                    <a:pt x="34052" y="388983"/>
                  </a:lnTo>
                  <a:lnTo>
                    <a:pt x="15478" y="354430"/>
                  </a:lnTo>
                  <a:lnTo>
                    <a:pt x="3955" y="317990"/>
                  </a:lnTo>
                  <a:lnTo>
                    <a:pt x="0" y="279996"/>
                  </a:lnTo>
                  <a:close/>
                </a:path>
              </a:pathLst>
            </a:custGeom>
            <a:ln w="3175">
              <a:solidFill>
                <a:srgbClr val="869A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06666" y="1973332"/>
              <a:ext cx="1013460" cy="426720"/>
            </a:xfrm>
            <a:custGeom>
              <a:avLst/>
              <a:gdLst/>
              <a:ahLst/>
              <a:cxnLst/>
              <a:rect l="l" t="t" r="r" b="b"/>
              <a:pathLst>
                <a:path w="1013460" h="426719">
                  <a:moveTo>
                    <a:pt x="506666" y="0"/>
                  </a:moveTo>
                  <a:lnTo>
                    <a:pt x="443112" y="1662"/>
                  </a:lnTo>
                  <a:lnTo>
                    <a:pt x="381913" y="6515"/>
                  </a:lnTo>
                  <a:lnTo>
                    <a:pt x="323545" y="14360"/>
                  </a:lnTo>
                  <a:lnTo>
                    <a:pt x="268482" y="24996"/>
                  </a:lnTo>
                  <a:lnTo>
                    <a:pt x="217199" y="38223"/>
                  </a:lnTo>
                  <a:lnTo>
                    <a:pt x="170171" y="53842"/>
                  </a:lnTo>
                  <a:lnTo>
                    <a:pt x="127872" y="71652"/>
                  </a:lnTo>
                  <a:lnTo>
                    <a:pt x="90779" y="91453"/>
                  </a:lnTo>
                  <a:lnTo>
                    <a:pt x="59364" y="113046"/>
                  </a:lnTo>
                  <a:lnTo>
                    <a:pt x="15474" y="160807"/>
                  </a:lnTo>
                  <a:lnTo>
                    <a:pt x="0" y="213334"/>
                  </a:lnTo>
                  <a:lnTo>
                    <a:pt x="3947" y="240094"/>
                  </a:lnTo>
                  <a:lnTo>
                    <a:pt x="34105" y="290438"/>
                  </a:lnTo>
                  <a:lnTo>
                    <a:pt x="90779" y="335215"/>
                  </a:lnTo>
                  <a:lnTo>
                    <a:pt x="127872" y="355017"/>
                  </a:lnTo>
                  <a:lnTo>
                    <a:pt x="170171" y="372827"/>
                  </a:lnTo>
                  <a:lnTo>
                    <a:pt x="217199" y="388445"/>
                  </a:lnTo>
                  <a:lnTo>
                    <a:pt x="268482" y="401673"/>
                  </a:lnTo>
                  <a:lnTo>
                    <a:pt x="323545" y="412308"/>
                  </a:lnTo>
                  <a:lnTo>
                    <a:pt x="381913" y="420153"/>
                  </a:lnTo>
                  <a:lnTo>
                    <a:pt x="443112" y="425006"/>
                  </a:lnTo>
                  <a:lnTo>
                    <a:pt x="506666" y="426669"/>
                  </a:lnTo>
                  <a:lnTo>
                    <a:pt x="570220" y="425006"/>
                  </a:lnTo>
                  <a:lnTo>
                    <a:pt x="631419" y="420153"/>
                  </a:lnTo>
                  <a:lnTo>
                    <a:pt x="689787" y="412308"/>
                  </a:lnTo>
                  <a:lnTo>
                    <a:pt x="744850" y="401673"/>
                  </a:lnTo>
                  <a:lnTo>
                    <a:pt x="796133" y="388445"/>
                  </a:lnTo>
                  <a:lnTo>
                    <a:pt x="843161" y="372827"/>
                  </a:lnTo>
                  <a:lnTo>
                    <a:pt x="885460" y="355017"/>
                  </a:lnTo>
                  <a:lnTo>
                    <a:pt x="922553" y="335215"/>
                  </a:lnTo>
                  <a:lnTo>
                    <a:pt x="953968" y="313622"/>
                  </a:lnTo>
                  <a:lnTo>
                    <a:pt x="997858" y="265861"/>
                  </a:lnTo>
                  <a:lnTo>
                    <a:pt x="1013333" y="213334"/>
                  </a:lnTo>
                  <a:lnTo>
                    <a:pt x="1009385" y="186575"/>
                  </a:lnTo>
                  <a:lnTo>
                    <a:pt x="979227" y="136231"/>
                  </a:lnTo>
                  <a:lnTo>
                    <a:pt x="922553" y="91453"/>
                  </a:lnTo>
                  <a:lnTo>
                    <a:pt x="885460" y="71652"/>
                  </a:lnTo>
                  <a:lnTo>
                    <a:pt x="843161" y="53842"/>
                  </a:lnTo>
                  <a:lnTo>
                    <a:pt x="796133" y="38223"/>
                  </a:lnTo>
                  <a:lnTo>
                    <a:pt x="744850" y="24996"/>
                  </a:lnTo>
                  <a:lnTo>
                    <a:pt x="689787" y="14360"/>
                  </a:lnTo>
                  <a:lnTo>
                    <a:pt x="631419" y="6515"/>
                  </a:lnTo>
                  <a:lnTo>
                    <a:pt x="570220" y="1662"/>
                  </a:lnTo>
                  <a:lnTo>
                    <a:pt x="506666" y="0"/>
                  </a:lnTo>
                  <a:close/>
                </a:path>
              </a:pathLst>
            </a:custGeom>
            <a:solidFill>
              <a:srgbClr val="869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06666" y="1973332"/>
              <a:ext cx="1013460" cy="426720"/>
            </a:xfrm>
            <a:custGeom>
              <a:avLst/>
              <a:gdLst/>
              <a:ahLst/>
              <a:cxnLst/>
              <a:rect l="l" t="t" r="r" b="b"/>
              <a:pathLst>
                <a:path w="1013460" h="426719">
                  <a:moveTo>
                    <a:pt x="0" y="213334"/>
                  </a:moveTo>
                  <a:lnTo>
                    <a:pt x="15474" y="160807"/>
                  </a:lnTo>
                  <a:lnTo>
                    <a:pt x="59364" y="113046"/>
                  </a:lnTo>
                  <a:lnTo>
                    <a:pt x="90779" y="91453"/>
                  </a:lnTo>
                  <a:lnTo>
                    <a:pt x="127872" y="71652"/>
                  </a:lnTo>
                  <a:lnTo>
                    <a:pt x="170171" y="53842"/>
                  </a:lnTo>
                  <a:lnTo>
                    <a:pt x="217199" y="38223"/>
                  </a:lnTo>
                  <a:lnTo>
                    <a:pt x="268482" y="24996"/>
                  </a:lnTo>
                  <a:lnTo>
                    <a:pt x="323545" y="14360"/>
                  </a:lnTo>
                  <a:lnTo>
                    <a:pt x="381913" y="6515"/>
                  </a:lnTo>
                  <a:lnTo>
                    <a:pt x="443112" y="1662"/>
                  </a:lnTo>
                  <a:lnTo>
                    <a:pt x="506666" y="0"/>
                  </a:lnTo>
                  <a:lnTo>
                    <a:pt x="570220" y="1662"/>
                  </a:lnTo>
                  <a:lnTo>
                    <a:pt x="631419" y="6515"/>
                  </a:lnTo>
                  <a:lnTo>
                    <a:pt x="689787" y="14360"/>
                  </a:lnTo>
                  <a:lnTo>
                    <a:pt x="744850" y="24996"/>
                  </a:lnTo>
                  <a:lnTo>
                    <a:pt x="796133" y="38223"/>
                  </a:lnTo>
                  <a:lnTo>
                    <a:pt x="843161" y="53842"/>
                  </a:lnTo>
                  <a:lnTo>
                    <a:pt x="885460" y="71652"/>
                  </a:lnTo>
                  <a:lnTo>
                    <a:pt x="922553" y="91453"/>
                  </a:lnTo>
                  <a:lnTo>
                    <a:pt x="953968" y="113046"/>
                  </a:lnTo>
                  <a:lnTo>
                    <a:pt x="997858" y="160807"/>
                  </a:lnTo>
                  <a:lnTo>
                    <a:pt x="1013333" y="213334"/>
                  </a:lnTo>
                  <a:lnTo>
                    <a:pt x="1009385" y="240094"/>
                  </a:lnTo>
                  <a:lnTo>
                    <a:pt x="979227" y="290438"/>
                  </a:lnTo>
                  <a:lnTo>
                    <a:pt x="922553" y="335215"/>
                  </a:lnTo>
                  <a:lnTo>
                    <a:pt x="885460" y="355017"/>
                  </a:lnTo>
                  <a:lnTo>
                    <a:pt x="843161" y="372827"/>
                  </a:lnTo>
                  <a:lnTo>
                    <a:pt x="796133" y="388445"/>
                  </a:lnTo>
                  <a:lnTo>
                    <a:pt x="744850" y="401673"/>
                  </a:lnTo>
                  <a:lnTo>
                    <a:pt x="689787" y="412308"/>
                  </a:lnTo>
                  <a:lnTo>
                    <a:pt x="631419" y="420153"/>
                  </a:lnTo>
                  <a:lnTo>
                    <a:pt x="570220" y="425006"/>
                  </a:lnTo>
                  <a:lnTo>
                    <a:pt x="506666" y="426669"/>
                  </a:lnTo>
                  <a:lnTo>
                    <a:pt x="443112" y="425006"/>
                  </a:lnTo>
                  <a:lnTo>
                    <a:pt x="381913" y="420153"/>
                  </a:lnTo>
                  <a:lnTo>
                    <a:pt x="323545" y="412308"/>
                  </a:lnTo>
                  <a:lnTo>
                    <a:pt x="268482" y="401673"/>
                  </a:lnTo>
                  <a:lnTo>
                    <a:pt x="217199" y="388445"/>
                  </a:lnTo>
                  <a:lnTo>
                    <a:pt x="170171" y="372827"/>
                  </a:lnTo>
                  <a:lnTo>
                    <a:pt x="127872" y="355017"/>
                  </a:lnTo>
                  <a:lnTo>
                    <a:pt x="90779" y="335215"/>
                  </a:lnTo>
                  <a:lnTo>
                    <a:pt x="59364" y="313622"/>
                  </a:lnTo>
                  <a:lnTo>
                    <a:pt x="15474" y="265861"/>
                  </a:lnTo>
                  <a:lnTo>
                    <a:pt x="0" y="213334"/>
                  </a:lnTo>
                  <a:close/>
                </a:path>
              </a:pathLst>
            </a:custGeom>
            <a:ln w="3175">
              <a:solidFill>
                <a:srgbClr val="869A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322" y="2371966"/>
              <a:ext cx="72021" cy="2427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1988" y="2371966"/>
              <a:ext cx="72021" cy="24273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8656" y="2371966"/>
              <a:ext cx="72021" cy="24273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5321" y="2371966"/>
              <a:ext cx="72021" cy="2427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1988" y="2371966"/>
              <a:ext cx="72021" cy="24273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99998" y="3173336"/>
              <a:ext cx="5027295" cy="720090"/>
            </a:xfrm>
            <a:custGeom>
              <a:avLst/>
              <a:gdLst/>
              <a:ahLst/>
              <a:cxnLst/>
              <a:rect l="l" t="t" r="r" b="b"/>
              <a:pathLst>
                <a:path w="5027295" h="720089">
                  <a:moveTo>
                    <a:pt x="5026672" y="0"/>
                  </a:moveTo>
                  <a:lnTo>
                    <a:pt x="0" y="0"/>
                  </a:lnTo>
                  <a:lnTo>
                    <a:pt x="0" y="720001"/>
                  </a:lnTo>
                  <a:lnTo>
                    <a:pt x="5026672" y="720001"/>
                  </a:lnTo>
                  <a:lnTo>
                    <a:pt x="5026672" y="0"/>
                  </a:lnTo>
                  <a:close/>
                </a:path>
              </a:pathLst>
            </a:custGeom>
            <a:solidFill>
              <a:srgbClr val="3439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9998" y="3173336"/>
              <a:ext cx="5027295" cy="720090"/>
            </a:xfrm>
            <a:custGeom>
              <a:avLst/>
              <a:gdLst/>
              <a:ahLst/>
              <a:cxnLst/>
              <a:rect l="l" t="t" r="r" b="b"/>
              <a:pathLst>
                <a:path w="5027295" h="720089">
                  <a:moveTo>
                    <a:pt x="0" y="0"/>
                  </a:moveTo>
                  <a:lnTo>
                    <a:pt x="5026672" y="0"/>
                  </a:lnTo>
                  <a:lnTo>
                    <a:pt x="5026672" y="720001"/>
                  </a:lnTo>
                  <a:lnTo>
                    <a:pt x="0" y="72000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439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995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9995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93328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93328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06661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06661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19994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19994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33327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33327" y="3480003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4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06667" y="3293332"/>
              <a:ext cx="640080" cy="113664"/>
            </a:xfrm>
            <a:custGeom>
              <a:avLst/>
              <a:gdLst/>
              <a:ahLst/>
              <a:cxnLst/>
              <a:rect l="l" t="t" r="r" b="b"/>
              <a:pathLst>
                <a:path w="640080" h="113664">
                  <a:moveTo>
                    <a:pt x="320001" y="0"/>
                  </a:moveTo>
                  <a:lnTo>
                    <a:pt x="246628" y="1496"/>
                  </a:lnTo>
                  <a:lnTo>
                    <a:pt x="179272" y="5760"/>
                  </a:lnTo>
                  <a:lnTo>
                    <a:pt x="119856" y="12450"/>
                  </a:lnTo>
                  <a:lnTo>
                    <a:pt x="70300" y="21226"/>
                  </a:lnTo>
                  <a:lnTo>
                    <a:pt x="32525" y="31748"/>
                  </a:lnTo>
                  <a:lnTo>
                    <a:pt x="0" y="56667"/>
                  </a:lnTo>
                  <a:lnTo>
                    <a:pt x="8451" y="69659"/>
                  </a:lnTo>
                  <a:lnTo>
                    <a:pt x="70300" y="92108"/>
                  </a:lnTo>
                  <a:lnTo>
                    <a:pt x="119856" y="100884"/>
                  </a:lnTo>
                  <a:lnTo>
                    <a:pt x="179272" y="107574"/>
                  </a:lnTo>
                  <a:lnTo>
                    <a:pt x="246628" y="111837"/>
                  </a:lnTo>
                  <a:lnTo>
                    <a:pt x="320001" y="113334"/>
                  </a:lnTo>
                  <a:lnTo>
                    <a:pt x="393375" y="111837"/>
                  </a:lnTo>
                  <a:lnTo>
                    <a:pt x="460731" y="107574"/>
                  </a:lnTo>
                  <a:lnTo>
                    <a:pt x="520147" y="100884"/>
                  </a:lnTo>
                  <a:lnTo>
                    <a:pt x="569703" y="92108"/>
                  </a:lnTo>
                  <a:lnTo>
                    <a:pt x="607478" y="81586"/>
                  </a:lnTo>
                  <a:lnTo>
                    <a:pt x="640003" y="56667"/>
                  </a:lnTo>
                  <a:lnTo>
                    <a:pt x="631552" y="43675"/>
                  </a:lnTo>
                  <a:lnTo>
                    <a:pt x="569703" y="21226"/>
                  </a:lnTo>
                  <a:lnTo>
                    <a:pt x="520147" y="12450"/>
                  </a:lnTo>
                  <a:lnTo>
                    <a:pt x="460731" y="5760"/>
                  </a:lnTo>
                  <a:lnTo>
                    <a:pt x="393375" y="1496"/>
                  </a:lnTo>
                  <a:lnTo>
                    <a:pt x="320001" y="0"/>
                  </a:lnTo>
                  <a:close/>
                </a:path>
              </a:pathLst>
            </a:custGeom>
            <a:solidFill>
              <a:srgbClr val="45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06667" y="3293332"/>
              <a:ext cx="640080" cy="113664"/>
            </a:xfrm>
            <a:custGeom>
              <a:avLst/>
              <a:gdLst/>
              <a:ahLst/>
              <a:cxnLst/>
              <a:rect l="l" t="t" r="r" b="b"/>
              <a:pathLst>
                <a:path w="640080" h="113664">
                  <a:moveTo>
                    <a:pt x="0" y="56667"/>
                  </a:moveTo>
                  <a:lnTo>
                    <a:pt x="32525" y="31748"/>
                  </a:lnTo>
                  <a:lnTo>
                    <a:pt x="70300" y="21226"/>
                  </a:lnTo>
                  <a:lnTo>
                    <a:pt x="119856" y="12450"/>
                  </a:lnTo>
                  <a:lnTo>
                    <a:pt x="179272" y="5760"/>
                  </a:lnTo>
                  <a:lnTo>
                    <a:pt x="246628" y="1496"/>
                  </a:lnTo>
                  <a:lnTo>
                    <a:pt x="320001" y="0"/>
                  </a:lnTo>
                  <a:lnTo>
                    <a:pt x="393375" y="1496"/>
                  </a:lnTo>
                  <a:lnTo>
                    <a:pt x="460731" y="5760"/>
                  </a:lnTo>
                  <a:lnTo>
                    <a:pt x="520147" y="12450"/>
                  </a:lnTo>
                  <a:lnTo>
                    <a:pt x="569703" y="21226"/>
                  </a:lnTo>
                  <a:lnTo>
                    <a:pt x="607478" y="31748"/>
                  </a:lnTo>
                  <a:lnTo>
                    <a:pt x="640003" y="56667"/>
                  </a:lnTo>
                  <a:lnTo>
                    <a:pt x="631552" y="69659"/>
                  </a:lnTo>
                  <a:lnTo>
                    <a:pt x="569703" y="92108"/>
                  </a:lnTo>
                  <a:lnTo>
                    <a:pt x="520147" y="100884"/>
                  </a:lnTo>
                  <a:lnTo>
                    <a:pt x="460731" y="107574"/>
                  </a:lnTo>
                  <a:lnTo>
                    <a:pt x="393375" y="111837"/>
                  </a:lnTo>
                  <a:lnTo>
                    <a:pt x="320001" y="113334"/>
                  </a:lnTo>
                  <a:lnTo>
                    <a:pt x="246628" y="111837"/>
                  </a:lnTo>
                  <a:lnTo>
                    <a:pt x="179272" y="107574"/>
                  </a:lnTo>
                  <a:lnTo>
                    <a:pt x="119856" y="100884"/>
                  </a:lnTo>
                  <a:lnTo>
                    <a:pt x="70300" y="92108"/>
                  </a:lnTo>
                  <a:lnTo>
                    <a:pt x="32525" y="81586"/>
                  </a:lnTo>
                  <a:lnTo>
                    <a:pt x="0" y="56667"/>
                  </a:lnTo>
                  <a:close/>
                </a:path>
              </a:pathLst>
            </a:custGeom>
            <a:ln w="3175">
              <a:solidFill>
                <a:srgbClr val="45C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39999" y="3293332"/>
              <a:ext cx="866775" cy="113664"/>
            </a:xfrm>
            <a:custGeom>
              <a:avLst/>
              <a:gdLst/>
              <a:ahLst/>
              <a:cxnLst/>
              <a:rect l="l" t="t" r="r" b="b"/>
              <a:pathLst>
                <a:path w="866775" h="113664">
                  <a:moveTo>
                    <a:pt x="433336" y="0"/>
                  </a:moveTo>
                  <a:lnTo>
                    <a:pt x="355442" y="913"/>
                  </a:lnTo>
                  <a:lnTo>
                    <a:pt x="282128" y="3545"/>
                  </a:lnTo>
                  <a:lnTo>
                    <a:pt x="214620" y="7737"/>
                  </a:lnTo>
                  <a:lnTo>
                    <a:pt x="154140" y="13328"/>
                  </a:lnTo>
                  <a:lnTo>
                    <a:pt x="101913" y="20158"/>
                  </a:lnTo>
                  <a:lnTo>
                    <a:pt x="59161" y="28067"/>
                  </a:lnTo>
                  <a:lnTo>
                    <a:pt x="6981" y="46482"/>
                  </a:lnTo>
                  <a:lnTo>
                    <a:pt x="0" y="56667"/>
                  </a:lnTo>
                  <a:lnTo>
                    <a:pt x="6981" y="66852"/>
                  </a:lnTo>
                  <a:lnTo>
                    <a:pt x="59161" y="85266"/>
                  </a:lnTo>
                  <a:lnTo>
                    <a:pt x="101913" y="93175"/>
                  </a:lnTo>
                  <a:lnTo>
                    <a:pt x="154140" y="100006"/>
                  </a:lnTo>
                  <a:lnTo>
                    <a:pt x="214620" y="105597"/>
                  </a:lnTo>
                  <a:lnTo>
                    <a:pt x="282128" y="109789"/>
                  </a:lnTo>
                  <a:lnTo>
                    <a:pt x="355442" y="112421"/>
                  </a:lnTo>
                  <a:lnTo>
                    <a:pt x="433336" y="113334"/>
                  </a:lnTo>
                  <a:lnTo>
                    <a:pt x="511227" y="112421"/>
                  </a:lnTo>
                  <a:lnTo>
                    <a:pt x="584539" y="109789"/>
                  </a:lnTo>
                  <a:lnTo>
                    <a:pt x="652047" y="105597"/>
                  </a:lnTo>
                  <a:lnTo>
                    <a:pt x="712527" y="100006"/>
                  </a:lnTo>
                  <a:lnTo>
                    <a:pt x="764755" y="93175"/>
                  </a:lnTo>
                  <a:lnTo>
                    <a:pt x="807508" y="85266"/>
                  </a:lnTo>
                  <a:lnTo>
                    <a:pt x="859691" y="66852"/>
                  </a:lnTo>
                  <a:lnTo>
                    <a:pt x="866673" y="56667"/>
                  </a:lnTo>
                  <a:lnTo>
                    <a:pt x="859691" y="46482"/>
                  </a:lnTo>
                  <a:lnTo>
                    <a:pt x="807508" y="28067"/>
                  </a:lnTo>
                  <a:lnTo>
                    <a:pt x="764755" y="20158"/>
                  </a:lnTo>
                  <a:lnTo>
                    <a:pt x="712527" y="13328"/>
                  </a:lnTo>
                  <a:lnTo>
                    <a:pt x="652047" y="7737"/>
                  </a:lnTo>
                  <a:lnTo>
                    <a:pt x="584539" y="3545"/>
                  </a:lnTo>
                  <a:lnTo>
                    <a:pt x="511227" y="913"/>
                  </a:lnTo>
                  <a:lnTo>
                    <a:pt x="433336" y="0"/>
                  </a:lnTo>
                  <a:close/>
                </a:path>
              </a:pathLst>
            </a:custGeom>
            <a:solidFill>
              <a:srgbClr val="45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39999" y="3293332"/>
              <a:ext cx="866775" cy="113664"/>
            </a:xfrm>
            <a:custGeom>
              <a:avLst/>
              <a:gdLst/>
              <a:ahLst/>
              <a:cxnLst/>
              <a:rect l="l" t="t" r="r" b="b"/>
              <a:pathLst>
                <a:path w="866775" h="113664">
                  <a:moveTo>
                    <a:pt x="0" y="56667"/>
                  </a:moveTo>
                  <a:lnTo>
                    <a:pt x="59161" y="28067"/>
                  </a:lnTo>
                  <a:lnTo>
                    <a:pt x="101913" y="20158"/>
                  </a:lnTo>
                  <a:lnTo>
                    <a:pt x="154140" y="13328"/>
                  </a:lnTo>
                  <a:lnTo>
                    <a:pt x="214620" y="7737"/>
                  </a:lnTo>
                  <a:lnTo>
                    <a:pt x="282128" y="3545"/>
                  </a:lnTo>
                  <a:lnTo>
                    <a:pt x="355442" y="913"/>
                  </a:lnTo>
                  <a:lnTo>
                    <a:pt x="433336" y="0"/>
                  </a:lnTo>
                  <a:lnTo>
                    <a:pt x="511227" y="913"/>
                  </a:lnTo>
                  <a:lnTo>
                    <a:pt x="584539" y="3545"/>
                  </a:lnTo>
                  <a:lnTo>
                    <a:pt x="652047" y="7737"/>
                  </a:lnTo>
                  <a:lnTo>
                    <a:pt x="712527" y="13328"/>
                  </a:lnTo>
                  <a:lnTo>
                    <a:pt x="764755" y="20158"/>
                  </a:lnTo>
                  <a:lnTo>
                    <a:pt x="807508" y="28067"/>
                  </a:lnTo>
                  <a:lnTo>
                    <a:pt x="859691" y="46482"/>
                  </a:lnTo>
                  <a:lnTo>
                    <a:pt x="866673" y="56667"/>
                  </a:lnTo>
                  <a:lnTo>
                    <a:pt x="859691" y="66852"/>
                  </a:lnTo>
                  <a:lnTo>
                    <a:pt x="807508" y="85266"/>
                  </a:lnTo>
                  <a:lnTo>
                    <a:pt x="764755" y="93175"/>
                  </a:lnTo>
                  <a:lnTo>
                    <a:pt x="712527" y="100006"/>
                  </a:lnTo>
                  <a:lnTo>
                    <a:pt x="652047" y="105597"/>
                  </a:lnTo>
                  <a:lnTo>
                    <a:pt x="584539" y="109789"/>
                  </a:lnTo>
                  <a:lnTo>
                    <a:pt x="511227" y="112421"/>
                  </a:lnTo>
                  <a:lnTo>
                    <a:pt x="433336" y="113334"/>
                  </a:lnTo>
                  <a:lnTo>
                    <a:pt x="355442" y="112421"/>
                  </a:lnTo>
                  <a:lnTo>
                    <a:pt x="282128" y="109789"/>
                  </a:lnTo>
                  <a:lnTo>
                    <a:pt x="214620" y="105597"/>
                  </a:lnTo>
                  <a:lnTo>
                    <a:pt x="154140" y="100006"/>
                  </a:lnTo>
                  <a:lnTo>
                    <a:pt x="101913" y="93175"/>
                  </a:lnTo>
                  <a:lnTo>
                    <a:pt x="59161" y="85266"/>
                  </a:lnTo>
                  <a:lnTo>
                    <a:pt x="6981" y="66852"/>
                  </a:lnTo>
                  <a:lnTo>
                    <a:pt x="0" y="56667"/>
                  </a:lnTo>
                  <a:close/>
                </a:path>
              </a:pathLst>
            </a:custGeom>
            <a:ln w="3175">
              <a:solidFill>
                <a:srgbClr val="45C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99999" y="3293332"/>
              <a:ext cx="626745" cy="113664"/>
            </a:xfrm>
            <a:custGeom>
              <a:avLst/>
              <a:gdLst/>
              <a:ahLst/>
              <a:cxnLst/>
              <a:rect l="l" t="t" r="r" b="b"/>
              <a:pathLst>
                <a:path w="626745" h="113664">
                  <a:moveTo>
                    <a:pt x="313334" y="0"/>
                  </a:moveTo>
                  <a:lnTo>
                    <a:pt x="241489" y="1496"/>
                  </a:lnTo>
                  <a:lnTo>
                    <a:pt x="175537" y="5760"/>
                  </a:lnTo>
                  <a:lnTo>
                    <a:pt x="117359" y="12450"/>
                  </a:lnTo>
                  <a:lnTo>
                    <a:pt x="68835" y="21226"/>
                  </a:lnTo>
                  <a:lnTo>
                    <a:pt x="31847" y="31748"/>
                  </a:lnTo>
                  <a:lnTo>
                    <a:pt x="0" y="56667"/>
                  </a:lnTo>
                  <a:lnTo>
                    <a:pt x="8275" y="69659"/>
                  </a:lnTo>
                  <a:lnTo>
                    <a:pt x="68835" y="92108"/>
                  </a:lnTo>
                  <a:lnTo>
                    <a:pt x="117359" y="100884"/>
                  </a:lnTo>
                  <a:lnTo>
                    <a:pt x="175537" y="107574"/>
                  </a:lnTo>
                  <a:lnTo>
                    <a:pt x="241489" y="111837"/>
                  </a:lnTo>
                  <a:lnTo>
                    <a:pt x="313334" y="113334"/>
                  </a:lnTo>
                  <a:lnTo>
                    <a:pt x="385179" y="111837"/>
                  </a:lnTo>
                  <a:lnTo>
                    <a:pt x="451131" y="107574"/>
                  </a:lnTo>
                  <a:lnTo>
                    <a:pt x="509309" y="100884"/>
                  </a:lnTo>
                  <a:lnTo>
                    <a:pt x="557832" y="92108"/>
                  </a:lnTo>
                  <a:lnTo>
                    <a:pt x="594821" y="81586"/>
                  </a:lnTo>
                  <a:lnTo>
                    <a:pt x="626668" y="56667"/>
                  </a:lnTo>
                  <a:lnTo>
                    <a:pt x="618393" y="43675"/>
                  </a:lnTo>
                  <a:lnTo>
                    <a:pt x="557832" y="21226"/>
                  </a:lnTo>
                  <a:lnTo>
                    <a:pt x="509309" y="12450"/>
                  </a:lnTo>
                  <a:lnTo>
                    <a:pt x="451131" y="5760"/>
                  </a:lnTo>
                  <a:lnTo>
                    <a:pt x="385179" y="1496"/>
                  </a:lnTo>
                  <a:lnTo>
                    <a:pt x="313334" y="0"/>
                  </a:lnTo>
                  <a:close/>
                </a:path>
              </a:pathLst>
            </a:custGeom>
            <a:solidFill>
              <a:srgbClr val="45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99999" y="3293332"/>
              <a:ext cx="626745" cy="113664"/>
            </a:xfrm>
            <a:custGeom>
              <a:avLst/>
              <a:gdLst/>
              <a:ahLst/>
              <a:cxnLst/>
              <a:rect l="l" t="t" r="r" b="b"/>
              <a:pathLst>
                <a:path w="626745" h="113664">
                  <a:moveTo>
                    <a:pt x="0" y="56667"/>
                  </a:moveTo>
                  <a:lnTo>
                    <a:pt x="31847" y="31748"/>
                  </a:lnTo>
                  <a:lnTo>
                    <a:pt x="68835" y="21226"/>
                  </a:lnTo>
                  <a:lnTo>
                    <a:pt x="117359" y="12450"/>
                  </a:lnTo>
                  <a:lnTo>
                    <a:pt x="175537" y="5760"/>
                  </a:lnTo>
                  <a:lnTo>
                    <a:pt x="241489" y="1496"/>
                  </a:lnTo>
                  <a:lnTo>
                    <a:pt x="313334" y="0"/>
                  </a:lnTo>
                  <a:lnTo>
                    <a:pt x="385179" y="1496"/>
                  </a:lnTo>
                  <a:lnTo>
                    <a:pt x="451131" y="5760"/>
                  </a:lnTo>
                  <a:lnTo>
                    <a:pt x="509309" y="12450"/>
                  </a:lnTo>
                  <a:lnTo>
                    <a:pt x="557832" y="21226"/>
                  </a:lnTo>
                  <a:lnTo>
                    <a:pt x="594821" y="31748"/>
                  </a:lnTo>
                  <a:lnTo>
                    <a:pt x="626668" y="56667"/>
                  </a:lnTo>
                  <a:lnTo>
                    <a:pt x="618393" y="69659"/>
                  </a:lnTo>
                  <a:lnTo>
                    <a:pt x="557832" y="92108"/>
                  </a:lnTo>
                  <a:lnTo>
                    <a:pt x="509309" y="100884"/>
                  </a:lnTo>
                  <a:lnTo>
                    <a:pt x="451131" y="107574"/>
                  </a:lnTo>
                  <a:lnTo>
                    <a:pt x="385179" y="111837"/>
                  </a:lnTo>
                  <a:lnTo>
                    <a:pt x="313334" y="113334"/>
                  </a:lnTo>
                  <a:lnTo>
                    <a:pt x="241489" y="111837"/>
                  </a:lnTo>
                  <a:lnTo>
                    <a:pt x="175537" y="107574"/>
                  </a:lnTo>
                  <a:lnTo>
                    <a:pt x="117359" y="100884"/>
                  </a:lnTo>
                  <a:lnTo>
                    <a:pt x="68835" y="92108"/>
                  </a:lnTo>
                  <a:lnTo>
                    <a:pt x="31847" y="81586"/>
                  </a:lnTo>
                  <a:lnTo>
                    <a:pt x="0" y="56667"/>
                  </a:lnTo>
                  <a:close/>
                </a:path>
              </a:pathLst>
            </a:custGeom>
            <a:ln w="3175">
              <a:solidFill>
                <a:srgbClr val="45C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27299" y="4386302"/>
            <a:ext cx="91313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55" dirty="0">
                <a:solidFill>
                  <a:srgbClr val="766B94"/>
                </a:solidFill>
                <a:latin typeface="Trebuchet MS"/>
                <a:cs typeface="Trebuchet MS"/>
              </a:rPr>
              <a:t>THE</a:t>
            </a:r>
            <a:r>
              <a:rPr sz="1300" b="1" spc="-80" dirty="0">
                <a:solidFill>
                  <a:srgbClr val="766B94"/>
                </a:solidFill>
                <a:latin typeface="Trebuchet MS"/>
                <a:cs typeface="Trebuchet MS"/>
              </a:rPr>
              <a:t> </a:t>
            </a:r>
            <a:r>
              <a:rPr sz="1300" b="1" spc="60" dirty="0">
                <a:solidFill>
                  <a:srgbClr val="766B94"/>
                </a:solidFill>
                <a:latin typeface="Trebuchet MS"/>
                <a:cs typeface="Trebuchet MS"/>
              </a:rPr>
              <a:t>LOGIC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30474" y="4697139"/>
            <a:ext cx="3286125" cy="1685925"/>
            <a:chOff x="630474" y="4697139"/>
            <a:chExt cx="3286125" cy="1685925"/>
          </a:xfrm>
        </p:grpSpPr>
        <p:sp>
          <p:nvSpPr>
            <p:cNvPr id="44" name="object 44"/>
            <p:cNvSpPr/>
            <p:nvPr/>
          </p:nvSpPr>
          <p:spPr>
            <a:xfrm>
              <a:off x="639999" y="4706664"/>
              <a:ext cx="3267075" cy="1666875"/>
            </a:xfrm>
            <a:custGeom>
              <a:avLst/>
              <a:gdLst/>
              <a:ahLst/>
              <a:cxnLst/>
              <a:rect l="l" t="t" r="r" b="b"/>
              <a:pathLst>
                <a:path w="3267075" h="1666875">
                  <a:moveTo>
                    <a:pt x="2988881" y="0"/>
                  </a:moveTo>
                  <a:lnTo>
                    <a:pt x="277787" y="0"/>
                  </a:lnTo>
                  <a:lnTo>
                    <a:pt x="232728" y="3635"/>
                  </a:lnTo>
                  <a:lnTo>
                    <a:pt x="189985" y="14161"/>
                  </a:lnTo>
                  <a:lnTo>
                    <a:pt x="150128" y="31006"/>
                  </a:lnTo>
                  <a:lnTo>
                    <a:pt x="113730" y="53597"/>
                  </a:lnTo>
                  <a:lnTo>
                    <a:pt x="81362" y="81362"/>
                  </a:lnTo>
                  <a:lnTo>
                    <a:pt x="53597" y="113730"/>
                  </a:lnTo>
                  <a:lnTo>
                    <a:pt x="31006" y="150128"/>
                  </a:lnTo>
                  <a:lnTo>
                    <a:pt x="14161" y="189985"/>
                  </a:lnTo>
                  <a:lnTo>
                    <a:pt x="3635" y="232728"/>
                  </a:lnTo>
                  <a:lnTo>
                    <a:pt x="0" y="277787"/>
                  </a:lnTo>
                  <a:lnTo>
                    <a:pt x="0" y="1388884"/>
                  </a:lnTo>
                  <a:lnTo>
                    <a:pt x="3635" y="1433942"/>
                  </a:lnTo>
                  <a:lnTo>
                    <a:pt x="14161" y="1476686"/>
                  </a:lnTo>
                  <a:lnTo>
                    <a:pt x="31006" y="1516543"/>
                  </a:lnTo>
                  <a:lnTo>
                    <a:pt x="53597" y="1552941"/>
                  </a:lnTo>
                  <a:lnTo>
                    <a:pt x="81362" y="1585309"/>
                  </a:lnTo>
                  <a:lnTo>
                    <a:pt x="113730" y="1613074"/>
                  </a:lnTo>
                  <a:lnTo>
                    <a:pt x="150128" y="1635665"/>
                  </a:lnTo>
                  <a:lnTo>
                    <a:pt x="189985" y="1652509"/>
                  </a:lnTo>
                  <a:lnTo>
                    <a:pt x="232728" y="1663035"/>
                  </a:lnTo>
                  <a:lnTo>
                    <a:pt x="277787" y="1666671"/>
                  </a:lnTo>
                  <a:lnTo>
                    <a:pt x="2988881" y="1666671"/>
                  </a:lnTo>
                  <a:lnTo>
                    <a:pt x="3033939" y="1663035"/>
                  </a:lnTo>
                  <a:lnTo>
                    <a:pt x="3076683" y="1652509"/>
                  </a:lnTo>
                  <a:lnTo>
                    <a:pt x="3116539" y="1635665"/>
                  </a:lnTo>
                  <a:lnTo>
                    <a:pt x="3152938" y="1613074"/>
                  </a:lnTo>
                  <a:lnTo>
                    <a:pt x="3185306" y="1585309"/>
                  </a:lnTo>
                  <a:lnTo>
                    <a:pt x="3213071" y="1552941"/>
                  </a:lnTo>
                  <a:lnTo>
                    <a:pt x="3235662" y="1516543"/>
                  </a:lnTo>
                  <a:lnTo>
                    <a:pt x="3252506" y="1476686"/>
                  </a:lnTo>
                  <a:lnTo>
                    <a:pt x="3263032" y="1433942"/>
                  </a:lnTo>
                  <a:lnTo>
                    <a:pt x="3266668" y="1388884"/>
                  </a:lnTo>
                  <a:lnTo>
                    <a:pt x="3266668" y="277787"/>
                  </a:lnTo>
                  <a:lnTo>
                    <a:pt x="3263032" y="232728"/>
                  </a:lnTo>
                  <a:lnTo>
                    <a:pt x="3252506" y="189985"/>
                  </a:lnTo>
                  <a:lnTo>
                    <a:pt x="3235662" y="150128"/>
                  </a:lnTo>
                  <a:lnTo>
                    <a:pt x="3213071" y="113730"/>
                  </a:lnTo>
                  <a:lnTo>
                    <a:pt x="3185306" y="81362"/>
                  </a:lnTo>
                  <a:lnTo>
                    <a:pt x="3152938" y="53597"/>
                  </a:lnTo>
                  <a:lnTo>
                    <a:pt x="3116539" y="31006"/>
                  </a:lnTo>
                  <a:lnTo>
                    <a:pt x="3076683" y="14161"/>
                  </a:lnTo>
                  <a:lnTo>
                    <a:pt x="3033939" y="3635"/>
                  </a:lnTo>
                  <a:lnTo>
                    <a:pt x="2988881" y="0"/>
                  </a:lnTo>
                  <a:close/>
                </a:path>
              </a:pathLst>
            </a:custGeom>
            <a:solidFill>
              <a:srgbClr val="EB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9999" y="4706664"/>
              <a:ext cx="3267075" cy="1666875"/>
            </a:xfrm>
            <a:custGeom>
              <a:avLst/>
              <a:gdLst/>
              <a:ahLst/>
              <a:cxnLst/>
              <a:rect l="l" t="t" r="r" b="b"/>
              <a:pathLst>
                <a:path w="3267075" h="1666875">
                  <a:moveTo>
                    <a:pt x="0" y="277787"/>
                  </a:moveTo>
                  <a:lnTo>
                    <a:pt x="3635" y="232728"/>
                  </a:lnTo>
                  <a:lnTo>
                    <a:pt x="14161" y="189985"/>
                  </a:lnTo>
                  <a:lnTo>
                    <a:pt x="31006" y="150128"/>
                  </a:lnTo>
                  <a:lnTo>
                    <a:pt x="53597" y="113730"/>
                  </a:lnTo>
                  <a:lnTo>
                    <a:pt x="81362" y="81362"/>
                  </a:lnTo>
                  <a:lnTo>
                    <a:pt x="113730" y="53597"/>
                  </a:lnTo>
                  <a:lnTo>
                    <a:pt x="150128" y="31006"/>
                  </a:lnTo>
                  <a:lnTo>
                    <a:pt x="189985" y="14161"/>
                  </a:lnTo>
                  <a:lnTo>
                    <a:pt x="232728" y="3635"/>
                  </a:lnTo>
                  <a:lnTo>
                    <a:pt x="277787" y="0"/>
                  </a:lnTo>
                  <a:lnTo>
                    <a:pt x="2988881" y="0"/>
                  </a:lnTo>
                  <a:lnTo>
                    <a:pt x="3033939" y="3635"/>
                  </a:lnTo>
                  <a:lnTo>
                    <a:pt x="3076683" y="14161"/>
                  </a:lnTo>
                  <a:lnTo>
                    <a:pt x="3116539" y="31006"/>
                  </a:lnTo>
                  <a:lnTo>
                    <a:pt x="3152938" y="53597"/>
                  </a:lnTo>
                  <a:lnTo>
                    <a:pt x="3185306" y="81362"/>
                  </a:lnTo>
                  <a:lnTo>
                    <a:pt x="3213071" y="113730"/>
                  </a:lnTo>
                  <a:lnTo>
                    <a:pt x="3235662" y="150128"/>
                  </a:lnTo>
                  <a:lnTo>
                    <a:pt x="3252506" y="189985"/>
                  </a:lnTo>
                  <a:lnTo>
                    <a:pt x="3263032" y="232728"/>
                  </a:lnTo>
                  <a:lnTo>
                    <a:pt x="3266668" y="277787"/>
                  </a:lnTo>
                  <a:lnTo>
                    <a:pt x="3266668" y="1388884"/>
                  </a:lnTo>
                  <a:lnTo>
                    <a:pt x="3263032" y="1433942"/>
                  </a:lnTo>
                  <a:lnTo>
                    <a:pt x="3252506" y="1476686"/>
                  </a:lnTo>
                  <a:lnTo>
                    <a:pt x="3235662" y="1516543"/>
                  </a:lnTo>
                  <a:lnTo>
                    <a:pt x="3213071" y="1552941"/>
                  </a:lnTo>
                  <a:lnTo>
                    <a:pt x="3185306" y="1585309"/>
                  </a:lnTo>
                  <a:lnTo>
                    <a:pt x="3152938" y="1613074"/>
                  </a:lnTo>
                  <a:lnTo>
                    <a:pt x="3116539" y="1635665"/>
                  </a:lnTo>
                  <a:lnTo>
                    <a:pt x="3076683" y="1652509"/>
                  </a:lnTo>
                  <a:lnTo>
                    <a:pt x="3033939" y="1663035"/>
                  </a:lnTo>
                  <a:lnTo>
                    <a:pt x="2988881" y="1666671"/>
                  </a:lnTo>
                  <a:lnTo>
                    <a:pt x="277787" y="1666671"/>
                  </a:lnTo>
                  <a:lnTo>
                    <a:pt x="232728" y="1663035"/>
                  </a:lnTo>
                  <a:lnTo>
                    <a:pt x="189985" y="1652509"/>
                  </a:lnTo>
                  <a:lnTo>
                    <a:pt x="150128" y="1635665"/>
                  </a:lnTo>
                  <a:lnTo>
                    <a:pt x="113730" y="1613074"/>
                  </a:lnTo>
                  <a:lnTo>
                    <a:pt x="81362" y="1585309"/>
                  </a:lnTo>
                  <a:lnTo>
                    <a:pt x="53597" y="1552941"/>
                  </a:lnTo>
                  <a:lnTo>
                    <a:pt x="31006" y="1516543"/>
                  </a:lnTo>
                  <a:lnTo>
                    <a:pt x="14161" y="1476686"/>
                  </a:lnTo>
                  <a:lnTo>
                    <a:pt x="3635" y="1433942"/>
                  </a:lnTo>
                  <a:lnTo>
                    <a:pt x="0" y="1388884"/>
                  </a:lnTo>
                  <a:lnTo>
                    <a:pt x="0" y="277787"/>
                  </a:lnTo>
                  <a:close/>
                </a:path>
              </a:pathLst>
            </a:custGeom>
            <a:ln w="19050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66407" y="4847455"/>
            <a:ext cx="2613660" cy="105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F254D"/>
                </a:solidFill>
                <a:latin typeface="Cambria Math"/>
                <a:cs typeface="Cambria Math"/>
              </a:rPr>
              <a:t>p</a:t>
            </a:r>
            <a:r>
              <a:rPr sz="3600" b="1" spc="-10" dirty="0">
                <a:solidFill>
                  <a:srgbClr val="2F254D"/>
                </a:solidFill>
                <a:latin typeface="Cambria Math"/>
                <a:cs typeface="Cambria Math"/>
              </a:rPr>
              <a:t> </a:t>
            </a:r>
            <a:r>
              <a:rPr sz="3600" b="1" dirty="0">
                <a:solidFill>
                  <a:srgbClr val="2F254D"/>
                </a:solidFill>
                <a:latin typeface="Cambria Math"/>
                <a:cs typeface="Cambria Math"/>
              </a:rPr>
              <a:t>→</a:t>
            </a:r>
            <a:r>
              <a:rPr sz="3600" b="1" spc="-15" dirty="0">
                <a:solidFill>
                  <a:srgbClr val="2F254D"/>
                </a:solidFill>
                <a:latin typeface="Cambria Math"/>
                <a:cs typeface="Cambria Math"/>
              </a:rPr>
              <a:t> </a:t>
            </a:r>
            <a:r>
              <a:rPr sz="3600" b="1" spc="-50" dirty="0">
                <a:solidFill>
                  <a:srgbClr val="2F254D"/>
                </a:solidFill>
                <a:latin typeface="Cambria Math"/>
                <a:cs typeface="Cambria Math"/>
              </a:rPr>
              <a:t>q</a:t>
            </a:r>
            <a:endParaRPr sz="3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005"/>
              </a:spcBef>
            </a:pPr>
            <a:r>
              <a:rPr sz="1450" spc="-55" dirty="0">
                <a:solidFill>
                  <a:srgbClr val="4B4562"/>
                </a:solidFill>
                <a:latin typeface="Trebuchet MS"/>
                <a:cs typeface="Trebuchet MS"/>
              </a:rPr>
              <a:t>If</a:t>
            </a:r>
            <a:r>
              <a:rPr sz="1450" spc="-5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-95" dirty="0">
                <a:solidFill>
                  <a:srgbClr val="4B4562"/>
                </a:solidFill>
                <a:latin typeface="Trebuchet MS"/>
                <a:cs typeface="Trebuchet MS"/>
              </a:rPr>
              <a:t>it</a:t>
            </a:r>
            <a:r>
              <a:rPr sz="1450" spc="-5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4B4562"/>
                </a:solidFill>
                <a:latin typeface="Trebuchet MS"/>
                <a:cs typeface="Trebuchet MS"/>
              </a:rPr>
              <a:t>rains,</a:t>
            </a:r>
            <a:r>
              <a:rPr sz="1450" spc="-45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4B4562"/>
                </a:solidFill>
                <a:latin typeface="Trebuchet MS"/>
                <a:cs typeface="Trebuchet MS"/>
              </a:rPr>
              <a:t>the</a:t>
            </a:r>
            <a:r>
              <a:rPr sz="1450" spc="-5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70" dirty="0">
                <a:solidFill>
                  <a:srgbClr val="4B4562"/>
                </a:solidFill>
                <a:latin typeface="Trebuchet MS"/>
                <a:cs typeface="Trebuchet MS"/>
              </a:rPr>
              <a:t>ground</a:t>
            </a:r>
            <a:r>
              <a:rPr sz="1450" spc="-4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65" dirty="0">
                <a:solidFill>
                  <a:srgbClr val="4B4562"/>
                </a:solidFill>
                <a:latin typeface="Trebuchet MS"/>
                <a:cs typeface="Trebuchet MS"/>
              </a:rPr>
              <a:t>gets</a:t>
            </a:r>
            <a:r>
              <a:rPr sz="1450" spc="-25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4B4562"/>
                </a:solidFill>
                <a:latin typeface="Trebuchet MS"/>
                <a:cs typeface="Trebuchet MS"/>
              </a:rPr>
              <a:t>wet.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457142" y="4697139"/>
            <a:ext cx="3286125" cy="1685925"/>
            <a:chOff x="4457142" y="4697139"/>
            <a:chExt cx="3286125" cy="1685925"/>
          </a:xfrm>
        </p:grpSpPr>
        <p:sp>
          <p:nvSpPr>
            <p:cNvPr id="48" name="object 48"/>
            <p:cNvSpPr/>
            <p:nvPr/>
          </p:nvSpPr>
          <p:spPr>
            <a:xfrm>
              <a:off x="4466667" y="4706664"/>
              <a:ext cx="3267075" cy="1666875"/>
            </a:xfrm>
            <a:custGeom>
              <a:avLst/>
              <a:gdLst/>
              <a:ahLst/>
              <a:cxnLst/>
              <a:rect l="l" t="t" r="r" b="b"/>
              <a:pathLst>
                <a:path w="3267075" h="1666875">
                  <a:moveTo>
                    <a:pt x="2988881" y="0"/>
                  </a:moveTo>
                  <a:lnTo>
                    <a:pt x="277787" y="0"/>
                  </a:lnTo>
                  <a:lnTo>
                    <a:pt x="232728" y="3635"/>
                  </a:lnTo>
                  <a:lnTo>
                    <a:pt x="189985" y="14161"/>
                  </a:lnTo>
                  <a:lnTo>
                    <a:pt x="150128" y="31006"/>
                  </a:lnTo>
                  <a:lnTo>
                    <a:pt x="113730" y="53597"/>
                  </a:lnTo>
                  <a:lnTo>
                    <a:pt x="81362" y="81362"/>
                  </a:lnTo>
                  <a:lnTo>
                    <a:pt x="53597" y="113730"/>
                  </a:lnTo>
                  <a:lnTo>
                    <a:pt x="31006" y="150128"/>
                  </a:lnTo>
                  <a:lnTo>
                    <a:pt x="14161" y="189985"/>
                  </a:lnTo>
                  <a:lnTo>
                    <a:pt x="3635" y="232728"/>
                  </a:lnTo>
                  <a:lnTo>
                    <a:pt x="0" y="277787"/>
                  </a:lnTo>
                  <a:lnTo>
                    <a:pt x="0" y="1388884"/>
                  </a:lnTo>
                  <a:lnTo>
                    <a:pt x="3635" y="1433942"/>
                  </a:lnTo>
                  <a:lnTo>
                    <a:pt x="14161" y="1476686"/>
                  </a:lnTo>
                  <a:lnTo>
                    <a:pt x="31006" y="1516543"/>
                  </a:lnTo>
                  <a:lnTo>
                    <a:pt x="53597" y="1552941"/>
                  </a:lnTo>
                  <a:lnTo>
                    <a:pt x="81362" y="1585309"/>
                  </a:lnTo>
                  <a:lnTo>
                    <a:pt x="113730" y="1613074"/>
                  </a:lnTo>
                  <a:lnTo>
                    <a:pt x="150128" y="1635665"/>
                  </a:lnTo>
                  <a:lnTo>
                    <a:pt x="189985" y="1652509"/>
                  </a:lnTo>
                  <a:lnTo>
                    <a:pt x="232728" y="1663035"/>
                  </a:lnTo>
                  <a:lnTo>
                    <a:pt x="277787" y="1666671"/>
                  </a:lnTo>
                  <a:lnTo>
                    <a:pt x="2988881" y="1666671"/>
                  </a:lnTo>
                  <a:lnTo>
                    <a:pt x="3033939" y="1663035"/>
                  </a:lnTo>
                  <a:lnTo>
                    <a:pt x="3076683" y="1652509"/>
                  </a:lnTo>
                  <a:lnTo>
                    <a:pt x="3116539" y="1635665"/>
                  </a:lnTo>
                  <a:lnTo>
                    <a:pt x="3152938" y="1613074"/>
                  </a:lnTo>
                  <a:lnTo>
                    <a:pt x="3185306" y="1585309"/>
                  </a:lnTo>
                  <a:lnTo>
                    <a:pt x="3213071" y="1552941"/>
                  </a:lnTo>
                  <a:lnTo>
                    <a:pt x="3235662" y="1516543"/>
                  </a:lnTo>
                  <a:lnTo>
                    <a:pt x="3252506" y="1476686"/>
                  </a:lnTo>
                  <a:lnTo>
                    <a:pt x="3263032" y="1433942"/>
                  </a:lnTo>
                  <a:lnTo>
                    <a:pt x="3266668" y="1388884"/>
                  </a:lnTo>
                  <a:lnTo>
                    <a:pt x="3266668" y="277787"/>
                  </a:lnTo>
                  <a:lnTo>
                    <a:pt x="3263032" y="232728"/>
                  </a:lnTo>
                  <a:lnTo>
                    <a:pt x="3252506" y="189985"/>
                  </a:lnTo>
                  <a:lnTo>
                    <a:pt x="3235662" y="150128"/>
                  </a:lnTo>
                  <a:lnTo>
                    <a:pt x="3213071" y="113730"/>
                  </a:lnTo>
                  <a:lnTo>
                    <a:pt x="3185306" y="81362"/>
                  </a:lnTo>
                  <a:lnTo>
                    <a:pt x="3152938" y="53597"/>
                  </a:lnTo>
                  <a:lnTo>
                    <a:pt x="3116539" y="31006"/>
                  </a:lnTo>
                  <a:lnTo>
                    <a:pt x="3076683" y="14161"/>
                  </a:lnTo>
                  <a:lnTo>
                    <a:pt x="3033939" y="3635"/>
                  </a:lnTo>
                  <a:lnTo>
                    <a:pt x="2988881" y="0"/>
                  </a:lnTo>
                  <a:close/>
                </a:path>
              </a:pathLst>
            </a:custGeom>
            <a:solidFill>
              <a:srgbClr val="E1F4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66667" y="4706664"/>
              <a:ext cx="3267075" cy="1666875"/>
            </a:xfrm>
            <a:custGeom>
              <a:avLst/>
              <a:gdLst/>
              <a:ahLst/>
              <a:cxnLst/>
              <a:rect l="l" t="t" r="r" b="b"/>
              <a:pathLst>
                <a:path w="3267075" h="1666875">
                  <a:moveTo>
                    <a:pt x="0" y="277787"/>
                  </a:moveTo>
                  <a:lnTo>
                    <a:pt x="3635" y="232728"/>
                  </a:lnTo>
                  <a:lnTo>
                    <a:pt x="14161" y="189985"/>
                  </a:lnTo>
                  <a:lnTo>
                    <a:pt x="31006" y="150128"/>
                  </a:lnTo>
                  <a:lnTo>
                    <a:pt x="53597" y="113730"/>
                  </a:lnTo>
                  <a:lnTo>
                    <a:pt x="81362" y="81362"/>
                  </a:lnTo>
                  <a:lnTo>
                    <a:pt x="113730" y="53597"/>
                  </a:lnTo>
                  <a:lnTo>
                    <a:pt x="150128" y="31006"/>
                  </a:lnTo>
                  <a:lnTo>
                    <a:pt x="189985" y="14161"/>
                  </a:lnTo>
                  <a:lnTo>
                    <a:pt x="232728" y="3635"/>
                  </a:lnTo>
                  <a:lnTo>
                    <a:pt x="277787" y="0"/>
                  </a:lnTo>
                  <a:lnTo>
                    <a:pt x="2988881" y="0"/>
                  </a:lnTo>
                  <a:lnTo>
                    <a:pt x="3033939" y="3635"/>
                  </a:lnTo>
                  <a:lnTo>
                    <a:pt x="3076683" y="14161"/>
                  </a:lnTo>
                  <a:lnTo>
                    <a:pt x="3116539" y="31006"/>
                  </a:lnTo>
                  <a:lnTo>
                    <a:pt x="3152938" y="53597"/>
                  </a:lnTo>
                  <a:lnTo>
                    <a:pt x="3185306" y="81362"/>
                  </a:lnTo>
                  <a:lnTo>
                    <a:pt x="3213071" y="113730"/>
                  </a:lnTo>
                  <a:lnTo>
                    <a:pt x="3235662" y="150128"/>
                  </a:lnTo>
                  <a:lnTo>
                    <a:pt x="3252506" y="189985"/>
                  </a:lnTo>
                  <a:lnTo>
                    <a:pt x="3263032" y="232728"/>
                  </a:lnTo>
                  <a:lnTo>
                    <a:pt x="3266668" y="277787"/>
                  </a:lnTo>
                  <a:lnTo>
                    <a:pt x="3266668" y="1388884"/>
                  </a:lnTo>
                  <a:lnTo>
                    <a:pt x="3263032" y="1433942"/>
                  </a:lnTo>
                  <a:lnTo>
                    <a:pt x="3252506" y="1476686"/>
                  </a:lnTo>
                  <a:lnTo>
                    <a:pt x="3235662" y="1516543"/>
                  </a:lnTo>
                  <a:lnTo>
                    <a:pt x="3213071" y="1552941"/>
                  </a:lnTo>
                  <a:lnTo>
                    <a:pt x="3185306" y="1585309"/>
                  </a:lnTo>
                  <a:lnTo>
                    <a:pt x="3152938" y="1613074"/>
                  </a:lnTo>
                  <a:lnTo>
                    <a:pt x="3116539" y="1635665"/>
                  </a:lnTo>
                  <a:lnTo>
                    <a:pt x="3076683" y="1652509"/>
                  </a:lnTo>
                  <a:lnTo>
                    <a:pt x="3033939" y="1663035"/>
                  </a:lnTo>
                  <a:lnTo>
                    <a:pt x="2988881" y="1666671"/>
                  </a:lnTo>
                  <a:lnTo>
                    <a:pt x="277787" y="1666671"/>
                  </a:lnTo>
                  <a:lnTo>
                    <a:pt x="232728" y="1663035"/>
                  </a:lnTo>
                  <a:lnTo>
                    <a:pt x="189985" y="1652509"/>
                  </a:lnTo>
                  <a:lnTo>
                    <a:pt x="150128" y="1635665"/>
                  </a:lnTo>
                  <a:lnTo>
                    <a:pt x="113730" y="1613074"/>
                  </a:lnTo>
                  <a:lnTo>
                    <a:pt x="81362" y="1585309"/>
                  </a:lnTo>
                  <a:lnTo>
                    <a:pt x="53597" y="1552941"/>
                  </a:lnTo>
                  <a:lnTo>
                    <a:pt x="31006" y="1516543"/>
                  </a:lnTo>
                  <a:lnTo>
                    <a:pt x="14161" y="1476686"/>
                  </a:lnTo>
                  <a:lnTo>
                    <a:pt x="3635" y="1433942"/>
                  </a:lnTo>
                  <a:lnTo>
                    <a:pt x="0" y="1388884"/>
                  </a:lnTo>
                  <a:lnTo>
                    <a:pt x="0" y="277787"/>
                  </a:lnTo>
                  <a:close/>
                </a:path>
              </a:pathLst>
            </a:custGeom>
            <a:ln w="19050">
              <a:solidFill>
                <a:srgbClr val="25A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291390" y="4847455"/>
            <a:ext cx="1616710" cy="105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2F254D"/>
                </a:solidFill>
                <a:latin typeface="Cambria Math"/>
                <a:cs typeface="Cambria Math"/>
              </a:rPr>
              <a:t>q</a:t>
            </a:r>
            <a:endParaRPr sz="3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005"/>
              </a:spcBef>
            </a:pPr>
            <a:r>
              <a:rPr sz="1450" spc="55" dirty="0">
                <a:solidFill>
                  <a:srgbClr val="4B4562"/>
                </a:solidFill>
                <a:latin typeface="Trebuchet MS"/>
                <a:cs typeface="Trebuchet MS"/>
              </a:rPr>
              <a:t>The</a:t>
            </a:r>
            <a:r>
              <a:rPr sz="1450" spc="-4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70" dirty="0">
                <a:solidFill>
                  <a:srgbClr val="4B4562"/>
                </a:solidFill>
                <a:latin typeface="Trebuchet MS"/>
                <a:cs typeface="Trebuchet MS"/>
              </a:rPr>
              <a:t>ground</a:t>
            </a:r>
            <a:r>
              <a:rPr sz="1450" spc="-25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4B4562"/>
                </a:solidFill>
                <a:latin typeface="Trebuchet MS"/>
                <a:cs typeface="Trebuchet MS"/>
              </a:rPr>
              <a:t>is</a:t>
            </a:r>
            <a:r>
              <a:rPr sz="1450" spc="-55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4B4562"/>
                </a:solidFill>
                <a:latin typeface="Trebuchet MS"/>
                <a:cs typeface="Trebuchet MS"/>
              </a:rPr>
              <a:t>wet.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283807" y="4697139"/>
            <a:ext cx="3286125" cy="1685925"/>
            <a:chOff x="8283807" y="4697139"/>
            <a:chExt cx="3286125" cy="1685925"/>
          </a:xfrm>
        </p:grpSpPr>
        <p:sp>
          <p:nvSpPr>
            <p:cNvPr id="52" name="object 52"/>
            <p:cNvSpPr/>
            <p:nvPr/>
          </p:nvSpPr>
          <p:spPr>
            <a:xfrm>
              <a:off x="8293332" y="4706664"/>
              <a:ext cx="3267075" cy="1666875"/>
            </a:xfrm>
            <a:custGeom>
              <a:avLst/>
              <a:gdLst/>
              <a:ahLst/>
              <a:cxnLst/>
              <a:rect l="l" t="t" r="r" b="b"/>
              <a:pathLst>
                <a:path w="3267075" h="1666875">
                  <a:moveTo>
                    <a:pt x="2988881" y="0"/>
                  </a:moveTo>
                  <a:lnTo>
                    <a:pt x="277787" y="0"/>
                  </a:lnTo>
                  <a:lnTo>
                    <a:pt x="232728" y="3635"/>
                  </a:lnTo>
                  <a:lnTo>
                    <a:pt x="189985" y="14161"/>
                  </a:lnTo>
                  <a:lnTo>
                    <a:pt x="150128" y="31006"/>
                  </a:lnTo>
                  <a:lnTo>
                    <a:pt x="113730" y="53597"/>
                  </a:lnTo>
                  <a:lnTo>
                    <a:pt x="81362" y="81362"/>
                  </a:lnTo>
                  <a:lnTo>
                    <a:pt x="53597" y="113730"/>
                  </a:lnTo>
                  <a:lnTo>
                    <a:pt x="31006" y="150128"/>
                  </a:lnTo>
                  <a:lnTo>
                    <a:pt x="14161" y="189985"/>
                  </a:lnTo>
                  <a:lnTo>
                    <a:pt x="3635" y="232728"/>
                  </a:lnTo>
                  <a:lnTo>
                    <a:pt x="0" y="277787"/>
                  </a:lnTo>
                  <a:lnTo>
                    <a:pt x="0" y="1388884"/>
                  </a:lnTo>
                  <a:lnTo>
                    <a:pt x="3635" y="1433942"/>
                  </a:lnTo>
                  <a:lnTo>
                    <a:pt x="14161" y="1476686"/>
                  </a:lnTo>
                  <a:lnTo>
                    <a:pt x="31006" y="1516543"/>
                  </a:lnTo>
                  <a:lnTo>
                    <a:pt x="53597" y="1552941"/>
                  </a:lnTo>
                  <a:lnTo>
                    <a:pt x="81362" y="1585309"/>
                  </a:lnTo>
                  <a:lnTo>
                    <a:pt x="113730" y="1613074"/>
                  </a:lnTo>
                  <a:lnTo>
                    <a:pt x="150128" y="1635665"/>
                  </a:lnTo>
                  <a:lnTo>
                    <a:pt x="189985" y="1652509"/>
                  </a:lnTo>
                  <a:lnTo>
                    <a:pt x="232728" y="1663035"/>
                  </a:lnTo>
                  <a:lnTo>
                    <a:pt x="277787" y="1666671"/>
                  </a:lnTo>
                  <a:lnTo>
                    <a:pt x="2988881" y="1666671"/>
                  </a:lnTo>
                  <a:lnTo>
                    <a:pt x="3033939" y="1663035"/>
                  </a:lnTo>
                  <a:lnTo>
                    <a:pt x="3076683" y="1652509"/>
                  </a:lnTo>
                  <a:lnTo>
                    <a:pt x="3116539" y="1635665"/>
                  </a:lnTo>
                  <a:lnTo>
                    <a:pt x="3152938" y="1613074"/>
                  </a:lnTo>
                  <a:lnTo>
                    <a:pt x="3185306" y="1585309"/>
                  </a:lnTo>
                  <a:lnTo>
                    <a:pt x="3213071" y="1552941"/>
                  </a:lnTo>
                  <a:lnTo>
                    <a:pt x="3235662" y="1516543"/>
                  </a:lnTo>
                  <a:lnTo>
                    <a:pt x="3252506" y="1476686"/>
                  </a:lnTo>
                  <a:lnTo>
                    <a:pt x="3263032" y="1433942"/>
                  </a:lnTo>
                  <a:lnTo>
                    <a:pt x="3266668" y="1388884"/>
                  </a:lnTo>
                  <a:lnTo>
                    <a:pt x="3266668" y="277787"/>
                  </a:lnTo>
                  <a:lnTo>
                    <a:pt x="3263032" y="232728"/>
                  </a:lnTo>
                  <a:lnTo>
                    <a:pt x="3252506" y="189985"/>
                  </a:lnTo>
                  <a:lnTo>
                    <a:pt x="3235662" y="150128"/>
                  </a:lnTo>
                  <a:lnTo>
                    <a:pt x="3213071" y="113730"/>
                  </a:lnTo>
                  <a:lnTo>
                    <a:pt x="3185306" y="81362"/>
                  </a:lnTo>
                  <a:lnTo>
                    <a:pt x="3152938" y="53597"/>
                  </a:lnTo>
                  <a:lnTo>
                    <a:pt x="3116539" y="31006"/>
                  </a:lnTo>
                  <a:lnTo>
                    <a:pt x="3076683" y="14161"/>
                  </a:lnTo>
                  <a:lnTo>
                    <a:pt x="3033939" y="3635"/>
                  </a:lnTo>
                  <a:lnTo>
                    <a:pt x="2988881" y="0"/>
                  </a:lnTo>
                  <a:close/>
                </a:path>
              </a:pathLst>
            </a:custGeom>
            <a:solidFill>
              <a:srgbClr val="FFE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293332" y="4706664"/>
              <a:ext cx="3267075" cy="1666875"/>
            </a:xfrm>
            <a:custGeom>
              <a:avLst/>
              <a:gdLst/>
              <a:ahLst/>
              <a:cxnLst/>
              <a:rect l="l" t="t" r="r" b="b"/>
              <a:pathLst>
                <a:path w="3267075" h="1666875">
                  <a:moveTo>
                    <a:pt x="0" y="277787"/>
                  </a:moveTo>
                  <a:lnTo>
                    <a:pt x="3635" y="232728"/>
                  </a:lnTo>
                  <a:lnTo>
                    <a:pt x="14161" y="189985"/>
                  </a:lnTo>
                  <a:lnTo>
                    <a:pt x="31006" y="150128"/>
                  </a:lnTo>
                  <a:lnTo>
                    <a:pt x="53597" y="113730"/>
                  </a:lnTo>
                  <a:lnTo>
                    <a:pt x="81362" y="81362"/>
                  </a:lnTo>
                  <a:lnTo>
                    <a:pt x="113730" y="53597"/>
                  </a:lnTo>
                  <a:lnTo>
                    <a:pt x="150128" y="31006"/>
                  </a:lnTo>
                  <a:lnTo>
                    <a:pt x="189985" y="14161"/>
                  </a:lnTo>
                  <a:lnTo>
                    <a:pt x="232728" y="3635"/>
                  </a:lnTo>
                  <a:lnTo>
                    <a:pt x="277787" y="0"/>
                  </a:lnTo>
                  <a:lnTo>
                    <a:pt x="2988881" y="0"/>
                  </a:lnTo>
                  <a:lnTo>
                    <a:pt x="3033939" y="3635"/>
                  </a:lnTo>
                  <a:lnTo>
                    <a:pt x="3076683" y="14161"/>
                  </a:lnTo>
                  <a:lnTo>
                    <a:pt x="3116539" y="31006"/>
                  </a:lnTo>
                  <a:lnTo>
                    <a:pt x="3152938" y="53597"/>
                  </a:lnTo>
                  <a:lnTo>
                    <a:pt x="3185306" y="81362"/>
                  </a:lnTo>
                  <a:lnTo>
                    <a:pt x="3213071" y="113730"/>
                  </a:lnTo>
                  <a:lnTo>
                    <a:pt x="3235662" y="150128"/>
                  </a:lnTo>
                  <a:lnTo>
                    <a:pt x="3252506" y="189985"/>
                  </a:lnTo>
                  <a:lnTo>
                    <a:pt x="3263032" y="232728"/>
                  </a:lnTo>
                  <a:lnTo>
                    <a:pt x="3266668" y="277787"/>
                  </a:lnTo>
                  <a:lnTo>
                    <a:pt x="3266668" y="1388884"/>
                  </a:lnTo>
                  <a:lnTo>
                    <a:pt x="3263032" y="1433942"/>
                  </a:lnTo>
                  <a:lnTo>
                    <a:pt x="3252506" y="1476686"/>
                  </a:lnTo>
                  <a:lnTo>
                    <a:pt x="3235662" y="1516543"/>
                  </a:lnTo>
                  <a:lnTo>
                    <a:pt x="3213071" y="1552941"/>
                  </a:lnTo>
                  <a:lnTo>
                    <a:pt x="3185306" y="1585309"/>
                  </a:lnTo>
                  <a:lnTo>
                    <a:pt x="3152938" y="1613074"/>
                  </a:lnTo>
                  <a:lnTo>
                    <a:pt x="3116539" y="1635665"/>
                  </a:lnTo>
                  <a:lnTo>
                    <a:pt x="3076683" y="1652509"/>
                  </a:lnTo>
                  <a:lnTo>
                    <a:pt x="3033939" y="1663035"/>
                  </a:lnTo>
                  <a:lnTo>
                    <a:pt x="2988881" y="1666671"/>
                  </a:lnTo>
                  <a:lnTo>
                    <a:pt x="277787" y="1666671"/>
                  </a:lnTo>
                  <a:lnTo>
                    <a:pt x="232728" y="1663035"/>
                  </a:lnTo>
                  <a:lnTo>
                    <a:pt x="189985" y="1652509"/>
                  </a:lnTo>
                  <a:lnTo>
                    <a:pt x="150128" y="1635665"/>
                  </a:lnTo>
                  <a:lnTo>
                    <a:pt x="113730" y="1613074"/>
                  </a:lnTo>
                  <a:lnTo>
                    <a:pt x="81362" y="1585309"/>
                  </a:lnTo>
                  <a:lnTo>
                    <a:pt x="53597" y="1552941"/>
                  </a:lnTo>
                  <a:lnTo>
                    <a:pt x="31006" y="1516543"/>
                  </a:lnTo>
                  <a:lnTo>
                    <a:pt x="14161" y="1476686"/>
                  </a:lnTo>
                  <a:lnTo>
                    <a:pt x="3635" y="1433942"/>
                  </a:lnTo>
                  <a:lnTo>
                    <a:pt x="0" y="1388884"/>
                  </a:lnTo>
                  <a:lnTo>
                    <a:pt x="0" y="277787"/>
                  </a:lnTo>
                  <a:close/>
                </a:path>
              </a:pathLst>
            </a:custGeom>
            <a:ln w="19050">
              <a:solidFill>
                <a:srgbClr val="EF78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462481" y="4847455"/>
            <a:ext cx="929005" cy="105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F254D"/>
                </a:solidFill>
                <a:latin typeface="Cambria Math"/>
                <a:cs typeface="Cambria Math"/>
              </a:rPr>
              <a:t>∴</a:t>
            </a:r>
            <a:r>
              <a:rPr sz="3600" b="1" spc="-30" dirty="0">
                <a:solidFill>
                  <a:srgbClr val="2F254D"/>
                </a:solidFill>
                <a:latin typeface="Cambria Math"/>
                <a:cs typeface="Cambria Math"/>
              </a:rPr>
              <a:t> </a:t>
            </a:r>
            <a:r>
              <a:rPr sz="3600" b="1" spc="-50" dirty="0">
                <a:solidFill>
                  <a:srgbClr val="2F254D"/>
                </a:solidFill>
                <a:latin typeface="Cambria Math"/>
                <a:cs typeface="Cambria Math"/>
              </a:rPr>
              <a:t>p</a:t>
            </a:r>
            <a:endParaRPr sz="3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005"/>
              </a:spcBef>
            </a:pPr>
            <a:r>
              <a:rPr sz="1450" dirty="0">
                <a:solidFill>
                  <a:srgbClr val="4B4562"/>
                </a:solidFill>
                <a:latin typeface="Trebuchet MS"/>
                <a:cs typeface="Trebuchet MS"/>
              </a:rPr>
              <a:t>So,</a:t>
            </a:r>
            <a:r>
              <a:rPr sz="1450" spc="-4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-100" dirty="0">
                <a:solidFill>
                  <a:srgbClr val="4B4562"/>
                </a:solidFill>
                <a:latin typeface="Trebuchet MS"/>
                <a:cs typeface="Trebuchet MS"/>
              </a:rPr>
              <a:t>it</a:t>
            </a:r>
            <a:r>
              <a:rPr sz="1450" spc="-30" dirty="0">
                <a:solidFill>
                  <a:srgbClr val="4B4562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4B4562"/>
                </a:solidFill>
                <a:latin typeface="Trebuchet MS"/>
                <a:cs typeface="Trebuchet MS"/>
              </a:rPr>
              <a:t>rains.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99999" y="5253328"/>
            <a:ext cx="253326" cy="16000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26667" y="5253328"/>
            <a:ext cx="253339" cy="160007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6360705" y="3180003"/>
            <a:ext cx="5027295" cy="720090"/>
            <a:chOff x="6360705" y="3180003"/>
            <a:chExt cx="5027295" cy="720090"/>
          </a:xfrm>
        </p:grpSpPr>
        <p:sp>
          <p:nvSpPr>
            <p:cNvPr id="58" name="object 58"/>
            <p:cNvSpPr/>
            <p:nvPr/>
          </p:nvSpPr>
          <p:spPr>
            <a:xfrm>
              <a:off x="6360705" y="3180003"/>
              <a:ext cx="5027295" cy="720090"/>
            </a:xfrm>
            <a:custGeom>
              <a:avLst/>
              <a:gdLst/>
              <a:ahLst/>
              <a:cxnLst/>
              <a:rect l="l" t="t" r="r" b="b"/>
              <a:pathLst>
                <a:path w="5027295" h="720089">
                  <a:moveTo>
                    <a:pt x="5026672" y="0"/>
                  </a:moveTo>
                  <a:lnTo>
                    <a:pt x="0" y="0"/>
                  </a:lnTo>
                  <a:lnTo>
                    <a:pt x="0" y="720001"/>
                  </a:lnTo>
                  <a:lnTo>
                    <a:pt x="5026672" y="720001"/>
                  </a:lnTo>
                  <a:lnTo>
                    <a:pt x="5026672" y="0"/>
                  </a:lnTo>
                  <a:close/>
                </a:path>
              </a:pathLst>
            </a:custGeom>
            <a:solidFill>
              <a:srgbClr val="3439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60705" y="3180003"/>
              <a:ext cx="5027295" cy="720090"/>
            </a:xfrm>
            <a:custGeom>
              <a:avLst/>
              <a:gdLst/>
              <a:ahLst/>
              <a:cxnLst/>
              <a:rect l="l" t="t" r="r" b="b"/>
              <a:pathLst>
                <a:path w="5027295" h="720089">
                  <a:moveTo>
                    <a:pt x="0" y="0"/>
                  </a:moveTo>
                  <a:lnTo>
                    <a:pt x="5026672" y="0"/>
                  </a:lnTo>
                  <a:lnTo>
                    <a:pt x="5026672" y="720001"/>
                  </a:lnTo>
                  <a:lnTo>
                    <a:pt x="0" y="72000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439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40702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640702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654035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654035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667368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67368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80701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680701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694034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520001" y="0"/>
                  </a:moveTo>
                  <a:lnTo>
                    <a:pt x="0" y="0"/>
                  </a:lnTo>
                  <a:lnTo>
                    <a:pt x="0" y="59994"/>
                  </a:lnTo>
                  <a:lnTo>
                    <a:pt x="520001" y="59994"/>
                  </a:lnTo>
                  <a:lnTo>
                    <a:pt x="520001" y="0"/>
                  </a:lnTo>
                  <a:close/>
                </a:path>
              </a:pathLst>
            </a:custGeom>
            <a:solidFill>
              <a:srgbClr val="F5D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694034" y="3486670"/>
              <a:ext cx="520065" cy="60325"/>
            </a:xfrm>
            <a:custGeom>
              <a:avLst/>
              <a:gdLst/>
              <a:ahLst/>
              <a:cxnLst/>
              <a:rect l="l" t="t" r="r" b="b"/>
              <a:pathLst>
                <a:path w="520065" h="60325">
                  <a:moveTo>
                    <a:pt x="0" y="0"/>
                  </a:moveTo>
                  <a:lnTo>
                    <a:pt x="520001" y="0"/>
                  </a:lnTo>
                  <a:lnTo>
                    <a:pt x="520001" y="59994"/>
                  </a:lnTo>
                  <a:lnTo>
                    <a:pt x="0" y="5999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5D2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67371" y="3299998"/>
              <a:ext cx="640080" cy="113664"/>
            </a:xfrm>
            <a:custGeom>
              <a:avLst/>
              <a:gdLst/>
              <a:ahLst/>
              <a:cxnLst/>
              <a:rect l="l" t="t" r="r" b="b"/>
              <a:pathLst>
                <a:path w="640079" h="113664">
                  <a:moveTo>
                    <a:pt x="320001" y="0"/>
                  </a:moveTo>
                  <a:lnTo>
                    <a:pt x="246628" y="1496"/>
                  </a:lnTo>
                  <a:lnTo>
                    <a:pt x="179272" y="5760"/>
                  </a:lnTo>
                  <a:lnTo>
                    <a:pt x="119856" y="12450"/>
                  </a:lnTo>
                  <a:lnTo>
                    <a:pt x="70300" y="21226"/>
                  </a:lnTo>
                  <a:lnTo>
                    <a:pt x="32525" y="31748"/>
                  </a:lnTo>
                  <a:lnTo>
                    <a:pt x="0" y="56667"/>
                  </a:lnTo>
                  <a:lnTo>
                    <a:pt x="8451" y="69659"/>
                  </a:lnTo>
                  <a:lnTo>
                    <a:pt x="70300" y="92108"/>
                  </a:lnTo>
                  <a:lnTo>
                    <a:pt x="119856" y="100884"/>
                  </a:lnTo>
                  <a:lnTo>
                    <a:pt x="179272" y="107574"/>
                  </a:lnTo>
                  <a:lnTo>
                    <a:pt x="246628" y="111837"/>
                  </a:lnTo>
                  <a:lnTo>
                    <a:pt x="320001" y="113334"/>
                  </a:lnTo>
                  <a:lnTo>
                    <a:pt x="393375" y="111837"/>
                  </a:lnTo>
                  <a:lnTo>
                    <a:pt x="460731" y="107574"/>
                  </a:lnTo>
                  <a:lnTo>
                    <a:pt x="520147" y="100884"/>
                  </a:lnTo>
                  <a:lnTo>
                    <a:pt x="569703" y="92108"/>
                  </a:lnTo>
                  <a:lnTo>
                    <a:pt x="607478" y="81586"/>
                  </a:lnTo>
                  <a:lnTo>
                    <a:pt x="640003" y="56667"/>
                  </a:lnTo>
                  <a:lnTo>
                    <a:pt x="631552" y="43675"/>
                  </a:lnTo>
                  <a:lnTo>
                    <a:pt x="569703" y="21226"/>
                  </a:lnTo>
                  <a:lnTo>
                    <a:pt x="520147" y="12450"/>
                  </a:lnTo>
                  <a:lnTo>
                    <a:pt x="460731" y="5760"/>
                  </a:lnTo>
                  <a:lnTo>
                    <a:pt x="393375" y="1496"/>
                  </a:lnTo>
                  <a:lnTo>
                    <a:pt x="320001" y="0"/>
                  </a:lnTo>
                  <a:close/>
                </a:path>
              </a:pathLst>
            </a:custGeom>
            <a:solidFill>
              <a:srgbClr val="45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67371" y="3299998"/>
              <a:ext cx="640080" cy="113664"/>
            </a:xfrm>
            <a:custGeom>
              <a:avLst/>
              <a:gdLst/>
              <a:ahLst/>
              <a:cxnLst/>
              <a:rect l="l" t="t" r="r" b="b"/>
              <a:pathLst>
                <a:path w="640079" h="113664">
                  <a:moveTo>
                    <a:pt x="0" y="56667"/>
                  </a:moveTo>
                  <a:lnTo>
                    <a:pt x="32525" y="31748"/>
                  </a:lnTo>
                  <a:lnTo>
                    <a:pt x="70300" y="21226"/>
                  </a:lnTo>
                  <a:lnTo>
                    <a:pt x="119856" y="12450"/>
                  </a:lnTo>
                  <a:lnTo>
                    <a:pt x="179272" y="5760"/>
                  </a:lnTo>
                  <a:lnTo>
                    <a:pt x="246628" y="1496"/>
                  </a:lnTo>
                  <a:lnTo>
                    <a:pt x="320001" y="0"/>
                  </a:lnTo>
                  <a:lnTo>
                    <a:pt x="393375" y="1496"/>
                  </a:lnTo>
                  <a:lnTo>
                    <a:pt x="460731" y="5760"/>
                  </a:lnTo>
                  <a:lnTo>
                    <a:pt x="520147" y="12450"/>
                  </a:lnTo>
                  <a:lnTo>
                    <a:pt x="569703" y="21226"/>
                  </a:lnTo>
                  <a:lnTo>
                    <a:pt x="607478" y="31748"/>
                  </a:lnTo>
                  <a:lnTo>
                    <a:pt x="640003" y="56667"/>
                  </a:lnTo>
                  <a:lnTo>
                    <a:pt x="631552" y="69659"/>
                  </a:lnTo>
                  <a:lnTo>
                    <a:pt x="569703" y="92108"/>
                  </a:lnTo>
                  <a:lnTo>
                    <a:pt x="520147" y="100884"/>
                  </a:lnTo>
                  <a:lnTo>
                    <a:pt x="460731" y="107574"/>
                  </a:lnTo>
                  <a:lnTo>
                    <a:pt x="393375" y="111837"/>
                  </a:lnTo>
                  <a:lnTo>
                    <a:pt x="320001" y="113334"/>
                  </a:lnTo>
                  <a:lnTo>
                    <a:pt x="246628" y="111837"/>
                  </a:lnTo>
                  <a:lnTo>
                    <a:pt x="179272" y="107574"/>
                  </a:lnTo>
                  <a:lnTo>
                    <a:pt x="119856" y="100884"/>
                  </a:lnTo>
                  <a:lnTo>
                    <a:pt x="70300" y="92108"/>
                  </a:lnTo>
                  <a:lnTo>
                    <a:pt x="32525" y="81586"/>
                  </a:lnTo>
                  <a:lnTo>
                    <a:pt x="0" y="56667"/>
                  </a:lnTo>
                  <a:close/>
                </a:path>
              </a:pathLst>
            </a:custGeom>
            <a:ln w="3175">
              <a:solidFill>
                <a:srgbClr val="45C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200703" y="3299998"/>
              <a:ext cx="866775" cy="113664"/>
            </a:xfrm>
            <a:custGeom>
              <a:avLst/>
              <a:gdLst/>
              <a:ahLst/>
              <a:cxnLst/>
              <a:rect l="l" t="t" r="r" b="b"/>
              <a:pathLst>
                <a:path w="866775" h="113664">
                  <a:moveTo>
                    <a:pt x="433336" y="0"/>
                  </a:moveTo>
                  <a:lnTo>
                    <a:pt x="355442" y="913"/>
                  </a:lnTo>
                  <a:lnTo>
                    <a:pt x="282128" y="3545"/>
                  </a:lnTo>
                  <a:lnTo>
                    <a:pt x="214620" y="7737"/>
                  </a:lnTo>
                  <a:lnTo>
                    <a:pt x="154140" y="13328"/>
                  </a:lnTo>
                  <a:lnTo>
                    <a:pt x="101913" y="20158"/>
                  </a:lnTo>
                  <a:lnTo>
                    <a:pt x="59161" y="28067"/>
                  </a:lnTo>
                  <a:lnTo>
                    <a:pt x="6981" y="46482"/>
                  </a:lnTo>
                  <a:lnTo>
                    <a:pt x="0" y="56667"/>
                  </a:lnTo>
                  <a:lnTo>
                    <a:pt x="6981" y="66852"/>
                  </a:lnTo>
                  <a:lnTo>
                    <a:pt x="59161" y="85266"/>
                  </a:lnTo>
                  <a:lnTo>
                    <a:pt x="101913" y="93175"/>
                  </a:lnTo>
                  <a:lnTo>
                    <a:pt x="154140" y="100006"/>
                  </a:lnTo>
                  <a:lnTo>
                    <a:pt x="214620" y="105597"/>
                  </a:lnTo>
                  <a:lnTo>
                    <a:pt x="282128" y="109789"/>
                  </a:lnTo>
                  <a:lnTo>
                    <a:pt x="355442" y="112421"/>
                  </a:lnTo>
                  <a:lnTo>
                    <a:pt x="433336" y="113334"/>
                  </a:lnTo>
                  <a:lnTo>
                    <a:pt x="511227" y="112421"/>
                  </a:lnTo>
                  <a:lnTo>
                    <a:pt x="584539" y="109789"/>
                  </a:lnTo>
                  <a:lnTo>
                    <a:pt x="652047" y="105597"/>
                  </a:lnTo>
                  <a:lnTo>
                    <a:pt x="712527" y="100006"/>
                  </a:lnTo>
                  <a:lnTo>
                    <a:pt x="764755" y="93175"/>
                  </a:lnTo>
                  <a:lnTo>
                    <a:pt x="807508" y="85266"/>
                  </a:lnTo>
                  <a:lnTo>
                    <a:pt x="859691" y="66852"/>
                  </a:lnTo>
                  <a:lnTo>
                    <a:pt x="866673" y="56667"/>
                  </a:lnTo>
                  <a:lnTo>
                    <a:pt x="859691" y="46482"/>
                  </a:lnTo>
                  <a:lnTo>
                    <a:pt x="807508" y="28067"/>
                  </a:lnTo>
                  <a:lnTo>
                    <a:pt x="764755" y="20158"/>
                  </a:lnTo>
                  <a:lnTo>
                    <a:pt x="712527" y="13328"/>
                  </a:lnTo>
                  <a:lnTo>
                    <a:pt x="652047" y="7737"/>
                  </a:lnTo>
                  <a:lnTo>
                    <a:pt x="584539" y="3545"/>
                  </a:lnTo>
                  <a:lnTo>
                    <a:pt x="511227" y="913"/>
                  </a:lnTo>
                  <a:lnTo>
                    <a:pt x="433336" y="0"/>
                  </a:lnTo>
                  <a:close/>
                </a:path>
              </a:pathLst>
            </a:custGeom>
            <a:solidFill>
              <a:srgbClr val="45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00703" y="3299998"/>
              <a:ext cx="866775" cy="113664"/>
            </a:xfrm>
            <a:custGeom>
              <a:avLst/>
              <a:gdLst/>
              <a:ahLst/>
              <a:cxnLst/>
              <a:rect l="l" t="t" r="r" b="b"/>
              <a:pathLst>
                <a:path w="866775" h="113664">
                  <a:moveTo>
                    <a:pt x="0" y="56667"/>
                  </a:moveTo>
                  <a:lnTo>
                    <a:pt x="59161" y="28067"/>
                  </a:lnTo>
                  <a:lnTo>
                    <a:pt x="101913" y="20158"/>
                  </a:lnTo>
                  <a:lnTo>
                    <a:pt x="154140" y="13328"/>
                  </a:lnTo>
                  <a:lnTo>
                    <a:pt x="214620" y="7737"/>
                  </a:lnTo>
                  <a:lnTo>
                    <a:pt x="282128" y="3545"/>
                  </a:lnTo>
                  <a:lnTo>
                    <a:pt x="355442" y="913"/>
                  </a:lnTo>
                  <a:lnTo>
                    <a:pt x="433336" y="0"/>
                  </a:lnTo>
                  <a:lnTo>
                    <a:pt x="511227" y="913"/>
                  </a:lnTo>
                  <a:lnTo>
                    <a:pt x="584539" y="3545"/>
                  </a:lnTo>
                  <a:lnTo>
                    <a:pt x="652047" y="7737"/>
                  </a:lnTo>
                  <a:lnTo>
                    <a:pt x="712527" y="13328"/>
                  </a:lnTo>
                  <a:lnTo>
                    <a:pt x="764755" y="20158"/>
                  </a:lnTo>
                  <a:lnTo>
                    <a:pt x="807508" y="28067"/>
                  </a:lnTo>
                  <a:lnTo>
                    <a:pt x="859691" y="46482"/>
                  </a:lnTo>
                  <a:lnTo>
                    <a:pt x="866673" y="56667"/>
                  </a:lnTo>
                  <a:lnTo>
                    <a:pt x="859691" y="66852"/>
                  </a:lnTo>
                  <a:lnTo>
                    <a:pt x="807508" y="85266"/>
                  </a:lnTo>
                  <a:lnTo>
                    <a:pt x="764755" y="93175"/>
                  </a:lnTo>
                  <a:lnTo>
                    <a:pt x="712527" y="100006"/>
                  </a:lnTo>
                  <a:lnTo>
                    <a:pt x="652047" y="105597"/>
                  </a:lnTo>
                  <a:lnTo>
                    <a:pt x="584539" y="109789"/>
                  </a:lnTo>
                  <a:lnTo>
                    <a:pt x="511227" y="112421"/>
                  </a:lnTo>
                  <a:lnTo>
                    <a:pt x="433336" y="113334"/>
                  </a:lnTo>
                  <a:lnTo>
                    <a:pt x="355442" y="112421"/>
                  </a:lnTo>
                  <a:lnTo>
                    <a:pt x="282128" y="109789"/>
                  </a:lnTo>
                  <a:lnTo>
                    <a:pt x="214620" y="105597"/>
                  </a:lnTo>
                  <a:lnTo>
                    <a:pt x="154140" y="100006"/>
                  </a:lnTo>
                  <a:lnTo>
                    <a:pt x="101913" y="93175"/>
                  </a:lnTo>
                  <a:lnTo>
                    <a:pt x="59161" y="85266"/>
                  </a:lnTo>
                  <a:lnTo>
                    <a:pt x="6981" y="66852"/>
                  </a:lnTo>
                  <a:lnTo>
                    <a:pt x="0" y="56667"/>
                  </a:lnTo>
                  <a:close/>
                </a:path>
              </a:pathLst>
            </a:custGeom>
            <a:ln w="3175">
              <a:solidFill>
                <a:srgbClr val="45C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960703" y="3299998"/>
              <a:ext cx="626745" cy="113664"/>
            </a:xfrm>
            <a:custGeom>
              <a:avLst/>
              <a:gdLst/>
              <a:ahLst/>
              <a:cxnLst/>
              <a:rect l="l" t="t" r="r" b="b"/>
              <a:pathLst>
                <a:path w="626745" h="113664">
                  <a:moveTo>
                    <a:pt x="313334" y="0"/>
                  </a:moveTo>
                  <a:lnTo>
                    <a:pt x="241489" y="1496"/>
                  </a:lnTo>
                  <a:lnTo>
                    <a:pt x="175537" y="5760"/>
                  </a:lnTo>
                  <a:lnTo>
                    <a:pt x="117359" y="12450"/>
                  </a:lnTo>
                  <a:lnTo>
                    <a:pt x="68835" y="21226"/>
                  </a:lnTo>
                  <a:lnTo>
                    <a:pt x="31847" y="31748"/>
                  </a:lnTo>
                  <a:lnTo>
                    <a:pt x="0" y="56667"/>
                  </a:lnTo>
                  <a:lnTo>
                    <a:pt x="8275" y="69659"/>
                  </a:lnTo>
                  <a:lnTo>
                    <a:pt x="68835" y="92108"/>
                  </a:lnTo>
                  <a:lnTo>
                    <a:pt x="117359" y="100884"/>
                  </a:lnTo>
                  <a:lnTo>
                    <a:pt x="175537" y="107574"/>
                  </a:lnTo>
                  <a:lnTo>
                    <a:pt x="241489" y="111837"/>
                  </a:lnTo>
                  <a:lnTo>
                    <a:pt x="313334" y="113334"/>
                  </a:lnTo>
                  <a:lnTo>
                    <a:pt x="385179" y="111837"/>
                  </a:lnTo>
                  <a:lnTo>
                    <a:pt x="451131" y="107574"/>
                  </a:lnTo>
                  <a:lnTo>
                    <a:pt x="509309" y="100884"/>
                  </a:lnTo>
                  <a:lnTo>
                    <a:pt x="557832" y="92108"/>
                  </a:lnTo>
                  <a:lnTo>
                    <a:pt x="594821" y="81586"/>
                  </a:lnTo>
                  <a:lnTo>
                    <a:pt x="626668" y="56667"/>
                  </a:lnTo>
                  <a:lnTo>
                    <a:pt x="618393" y="43675"/>
                  </a:lnTo>
                  <a:lnTo>
                    <a:pt x="557832" y="21226"/>
                  </a:lnTo>
                  <a:lnTo>
                    <a:pt x="509309" y="12450"/>
                  </a:lnTo>
                  <a:lnTo>
                    <a:pt x="451131" y="5760"/>
                  </a:lnTo>
                  <a:lnTo>
                    <a:pt x="385179" y="1496"/>
                  </a:lnTo>
                  <a:lnTo>
                    <a:pt x="313334" y="0"/>
                  </a:lnTo>
                  <a:close/>
                </a:path>
              </a:pathLst>
            </a:custGeom>
            <a:solidFill>
              <a:srgbClr val="45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960703" y="3299998"/>
              <a:ext cx="626745" cy="113664"/>
            </a:xfrm>
            <a:custGeom>
              <a:avLst/>
              <a:gdLst/>
              <a:ahLst/>
              <a:cxnLst/>
              <a:rect l="l" t="t" r="r" b="b"/>
              <a:pathLst>
                <a:path w="626745" h="113664">
                  <a:moveTo>
                    <a:pt x="0" y="56667"/>
                  </a:moveTo>
                  <a:lnTo>
                    <a:pt x="31847" y="31748"/>
                  </a:lnTo>
                  <a:lnTo>
                    <a:pt x="68835" y="21226"/>
                  </a:lnTo>
                  <a:lnTo>
                    <a:pt x="117359" y="12450"/>
                  </a:lnTo>
                  <a:lnTo>
                    <a:pt x="175537" y="5760"/>
                  </a:lnTo>
                  <a:lnTo>
                    <a:pt x="241489" y="1496"/>
                  </a:lnTo>
                  <a:lnTo>
                    <a:pt x="313334" y="0"/>
                  </a:lnTo>
                  <a:lnTo>
                    <a:pt x="385179" y="1496"/>
                  </a:lnTo>
                  <a:lnTo>
                    <a:pt x="451131" y="5760"/>
                  </a:lnTo>
                  <a:lnTo>
                    <a:pt x="509309" y="12450"/>
                  </a:lnTo>
                  <a:lnTo>
                    <a:pt x="557832" y="21226"/>
                  </a:lnTo>
                  <a:lnTo>
                    <a:pt x="594821" y="31748"/>
                  </a:lnTo>
                  <a:lnTo>
                    <a:pt x="626668" y="56667"/>
                  </a:lnTo>
                  <a:lnTo>
                    <a:pt x="618393" y="69659"/>
                  </a:lnTo>
                  <a:lnTo>
                    <a:pt x="557832" y="92108"/>
                  </a:lnTo>
                  <a:lnTo>
                    <a:pt x="509309" y="100884"/>
                  </a:lnTo>
                  <a:lnTo>
                    <a:pt x="451131" y="107574"/>
                  </a:lnTo>
                  <a:lnTo>
                    <a:pt x="385179" y="111837"/>
                  </a:lnTo>
                  <a:lnTo>
                    <a:pt x="313334" y="113334"/>
                  </a:lnTo>
                  <a:lnTo>
                    <a:pt x="241489" y="111837"/>
                  </a:lnTo>
                  <a:lnTo>
                    <a:pt x="175537" y="107574"/>
                  </a:lnTo>
                  <a:lnTo>
                    <a:pt x="117359" y="100884"/>
                  </a:lnTo>
                  <a:lnTo>
                    <a:pt x="68835" y="92108"/>
                  </a:lnTo>
                  <a:lnTo>
                    <a:pt x="31847" y="81586"/>
                  </a:lnTo>
                  <a:lnTo>
                    <a:pt x="0" y="56667"/>
                  </a:lnTo>
                  <a:close/>
                </a:path>
              </a:pathLst>
            </a:custGeom>
            <a:ln w="3175">
              <a:solidFill>
                <a:srgbClr val="45C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19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20160"/>
            <a:ext cx="4719955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85" dirty="0"/>
              <a:t>Fallacies</a:t>
            </a:r>
            <a:r>
              <a:rPr spc="-220" dirty="0"/>
              <a:t> </a:t>
            </a:r>
            <a:r>
              <a:rPr spc="65" dirty="0"/>
              <a:t>(Example</a:t>
            </a:r>
            <a:r>
              <a:rPr spc="-200" dirty="0"/>
              <a:t> </a:t>
            </a:r>
            <a:r>
              <a:rPr spc="-60" dirty="0"/>
              <a:t>10)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65248"/>
            <a:ext cx="5419725" cy="4322445"/>
            <a:chOff x="633730" y="1365248"/>
            <a:chExt cx="5419725" cy="4322445"/>
          </a:xfrm>
        </p:grpSpPr>
        <p:sp>
          <p:nvSpPr>
            <p:cNvPr id="4" name="object 4"/>
            <p:cNvSpPr/>
            <p:nvPr/>
          </p:nvSpPr>
          <p:spPr>
            <a:xfrm>
              <a:off x="704088" y="1435606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0" y="54851"/>
                  </a:moveTo>
                  <a:lnTo>
                    <a:pt x="4311" y="33502"/>
                  </a:lnTo>
                  <a:lnTo>
                    <a:pt x="16067" y="16067"/>
                  </a:lnTo>
                  <a:lnTo>
                    <a:pt x="33502" y="4311"/>
                  </a:lnTo>
                  <a:lnTo>
                    <a:pt x="54851" y="0"/>
                  </a:lnTo>
                  <a:lnTo>
                    <a:pt x="5294388" y="0"/>
                  </a:lnTo>
                  <a:lnTo>
                    <a:pt x="5315737" y="4311"/>
                  </a:lnTo>
                  <a:lnTo>
                    <a:pt x="5333172" y="16067"/>
                  </a:lnTo>
                  <a:lnTo>
                    <a:pt x="5344928" y="33502"/>
                  </a:lnTo>
                  <a:lnTo>
                    <a:pt x="5349240" y="54851"/>
                  </a:lnTo>
                  <a:lnTo>
                    <a:pt x="5349240" y="4197108"/>
                  </a:lnTo>
                  <a:lnTo>
                    <a:pt x="5344928" y="4218462"/>
                  </a:lnTo>
                  <a:lnTo>
                    <a:pt x="5333172" y="4235897"/>
                  </a:lnTo>
                  <a:lnTo>
                    <a:pt x="5315737" y="4247650"/>
                  </a:lnTo>
                  <a:lnTo>
                    <a:pt x="5294388" y="4251960"/>
                  </a:lnTo>
                  <a:lnTo>
                    <a:pt x="54851" y="4251960"/>
                  </a:lnTo>
                  <a:lnTo>
                    <a:pt x="33502" y="4247650"/>
                  </a:lnTo>
                  <a:lnTo>
                    <a:pt x="16067" y="4235897"/>
                  </a:lnTo>
                  <a:lnTo>
                    <a:pt x="4311" y="4218462"/>
                  </a:lnTo>
                  <a:lnTo>
                    <a:pt x="0" y="4197108"/>
                  </a:lnTo>
                  <a:lnTo>
                    <a:pt x="0" y="54851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95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Affirming</a:t>
            </a:r>
            <a:r>
              <a:rPr sz="1850" b="1" spc="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the</a:t>
            </a:r>
            <a:r>
              <a:rPr sz="1850" b="1" spc="5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45" dirty="0">
                <a:solidFill>
                  <a:srgbClr val="2D2A5E"/>
                </a:solidFill>
                <a:latin typeface="Trebuchet MS"/>
                <a:cs typeface="Trebuchet MS"/>
              </a:rPr>
              <a:t>conclusion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960" y="2057400"/>
            <a:ext cx="4983480" cy="777240"/>
          </a:xfrm>
          <a:custGeom>
            <a:avLst/>
            <a:gdLst/>
            <a:ahLst/>
            <a:cxnLst/>
            <a:rect l="l" t="t" r="r" b="b"/>
            <a:pathLst>
              <a:path w="4983480" h="777239">
                <a:moveTo>
                  <a:pt x="4892040" y="0"/>
                </a:moveTo>
                <a:lnTo>
                  <a:pt x="91440" y="0"/>
                </a:lnTo>
                <a:lnTo>
                  <a:pt x="55849" y="7186"/>
                </a:lnTo>
                <a:lnTo>
                  <a:pt x="26784" y="26784"/>
                </a:lnTo>
                <a:lnTo>
                  <a:pt x="7186" y="55849"/>
                </a:lnTo>
                <a:lnTo>
                  <a:pt x="0" y="91439"/>
                </a:lnTo>
                <a:lnTo>
                  <a:pt x="0" y="685799"/>
                </a:lnTo>
                <a:lnTo>
                  <a:pt x="7186" y="721390"/>
                </a:lnTo>
                <a:lnTo>
                  <a:pt x="26784" y="750455"/>
                </a:lnTo>
                <a:lnTo>
                  <a:pt x="55849" y="770053"/>
                </a:lnTo>
                <a:lnTo>
                  <a:pt x="91440" y="777239"/>
                </a:lnTo>
                <a:lnTo>
                  <a:pt x="4892040" y="777239"/>
                </a:lnTo>
                <a:lnTo>
                  <a:pt x="4927630" y="770053"/>
                </a:lnTo>
                <a:lnTo>
                  <a:pt x="4956695" y="750455"/>
                </a:lnTo>
                <a:lnTo>
                  <a:pt x="4976293" y="721390"/>
                </a:lnTo>
                <a:lnTo>
                  <a:pt x="4983480" y="685799"/>
                </a:lnTo>
                <a:lnTo>
                  <a:pt x="4983480" y="91439"/>
                </a:lnTo>
                <a:lnTo>
                  <a:pt x="4976293" y="55849"/>
                </a:lnTo>
                <a:lnTo>
                  <a:pt x="4956695" y="26784"/>
                </a:lnTo>
                <a:lnTo>
                  <a:pt x="4927630" y="7186"/>
                </a:lnTo>
                <a:lnTo>
                  <a:pt x="4892040" y="0"/>
                </a:lnTo>
                <a:close/>
              </a:path>
            </a:pathLst>
          </a:custGeom>
          <a:solidFill>
            <a:srgbClr val="F3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0119" y="2056099"/>
            <a:ext cx="3194050" cy="774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680"/>
              </a:lnSpc>
              <a:spcBef>
                <a:spcPts val="95"/>
              </a:spcBef>
            </a:pPr>
            <a:r>
              <a:rPr sz="160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198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completed</a:t>
            </a:r>
            <a:r>
              <a:rPr sz="1850" spc="-8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problem.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learned</a:t>
            </a:r>
            <a:r>
              <a:rPr sz="1850" spc="-9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discrete</a:t>
            </a:r>
            <a:r>
              <a:rPr sz="1850" spc="-6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math.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2926074"/>
            <a:ext cx="4983480" cy="1600200"/>
          </a:xfrm>
          <a:custGeom>
            <a:avLst/>
            <a:gdLst/>
            <a:ahLst/>
            <a:cxnLst/>
            <a:rect l="l" t="t" r="r" b="b"/>
            <a:pathLst>
              <a:path w="4983480" h="1600200">
                <a:moveTo>
                  <a:pt x="489204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1508772"/>
                </a:lnTo>
                <a:lnTo>
                  <a:pt x="7184" y="1544360"/>
                </a:lnTo>
                <a:lnTo>
                  <a:pt x="26779" y="1573422"/>
                </a:lnTo>
                <a:lnTo>
                  <a:pt x="55844" y="1593015"/>
                </a:lnTo>
                <a:lnTo>
                  <a:pt x="91440" y="1600199"/>
                </a:lnTo>
                <a:lnTo>
                  <a:pt x="4892040" y="1600199"/>
                </a:lnTo>
                <a:lnTo>
                  <a:pt x="4927635" y="1593015"/>
                </a:lnTo>
                <a:lnTo>
                  <a:pt x="4956700" y="1573422"/>
                </a:lnTo>
                <a:lnTo>
                  <a:pt x="4976295" y="1544360"/>
                </a:lnTo>
                <a:lnTo>
                  <a:pt x="4983480" y="1508772"/>
                </a:lnTo>
                <a:lnTo>
                  <a:pt x="4983480" y="91439"/>
                </a:lnTo>
                <a:lnTo>
                  <a:pt x="4976295" y="55849"/>
                </a:lnTo>
                <a:lnTo>
                  <a:pt x="4956700" y="26784"/>
                </a:lnTo>
                <a:lnTo>
                  <a:pt x="4927635" y="7186"/>
                </a:lnTo>
                <a:lnTo>
                  <a:pt x="4892040" y="0"/>
                </a:lnTo>
                <a:close/>
              </a:path>
            </a:pathLst>
          </a:custGeom>
          <a:solidFill>
            <a:srgbClr val="E3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60119" y="2974339"/>
            <a:ext cx="1021715" cy="1078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60"/>
              </a:lnSpc>
              <a:spcBef>
                <a:spcPts val="95"/>
              </a:spcBef>
            </a:pPr>
            <a:r>
              <a:rPr sz="1600" b="1" spc="-10" dirty="0">
                <a:solidFill>
                  <a:srgbClr val="6B6890"/>
                </a:solidFill>
                <a:latin typeface="Calibri"/>
                <a:cs typeface="Calibri"/>
              </a:rPr>
              <a:t>ARGUMENT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60"/>
              </a:lnSpc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endParaRPr sz="18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0374" y="3172557"/>
            <a:ext cx="3029585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800"/>
              </a:lnSpc>
              <a:spcBef>
                <a:spcPts val="10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does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prove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p.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You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may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learn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without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completing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every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problem.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0" y="4617717"/>
            <a:ext cx="2194560" cy="868680"/>
          </a:xfrm>
          <a:custGeom>
            <a:avLst/>
            <a:gdLst/>
            <a:ahLst/>
            <a:cxnLst/>
            <a:rect l="l" t="t" r="r" b="b"/>
            <a:pathLst>
              <a:path w="2194560" h="868679">
                <a:moveTo>
                  <a:pt x="210312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4" y="812835"/>
                </a:lnTo>
                <a:lnTo>
                  <a:pt x="26779" y="841900"/>
                </a:lnTo>
                <a:lnTo>
                  <a:pt x="55844" y="861495"/>
                </a:lnTo>
                <a:lnTo>
                  <a:pt x="91440" y="868679"/>
                </a:lnTo>
                <a:lnTo>
                  <a:pt x="2103120" y="868679"/>
                </a:lnTo>
                <a:lnTo>
                  <a:pt x="2138715" y="861495"/>
                </a:lnTo>
                <a:lnTo>
                  <a:pt x="2167780" y="841900"/>
                </a:lnTo>
                <a:lnTo>
                  <a:pt x="2187375" y="812835"/>
                </a:lnTo>
                <a:lnTo>
                  <a:pt x="2194560" y="777239"/>
                </a:lnTo>
                <a:lnTo>
                  <a:pt x="2194560" y="91439"/>
                </a:lnTo>
                <a:lnTo>
                  <a:pt x="2187375" y="55849"/>
                </a:lnTo>
                <a:lnTo>
                  <a:pt x="2167780" y="26784"/>
                </a:lnTo>
                <a:lnTo>
                  <a:pt x="2138715" y="7186"/>
                </a:lnTo>
                <a:lnTo>
                  <a:pt x="210312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60119" y="4665979"/>
            <a:ext cx="1605915" cy="79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5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55"/>
              </a:lnSpc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b="1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this</a:t>
            </a:r>
            <a:r>
              <a:rPr sz="1850" b="1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argument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valid?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8960" y="4617718"/>
            <a:ext cx="2697480" cy="868680"/>
          </a:xfrm>
          <a:custGeom>
            <a:avLst/>
            <a:gdLst/>
            <a:ahLst/>
            <a:cxnLst/>
            <a:rect l="l" t="t" r="r" b="b"/>
            <a:pathLst>
              <a:path w="2697479" h="868679">
                <a:moveTo>
                  <a:pt x="260604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4" y="812835"/>
                </a:lnTo>
                <a:lnTo>
                  <a:pt x="26779" y="841900"/>
                </a:lnTo>
                <a:lnTo>
                  <a:pt x="55844" y="861495"/>
                </a:lnTo>
                <a:lnTo>
                  <a:pt x="91440" y="868679"/>
                </a:lnTo>
                <a:lnTo>
                  <a:pt x="2606040" y="868679"/>
                </a:lnTo>
                <a:lnTo>
                  <a:pt x="2641635" y="861495"/>
                </a:lnTo>
                <a:lnTo>
                  <a:pt x="2670700" y="841900"/>
                </a:lnTo>
                <a:lnTo>
                  <a:pt x="2690295" y="812835"/>
                </a:lnTo>
                <a:lnTo>
                  <a:pt x="2697480" y="777239"/>
                </a:lnTo>
                <a:lnTo>
                  <a:pt x="2697480" y="91439"/>
                </a:lnTo>
                <a:lnTo>
                  <a:pt x="2690295" y="55849"/>
                </a:lnTo>
                <a:lnTo>
                  <a:pt x="2670700" y="26784"/>
                </a:lnTo>
                <a:lnTo>
                  <a:pt x="2641635" y="7186"/>
                </a:lnTo>
                <a:lnTo>
                  <a:pt x="260604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46120" y="4665979"/>
            <a:ext cx="2118360" cy="79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5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5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No.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be true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185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reason.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11570" y="1365248"/>
            <a:ext cx="5419725" cy="4322445"/>
            <a:chOff x="6211570" y="1365248"/>
            <a:chExt cx="5419725" cy="4322445"/>
          </a:xfrm>
        </p:grpSpPr>
        <p:sp>
          <p:nvSpPr>
            <p:cNvPr id="20" name="object 20"/>
            <p:cNvSpPr/>
            <p:nvPr/>
          </p:nvSpPr>
          <p:spPr>
            <a:xfrm>
              <a:off x="6281928" y="1435606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1792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5294388" y="0"/>
                  </a:moveTo>
                  <a:lnTo>
                    <a:pt x="54851" y="0"/>
                  </a:lnTo>
                  <a:lnTo>
                    <a:pt x="33502" y="4311"/>
                  </a:lnTo>
                  <a:lnTo>
                    <a:pt x="16067" y="16067"/>
                  </a:lnTo>
                  <a:lnTo>
                    <a:pt x="4311" y="33502"/>
                  </a:lnTo>
                  <a:lnTo>
                    <a:pt x="0" y="54851"/>
                  </a:lnTo>
                  <a:lnTo>
                    <a:pt x="0" y="4197108"/>
                  </a:lnTo>
                  <a:lnTo>
                    <a:pt x="4311" y="4218462"/>
                  </a:lnTo>
                  <a:lnTo>
                    <a:pt x="16067" y="4235897"/>
                  </a:lnTo>
                  <a:lnTo>
                    <a:pt x="33502" y="4247650"/>
                  </a:lnTo>
                  <a:lnTo>
                    <a:pt x="54851" y="4251960"/>
                  </a:lnTo>
                  <a:lnTo>
                    <a:pt x="5294388" y="4251960"/>
                  </a:lnTo>
                  <a:lnTo>
                    <a:pt x="5315737" y="4247650"/>
                  </a:lnTo>
                  <a:lnTo>
                    <a:pt x="5333172" y="4235897"/>
                  </a:lnTo>
                  <a:lnTo>
                    <a:pt x="5344928" y="4218462"/>
                  </a:lnTo>
                  <a:lnTo>
                    <a:pt x="5349240" y="4197108"/>
                  </a:lnTo>
                  <a:lnTo>
                    <a:pt x="5349240" y="54851"/>
                  </a:lnTo>
                  <a:lnTo>
                    <a:pt x="5344928" y="33502"/>
                  </a:lnTo>
                  <a:lnTo>
                    <a:pt x="5333172" y="16067"/>
                  </a:lnTo>
                  <a:lnTo>
                    <a:pt x="5315737" y="4311"/>
                  </a:lnTo>
                  <a:lnTo>
                    <a:pt x="5294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7920" y="1371598"/>
              <a:ext cx="5349240" cy="4251960"/>
            </a:xfrm>
            <a:custGeom>
              <a:avLst/>
              <a:gdLst/>
              <a:ahLst/>
              <a:cxnLst/>
              <a:rect l="l" t="t" r="r" b="b"/>
              <a:pathLst>
                <a:path w="5349240" h="4251960">
                  <a:moveTo>
                    <a:pt x="0" y="54851"/>
                  </a:moveTo>
                  <a:lnTo>
                    <a:pt x="4311" y="33502"/>
                  </a:lnTo>
                  <a:lnTo>
                    <a:pt x="16067" y="16067"/>
                  </a:lnTo>
                  <a:lnTo>
                    <a:pt x="33502" y="4311"/>
                  </a:lnTo>
                  <a:lnTo>
                    <a:pt x="54851" y="0"/>
                  </a:lnTo>
                  <a:lnTo>
                    <a:pt x="5294388" y="0"/>
                  </a:lnTo>
                  <a:lnTo>
                    <a:pt x="5315737" y="4311"/>
                  </a:lnTo>
                  <a:lnTo>
                    <a:pt x="5333172" y="16067"/>
                  </a:lnTo>
                  <a:lnTo>
                    <a:pt x="5344928" y="33502"/>
                  </a:lnTo>
                  <a:lnTo>
                    <a:pt x="5349240" y="54851"/>
                  </a:lnTo>
                  <a:lnTo>
                    <a:pt x="5349240" y="4197108"/>
                  </a:lnTo>
                  <a:lnTo>
                    <a:pt x="5344928" y="4218462"/>
                  </a:lnTo>
                  <a:lnTo>
                    <a:pt x="5333172" y="4235897"/>
                  </a:lnTo>
                  <a:lnTo>
                    <a:pt x="5315737" y="4247650"/>
                  </a:lnTo>
                  <a:lnTo>
                    <a:pt x="5294388" y="4251960"/>
                  </a:lnTo>
                  <a:lnTo>
                    <a:pt x="54851" y="4251960"/>
                  </a:lnTo>
                  <a:lnTo>
                    <a:pt x="33502" y="4247650"/>
                  </a:lnTo>
                  <a:lnTo>
                    <a:pt x="16067" y="4235897"/>
                  </a:lnTo>
                  <a:lnTo>
                    <a:pt x="4311" y="4218462"/>
                  </a:lnTo>
                  <a:lnTo>
                    <a:pt x="0" y="4197108"/>
                  </a:lnTo>
                  <a:lnTo>
                    <a:pt x="0" y="54851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33579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850" b="1" spc="65" dirty="0">
                <a:solidFill>
                  <a:srgbClr val="2D2A5E"/>
                </a:solidFill>
                <a:latin typeface="Trebuchet MS"/>
                <a:cs typeface="Trebuchet MS"/>
              </a:rPr>
              <a:t>Denying</a:t>
            </a:r>
            <a:r>
              <a:rPr sz="1850" b="1" spc="-11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the</a:t>
            </a:r>
            <a:r>
              <a:rPr sz="1850" b="1" spc="-10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hypothesis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00800" y="2057400"/>
            <a:ext cx="4983480" cy="2468880"/>
            <a:chOff x="6400800" y="2057400"/>
            <a:chExt cx="4983480" cy="2468880"/>
          </a:xfrm>
        </p:grpSpPr>
        <p:sp>
          <p:nvSpPr>
            <p:cNvPr id="27" name="object 27"/>
            <p:cNvSpPr/>
            <p:nvPr/>
          </p:nvSpPr>
          <p:spPr>
            <a:xfrm>
              <a:off x="6400800" y="2057400"/>
              <a:ext cx="4983480" cy="777240"/>
            </a:xfrm>
            <a:custGeom>
              <a:avLst/>
              <a:gdLst/>
              <a:ahLst/>
              <a:cxnLst/>
              <a:rect l="l" t="t" r="r" b="b"/>
              <a:pathLst>
                <a:path w="4983480" h="777239">
                  <a:moveTo>
                    <a:pt x="4892040" y="0"/>
                  </a:moveTo>
                  <a:lnTo>
                    <a:pt x="91440" y="0"/>
                  </a:lnTo>
                  <a:lnTo>
                    <a:pt x="55849" y="7186"/>
                  </a:lnTo>
                  <a:lnTo>
                    <a:pt x="26784" y="26784"/>
                  </a:lnTo>
                  <a:lnTo>
                    <a:pt x="7186" y="55849"/>
                  </a:lnTo>
                  <a:lnTo>
                    <a:pt x="0" y="91439"/>
                  </a:lnTo>
                  <a:lnTo>
                    <a:pt x="0" y="685799"/>
                  </a:lnTo>
                  <a:lnTo>
                    <a:pt x="7186" y="721390"/>
                  </a:lnTo>
                  <a:lnTo>
                    <a:pt x="26784" y="750455"/>
                  </a:lnTo>
                  <a:lnTo>
                    <a:pt x="55849" y="770053"/>
                  </a:lnTo>
                  <a:lnTo>
                    <a:pt x="91440" y="777239"/>
                  </a:lnTo>
                  <a:lnTo>
                    <a:pt x="4892040" y="777239"/>
                  </a:lnTo>
                  <a:lnTo>
                    <a:pt x="4927630" y="770053"/>
                  </a:lnTo>
                  <a:lnTo>
                    <a:pt x="4956695" y="750455"/>
                  </a:lnTo>
                  <a:lnTo>
                    <a:pt x="4976293" y="721390"/>
                  </a:lnTo>
                  <a:lnTo>
                    <a:pt x="4983480" y="685799"/>
                  </a:lnTo>
                  <a:lnTo>
                    <a:pt x="4983480" y="91439"/>
                  </a:lnTo>
                  <a:lnTo>
                    <a:pt x="4976293" y="55849"/>
                  </a:lnTo>
                  <a:lnTo>
                    <a:pt x="4956695" y="26784"/>
                  </a:lnTo>
                  <a:lnTo>
                    <a:pt x="4927630" y="7186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F3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00800" y="2926074"/>
              <a:ext cx="4983480" cy="1600200"/>
            </a:xfrm>
            <a:custGeom>
              <a:avLst/>
              <a:gdLst/>
              <a:ahLst/>
              <a:cxnLst/>
              <a:rect l="l" t="t" r="r" b="b"/>
              <a:pathLst>
                <a:path w="4983480" h="1600200">
                  <a:moveTo>
                    <a:pt x="4892040" y="0"/>
                  </a:moveTo>
                  <a:lnTo>
                    <a:pt x="91440" y="0"/>
                  </a:lnTo>
                  <a:lnTo>
                    <a:pt x="55844" y="7186"/>
                  </a:lnTo>
                  <a:lnTo>
                    <a:pt x="26779" y="26784"/>
                  </a:lnTo>
                  <a:lnTo>
                    <a:pt x="7184" y="55849"/>
                  </a:lnTo>
                  <a:lnTo>
                    <a:pt x="0" y="91439"/>
                  </a:lnTo>
                  <a:lnTo>
                    <a:pt x="0" y="1508772"/>
                  </a:lnTo>
                  <a:lnTo>
                    <a:pt x="7184" y="1544360"/>
                  </a:lnTo>
                  <a:lnTo>
                    <a:pt x="26779" y="1573422"/>
                  </a:lnTo>
                  <a:lnTo>
                    <a:pt x="55844" y="1593015"/>
                  </a:lnTo>
                  <a:lnTo>
                    <a:pt x="91440" y="1600199"/>
                  </a:lnTo>
                  <a:lnTo>
                    <a:pt x="4892040" y="1600199"/>
                  </a:lnTo>
                  <a:lnTo>
                    <a:pt x="4927635" y="1593015"/>
                  </a:lnTo>
                  <a:lnTo>
                    <a:pt x="4956700" y="1573422"/>
                  </a:lnTo>
                  <a:lnTo>
                    <a:pt x="4976295" y="1544360"/>
                  </a:lnTo>
                  <a:lnTo>
                    <a:pt x="4983480" y="1508772"/>
                  </a:lnTo>
                  <a:lnTo>
                    <a:pt x="4983480" y="91439"/>
                  </a:lnTo>
                  <a:lnTo>
                    <a:pt x="4976295" y="55849"/>
                  </a:lnTo>
                  <a:lnTo>
                    <a:pt x="4956700" y="26784"/>
                  </a:lnTo>
                  <a:lnTo>
                    <a:pt x="4927635" y="7186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E3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37959" y="2066011"/>
            <a:ext cx="4629785" cy="1987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20"/>
              </a:lnSpc>
              <a:spcBef>
                <a:spcPts val="95"/>
              </a:spcBef>
            </a:pPr>
            <a:r>
              <a:rPr sz="1600" b="1" spc="-25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2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p: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completed</a:t>
            </a:r>
            <a:r>
              <a:rPr sz="1850" spc="-8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problem.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q: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You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learned</a:t>
            </a:r>
            <a:r>
              <a:rPr sz="1850" spc="-9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discrete</a:t>
            </a:r>
            <a:r>
              <a:rPr sz="1850" spc="-6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math.</a:t>
            </a:r>
            <a:endParaRPr sz="1850">
              <a:latin typeface="Calibri"/>
              <a:cs typeface="Calibri"/>
            </a:endParaRPr>
          </a:p>
          <a:p>
            <a:pPr>
              <a:lnSpc>
                <a:spcPts val="1760"/>
              </a:lnSpc>
              <a:spcBef>
                <a:spcPts val="1180"/>
              </a:spcBef>
            </a:pPr>
            <a:r>
              <a:rPr sz="1600" b="1" spc="-10" dirty="0">
                <a:solidFill>
                  <a:srgbClr val="6B6890"/>
                </a:solidFill>
                <a:latin typeface="Calibri"/>
                <a:cs typeface="Calibri"/>
              </a:rPr>
              <a:t>ARGUMENT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60"/>
              </a:lnSpc>
              <a:tabLst>
                <a:tab pos="159956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q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¬p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does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prove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¬q.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You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may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tabLst>
                <a:tab pos="1599565" algn="l"/>
              </a:tabLst>
            </a:pP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¬p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learn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without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completing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tabLst>
                <a:tab pos="1599565" algn="l"/>
              </a:tabLst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mbria Math"/>
                <a:cs typeface="Cambria Math"/>
              </a:rPr>
              <a:t>¬q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	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problem.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00800" y="4617717"/>
            <a:ext cx="2194560" cy="868680"/>
          </a:xfrm>
          <a:custGeom>
            <a:avLst/>
            <a:gdLst/>
            <a:ahLst/>
            <a:cxnLst/>
            <a:rect l="l" t="t" r="r" b="b"/>
            <a:pathLst>
              <a:path w="2194559" h="868679">
                <a:moveTo>
                  <a:pt x="2103120" y="0"/>
                </a:moveTo>
                <a:lnTo>
                  <a:pt x="91440" y="0"/>
                </a:lnTo>
                <a:lnTo>
                  <a:pt x="55844" y="7186"/>
                </a:lnTo>
                <a:lnTo>
                  <a:pt x="26779" y="26784"/>
                </a:lnTo>
                <a:lnTo>
                  <a:pt x="7184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4" y="812835"/>
                </a:lnTo>
                <a:lnTo>
                  <a:pt x="26779" y="841900"/>
                </a:lnTo>
                <a:lnTo>
                  <a:pt x="55844" y="861495"/>
                </a:lnTo>
                <a:lnTo>
                  <a:pt x="91440" y="868679"/>
                </a:lnTo>
                <a:lnTo>
                  <a:pt x="2103120" y="868679"/>
                </a:lnTo>
                <a:lnTo>
                  <a:pt x="2138715" y="861495"/>
                </a:lnTo>
                <a:lnTo>
                  <a:pt x="2167780" y="841900"/>
                </a:lnTo>
                <a:lnTo>
                  <a:pt x="2187375" y="812835"/>
                </a:lnTo>
                <a:lnTo>
                  <a:pt x="2194560" y="777239"/>
                </a:lnTo>
                <a:lnTo>
                  <a:pt x="2194560" y="91439"/>
                </a:lnTo>
                <a:lnTo>
                  <a:pt x="2187375" y="55849"/>
                </a:lnTo>
                <a:lnTo>
                  <a:pt x="2167780" y="26784"/>
                </a:lnTo>
                <a:lnTo>
                  <a:pt x="2138715" y="7186"/>
                </a:lnTo>
                <a:lnTo>
                  <a:pt x="2103120" y="0"/>
                </a:lnTo>
                <a:close/>
              </a:path>
            </a:pathLst>
          </a:custGeom>
          <a:solidFill>
            <a:srgbClr val="FFF0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537959" y="4665979"/>
            <a:ext cx="1605915" cy="79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5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55"/>
              </a:lnSpc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b="1" spc="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this</a:t>
            </a:r>
            <a:r>
              <a:rPr sz="1850" b="1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argument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valid?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86800" y="4617718"/>
            <a:ext cx="2697480" cy="868680"/>
          </a:xfrm>
          <a:custGeom>
            <a:avLst/>
            <a:gdLst/>
            <a:ahLst/>
            <a:cxnLst/>
            <a:rect l="l" t="t" r="r" b="b"/>
            <a:pathLst>
              <a:path w="2697479" h="868679">
                <a:moveTo>
                  <a:pt x="2606040" y="0"/>
                </a:moveTo>
                <a:lnTo>
                  <a:pt x="91440" y="0"/>
                </a:lnTo>
                <a:lnTo>
                  <a:pt x="55849" y="7186"/>
                </a:lnTo>
                <a:lnTo>
                  <a:pt x="26784" y="26784"/>
                </a:lnTo>
                <a:lnTo>
                  <a:pt x="7186" y="55849"/>
                </a:lnTo>
                <a:lnTo>
                  <a:pt x="0" y="91439"/>
                </a:lnTo>
                <a:lnTo>
                  <a:pt x="0" y="777239"/>
                </a:lnTo>
                <a:lnTo>
                  <a:pt x="7186" y="812835"/>
                </a:lnTo>
                <a:lnTo>
                  <a:pt x="26784" y="841900"/>
                </a:lnTo>
                <a:lnTo>
                  <a:pt x="55849" y="861495"/>
                </a:lnTo>
                <a:lnTo>
                  <a:pt x="91440" y="868679"/>
                </a:lnTo>
                <a:lnTo>
                  <a:pt x="2606040" y="868679"/>
                </a:lnTo>
                <a:lnTo>
                  <a:pt x="2641635" y="861495"/>
                </a:lnTo>
                <a:lnTo>
                  <a:pt x="2670700" y="841900"/>
                </a:lnTo>
                <a:lnTo>
                  <a:pt x="2690295" y="812835"/>
                </a:lnTo>
                <a:lnTo>
                  <a:pt x="2697480" y="777239"/>
                </a:lnTo>
                <a:lnTo>
                  <a:pt x="2697480" y="91439"/>
                </a:lnTo>
                <a:lnTo>
                  <a:pt x="2690295" y="55849"/>
                </a:lnTo>
                <a:lnTo>
                  <a:pt x="2670700" y="26784"/>
                </a:lnTo>
                <a:lnTo>
                  <a:pt x="2641635" y="7186"/>
                </a:lnTo>
                <a:lnTo>
                  <a:pt x="2606040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823959" y="4665979"/>
            <a:ext cx="2419985" cy="79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75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2055"/>
              </a:lnSpc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No.</a:t>
            </a:r>
            <a:r>
              <a:rPr sz="18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18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be true even</a:t>
            </a:r>
            <a:r>
              <a:rPr sz="1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false.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40080" y="5879662"/>
            <a:ext cx="10927080" cy="502920"/>
          </a:xfrm>
          <a:custGeom>
            <a:avLst/>
            <a:gdLst/>
            <a:ahLst/>
            <a:cxnLst/>
            <a:rect l="l" t="t" r="r" b="b"/>
            <a:pathLst>
              <a:path w="10927080" h="502920">
                <a:moveTo>
                  <a:pt x="10817352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7"/>
                </a:lnTo>
                <a:lnTo>
                  <a:pt x="0" y="393191"/>
                </a:lnTo>
                <a:lnTo>
                  <a:pt x="8622" y="435904"/>
                </a:lnTo>
                <a:lnTo>
                  <a:pt x="32137" y="470782"/>
                </a:lnTo>
                <a:lnTo>
                  <a:pt x="67015" y="494297"/>
                </a:lnTo>
                <a:lnTo>
                  <a:pt x="109728" y="502919"/>
                </a:lnTo>
                <a:lnTo>
                  <a:pt x="10817352" y="502919"/>
                </a:lnTo>
                <a:lnTo>
                  <a:pt x="10860064" y="494297"/>
                </a:lnTo>
                <a:lnTo>
                  <a:pt x="10894942" y="470782"/>
                </a:lnTo>
                <a:lnTo>
                  <a:pt x="10918457" y="435904"/>
                </a:lnTo>
                <a:lnTo>
                  <a:pt x="10927080" y="393191"/>
                </a:lnTo>
                <a:lnTo>
                  <a:pt x="10927080" y="109727"/>
                </a:lnTo>
                <a:lnTo>
                  <a:pt x="10918457" y="67015"/>
                </a:lnTo>
                <a:lnTo>
                  <a:pt x="10894942" y="32137"/>
                </a:lnTo>
                <a:lnTo>
                  <a:pt x="10860064" y="8622"/>
                </a:lnTo>
                <a:lnTo>
                  <a:pt x="10817352" y="0"/>
                </a:lnTo>
                <a:close/>
              </a:path>
            </a:pathLst>
          </a:custGeom>
          <a:solidFill>
            <a:srgbClr val="B8E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55980" y="5941088"/>
            <a:ext cx="803846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Both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are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contingencies,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1850" b="1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tautologies:</a:t>
            </a:r>
            <a:r>
              <a:rPr sz="1850" b="1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each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b="1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false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when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p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b="1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false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q is</a:t>
            </a:r>
            <a:r>
              <a:rPr sz="1850" b="1" spc="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true.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20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33968" y="1658348"/>
            <a:ext cx="35883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145" dirty="0">
                <a:solidFill>
                  <a:srgbClr val="2F254D"/>
                </a:solidFill>
              </a:rPr>
              <a:t>TOPICS</a:t>
            </a:r>
            <a:r>
              <a:rPr sz="3050" spc="-200" dirty="0">
                <a:solidFill>
                  <a:srgbClr val="2F254D"/>
                </a:solidFill>
              </a:rPr>
              <a:t> </a:t>
            </a:r>
            <a:r>
              <a:rPr sz="3050" spc="-50" dirty="0">
                <a:solidFill>
                  <a:srgbClr val="2F254D"/>
                </a:solidFill>
              </a:rPr>
              <a:t>I’LL</a:t>
            </a:r>
            <a:r>
              <a:rPr sz="3050" spc="-180" dirty="0">
                <a:solidFill>
                  <a:srgbClr val="2F254D"/>
                </a:solidFill>
              </a:rPr>
              <a:t> </a:t>
            </a:r>
            <a:r>
              <a:rPr sz="3050" spc="145" dirty="0">
                <a:solidFill>
                  <a:srgbClr val="2F254D"/>
                </a:solidFill>
              </a:rPr>
              <a:t>COVER</a:t>
            </a:r>
            <a:endParaRPr sz="3050"/>
          </a:p>
        </p:txBody>
      </p:sp>
      <p:grpSp>
        <p:nvGrpSpPr>
          <p:cNvPr id="4" name="object 4"/>
          <p:cNvGrpSpPr/>
          <p:nvPr/>
        </p:nvGrpSpPr>
        <p:grpSpPr>
          <a:xfrm>
            <a:off x="7546670" y="2306662"/>
            <a:ext cx="3753485" cy="102235"/>
            <a:chOff x="7546670" y="2306662"/>
            <a:chExt cx="3753485" cy="102235"/>
          </a:xfrm>
        </p:grpSpPr>
        <p:sp>
          <p:nvSpPr>
            <p:cNvPr id="5" name="object 5"/>
            <p:cNvSpPr/>
            <p:nvPr/>
          </p:nvSpPr>
          <p:spPr>
            <a:xfrm>
              <a:off x="7546670" y="2306662"/>
              <a:ext cx="3753485" cy="102235"/>
            </a:xfrm>
            <a:custGeom>
              <a:avLst/>
              <a:gdLst/>
              <a:ahLst/>
              <a:cxnLst/>
              <a:rect l="l" t="t" r="r" b="b"/>
              <a:pathLst>
                <a:path w="3753484" h="102235">
                  <a:moveTo>
                    <a:pt x="3753230" y="0"/>
                  </a:moveTo>
                  <a:lnTo>
                    <a:pt x="0" y="0"/>
                  </a:lnTo>
                  <a:lnTo>
                    <a:pt x="0" y="101993"/>
                  </a:lnTo>
                  <a:lnTo>
                    <a:pt x="3753230" y="101993"/>
                  </a:lnTo>
                  <a:lnTo>
                    <a:pt x="3753230" y="0"/>
                  </a:lnTo>
                  <a:close/>
                </a:path>
              </a:pathLst>
            </a:custGeom>
            <a:solidFill>
              <a:srgbClr val="926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46670" y="2306662"/>
              <a:ext cx="3753485" cy="102235"/>
            </a:xfrm>
            <a:custGeom>
              <a:avLst/>
              <a:gdLst/>
              <a:ahLst/>
              <a:cxnLst/>
              <a:rect l="l" t="t" r="r" b="b"/>
              <a:pathLst>
                <a:path w="3753484" h="102235">
                  <a:moveTo>
                    <a:pt x="0" y="0"/>
                  </a:moveTo>
                  <a:lnTo>
                    <a:pt x="3753230" y="0"/>
                  </a:lnTo>
                  <a:lnTo>
                    <a:pt x="3753230" y="101993"/>
                  </a:lnTo>
                  <a:lnTo>
                    <a:pt x="0" y="10199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03773" y="2800005"/>
            <a:ext cx="366395" cy="2386965"/>
            <a:chOff x="7603773" y="2800005"/>
            <a:chExt cx="366395" cy="2386965"/>
          </a:xfrm>
        </p:grpSpPr>
        <p:sp>
          <p:nvSpPr>
            <p:cNvPr id="8" name="object 8"/>
            <p:cNvSpPr/>
            <p:nvPr/>
          </p:nvSpPr>
          <p:spPr>
            <a:xfrm>
              <a:off x="7766672" y="2919996"/>
              <a:ext cx="34925" cy="2266950"/>
            </a:xfrm>
            <a:custGeom>
              <a:avLst/>
              <a:gdLst/>
              <a:ahLst/>
              <a:cxnLst/>
              <a:rect l="l" t="t" r="r" b="b"/>
              <a:pathLst>
                <a:path w="34925" h="2266950">
                  <a:moveTo>
                    <a:pt x="34671" y="0"/>
                  </a:moveTo>
                  <a:lnTo>
                    <a:pt x="0" y="0"/>
                  </a:lnTo>
                  <a:lnTo>
                    <a:pt x="0" y="2266670"/>
                  </a:lnTo>
                  <a:lnTo>
                    <a:pt x="34671" y="2266670"/>
                  </a:lnTo>
                  <a:lnTo>
                    <a:pt x="34671" y="0"/>
                  </a:lnTo>
                  <a:close/>
                </a:path>
              </a:pathLst>
            </a:custGeom>
            <a:solidFill>
              <a:srgbClr val="D9D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6672" y="2919996"/>
              <a:ext cx="34925" cy="2266950"/>
            </a:xfrm>
            <a:custGeom>
              <a:avLst/>
              <a:gdLst/>
              <a:ahLst/>
              <a:cxnLst/>
              <a:rect l="l" t="t" r="r" b="b"/>
              <a:pathLst>
                <a:path w="34925" h="2266950">
                  <a:moveTo>
                    <a:pt x="0" y="0"/>
                  </a:moveTo>
                  <a:lnTo>
                    <a:pt x="34671" y="0"/>
                  </a:lnTo>
                  <a:lnTo>
                    <a:pt x="34671" y="2266670"/>
                  </a:lnTo>
                  <a:lnTo>
                    <a:pt x="0" y="226667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D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03773" y="2800005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29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59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29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926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03773" y="2800005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29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29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59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29"/>
                  </a:lnTo>
                  <a:close/>
                </a:path>
              </a:pathLst>
            </a:custGeom>
            <a:ln w="3175">
              <a:solidFill>
                <a:srgbClr val="926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65050" y="2827172"/>
            <a:ext cx="250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0633" y="2733752"/>
            <a:ext cx="238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F254D"/>
                </a:solidFill>
                <a:latin typeface="Trebuchet MS"/>
                <a:cs typeface="Trebuchet MS"/>
              </a:rPr>
              <a:t>Quantifier</a:t>
            </a:r>
            <a:r>
              <a:rPr sz="2400" b="1" spc="-160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spc="75" dirty="0">
                <a:solidFill>
                  <a:srgbClr val="2F254D"/>
                </a:solidFill>
                <a:latin typeface="Trebuchet MS"/>
                <a:cs typeface="Trebuchet MS"/>
              </a:rPr>
              <a:t>Rules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03773" y="3933338"/>
            <a:ext cx="366395" cy="378460"/>
            <a:chOff x="7603773" y="3933338"/>
            <a:chExt cx="366395" cy="378460"/>
          </a:xfrm>
        </p:grpSpPr>
        <p:sp>
          <p:nvSpPr>
            <p:cNvPr id="15" name="object 15"/>
            <p:cNvSpPr/>
            <p:nvPr/>
          </p:nvSpPr>
          <p:spPr>
            <a:xfrm>
              <a:off x="7603773" y="3933338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30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60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30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25A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03773" y="3933338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30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30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60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30"/>
                  </a:lnTo>
                  <a:close/>
                </a:path>
              </a:pathLst>
            </a:custGeom>
            <a:ln w="3175">
              <a:solidFill>
                <a:srgbClr val="25A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58986" y="3990242"/>
            <a:ext cx="264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0633" y="3682681"/>
            <a:ext cx="2736215" cy="7588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400" b="1" spc="95" dirty="0">
                <a:solidFill>
                  <a:srgbClr val="2F254D"/>
                </a:solidFill>
                <a:latin typeface="Trebuchet MS"/>
                <a:cs typeface="Trebuchet MS"/>
              </a:rPr>
              <a:t>Worked</a:t>
            </a:r>
            <a:r>
              <a:rPr sz="2400" b="1" spc="-145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2F254D"/>
                </a:solidFill>
                <a:latin typeface="Trebuchet MS"/>
                <a:cs typeface="Trebuchet MS"/>
              </a:rPr>
              <a:t>Quantifier </a:t>
            </a:r>
            <a:r>
              <a:rPr sz="2400" b="1" spc="65" dirty="0">
                <a:solidFill>
                  <a:srgbClr val="2F254D"/>
                </a:solidFill>
                <a:latin typeface="Trebuchet MS"/>
                <a:cs typeface="Trebuchet MS"/>
              </a:rPr>
              <a:t>Examples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13684" y="5086497"/>
            <a:ext cx="366395" cy="378460"/>
            <a:chOff x="7613684" y="5086497"/>
            <a:chExt cx="366395" cy="378460"/>
          </a:xfrm>
        </p:grpSpPr>
        <p:sp>
          <p:nvSpPr>
            <p:cNvPr id="20" name="object 20"/>
            <p:cNvSpPr/>
            <p:nvPr/>
          </p:nvSpPr>
          <p:spPr>
            <a:xfrm>
              <a:off x="7613684" y="5086497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183095" y="0"/>
                  </a:moveTo>
                  <a:lnTo>
                    <a:pt x="134423" y="6759"/>
                  </a:lnTo>
                  <a:lnTo>
                    <a:pt x="90685" y="25835"/>
                  </a:lnTo>
                  <a:lnTo>
                    <a:pt x="53628" y="55424"/>
                  </a:lnTo>
                  <a:lnTo>
                    <a:pt x="24998" y="93722"/>
                  </a:lnTo>
                  <a:lnTo>
                    <a:pt x="6540" y="138925"/>
                  </a:lnTo>
                  <a:lnTo>
                    <a:pt x="0" y="189230"/>
                  </a:lnTo>
                  <a:lnTo>
                    <a:pt x="6540" y="239534"/>
                  </a:lnTo>
                  <a:lnTo>
                    <a:pt x="24998" y="284737"/>
                  </a:lnTo>
                  <a:lnTo>
                    <a:pt x="53628" y="323035"/>
                  </a:lnTo>
                  <a:lnTo>
                    <a:pt x="90685" y="352624"/>
                  </a:lnTo>
                  <a:lnTo>
                    <a:pt x="134423" y="371700"/>
                  </a:lnTo>
                  <a:lnTo>
                    <a:pt x="183095" y="378460"/>
                  </a:lnTo>
                  <a:lnTo>
                    <a:pt x="231768" y="371700"/>
                  </a:lnTo>
                  <a:lnTo>
                    <a:pt x="275506" y="352624"/>
                  </a:lnTo>
                  <a:lnTo>
                    <a:pt x="312562" y="323035"/>
                  </a:lnTo>
                  <a:lnTo>
                    <a:pt x="341193" y="284737"/>
                  </a:lnTo>
                  <a:lnTo>
                    <a:pt x="359651" y="239534"/>
                  </a:lnTo>
                  <a:lnTo>
                    <a:pt x="366191" y="189230"/>
                  </a:lnTo>
                  <a:lnTo>
                    <a:pt x="359651" y="138925"/>
                  </a:lnTo>
                  <a:lnTo>
                    <a:pt x="341193" y="93722"/>
                  </a:lnTo>
                  <a:lnTo>
                    <a:pt x="312562" y="55424"/>
                  </a:lnTo>
                  <a:lnTo>
                    <a:pt x="275506" y="25835"/>
                  </a:lnTo>
                  <a:lnTo>
                    <a:pt x="231768" y="6759"/>
                  </a:lnTo>
                  <a:lnTo>
                    <a:pt x="183095" y="0"/>
                  </a:lnTo>
                  <a:close/>
                </a:path>
              </a:pathLst>
            </a:custGeom>
            <a:solidFill>
              <a:srgbClr val="EF7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13684" y="5086497"/>
              <a:ext cx="366395" cy="378460"/>
            </a:xfrm>
            <a:custGeom>
              <a:avLst/>
              <a:gdLst/>
              <a:ahLst/>
              <a:cxnLst/>
              <a:rect l="l" t="t" r="r" b="b"/>
              <a:pathLst>
                <a:path w="366395" h="378460">
                  <a:moveTo>
                    <a:pt x="0" y="189230"/>
                  </a:moveTo>
                  <a:lnTo>
                    <a:pt x="6540" y="138925"/>
                  </a:lnTo>
                  <a:lnTo>
                    <a:pt x="24998" y="93722"/>
                  </a:lnTo>
                  <a:lnTo>
                    <a:pt x="53628" y="55424"/>
                  </a:lnTo>
                  <a:lnTo>
                    <a:pt x="90685" y="25835"/>
                  </a:lnTo>
                  <a:lnTo>
                    <a:pt x="134423" y="6759"/>
                  </a:lnTo>
                  <a:lnTo>
                    <a:pt x="183095" y="0"/>
                  </a:lnTo>
                  <a:lnTo>
                    <a:pt x="231768" y="6759"/>
                  </a:lnTo>
                  <a:lnTo>
                    <a:pt x="275506" y="25835"/>
                  </a:lnTo>
                  <a:lnTo>
                    <a:pt x="312562" y="55424"/>
                  </a:lnTo>
                  <a:lnTo>
                    <a:pt x="341193" y="93722"/>
                  </a:lnTo>
                  <a:lnTo>
                    <a:pt x="359651" y="138925"/>
                  </a:lnTo>
                  <a:lnTo>
                    <a:pt x="366191" y="189230"/>
                  </a:lnTo>
                  <a:lnTo>
                    <a:pt x="359651" y="239534"/>
                  </a:lnTo>
                  <a:lnTo>
                    <a:pt x="341193" y="284737"/>
                  </a:lnTo>
                  <a:lnTo>
                    <a:pt x="312562" y="323035"/>
                  </a:lnTo>
                  <a:lnTo>
                    <a:pt x="275506" y="352624"/>
                  </a:lnTo>
                  <a:lnTo>
                    <a:pt x="231768" y="371700"/>
                  </a:lnTo>
                  <a:lnTo>
                    <a:pt x="183095" y="378460"/>
                  </a:lnTo>
                  <a:lnTo>
                    <a:pt x="134423" y="371700"/>
                  </a:lnTo>
                  <a:lnTo>
                    <a:pt x="90685" y="352624"/>
                  </a:lnTo>
                  <a:lnTo>
                    <a:pt x="53628" y="323035"/>
                  </a:lnTo>
                  <a:lnTo>
                    <a:pt x="24998" y="284737"/>
                  </a:lnTo>
                  <a:lnTo>
                    <a:pt x="6540" y="239534"/>
                  </a:lnTo>
                  <a:lnTo>
                    <a:pt x="0" y="189230"/>
                  </a:lnTo>
                  <a:close/>
                </a:path>
              </a:pathLst>
            </a:custGeom>
            <a:ln w="3175">
              <a:solidFill>
                <a:srgbClr val="EF7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58954" y="5123574"/>
            <a:ext cx="263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20633" y="4816013"/>
            <a:ext cx="2463800" cy="7588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400" b="1" dirty="0">
                <a:solidFill>
                  <a:srgbClr val="2F254D"/>
                </a:solidFill>
                <a:latin typeface="Trebuchet MS"/>
                <a:cs typeface="Trebuchet MS"/>
              </a:rPr>
              <a:t>Universal</a:t>
            </a:r>
            <a:r>
              <a:rPr sz="2400" b="1" spc="204" dirty="0">
                <a:solidFill>
                  <a:srgbClr val="2F254D"/>
                </a:solidFill>
                <a:latin typeface="Trebuchet MS"/>
                <a:cs typeface="Trebuchet MS"/>
              </a:rPr>
              <a:t> </a:t>
            </a:r>
            <a:r>
              <a:rPr sz="2400" b="1" spc="135" dirty="0">
                <a:solidFill>
                  <a:srgbClr val="2F254D"/>
                </a:solidFill>
                <a:latin typeface="Trebuchet MS"/>
                <a:cs typeface="Trebuchet MS"/>
              </a:rPr>
              <a:t>Modus </a:t>
            </a:r>
            <a:r>
              <a:rPr sz="2400" b="1" spc="55" dirty="0">
                <a:solidFill>
                  <a:srgbClr val="2F254D"/>
                </a:solidFill>
                <a:latin typeface="Trebuchet MS"/>
                <a:cs typeface="Trebuchet MS"/>
              </a:rPr>
              <a:t>Ponens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281" y="262639"/>
            <a:ext cx="2804617" cy="83939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855"/>
              </a:spcBef>
            </a:pPr>
            <a:r>
              <a:rPr dirty="0"/>
              <a:t>MAHMUDUL</a:t>
            </a:r>
            <a:r>
              <a:rPr spc="-30" dirty="0"/>
              <a:t> </a:t>
            </a:r>
            <a:r>
              <a:rPr dirty="0"/>
              <a:t>HAQUE</a:t>
            </a:r>
            <a:r>
              <a:rPr spc="-35" dirty="0"/>
              <a:t> </a:t>
            </a:r>
            <a:r>
              <a:rPr spc="-20" dirty="0"/>
              <a:t>MAHI</a:t>
            </a:r>
          </a:p>
          <a:p>
            <a:pPr marL="55244">
              <a:lnSpc>
                <a:spcPct val="100000"/>
              </a:lnSpc>
              <a:spcBef>
                <a:spcPts val="1135"/>
              </a:spcBef>
            </a:pPr>
            <a:r>
              <a:rPr sz="2800" b="1" dirty="0">
                <a:solidFill>
                  <a:srgbClr val="6C3EDF"/>
                </a:solidFill>
                <a:latin typeface="Calibri"/>
                <a:cs typeface="Calibri"/>
              </a:rPr>
              <a:t>ROLL</a:t>
            </a:r>
            <a:r>
              <a:rPr sz="2800" b="1" spc="-50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6C3ED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6C3EDF"/>
                </a:solidFill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BATCH</a:t>
            </a:r>
            <a:r>
              <a:rPr sz="1850" spc="-60" dirty="0">
                <a:solidFill>
                  <a:srgbClr val="6A63B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:</a:t>
            </a:r>
            <a:r>
              <a:rPr sz="1850" spc="-55" dirty="0">
                <a:solidFill>
                  <a:srgbClr val="6A63B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A63B9"/>
                </a:solidFill>
                <a:latin typeface="Arial"/>
                <a:cs typeface="Arial"/>
              </a:rPr>
              <a:t>CSD-</a:t>
            </a:r>
            <a:r>
              <a:rPr sz="1850" spc="-25" dirty="0">
                <a:solidFill>
                  <a:srgbClr val="6A63B9"/>
                </a:solidFill>
                <a:latin typeface="Arial"/>
                <a:cs typeface="Arial"/>
              </a:rPr>
              <a:t>105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50880" y="6315964"/>
            <a:ext cx="845185" cy="4318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650" spc="-10" dirty="0">
                <a:solidFill>
                  <a:srgbClr val="6B6890"/>
                </a:solidFill>
                <a:latin typeface="Calibri"/>
                <a:cs typeface="Calibri"/>
              </a:rPr>
              <a:t>22/28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520"/>
              </a:spcBef>
            </a:pPr>
            <a:r>
              <a:rPr spc="135" dirty="0"/>
              <a:t>Rules</a:t>
            </a:r>
            <a:r>
              <a:rPr spc="-7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quantified</a:t>
            </a:r>
            <a:r>
              <a:rPr spc="-45" dirty="0"/>
              <a:t> </a:t>
            </a:r>
            <a:r>
              <a:rPr spc="80" dirty="0"/>
              <a:t>statements</a:t>
            </a:r>
          </a:p>
          <a:p>
            <a:pPr marL="22225">
              <a:lnSpc>
                <a:spcPct val="100000"/>
              </a:lnSpc>
              <a:spcBef>
                <a:spcPts val="240"/>
              </a:spcBef>
            </a:pP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Four</a:t>
            </a:r>
            <a:r>
              <a:rPr sz="1850" b="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rules</a:t>
            </a:r>
            <a:r>
              <a:rPr sz="1850" b="0" spc="-3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let</a:t>
            </a:r>
            <a:r>
              <a:rPr sz="1850" b="0" spc="-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you</a:t>
            </a:r>
            <a:r>
              <a:rPr sz="1850" b="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move</a:t>
            </a:r>
            <a:r>
              <a:rPr sz="1850" b="0" spc="-2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between</a:t>
            </a:r>
            <a:r>
              <a:rPr sz="1850" b="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"for</a:t>
            </a:r>
            <a:r>
              <a:rPr sz="1850" b="0" spc="-3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all",</a:t>
            </a:r>
            <a:r>
              <a:rPr sz="1850" b="0" spc="-3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"there</a:t>
            </a:r>
            <a:r>
              <a:rPr sz="1850" b="0" spc="-2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exists"</a:t>
            </a:r>
            <a:r>
              <a:rPr sz="1850" b="0" spc="-5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and</a:t>
            </a:r>
            <a:r>
              <a:rPr sz="1850" b="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a</a:t>
            </a:r>
            <a:r>
              <a:rPr sz="1850" b="0" spc="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dirty="0">
                <a:solidFill>
                  <a:srgbClr val="6B6890"/>
                </a:solidFill>
                <a:latin typeface="Calibri"/>
                <a:cs typeface="Calibri"/>
              </a:rPr>
              <a:t>particular</a:t>
            </a:r>
            <a:r>
              <a:rPr sz="1850" b="0" spc="-3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b="0" spc="-10" dirty="0">
                <a:solidFill>
                  <a:srgbClr val="6B6890"/>
                </a:solidFill>
                <a:latin typeface="Calibri"/>
                <a:cs typeface="Calibri"/>
              </a:rPr>
              <a:t>element.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2270" y="1502416"/>
            <a:ext cx="11184890" cy="2395220"/>
            <a:chOff x="382270" y="1502416"/>
            <a:chExt cx="11184890" cy="2395220"/>
          </a:xfrm>
        </p:grpSpPr>
        <p:sp>
          <p:nvSpPr>
            <p:cNvPr id="5" name="object 5"/>
            <p:cNvSpPr/>
            <p:nvPr/>
          </p:nvSpPr>
          <p:spPr>
            <a:xfrm>
              <a:off x="640079" y="3840480"/>
              <a:ext cx="10831830" cy="0"/>
            </a:xfrm>
            <a:custGeom>
              <a:avLst/>
              <a:gdLst/>
              <a:ahLst/>
              <a:cxnLst/>
              <a:rect l="l" t="t" r="r" b="b"/>
              <a:pathLst>
                <a:path w="10831830">
                  <a:moveTo>
                    <a:pt x="0" y="0"/>
                  </a:moveTo>
                  <a:lnTo>
                    <a:pt x="10831830" y="0"/>
                  </a:lnTo>
                </a:path>
              </a:pathLst>
            </a:custGeom>
            <a:ln w="381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52864" y="378332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2628" y="1572774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80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8620" y="15087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80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620" y="15087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80" h="21031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2642616" y="0"/>
                  </a:lnTo>
                  <a:lnTo>
                    <a:pt x="2663972" y="4311"/>
                  </a:lnTo>
                  <a:lnTo>
                    <a:pt x="2681411" y="16068"/>
                  </a:lnTo>
                  <a:lnTo>
                    <a:pt x="2693168" y="33507"/>
                  </a:lnTo>
                  <a:lnTo>
                    <a:pt x="2697480" y="54863"/>
                  </a:lnTo>
                  <a:lnTo>
                    <a:pt x="2697480" y="2048243"/>
                  </a:lnTo>
                  <a:lnTo>
                    <a:pt x="2693168" y="2069601"/>
                  </a:lnTo>
                  <a:lnTo>
                    <a:pt x="2681411" y="2087044"/>
                  </a:lnTo>
                  <a:lnTo>
                    <a:pt x="2663972" y="2098806"/>
                  </a:lnTo>
                  <a:lnTo>
                    <a:pt x="2642616" y="2103120"/>
                  </a:lnTo>
                  <a:lnTo>
                    <a:pt x="54864" y="2103120"/>
                  </a:lnTo>
                  <a:lnTo>
                    <a:pt x="33507" y="2098806"/>
                  </a:lnTo>
                  <a:lnTo>
                    <a:pt x="16068" y="2087044"/>
                  </a:lnTo>
                  <a:lnTo>
                    <a:pt x="4311" y="2069601"/>
                  </a:lnTo>
                  <a:lnTo>
                    <a:pt x="0" y="2048243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8348" y="1618487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5" h="457200">
                  <a:moveTo>
                    <a:pt x="24323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432304" y="457200"/>
                  </a:lnTo>
                  <a:lnTo>
                    <a:pt x="2450099" y="453606"/>
                  </a:lnTo>
                  <a:lnTo>
                    <a:pt x="2464631" y="443807"/>
                  </a:lnTo>
                  <a:lnTo>
                    <a:pt x="2474430" y="429275"/>
                  </a:lnTo>
                  <a:lnTo>
                    <a:pt x="2478024" y="411480"/>
                  </a:lnTo>
                  <a:lnTo>
                    <a:pt x="2478024" y="45720"/>
                  </a:lnTo>
                  <a:lnTo>
                    <a:pt x="2474430" y="27924"/>
                  </a:lnTo>
                  <a:lnTo>
                    <a:pt x="2464631" y="13392"/>
                  </a:lnTo>
                  <a:lnTo>
                    <a:pt x="2450099" y="3593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8348" y="1618487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432304" y="0"/>
                  </a:lnTo>
                  <a:lnTo>
                    <a:pt x="2450099" y="3593"/>
                  </a:lnTo>
                  <a:lnTo>
                    <a:pt x="2464631" y="13392"/>
                  </a:lnTo>
                  <a:lnTo>
                    <a:pt x="2474430" y="27924"/>
                  </a:lnTo>
                  <a:lnTo>
                    <a:pt x="2478024" y="45720"/>
                  </a:lnTo>
                  <a:lnTo>
                    <a:pt x="2478024" y="411480"/>
                  </a:lnTo>
                  <a:lnTo>
                    <a:pt x="2474430" y="429275"/>
                  </a:lnTo>
                  <a:lnTo>
                    <a:pt x="2464631" y="443807"/>
                  </a:lnTo>
                  <a:lnTo>
                    <a:pt x="2450099" y="453606"/>
                  </a:lnTo>
                  <a:lnTo>
                    <a:pt x="24323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6494" y="1701799"/>
            <a:ext cx="2461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2D2A5E"/>
                </a:solidFill>
                <a:latin typeface="Trebuchet MS"/>
                <a:cs typeface="Trebuchet MS"/>
              </a:rPr>
              <a:t>Universal</a:t>
            </a:r>
            <a:r>
              <a:rPr sz="1600" b="1" spc="11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D2A5E"/>
                </a:solidFill>
                <a:latin typeface="Trebuchet MS"/>
                <a:cs typeface="Trebuchet MS"/>
              </a:rPr>
              <a:t>instantiation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125" y="2168144"/>
            <a:ext cx="2680970" cy="1187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∀xP(x)</a:t>
            </a:r>
            <a:endParaRPr sz="1850">
              <a:latin typeface="Cambria Math"/>
              <a:cs typeface="Cambria Math"/>
            </a:endParaRPr>
          </a:p>
          <a:p>
            <a:pPr marL="17399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P(c)</a:t>
            </a:r>
            <a:endParaRPr sz="1850">
              <a:latin typeface="Cambria Math"/>
              <a:cs typeface="Cambria Math"/>
            </a:endParaRPr>
          </a:p>
          <a:p>
            <a:pPr marL="173990" marR="153035">
              <a:lnSpc>
                <a:spcPct val="100499"/>
              </a:lnSpc>
              <a:spcBef>
                <a:spcPts val="195"/>
              </a:spcBef>
            </a:pP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Choose</a:t>
            </a:r>
            <a:r>
              <a:rPr sz="1850" spc="-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any</a:t>
            </a:r>
            <a:r>
              <a:rPr sz="1850" spc="-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element</a:t>
            </a:r>
            <a:r>
              <a:rPr sz="1850" spc="-4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6B6890"/>
                </a:solidFill>
                <a:latin typeface="Calibri"/>
                <a:cs typeface="Calibri"/>
              </a:rPr>
              <a:t>in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domain.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570" y="3715258"/>
            <a:ext cx="195580" cy="25044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92580" y="3949700"/>
            <a:ext cx="2895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01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16910" y="4245616"/>
            <a:ext cx="2767965" cy="2173605"/>
            <a:chOff x="3216910" y="4245616"/>
            <a:chExt cx="2767965" cy="2173605"/>
          </a:xfrm>
        </p:grpSpPr>
        <p:sp>
          <p:nvSpPr>
            <p:cNvPr id="17" name="object 17"/>
            <p:cNvSpPr/>
            <p:nvPr/>
          </p:nvSpPr>
          <p:spPr>
            <a:xfrm>
              <a:off x="3287268" y="4315974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3260" y="42519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23260" y="42519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2642616" y="0"/>
                  </a:lnTo>
                  <a:lnTo>
                    <a:pt x="2663972" y="4311"/>
                  </a:lnTo>
                  <a:lnTo>
                    <a:pt x="2681411" y="16068"/>
                  </a:lnTo>
                  <a:lnTo>
                    <a:pt x="2693168" y="33507"/>
                  </a:lnTo>
                  <a:lnTo>
                    <a:pt x="2697480" y="54863"/>
                  </a:lnTo>
                  <a:lnTo>
                    <a:pt x="2697480" y="2048243"/>
                  </a:lnTo>
                  <a:lnTo>
                    <a:pt x="2693168" y="2069601"/>
                  </a:lnTo>
                  <a:lnTo>
                    <a:pt x="2681411" y="2087044"/>
                  </a:lnTo>
                  <a:lnTo>
                    <a:pt x="2663972" y="2098806"/>
                  </a:lnTo>
                  <a:lnTo>
                    <a:pt x="2642616" y="2103120"/>
                  </a:lnTo>
                  <a:lnTo>
                    <a:pt x="54864" y="2103120"/>
                  </a:lnTo>
                  <a:lnTo>
                    <a:pt x="33507" y="2098806"/>
                  </a:lnTo>
                  <a:lnTo>
                    <a:pt x="16068" y="2087044"/>
                  </a:lnTo>
                  <a:lnTo>
                    <a:pt x="4311" y="2069601"/>
                  </a:lnTo>
                  <a:lnTo>
                    <a:pt x="0" y="2048243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32988" y="4361688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4" h="457200">
                  <a:moveTo>
                    <a:pt x="24323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11479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199"/>
                  </a:lnTo>
                  <a:lnTo>
                    <a:pt x="2432304" y="457199"/>
                  </a:lnTo>
                  <a:lnTo>
                    <a:pt x="2450099" y="453606"/>
                  </a:lnTo>
                  <a:lnTo>
                    <a:pt x="2464631" y="443807"/>
                  </a:lnTo>
                  <a:lnTo>
                    <a:pt x="2474430" y="429275"/>
                  </a:lnTo>
                  <a:lnTo>
                    <a:pt x="2478024" y="411479"/>
                  </a:lnTo>
                  <a:lnTo>
                    <a:pt x="2478024" y="45719"/>
                  </a:lnTo>
                  <a:lnTo>
                    <a:pt x="2474430" y="27924"/>
                  </a:lnTo>
                  <a:lnTo>
                    <a:pt x="2464631" y="13392"/>
                  </a:lnTo>
                  <a:lnTo>
                    <a:pt x="2450099" y="3593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32988" y="4361688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4" h="457200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432304" y="0"/>
                  </a:lnTo>
                  <a:lnTo>
                    <a:pt x="2450099" y="3593"/>
                  </a:lnTo>
                  <a:lnTo>
                    <a:pt x="2464631" y="13392"/>
                  </a:lnTo>
                  <a:lnTo>
                    <a:pt x="2474430" y="27924"/>
                  </a:lnTo>
                  <a:lnTo>
                    <a:pt x="2478024" y="45719"/>
                  </a:lnTo>
                  <a:lnTo>
                    <a:pt x="2478024" y="411479"/>
                  </a:lnTo>
                  <a:lnTo>
                    <a:pt x="2474430" y="429275"/>
                  </a:lnTo>
                  <a:lnTo>
                    <a:pt x="2464631" y="443807"/>
                  </a:lnTo>
                  <a:lnTo>
                    <a:pt x="2450099" y="453606"/>
                  </a:lnTo>
                  <a:lnTo>
                    <a:pt x="2432304" y="457199"/>
                  </a:lnTo>
                  <a:lnTo>
                    <a:pt x="45720" y="457199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79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41134" y="4445000"/>
            <a:ext cx="2461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2D2A5E"/>
                </a:solidFill>
                <a:latin typeface="Trebuchet MS"/>
                <a:cs typeface="Trebuchet MS"/>
              </a:rPr>
              <a:t>Universal</a:t>
            </a:r>
            <a:r>
              <a:rPr sz="1600" b="1" spc="11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D2A5E"/>
                </a:solidFill>
                <a:latin typeface="Trebuchet MS"/>
                <a:cs typeface="Trebuchet MS"/>
              </a:rPr>
              <a:t>generalization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1765" y="4911344"/>
            <a:ext cx="2680970" cy="1190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P(c)</a:t>
            </a:r>
            <a:r>
              <a:rPr sz="185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for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arbitrary</a:t>
            </a:r>
            <a:r>
              <a:rPr sz="185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c</a:t>
            </a:r>
            <a:endParaRPr sz="1850">
              <a:latin typeface="Cambria Math"/>
              <a:cs typeface="Cambria Math"/>
            </a:endParaRPr>
          </a:p>
          <a:p>
            <a:pPr marL="17399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∀xP(x)</a:t>
            </a:r>
            <a:endParaRPr sz="1850">
              <a:latin typeface="Cambria Math"/>
              <a:cs typeface="Cambria Math"/>
            </a:endParaRPr>
          </a:p>
          <a:p>
            <a:pPr marL="173990" marR="150495">
              <a:lnSpc>
                <a:spcPct val="101600"/>
              </a:lnSpc>
              <a:spcBef>
                <a:spcPts val="170"/>
              </a:spcBef>
            </a:pP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If</a:t>
            </a:r>
            <a:r>
              <a:rPr sz="1850" spc="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P(c)</a:t>
            </a:r>
            <a:r>
              <a:rPr sz="185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holds</a:t>
            </a:r>
            <a:r>
              <a:rPr sz="1850" spc="-2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for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arbitrary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c,</a:t>
            </a:r>
            <a:r>
              <a:rPr sz="1850" spc="-3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infer</a:t>
            </a:r>
            <a:r>
              <a:rPr sz="1850" spc="-5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6B6890"/>
                </a:solidFill>
                <a:latin typeface="Cambria Math"/>
                <a:cs typeface="Cambria Math"/>
              </a:rPr>
              <a:t>∀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xP(x).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4209" y="3715258"/>
            <a:ext cx="195579" cy="25044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418076" y="3949700"/>
            <a:ext cx="30607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02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51550" y="1502416"/>
            <a:ext cx="2767965" cy="2173605"/>
            <a:chOff x="6051550" y="1502416"/>
            <a:chExt cx="2767965" cy="2173605"/>
          </a:xfrm>
        </p:grpSpPr>
        <p:sp>
          <p:nvSpPr>
            <p:cNvPr id="27" name="object 27"/>
            <p:cNvSpPr/>
            <p:nvPr/>
          </p:nvSpPr>
          <p:spPr>
            <a:xfrm>
              <a:off x="6121907" y="1572774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57900" y="15087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57900" y="15087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2642616" y="0"/>
                  </a:lnTo>
                  <a:lnTo>
                    <a:pt x="2663972" y="4311"/>
                  </a:lnTo>
                  <a:lnTo>
                    <a:pt x="2681411" y="16068"/>
                  </a:lnTo>
                  <a:lnTo>
                    <a:pt x="2693168" y="33507"/>
                  </a:lnTo>
                  <a:lnTo>
                    <a:pt x="2697480" y="54863"/>
                  </a:lnTo>
                  <a:lnTo>
                    <a:pt x="2697480" y="2048243"/>
                  </a:lnTo>
                  <a:lnTo>
                    <a:pt x="2693168" y="2069601"/>
                  </a:lnTo>
                  <a:lnTo>
                    <a:pt x="2681411" y="2087044"/>
                  </a:lnTo>
                  <a:lnTo>
                    <a:pt x="2663972" y="2098806"/>
                  </a:lnTo>
                  <a:lnTo>
                    <a:pt x="2642616" y="2103120"/>
                  </a:lnTo>
                  <a:lnTo>
                    <a:pt x="54864" y="2103120"/>
                  </a:lnTo>
                  <a:lnTo>
                    <a:pt x="33507" y="2098806"/>
                  </a:lnTo>
                  <a:lnTo>
                    <a:pt x="16068" y="2087044"/>
                  </a:lnTo>
                  <a:lnTo>
                    <a:pt x="4311" y="2069601"/>
                  </a:lnTo>
                  <a:lnTo>
                    <a:pt x="0" y="2048243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67628" y="1618487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4" h="457200">
                  <a:moveTo>
                    <a:pt x="24323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2432304" y="457200"/>
                  </a:lnTo>
                  <a:lnTo>
                    <a:pt x="2450099" y="453606"/>
                  </a:lnTo>
                  <a:lnTo>
                    <a:pt x="2464631" y="443807"/>
                  </a:lnTo>
                  <a:lnTo>
                    <a:pt x="2474430" y="429275"/>
                  </a:lnTo>
                  <a:lnTo>
                    <a:pt x="2478024" y="411480"/>
                  </a:lnTo>
                  <a:lnTo>
                    <a:pt x="2478024" y="45720"/>
                  </a:lnTo>
                  <a:lnTo>
                    <a:pt x="2474430" y="27924"/>
                  </a:lnTo>
                  <a:lnTo>
                    <a:pt x="2464631" y="13392"/>
                  </a:lnTo>
                  <a:lnTo>
                    <a:pt x="2450099" y="3593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67628" y="1618487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432304" y="0"/>
                  </a:lnTo>
                  <a:lnTo>
                    <a:pt x="2450099" y="3593"/>
                  </a:lnTo>
                  <a:lnTo>
                    <a:pt x="2464631" y="13392"/>
                  </a:lnTo>
                  <a:lnTo>
                    <a:pt x="2474430" y="27924"/>
                  </a:lnTo>
                  <a:lnTo>
                    <a:pt x="2478024" y="45720"/>
                  </a:lnTo>
                  <a:lnTo>
                    <a:pt x="2478024" y="411480"/>
                  </a:lnTo>
                  <a:lnTo>
                    <a:pt x="2474430" y="429275"/>
                  </a:lnTo>
                  <a:lnTo>
                    <a:pt x="2464631" y="443807"/>
                  </a:lnTo>
                  <a:lnTo>
                    <a:pt x="2450099" y="453606"/>
                  </a:lnTo>
                  <a:lnTo>
                    <a:pt x="24323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75774" y="1701799"/>
            <a:ext cx="2461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2D2A5E"/>
                </a:solidFill>
                <a:latin typeface="Trebuchet MS"/>
                <a:cs typeface="Trebuchet MS"/>
              </a:rPr>
              <a:t>Existential</a:t>
            </a:r>
            <a:r>
              <a:rPr sz="1600" b="1" spc="-7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D2A5E"/>
                </a:solidFill>
                <a:latin typeface="Trebuchet MS"/>
                <a:cs typeface="Trebuchet MS"/>
              </a:rPr>
              <a:t>instantiation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66405" y="2168144"/>
            <a:ext cx="2680970" cy="1187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∃xP(x)</a:t>
            </a:r>
            <a:endParaRPr sz="1850">
              <a:latin typeface="Cambria Math"/>
              <a:cs typeface="Cambria Math"/>
            </a:endParaRPr>
          </a:p>
          <a:p>
            <a:pPr marL="17399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P(c)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for some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c</a:t>
            </a:r>
            <a:endParaRPr sz="1850">
              <a:latin typeface="Cambria Math"/>
              <a:cs typeface="Cambria Math"/>
            </a:endParaRPr>
          </a:p>
          <a:p>
            <a:pPr marL="173990" marR="344170">
              <a:lnSpc>
                <a:spcPct val="100499"/>
              </a:lnSpc>
              <a:spcBef>
                <a:spcPts val="195"/>
              </a:spcBef>
            </a:pP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If</a:t>
            </a:r>
            <a:r>
              <a:rPr sz="1850" spc="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some</a:t>
            </a:r>
            <a:r>
              <a:rPr sz="1850" spc="-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element</a:t>
            </a:r>
            <a:r>
              <a:rPr sz="1850" spc="-3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has</a:t>
            </a:r>
            <a:r>
              <a:rPr sz="1850" spc="-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40" dirty="0">
                <a:solidFill>
                  <a:srgbClr val="6B6890"/>
                </a:solidFill>
                <a:latin typeface="Calibri"/>
                <a:cs typeface="Calibri"/>
              </a:rPr>
              <a:t>P,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call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it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6B6890"/>
                </a:solidFill>
                <a:latin typeface="Calibri"/>
                <a:cs typeface="Calibri"/>
              </a:rPr>
              <a:t>c.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8850" y="3715258"/>
            <a:ext cx="195579" cy="25044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254208" y="3949700"/>
            <a:ext cx="30480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03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86190" y="4245616"/>
            <a:ext cx="2767965" cy="2173605"/>
            <a:chOff x="8886190" y="4245616"/>
            <a:chExt cx="2767965" cy="2173605"/>
          </a:xfrm>
        </p:grpSpPr>
        <p:sp>
          <p:nvSpPr>
            <p:cNvPr id="37" name="object 37"/>
            <p:cNvSpPr/>
            <p:nvPr/>
          </p:nvSpPr>
          <p:spPr>
            <a:xfrm>
              <a:off x="8956548" y="4315974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92540" y="42519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426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048243"/>
                  </a:lnTo>
                  <a:lnTo>
                    <a:pt x="4311" y="2069601"/>
                  </a:lnTo>
                  <a:lnTo>
                    <a:pt x="16068" y="2087044"/>
                  </a:lnTo>
                  <a:lnTo>
                    <a:pt x="33507" y="2098806"/>
                  </a:lnTo>
                  <a:lnTo>
                    <a:pt x="54864" y="2103120"/>
                  </a:lnTo>
                  <a:lnTo>
                    <a:pt x="2642616" y="2103120"/>
                  </a:lnTo>
                  <a:lnTo>
                    <a:pt x="2663972" y="2098806"/>
                  </a:lnTo>
                  <a:lnTo>
                    <a:pt x="2681411" y="2087044"/>
                  </a:lnTo>
                  <a:lnTo>
                    <a:pt x="2693168" y="2069601"/>
                  </a:lnTo>
                  <a:lnTo>
                    <a:pt x="2697480" y="2048243"/>
                  </a:lnTo>
                  <a:lnTo>
                    <a:pt x="2697480" y="54863"/>
                  </a:lnTo>
                  <a:lnTo>
                    <a:pt x="2693168" y="33507"/>
                  </a:lnTo>
                  <a:lnTo>
                    <a:pt x="2681411" y="16068"/>
                  </a:lnTo>
                  <a:lnTo>
                    <a:pt x="2663972" y="4311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92540" y="4251966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2642616" y="0"/>
                  </a:lnTo>
                  <a:lnTo>
                    <a:pt x="2663972" y="4311"/>
                  </a:lnTo>
                  <a:lnTo>
                    <a:pt x="2681411" y="16068"/>
                  </a:lnTo>
                  <a:lnTo>
                    <a:pt x="2693168" y="33507"/>
                  </a:lnTo>
                  <a:lnTo>
                    <a:pt x="2697480" y="54863"/>
                  </a:lnTo>
                  <a:lnTo>
                    <a:pt x="2697480" y="2048243"/>
                  </a:lnTo>
                  <a:lnTo>
                    <a:pt x="2693168" y="2069601"/>
                  </a:lnTo>
                  <a:lnTo>
                    <a:pt x="2681411" y="2087044"/>
                  </a:lnTo>
                  <a:lnTo>
                    <a:pt x="2663972" y="2098806"/>
                  </a:lnTo>
                  <a:lnTo>
                    <a:pt x="2642616" y="2103120"/>
                  </a:lnTo>
                  <a:lnTo>
                    <a:pt x="54864" y="2103120"/>
                  </a:lnTo>
                  <a:lnTo>
                    <a:pt x="33507" y="2098806"/>
                  </a:lnTo>
                  <a:lnTo>
                    <a:pt x="16068" y="2087044"/>
                  </a:lnTo>
                  <a:lnTo>
                    <a:pt x="4311" y="2069601"/>
                  </a:lnTo>
                  <a:lnTo>
                    <a:pt x="0" y="2048243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02268" y="4361688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4" h="457200">
                  <a:moveTo>
                    <a:pt x="24323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11479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199"/>
                  </a:lnTo>
                  <a:lnTo>
                    <a:pt x="2432304" y="457199"/>
                  </a:lnTo>
                  <a:lnTo>
                    <a:pt x="2450099" y="453606"/>
                  </a:lnTo>
                  <a:lnTo>
                    <a:pt x="2464631" y="443807"/>
                  </a:lnTo>
                  <a:lnTo>
                    <a:pt x="2474430" y="429275"/>
                  </a:lnTo>
                  <a:lnTo>
                    <a:pt x="2478024" y="411479"/>
                  </a:lnTo>
                  <a:lnTo>
                    <a:pt x="2478024" y="45719"/>
                  </a:lnTo>
                  <a:lnTo>
                    <a:pt x="2474430" y="27924"/>
                  </a:lnTo>
                  <a:lnTo>
                    <a:pt x="2464631" y="13392"/>
                  </a:lnTo>
                  <a:lnTo>
                    <a:pt x="2450099" y="3593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002268" y="4361688"/>
              <a:ext cx="2478405" cy="457200"/>
            </a:xfrm>
            <a:custGeom>
              <a:avLst/>
              <a:gdLst/>
              <a:ahLst/>
              <a:cxnLst/>
              <a:rect l="l" t="t" r="r" b="b"/>
              <a:pathLst>
                <a:path w="2478404" h="457200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2432304" y="0"/>
                  </a:lnTo>
                  <a:lnTo>
                    <a:pt x="2450099" y="3593"/>
                  </a:lnTo>
                  <a:lnTo>
                    <a:pt x="2464631" y="13392"/>
                  </a:lnTo>
                  <a:lnTo>
                    <a:pt x="2474430" y="27924"/>
                  </a:lnTo>
                  <a:lnTo>
                    <a:pt x="2478024" y="45719"/>
                  </a:lnTo>
                  <a:lnTo>
                    <a:pt x="2478024" y="411479"/>
                  </a:lnTo>
                  <a:lnTo>
                    <a:pt x="2474430" y="429275"/>
                  </a:lnTo>
                  <a:lnTo>
                    <a:pt x="2464631" y="443807"/>
                  </a:lnTo>
                  <a:lnTo>
                    <a:pt x="2450099" y="453606"/>
                  </a:lnTo>
                  <a:lnTo>
                    <a:pt x="2432304" y="457199"/>
                  </a:lnTo>
                  <a:lnTo>
                    <a:pt x="45720" y="457199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79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010414" y="4445000"/>
            <a:ext cx="2461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2D2A5E"/>
                </a:solidFill>
                <a:latin typeface="Trebuchet MS"/>
                <a:cs typeface="Trebuchet MS"/>
              </a:rPr>
              <a:t>Existential</a:t>
            </a:r>
            <a:r>
              <a:rPr sz="1600" b="1" spc="-6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D2A5E"/>
                </a:solidFill>
                <a:latin typeface="Trebuchet MS"/>
                <a:cs typeface="Trebuchet MS"/>
              </a:rPr>
              <a:t>generalization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01045" y="4911344"/>
            <a:ext cx="2680970" cy="1190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P(c)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for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some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c</a:t>
            </a:r>
            <a:endParaRPr sz="1850">
              <a:latin typeface="Cambria Math"/>
              <a:cs typeface="Cambria Math"/>
            </a:endParaRPr>
          </a:p>
          <a:p>
            <a:pPr marL="17399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∃xP(x)</a:t>
            </a:r>
            <a:endParaRPr sz="1850">
              <a:latin typeface="Cambria Math"/>
              <a:cs typeface="Cambria Math"/>
            </a:endParaRPr>
          </a:p>
          <a:p>
            <a:pPr marL="173990">
              <a:lnSpc>
                <a:spcPct val="100000"/>
              </a:lnSpc>
              <a:spcBef>
                <a:spcPts val="204"/>
              </a:spcBef>
            </a:pP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From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a</a:t>
            </a:r>
            <a:r>
              <a:rPr sz="1850" spc="1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known</a:t>
            </a:r>
            <a:r>
              <a:rPr sz="1850" spc="-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6B6890"/>
                </a:solidFill>
                <a:latin typeface="Calibri"/>
                <a:cs typeface="Calibri"/>
              </a:rPr>
              <a:t>P(c),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6B6890"/>
                </a:solidFill>
                <a:latin typeface="Calibri"/>
                <a:cs typeface="Calibri"/>
              </a:rPr>
              <a:t>infer</a:t>
            </a:r>
            <a:endParaRPr sz="185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35"/>
              </a:spcBef>
            </a:pPr>
            <a:r>
              <a:rPr sz="1850" spc="-10" dirty="0">
                <a:solidFill>
                  <a:srgbClr val="6B6890"/>
                </a:solidFill>
                <a:latin typeface="Cambria Math"/>
                <a:cs typeface="Cambria Math"/>
              </a:rPr>
              <a:t>∃</a:t>
            </a:r>
            <a:r>
              <a:rPr sz="1850" spc="-10" dirty="0">
                <a:solidFill>
                  <a:srgbClr val="6B6890"/>
                </a:solidFill>
                <a:latin typeface="Calibri"/>
                <a:cs typeface="Calibri"/>
              </a:rPr>
              <a:t>xP(x).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3490" y="3715258"/>
            <a:ext cx="195579" cy="250444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0087324" y="3949700"/>
            <a:ext cx="3079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2D2A5E"/>
                </a:solidFill>
                <a:latin typeface="Trebuchet MS"/>
                <a:cs typeface="Trebuchet MS"/>
              </a:rPr>
              <a:t>04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65" dirty="0"/>
              <a:t>Universal</a:t>
            </a:r>
            <a:r>
              <a:rPr spc="-220" dirty="0"/>
              <a:t> </a:t>
            </a:r>
            <a:r>
              <a:rPr spc="60" dirty="0"/>
              <a:t>rules</a:t>
            </a:r>
            <a:r>
              <a:rPr spc="-220" dirty="0"/>
              <a:t> </a:t>
            </a:r>
            <a:r>
              <a:rPr spc="-30" dirty="0"/>
              <a:t>in</a:t>
            </a:r>
            <a:r>
              <a:rPr spc="-190" dirty="0"/>
              <a:t> </a:t>
            </a:r>
            <a:r>
              <a:rPr spc="45" dirty="0"/>
              <a:t>detail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65247"/>
            <a:ext cx="5419725" cy="4947285"/>
            <a:chOff x="633730" y="1365247"/>
            <a:chExt cx="5419725" cy="4947285"/>
          </a:xfrm>
        </p:grpSpPr>
        <p:sp>
          <p:nvSpPr>
            <p:cNvPr id="4" name="object 4"/>
            <p:cNvSpPr/>
            <p:nvPr/>
          </p:nvSpPr>
          <p:spPr>
            <a:xfrm>
              <a:off x="704088" y="1435605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0" y="117043"/>
                  </a:moveTo>
                  <a:lnTo>
                    <a:pt x="9197" y="71483"/>
                  </a:lnTo>
                  <a:lnTo>
                    <a:pt x="34280" y="34280"/>
                  </a:lnTo>
                  <a:lnTo>
                    <a:pt x="71483" y="9197"/>
                  </a:lnTo>
                  <a:lnTo>
                    <a:pt x="117043" y="0"/>
                  </a:lnTo>
                  <a:lnTo>
                    <a:pt x="5232196" y="0"/>
                  </a:lnTo>
                  <a:lnTo>
                    <a:pt x="5277756" y="9197"/>
                  </a:lnTo>
                  <a:lnTo>
                    <a:pt x="5314959" y="34280"/>
                  </a:lnTo>
                  <a:lnTo>
                    <a:pt x="5340042" y="71483"/>
                  </a:lnTo>
                  <a:lnTo>
                    <a:pt x="5349240" y="117043"/>
                  </a:lnTo>
                  <a:lnTo>
                    <a:pt x="5349240" y="4759756"/>
                  </a:lnTo>
                  <a:lnTo>
                    <a:pt x="5340042" y="4805316"/>
                  </a:lnTo>
                  <a:lnTo>
                    <a:pt x="5314959" y="4842519"/>
                  </a:lnTo>
                  <a:lnTo>
                    <a:pt x="5277756" y="4867602"/>
                  </a:lnTo>
                  <a:lnTo>
                    <a:pt x="5232196" y="4876800"/>
                  </a:lnTo>
                  <a:lnTo>
                    <a:pt x="117043" y="4876800"/>
                  </a:lnTo>
                  <a:lnTo>
                    <a:pt x="71483" y="4867602"/>
                  </a:lnTo>
                  <a:lnTo>
                    <a:pt x="34280" y="4842519"/>
                  </a:lnTo>
                  <a:lnTo>
                    <a:pt x="9197" y="4805316"/>
                  </a:lnTo>
                  <a:lnTo>
                    <a:pt x="0" y="4759756"/>
                  </a:lnTo>
                  <a:lnTo>
                    <a:pt x="0" y="11704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95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Universal</a:t>
            </a:r>
            <a:r>
              <a:rPr sz="1850" b="1" spc="2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instantiation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078" y="2056809"/>
            <a:ext cx="788670" cy="844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20"/>
              </a:spcBef>
            </a:pPr>
            <a:r>
              <a:rPr sz="1850" b="1" spc="-20" dirty="0">
                <a:solidFill>
                  <a:srgbClr val="6B6890"/>
                </a:solidFill>
                <a:latin typeface="Calibri"/>
                <a:cs typeface="Calibri"/>
              </a:rPr>
              <a:t>FORM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∀x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P(x)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P(c)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7700" y="2059939"/>
            <a:ext cx="2569845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CONDITION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30"/>
              </a:lnSpc>
              <a:spcBef>
                <a:spcPts val="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domain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element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has </a:t>
            </a:r>
            <a:r>
              <a:rPr sz="1850" spc="-114" dirty="0">
                <a:solidFill>
                  <a:srgbClr val="2D2A5E"/>
                </a:solidFill>
                <a:latin typeface="Calibri"/>
                <a:cs typeface="Calibri"/>
              </a:rPr>
              <a:t>P,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any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chosen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does.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6983" y="3126990"/>
            <a:ext cx="4813300" cy="2866390"/>
            <a:chOff x="926983" y="3126990"/>
            <a:chExt cx="4813300" cy="2866390"/>
          </a:xfrm>
        </p:grpSpPr>
        <p:sp>
          <p:nvSpPr>
            <p:cNvPr id="13" name="object 13"/>
            <p:cNvSpPr/>
            <p:nvPr/>
          </p:nvSpPr>
          <p:spPr>
            <a:xfrm>
              <a:off x="933333" y="3133340"/>
              <a:ext cx="4800600" cy="2853690"/>
            </a:xfrm>
            <a:custGeom>
              <a:avLst/>
              <a:gdLst/>
              <a:ahLst/>
              <a:cxnLst/>
              <a:rect l="l" t="t" r="r" b="b"/>
              <a:pathLst>
                <a:path w="4800600" h="2853690">
                  <a:moveTo>
                    <a:pt x="4628794" y="0"/>
                  </a:moveTo>
                  <a:lnTo>
                    <a:pt x="171196" y="0"/>
                  </a:lnTo>
                  <a:lnTo>
                    <a:pt x="125684" y="6115"/>
                  </a:lnTo>
                  <a:lnTo>
                    <a:pt x="84788" y="23372"/>
                  </a:lnTo>
                  <a:lnTo>
                    <a:pt x="50141" y="50141"/>
                  </a:lnTo>
                  <a:lnTo>
                    <a:pt x="23372" y="84788"/>
                  </a:lnTo>
                  <a:lnTo>
                    <a:pt x="6115" y="125684"/>
                  </a:lnTo>
                  <a:lnTo>
                    <a:pt x="0" y="171196"/>
                  </a:lnTo>
                  <a:lnTo>
                    <a:pt x="0" y="2682125"/>
                  </a:lnTo>
                  <a:lnTo>
                    <a:pt x="6115" y="2727637"/>
                  </a:lnTo>
                  <a:lnTo>
                    <a:pt x="23372" y="2768532"/>
                  </a:lnTo>
                  <a:lnTo>
                    <a:pt x="50141" y="2803180"/>
                  </a:lnTo>
                  <a:lnTo>
                    <a:pt x="84788" y="2829948"/>
                  </a:lnTo>
                  <a:lnTo>
                    <a:pt x="125684" y="2847206"/>
                  </a:lnTo>
                  <a:lnTo>
                    <a:pt x="171196" y="2853321"/>
                  </a:lnTo>
                  <a:lnTo>
                    <a:pt x="4628794" y="2853321"/>
                  </a:lnTo>
                  <a:lnTo>
                    <a:pt x="4674306" y="2847206"/>
                  </a:lnTo>
                  <a:lnTo>
                    <a:pt x="4715204" y="2829948"/>
                  </a:lnTo>
                  <a:lnTo>
                    <a:pt x="4749855" y="2803180"/>
                  </a:lnTo>
                  <a:lnTo>
                    <a:pt x="4776627" y="2768532"/>
                  </a:lnTo>
                  <a:lnTo>
                    <a:pt x="4793887" y="2727637"/>
                  </a:lnTo>
                  <a:lnTo>
                    <a:pt x="4800003" y="2682125"/>
                  </a:lnTo>
                  <a:lnTo>
                    <a:pt x="4800003" y="171196"/>
                  </a:lnTo>
                  <a:lnTo>
                    <a:pt x="4793887" y="125684"/>
                  </a:lnTo>
                  <a:lnTo>
                    <a:pt x="4776627" y="84788"/>
                  </a:lnTo>
                  <a:lnTo>
                    <a:pt x="4749855" y="50141"/>
                  </a:lnTo>
                  <a:lnTo>
                    <a:pt x="4715204" y="23372"/>
                  </a:lnTo>
                  <a:lnTo>
                    <a:pt x="4674306" y="6115"/>
                  </a:lnTo>
                  <a:lnTo>
                    <a:pt x="4628794" y="0"/>
                  </a:lnTo>
                  <a:close/>
                </a:path>
              </a:pathLst>
            </a:custGeom>
            <a:solidFill>
              <a:srgbClr val="FFF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3333" y="3133340"/>
              <a:ext cx="4800600" cy="2853690"/>
            </a:xfrm>
            <a:custGeom>
              <a:avLst/>
              <a:gdLst/>
              <a:ahLst/>
              <a:cxnLst/>
              <a:rect l="l" t="t" r="r" b="b"/>
              <a:pathLst>
                <a:path w="4800600" h="2853690">
                  <a:moveTo>
                    <a:pt x="0" y="171196"/>
                  </a:moveTo>
                  <a:lnTo>
                    <a:pt x="6115" y="125684"/>
                  </a:lnTo>
                  <a:lnTo>
                    <a:pt x="23372" y="84788"/>
                  </a:lnTo>
                  <a:lnTo>
                    <a:pt x="50141" y="50141"/>
                  </a:lnTo>
                  <a:lnTo>
                    <a:pt x="84788" y="23372"/>
                  </a:lnTo>
                  <a:lnTo>
                    <a:pt x="125684" y="6115"/>
                  </a:lnTo>
                  <a:lnTo>
                    <a:pt x="171196" y="0"/>
                  </a:lnTo>
                  <a:lnTo>
                    <a:pt x="4628794" y="0"/>
                  </a:lnTo>
                  <a:lnTo>
                    <a:pt x="4674306" y="6115"/>
                  </a:lnTo>
                  <a:lnTo>
                    <a:pt x="4715204" y="23372"/>
                  </a:lnTo>
                  <a:lnTo>
                    <a:pt x="4749855" y="50141"/>
                  </a:lnTo>
                  <a:lnTo>
                    <a:pt x="4776627" y="84788"/>
                  </a:lnTo>
                  <a:lnTo>
                    <a:pt x="4793887" y="125684"/>
                  </a:lnTo>
                  <a:lnTo>
                    <a:pt x="4800003" y="171196"/>
                  </a:lnTo>
                  <a:lnTo>
                    <a:pt x="4800003" y="2682125"/>
                  </a:lnTo>
                  <a:lnTo>
                    <a:pt x="4793887" y="2727637"/>
                  </a:lnTo>
                  <a:lnTo>
                    <a:pt x="4776627" y="2768532"/>
                  </a:lnTo>
                  <a:lnTo>
                    <a:pt x="4749855" y="2803180"/>
                  </a:lnTo>
                  <a:lnTo>
                    <a:pt x="4715204" y="2829948"/>
                  </a:lnTo>
                  <a:lnTo>
                    <a:pt x="4674306" y="2847206"/>
                  </a:lnTo>
                  <a:lnTo>
                    <a:pt x="4628794" y="2853321"/>
                  </a:lnTo>
                  <a:lnTo>
                    <a:pt x="171196" y="2853321"/>
                  </a:lnTo>
                  <a:lnTo>
                    <a:pt x="125684" y="2847206"/>
                  </a:lnTo>
                  <a:lnTo>
                    <a:pt x="84788" y="2829948"/>
                  </a:lnTo>
                  <a:lnTo>
                    <a:pt x="50141" y="2803180"/>
                  </a:lnTo>
                  <a:lnTo>
                    <a:pt x="23372" y="2768532"/>
                  </a:lnTo>
                  <a:lnTo>
                    <a:pt x="6115" y="2727637"/>
                  </a:lnTo>
                  <a:lnTo>
                    <a:pt x="0" y="2682125"/>
                  </a:lnTo>
                  <a:lnTo>
                    <a:pt x="0" y="171196"/>
                  </a:lnTo>
                  <a:close/>
                </a:path>
              </a:pathLst>
            </a:custGeom>
            <a:ln w="12700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40632" y="3201775"/>
            <a:ext cx="4133850" cy="84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EXAMPLE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499"/>
              </a:lnSpc>
              <a:spcBef>
                <a:spcPts val="6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1)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square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four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sides.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Shape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a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square;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four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sides.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0632" y="4223063"/>
            <a:ext cx="433451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2)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even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integer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divisible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by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2.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Eight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is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even;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8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divisible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by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2.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1570" y="1365247"/>
            <a:ext cx="5419725" cy="4947285"/>
            <a:chOff x="6211570" y="1365247"/>
            <a:chExt cx="5419725" cy="4947285"/>
          </a:xfrm>
        </p:grpSpPr>
        <p:sp>
          <p:nvSpPr>
            <p:cNvPr id="18" name="object 18"/>
            <p:cNvSpPr/>
            <p:nvPr/>
          </p:nvSpPr>
          <p:spPr>
            <a:xfrm>
              <a:off x="6281928" y="1435605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792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1792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0" y="117043"/>
                  </a:moveTo>
                  <a:lnTo>
                    <a:pt x="9197" y="71483"/>
                  </a:lnTo>
                  <a:lnTo>
                    <a:pt x="34280" y="34280"/>
                  </a:lnTo>
                  <a:lnTo>
                    <a:pt x="71483" y="9197"/>
                  </a:lnTo>
                  <a:lnTo>
                    <a:pt x="117043" y="0"/>
                  </a:lnTo>
                  <a:lnTo>
                    <a:pt x="5232196" y="0"/>
                  </a:lnTo>
                  <a:lnTo>
                    <a:pt x="5277756" y="9197"/>
                  </a:lnTo>
                  <a:lnTo>
                    <a:pt x="5314959" y="34280"/>
                  </a:lnTo>
                  <a:lnTo>
                    <a:pt x="5340042" y="71483"/>
                  </a:lnTo>
                  <a:lnTo>
                    <a:pt x="5349240" y="117043"/>
                  </a:lnTo>
                  <a:lnTo>
                    <a:pt x="5349240" y="4759756"/>
                  </a:lnTo>
                  <a:lnTo>
                    <a:pt x="5340042" y="4805316"/>
                  </a:lnTo>
                  <a:lnTo>
                    <a:pt x="5314959" y="4842519"/>
                  </a:lnTo>
                  <a:lnTo>
                    <a:pt x="5277756" y="4867602"/>
                  </a:lnTo>
                  <a:lnTo>
                    <a:pt x="5232196" y="4876800"/>
                  </a:lnTo>
                  <a:lnTo>
                    <a:pt x="117043" y="4876800"/>
                  </a:lnTo>
                  <a:lnTo>
                    <a:pt x="71483" y="4867602"/>
                  </a:lnTo>
                  <a:lnTo>
                    <a:pt x="34280" y="4842519"/>
                  </a:lnTo>
                  <a:lnTo>
                    <a:pt x="9197" y="4805316"/>
                  </a:lnTo>
                  <a:lnTo>
                    <a:pt x="0" y="4759756"/>
                  </a:lnTo>
                  <a:lnTo>
                    <a:pt x="0" y="11704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3579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Universal</a:t>
            </a:r>
            <a:r>
              <a:rPr sz="1850" b="1" spc="2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generalization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33887" y="2056809"/>
            <a:ext cx="1983739" cy="844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20"/>
              </a:spcBef>
            </a:pPr>
            <a:r>
              <a:rPr sz="1850" b="1" spc="-20" dirty="0">
                <a:solidFill>
                  <a:srgbClr val="6B6890"/>
                </a:solidFill>
                <a:latin typeface="Calibri"/>
                <a:cs typeface="Calibri"/>
              </a:rPr>
              <a:t>FORM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P(c),</a:t>
            </a:r>
            <a:r>
              <a:rPr sz="185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for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arbitrary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c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∀x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P(x)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65540" y="2059939"/>
            <a:ext cx="2569845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CONDITION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30"/>
              </a:lnSpc>
              <a:spcBef>
                <a:spcPts val="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Use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 arbitrary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c,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with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no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special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assumptions.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00316" y="3126990"/>
            <a:ext cx="4813300" cy="2866390"/>
            <a:chOff x="6500316" y="3126990"/>
            <a:chExt cx="4813300" cy="2866390"/>
          </a:xfrm>
        </p:grpSpPr>
        <p:sp>
          <p:nvSpPr>
            <p:cNvPr id="27" name="object 27"/>
            <p:cNvSpPr/>
            <p:nvPr/>
          </p:nvSpPr>
          <p:spPr>
            <a:xfrm>
              <a:off x="6506666" y="3133340"/>
              <a:ext cx="4800600" cy="2853690"/>
            </a:xfrm>
            <a:custGeom>
              <a:avLst/>
              <a:gdLst/>
              <a:ahLst/>
              <a:cxnLst/>
              <a:rect l="l" t="t" r="r" b="b"/>
              <a:pathLst>
                <a:path w="4800600" h="2853690">
                  <a:moveTo>
                    <a:pt x="4628794" y="0"/>
                  </a:moveTo>
                  <a:lnTo>
                    <a:pt x="171196" y="0"/>
                  </a:lnTo>
                  <a:lnTo>
                    <a:pt x="125684" y="6115"/>
                  </a:lnTo>
                  <a:lnTo>
                    <a:pt x="84788" y="23372"/>
                  </a:lnTo>
                  <a:lnTo>
                    <a:pt x="50141" y="50141"/>
                  </a:lnTo>
                  <a:lnTo>
                    <a:pt x="23372" y="84788"/>
                  </a:lnTo>
                  <a:lnTo>
                    <a:pt x="6115" y="125684"/>
                  </a:lnTo>
                  <a:lnTo>
                    <a:pt x="0" y="171196"/>
                  </a:lnTo>
                  <a:lnTo>
                    <a:pt x="0" y="2682125"/>
                  </a:lnTo>
                  <a:lnTo>
                    <a:pt x="6115" y="2727637"/>
                  </a:lnTo>
                  <a:lnTo>
                    <a:pt x="23372" y="2768532"/>
                  </a:lnTo>
                  <a:lnTo>
                    <a:pt x="50141" y="2803180"/>
                  </a:lnTo>
                  <a:lnTo>
                    <a:pt x="84788" y="2829948"/>
                  </a:lnTo>
                  <a:lnTo>
                    <a:pt x="125684" y="2847206"/>
                  </a:lnTo>
                  <a:lnTo>
                    <a:pt x="171196" y="2853321"/>
                  </a:lnTo>
                  <a:lnTo>
                    <a:pt x="4628794" y="2853321"/>
                  </a:lnTo>
                  <a:lnTo>
                    <a:pt x="4674306" y="2847206"/>
                  </a:lnTo>
                  <a:lnTo>
                    <a:pt x="4715204" y="2829948"/>
                  </a:lnTo>
                  <a:lnTo>
                    <a:pt x="4749855" y="2803180"/>
                  </a:lnTo>
                  <a:lnTo>
                    <a:pt x="4776627" y="2768532"/>
                  </a:lnTo>
                  <a:lnTo>
                    <a:pt x="4793887" y="2727637"/>
                  </a:lnTo>
                  <a:lnTo>
                    <a:pt x="4800003" y="2682125"/>
                  </a:lnTo>
                  <a:lnTo>
                    <a:pt x="4800003" y="171196"/>
                  </a:lnTo>
                  <a:lnTo>
                    <a:pt x="4793887" y="125684"/>
                  </a:lnTo>
                  <a:lnTo>
                    <a:pt x="4776627" y="84788"/>
                  </a:lnTo>
                  <a:lnTo>
                    <a:pt x="4749855" y="50141"/>
                  </a:lnTo>
                  <a:lnTo>
                    <a:pt x="4715204" y="23372"/>
                  </a:lnTo>
                  <a:lnTo>
                    <a:pt x="4674306" y="6115"/>
                  </a:lnTo>
                  <a:lnTo>
                    <a:pt x="4628794" y="0"/>
                  </a:lnTo>
                  <a:close/>
                </a:path>
              </a:pathLst>
            </a:custGeom>
            <a:solidFill>
              <a:srgbClr val="FFF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06666" y="3133340"/>
              <a:ext cx="4800600" cy="2853690"/>
            </a:xfrm>
            <a:custGeom>
              <a:avLst/>
              <a:gdLst/>
              <a:ahLst/>
              <a:cxnLst/>
              <a:rect l="l" t="t" r="r" b="b"/>
              <a:pathLst>
                <a:path w="4800600" h="2853690">
                  <a:moveTo>
                    <a:pt x="0" y="171196"/>
                  </a:moveTo>
                  <a:lnTo>
                    <a:pt x="6115" y="125684"/>
                  </a:lnTo>
                  <a:lnTo>
                    <a:pt x="23372" y="84788"/>
                  </a:lnTo>
                  <a:lnTo>
                    <a:pt x="50141" y="50141"/>
                  </a:lnTo>
                  <a:lnTo>
                    <a:pt x="84788" y="23372"/>
                  </a:lnTo>
                  <a:lnTo>
                    <a:pt x="125684" y="6115"/>
                  </a:lnTo>
                  <a:lnTo>
                    <a:pt x="171196" y="0"/>
                  </a:lnTo>
                  <a:lnTo>
                    <a:pt x="4628794" y="0"/>
                  </a:lnTo>
                  <a:lnTo>
                    <a:pt x="4674306" y="6115"/>
                  </a:lnTo>
                  <a:lnTo>
                    <a:pt x="4715204" y="23372"/>
                  </a:lnTo>
                  <a:lnTo>
                    <a:pt x="4749855" y="50141"/>
                  </a:lnTo>
                  <a:lnTo>
                    <a:pt x="4776627" y="84788"/>
                  </a:lnTo>
                  <a:lnTo>
                    <a:pt x="4793887" y="125684"/>
                  </a:lnTo>
                  <a:lnTo>
                    <a:pt x="4800003" y="171196"/>
                  </a:lnTo>
                  <a:lnTo>
                    <a:pt x="4800003" y="2682125"/>
                  </a:lnTo>
                  <a:lnTo>
                    <a:pt x="4793887" y="2727637"/>
                  </a:lnTo>
                  <a:lnTo>
                    <a:pt x="4776627" y="2768532"/>
                  </a:lnTo>
                  <a:lnTo>
                    <a:pt x="4749855" y="2803180"/>
                  </a:lnTo>
                  <a:lnTo>
                    <a:pt x="4715204" y="2829948"/>
                  </a:lnTo>
                  <a:lnTo>
                    <a:pt x="4674306" y="2847206"/>
                  </a:lnTo>
                  <a:lnTo>
                    <a:pt x="4628794" y="2853321"/>
                  </a:lnTo>
                  <a:lnTo>
                    <a:pt x="171196" y="2853321"/>
                  </a:lnTo>
                  <a:lnTo>
                    <a:pt x="125684" y="2847206"/>
                  </a:lnTo>
                  <a:lnTo>
                    <a:pt x="84788" y="2829948"/>
                  </a:lnTo>
                  <a:lnTo>
                    <a:pt x="50141" y="2803180"/>
                  </a:lnTo>
                  <a:lnTo>
                    <a:pt x="23372" y="2768532"/>
                  </a:lnTo>
                  <a:lnTo>
                    <a:pt x="6115" y="2727637"/>
                  </a:lnTo>
                  <a:lnTo>
                    <a:pt x="0" y="2682125"/>
                  </a:lnTo>
                  <a:lnTo>
                    <a:pt x="0" y="171196"/>
                  </a:lnTo>
                  <a:close/>
                </a:path>
              </a:pathLst>
            </a:custGeom>
            <a:ln w="12700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13966" y="3201775"/>
            <a:ext cx="4192270" cy="84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EXAMPLE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499"/>
              </a:lnSpc>
              <a:spcBef>
                <a:spcPts val="6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1)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Let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 arbitrary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integer.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 +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 =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2n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is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even,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+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even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integer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n.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23</a:t>
            </a:fld>
            <a:r>
              <a:rPr spc="-10" dirty="0"/>
              <a:t>/28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613966" y="4223063"/>
            <a:ext cx="4078604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2)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arbitrary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integer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n,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n²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≥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0;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therefore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every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integer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square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nonnegative.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dirty="0"/>
              <a:t>Existential</a:t>
            </a:r>
            <a:r>
              <a:rPr spc="-125" dirty="0"/>
              <a:t> </a:t>
            </a:r>
            <a:r>
              <a:rPr spc="60" dirty="0"/>
              <a:t>rules</a:t>
            </a:r>
            <a:r>
              <a:rPr spc="-165" dirty="0"/>
              <a:t> </a:t>
            </a:r>
            <a:r>
              <a:rPr spc="-35" dirty="0"/>
              <a:t>in</a:t>
            </a:r>
            <a:r>
              <a:rPr spc="-125" dirty="0"/>
              <a:t> </a:t>
            </a:r>
            <a:r>
              <a:rPr spc="45" dirty="0"/>
              <a:t>detail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65247"/>
            <a:ext cx="5419725" cy="4947285"/>
            <a:chOff x="633730" y="1365247"/>
            <a:chExt cx="5419725" cy="4947285"/>
          </a:xfrm>
        </p:grpSpPr>
        <p:sp>
          <p:nvSpPr>
            <p:cNvPr id="4" name="object 4"/>
            <p:cNvSpPr/>
            <p:nvPr/>
          </p:nvSpPr>
          <p:spPr>
            <a:xfrm>
              <a:off x="704088" y="1435605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0" y="117043"/>
                  </a:moveTo>
                  <a:lnTo>
                    <a:pt x="9197" y="71483"/>
                  </a:lnTo>
                  <a:lnTo>
                    <a:pt x="34280" y="34280"/>
                  </a:lnTo>
                  <a:lnTo>
                    <a:pt x="71483" y="9197"/>
                  </a:lnTo>
                  <a:lnTo>
                    <a:pt x="117043" y="0"/>
                  </a:lnTo>
                  <a:lnTo>
                    <a:pt x="5232196" y="0"/>
                  </a:lnTo>
                  <a:lnTo>
                    <a:pt x="5277756" y="9197"/>
                  </a:lnTo>
                  <a:lnTo>
                    <a:pt x="5314959" y="34280"/>
                  </a:lnTo>
                  <a:lnTo>
                    <a:pt x="5340042" y="71483"/>
                  </a:lnTo>
                  <a:lnTo>
                    <a:pt x="5349240" y="117043"/>
                  </a:lnTo>
                  <a:lnTo>
                    <a:pt x="5349240" y="4759756"/>
                  </a:lnTo>
                  <a:lnTo>
                    <a:pt x="5340042" y="4805316"/>
                  </a:lnTo>
                  <a:lnTo>
                    <a:pt x="5314959" y="4842519"/>
                  </a:lnTo>
                  <a:lnTo>
                    <a:pt x="5277756" y="4867602"/>
                  </a:lnTo>
                  <a:lnTo>
                    <a:pt x="5232196" y="4876800"/>
                  </a:lnTo>
                  <a:lnTo>
                    <a:pt x="117043" y="4876800"/>
                  </a:lnTo>
                  <a:lnTo>
                    <a:pt x="71483" y="4867602"/>
                  </a:lnTo>
                  <a:lnTo>
                    <a:pt x="34280" y="4842519"/>
                  </a:lnTo>
                  <a:lnTo>
                    <a:pt x="9197" y="4805316"/>
                  </a:lnTo>
                  <a:lnTo>
                    <a:pt x="0" y="4759756"/>
                  </a:lnTo>
                  <a:lnTo>
                    <a:pt x="0" y="11704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E9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795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Existential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instantiation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863" y="2056809"/>
            <a:ext cx="1853564" cy="844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20"/>
              </a:spcBef>
            </a:pPr>
            <a:r>
              <a:rPr sz="1850" b="1" spc="-20" dirty="0">
                <a:solidFill>
                  <a:srgbClr val="6B6890"/>
                </a:solidFill>
                <a:latin typeface="Calibri"/>
                <a:cs typeface="Calibri"/>
              </a:rPr>
              <a:t>FORM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∃x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P(x)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P(c),</a:t>
            </a: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for</a:t>
            </a:r>
            <a:r>
              <a:rPr sz="185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a</a:t>
            </a:r>
            <a:r>
              <a:rPr sz="1850" spc="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new</a:t>
            </a: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50" dirty="0">
                <a:solidFill>
                  <a:srgbClr val="2D2A5E"/>
                </a:solidFill>
                <a:latin typeface="Cambria Math"/>
                <a:cs typeface="Cambria Math"/>
              </a:rPr>
              <a:t>c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7700" y="2059939"/>
            <a:ext cx="2656840" cy="1108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CONDITION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30"/>
              </a:lnSpc>
              <a:spcBef>
                <a:spcPts val="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Choose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fresh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name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50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 witness;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assume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no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other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170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properties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of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c.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6983" y="3553645"/>
            <a:ext cx="4813300" cy="2346325"/>
            <a:chOff x="926983" y="3553645"/>
            <a:chExt cx="4813300" cy="2346325"/>
          </a:xfrm>
        </p:grpSpPr>
        <p:sp>
          <p:nvSpPr>
            <p:cNvPr id="13" name="object 13"/>
            <p:cNvSpPr/>
            <p:nvPr/>
          </p:nvSpPr>
          <p:spPr>
            <a:xfrm>
              <a:off x="933333" y="3559995"/>
              <a:ext cx="4800600" cy="2333625"/>
            </a:xfrm>
            <a:custGeom>
              <a:avLst/>
              <a:gdLst/>
              <a:ahLst/>
              <a:cxnLst/>
              <a:rect l="l" t="t" r="r" b="b"/>
              <a:pathLst>
                <a:path w="4800600" h="2333625">
                  <a:moveTo>
                    <a:pt x="4659998" y="0"/>
                  </a:moveTo>
                  <a:lnTo>
                    <a:pt x="140004" y="0"/>
                  </a:lnTo>
                  <a:lnTo>
                    <a:pt x="95749" y="7138"/>
                  </a:lnTo>
                  <a:lnTo>
                    <a:pt x="57316" y="27014"/>
                  </a:lnTo>
                  <a:lnTo>
                    <a:pt x="27010" y="57321"/>
                  </a:lnTo>
                  <a:lnTo>
                    <a:pt x="7136" y="95754"/>
                  </a:lnTo>
                  <a:lnTo>
                    <a:pt x="0" y="140004"/>
                  </a:lnTo>
                  <a:lnTo>
                    <a:pt x="0" y="2193340"/>
                  </a:lnTo>
                  <a:lnTo>
                    <a:pt x="7136" y="2237589"/>
                  </a:lnTo>
                  <a:lnTo>
                    <a:pt x="27010" y="2276019"/>
                  </a:lnTo>
                  <a:lnTo>
                    <a:pt x="57316" y="2306323"/>
                  </a:lnTo>
                  <a:lnTo>
                    <a:pt x="95749" y="2326196"/>
                  </a:lnTo>
                  <a:lnTo>
                    <a:pt x="140004" y="2333332"/>
                  </a:lnTo>
                  <a:lnTo>
                    <a:pt x="4659998" y="2333332"/>
                  </a:lnTo>
                  <a:lnTo>
                    <a:pt x="4704248" y="2326196"/>
                  </a:lnTo>
                  <a:lnTo>
                    <a:pt x="4742681" y="2306323"/>
                  </a:lnTo>
                  <a:lnTo>
                    <a:pt x="4772988" y="2276019"/>
                  </a:lnTo>
                  <a:lnTo>
                    <a:pt x="4792865" y="2237589"/>
                  </a:lnTo>
                  <a:lnTo>
                    <a:pt x="4800003" y="2193340"/>
                  </a:lnTo>
                  <a:lnTo>
                    <a:pt x="4800003" y="140004"/>
                  </a:lnTo>
                  <a:lnTo>
                    <a:pt x="4792865" y="95754"/>
                  </a:lnTo>
                  <a:lnTo>
                    <a:pt x="4772988" y="57321"/>
                  </a:lnTo>
                  <a:lnTo>
                    <a:pt x="4742681" y="27014"/>
                  </a:lnTo>
                  <a:lnTo>
                    <a:pt x="4704248" y="7138"/>
                  </a:lnTo>
                  <a:lnTo>
                    <a:pt x="4659998" y="0"/>
                  </a:lnTo>
                  <a:close/>
                </a:path>
              </a:pathLst>
            </a:custGeom>
            <a:solidFill>
              <a:srgbClr val="FFF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3333" y="3559995"/>
              <a:ext cx="4800600" cy="2333625"/>
            </a:xfrm>
            <a:custGeom>
              <a:avLst/>
              <a:gdLst/>
              <a:ahLst/>
              <a:cxnLst/>
              <a:rect l="l" t="t" r="r" b="b"/>
              <a:pathLst>
                <a:path w="4800600" h="2333625">
                  <a:moveTo>
                    <a:pt x="0" y="140004"/>
                  </a:moveTo>
                  <a:lnTo>
                    <a:pt x="7136" y="95754"/>
                  </a:lnTo>
                  <a:lnTo>
                    <a:pt x="27010" y="57321"/>
                  </a:lnTo>
                  <a:lnTo>
                    <a:pt x="57316" y="27014"/>
                  </a:lnTo>
                  <a:lnTo>
                    <a:pt x="95749" y="7138"/>
                  </a:lnTo>
                  <a:lnTo>
                    <a:pt x="140004" y="0"/>
                  </a:lnTo>
                  <a:lnTo>
                    <a:pt x="4659998" y="0"/>
                  </a:lnTo>
                  <a:lnTo>
                    <a:pt x="4704248" y="7138"/>
                  </a:lnTo>
                  <a:lnTo>
                    <a:pt x="4742681" y="27014"/>
                  </a:lnTo>
                  <a:lnTo>
                    <a:pt x="4772988" y="57321"/>
                  </a:lnTo>
                  <a:lnTo>
                    <a:pt x="4792865" y="95754"/>
                  </a:lnTo>
                  <a:lnTo>
                    <a:pt x="4800003" y="140004"/>
                  </a:lnTo>
                  <a:lnTo>
                    <a:pt x="4800003" y="2193340"/>
                  </a:lnTo>
                  <a:lnTo>
                    <a:pt x="4792865" y="2237589"/>
                  </a:lnTo>
                  <a:lnTo>
                    <a:pt x="4772988" y="2276019"/>
                  </a:lnTo>
                  <a:lnTo>
                    <a:pt x="4742681" y="2306323"/>
                  </a:lnTo>
                  <a:lnTo>
                    <a:pt x="4704248" y="2326196"/>
                  </a:lnTo>
                  <a:lnTo>
                    <a:pt x="4659998" y="2333332"/>
                  </a:lnTo>
                  <a:lnTo>
                    <a:pt x="140004" y="2333332"/>
                  </a:lnTo>
                  <a:lnTo>
                    <a:pt x="95749" y="2326196"/>
                  </a:lnTo>
                  <a:lnTo>
                    <a:pt x="57316" y="2306323"/>
                  </a:lnTo>
                  <a:lnTo>
                    <a:pt x="27010" y="2276019"/>
                  </a:lnTo>
                  <a:lnTo>
                    <a:pt x="7136" y="2237589"/>
                  </a:lnTo>
                  <a:lnTo>
                    <a:pt x="0" y="2193340"/>
                  </a:lnTo>
                  <a:lnTo>
                    <a:pt x="0" y="140004"/>
                  </a:lnTo>
                  <a:close/>
                </a:path>
              </a:pathLst>
            </a:custGeom>
            <a:ln w="12700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40632" y="3601774"/>
            <a:ext cx="3701415" cy="831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EXAMPLE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30"/>
              </a:lnSpc>
              <a:spcBef>
                <a:spcPts val="5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Some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student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passed.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Call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such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student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c;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Passed(c).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0632" y="4609731"/>
            <a:ext cx="438467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 solution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x²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=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9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exists.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Call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solution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c;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then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c²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=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9.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1570" y="1365247"/>
            <a:ext cx="5419725" cy="4947285"/>
            <a:chOff x="6211570" y="1365247"/>
            <a:chExt cx="5419725" cy="4947285"/>
          </a:xfrm>
        </p:grpSpPr>
        <p:sp>
          <p:nvSpPr>
            <p:cNvPr id="18" name="object 18"/>
            <p:cNvSpPr/>
            <p:nvPr/>
          </p:nvSpPr>
          <p:spPr>
            <a:xfrm>
              <a:off x="6281928" y="1435605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792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5232196" y="0"/>
                  </a:moveTo>
                  <a:lnTo>
                    <a:pt x="117043" y="0"/>
                  </a:lnTo>
                  <a:lnTo>
                    <a:pt x="71483" y="9197"/>
                  </a:lnTo>
                  <a:lnTo>
                    <a:pt x="34280" y="34280"/>
                  </a:lnTo>
                  <a:lnTo>
                    <a:pt x="9197" y="71483"/>
                  </a:lnTo>
                  <a:lnTo>
                    <a:pt x="0" y="117043"/>
                  </a:lnTo>
                  <a:lnTo>
                    <a:pt x="0" y="4759756"/>
                  </a:lnTo>
                  <a:lnTo>
                    <a:pt x="9197" y="4805316"/>
                  </a:lnTo>
                  <a:lnTo>
                    <a:pt x="34280" y="4842519"/>
                  </a:lnTo>
                  <a:lnTo>
                    <a:pt x="71483" y="4867602"/>
                  </a:lnTo>
                  <a:lnTo>
                    <a:pt x="117043" y="4876800"/>
                  </a:lnTo>
                  <a:lnTo>
                    <a:pt x="5232196" y="4876800"/>
                  </a:lnTo>
                  <a:lnTo>
                    <a:pt x="5277756" y="4867602"/>
                  </a:lnTo>
                  <a:lnTo>
                    <a:pt x="5314959" y="4842519"/>
                  </a:lnTo>
                  <a:lnTo>
                    <a:pt x="5340042" y="4805316"/>
                  </a:lnTo>
                  <a:lnTo>
                    <a:pt x="5349240" y="4759756"/>
                  </a:lnTo>
                  <a:lnTo>
                    <a:pt x="5349240" y="117043"/>
                  </a:lnTo>
                  <a:lnTo>
                    <a:pt x="5340042" y="71483"/>
                  </a:lnTo>
                  <a:lnTo>
                    <a:pt x="5314959" y="34280"/>
                  </a:lnTo>
                  <a:lnTo>
                    <a:pt x="5277756" y="9197"/>
                  </a:lnTo>
                  <a:lnTo>
                    <a:pt x="5232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17920" y="1371597"/>
              <a:ext cx="5349240" cy="4876800"/>
            </a:xfrm>
            <a:custGeom>
              <a:avLst/>
              <a:gdLst/>
              <a:ahLst/>
              <a:cxnLst/>
              <a:rect l="l" t="t" r="r" b="b"/>
              <a:pathLst>
                <a:path w="5349240" h="4876800">
                  <a:moveTo>
                    <a:pt x="0" y="117043"/>
                  </a:moveTo>
                  <a:lnTo>
                    <a:pt x="9197" y="71483"/>
                  </a:lnTo>
                  <a:lnTo>
                    <a:pt x="34280" y="34280"/>
                  </a:lnTo>
                  <a:lnTo>
                    <a:pt x="71483" y="9197"/>
                  </a:lnTo>
                  <a:lnTo>
                    <a:pt x="117043" y="0"/>
                  </a:lnTo>
                  <a:lnTo>
                    <a:pt x="5232196" y="0"/>
                  </a:lnTo>
                  <a:lnTo>
                    <a:pt x="5277756" y="9197"/>
                  </a:lnTo>
                  <a:lnTo>
                    <a:pt x="5314959" y="34280"/>
                  </a:lnTo>
                  <a:lnTo>
                    <a:pt x="5340042" y="71483"/>
                  </a:lnTo>
                  <a:lnTo>
                    <a:pt x="5349240" y="117043"/>
                  </a:lnTo>
                  <a:lnTo>
                    <a:pt x="5349240" y="4759756"/>
                  </a:lnTo>
                  <a:lnTo>
                    <a:pt x="5340042" y="4805316"/>
                  </a:lnTo>
                  <a:lnTo>
                    <a:pt x="5314959" y="4842519"/>
                  </a:lnTo>
                  <a:lnTo>
                    <a:pt x="5277756" y="4867602"/>
                  </a:lnTo>
                  <a:lnTo>
                    <a:pt x="5232196" y="4876800"/>
                  </a:lnTo>
                  <a:lnTo>
                    <a:pt x="117043" y="4876800"/>
                  </a:lnTo>
                  <a:lnTo>
                    <a:pt x="71483" y="4867602"/>
                  </a:lnTo>
                  <a:lnTo>
                    <a:pt x="34280" y="4842519"/>
                  </a:lnTo>
                  <a:lnTo>
                    <a:pt x="9197" y="4805316"/>
                  </a:lnTo>
                  <a:lnTo>
                    <a:pt x="0" y="4759756"/>
                  </a:lnTo>
                  <a:lnTo>
                    <a:pt x="0" y="11704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50840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5084064" y="457200"/>
                  </a:lnTo>
                  <a:lnTo>
                    <a:pt x="5101859" y="453606"/>
                  </a:lnTo>
                  <a:lnTo>
                    <a:pt x="5116391" y="443807"/>
                  </a:lnTo>
                  <a:lnTo>
                    <a:pt x="5126190" y="429275"/>
                  </a:lnTo>
                  <a:lnTo>
                    <a:pt x="5129784" y="411480"/>
                  </a:lnTo>
                  <a:lnTo>
                    <a:pt x="5129784" y="45720"/>
                  </a:lnTo>
                  <a:lnTo>
                    <a:pt x="5126190" y="27924"/>
                  </a:lnTo>
                  <a:lnTo>
                    <a:pt x="5116391" y="13392"/>
                  </a:lnTo>
                  <a:lnTo>
                    <a:pt x="5101859" y="3593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27648" y="1481329"/>
              <a:ext cx="5130165" cy="457200"/>
            </a:xfrm>
            <a:custGeom>
              <a:avLst/>
              <a:gdLst/>
              <a:ahLst/>
              <a:cxnLst/>
              <a:rect l="l" t="t" r="r" b="b"/>
              <a:pathLst>
                <a:path w="5130165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5084064" y="0"/>
                  </a:lnTo>
                  <a:lnTo>
                    <a:pt x="5101859" y="3593"/>
                  </a:lnTo>
                  <a:lnTo>
                    <a:pt x="5116391" y="13392"/>
                  </a:lnTo>
                  <a:lnTo>
                    <a:pt x="5126190" y="27924"/>
                  </a:lnTo>
                  <a:lnTo>
                    <a:pt x="5129784" y="45720"/>
                  </a:lnTo>
                  <a:lnTo>
                    <a:pt x="5129784" y="411480"/>
                  </a:lnTo>
                  <a:lnTo>
                    <a:pt x="5126190" y="429275"/>
                  </a:lnTo>
                  <a:lnTo>
                    <a:pt x="5116391" y="443807"/>
                  </a:lnTo>
                  <a:lnTo>
                    <a:pt x="5101859" y="453606"/>
                  </a:lnTo>
                  <a:lnTo>
                    <a:pt x="508406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35794" y="1539716"/>
            <a:ext cx="511365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Existential</a:t>
            </a:r>
            <a:r>
              <a:rPr sz="1850" b="1" spc="-1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generalization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33910" y="2056809"/>
            <a:ext cx="968375" cy="844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20"/>
              </a:spcBef>
            </a:pPr>
            <a:r>
              <a:rPr sz="1850" b="1" spc="-20" dirty="0">
                <a:solidFill>
                  <a:srgbClr val="6B6890"/>
                </a:solidFill>
                <a:latin typeface="Calibri"/>
                <a:cs typeface="Calibri"/>
              </a:rPr>
              <a:t>FORM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P(c)</a:t>
            </a:r>
            <a:endParaRPr sz="1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∴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∃x</a:t>
            </a:r>
            <a:r>
              <a:rPr sz="1850" spc="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P(x)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65540" y="2059939"/>
            <a:ext cx="2597785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CONDITION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30"/>
              </a:lnSpc>
              <a:spcBef>
                <a:spcPts val="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specific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element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in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domain.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00316" y="3553645"/>
            <a:ext cx="4813300" cy="2346325"/>
            <a:chOff x="6500316" y="3553645"/>
            <a:chExt cx="4813300" cy="2346325"/>
          </a:xfrm>
        </p:grpSpPr>
        <p:sp>
          <p:nvSpPr>
            <p:cNvPr id="27" name="object 27"/>
            <p:cNvSpPr/>
            <p:nvPr/>
          </p:nvSpPr>
          <p:spPr>
            <a:xfrm>
              <a:off x="6506666" y="3559995"/>
              <a:ext cx="4800600" cy="2333625"/>
            </a:xfrm>
            <a:custGeom>
              <a:avLst/>
              <a:gdLst/>
              <a:ahLst/>
              <a:cxnLst/>
              <a:rect l="l" t="t" r="r" b="b"/>
              <a:pathLst>
                <a:path w="4800600" h="2333625">
                  <a:moveTo>
                    <a:pt x="4659998" y="0"/>
                  </a:moveTo>
                  <a:lnTo>
                    <a:pt x="140004" y="0"/>
                  </a:lnTo>
                  <a:lnTo>
                    <a:pt x="95749" y="7138"/>
                  </a:lnTo>
                  <a:lnTo>
                    <a:pt x="57316" y="27014"/>
                  </a:lnTo>
                  <a:lnTo>
                    <a:pt x="27010" y="57321"/>
                  </a:lnTo>
                  <a:lnTo>
                    <a:pt x="7136" y="95754"/>
                  </a:lnTo>
                  <a:lnTo>
                    <a:pt x="0" y="140004"/>
                  </a:lnTo>
                  <a:lnTo>
                    <a:pt x="0" y="2193340"/>
                  </a:lnTo>
                  <a:lnTo>
                    <a:pt x="7136" y="2237589"/>
                  </a:lnTo>
                  <a:lnTo>
                    <a:pt x="27010" y="2276019"/>
                  </a:lnTo>
                  <a:lnTo>
                    <a:pt x="57316" y="2306323"/>
                  </a:lnTo>
                  <a:lnTo>
                    <a:pt x="95749" y="2326196"/>
                  </a:lnTo>
                  <a:lnTo>
                    <a:pt x="140004" y="2333332"/>
                  </a:lnTo>
                  <a:lnTo>
                    <a:pt x="4659998" y="2333332"/>
                  </a:lnTo>
                  <a:lnTo>
                    <a:pt x="4704248" y="2326196"/>
                  </a:lnTo>
                  <a:lnTo>
                    <a:pt x="4742681" y="2306323"/>
                  </a:lnTo>
                  <a:lnTo>
                    <a:pt x="4772988" y="2276019"/>
                  </a:lnTo>
                  <a:lnTo>
                    <a:pt x="4792865" y="2237589"/>
                  </a:lnTo>
                  <a:lnTo>
                    <a:pt x="4800003" y="2193340"/>
                  </a:lnTo>
                  <a:lnTo>
                    <a:pt x="4800003" y="140004"/>
                  </a:lnTo>
                  <a:lnTo>
                    <a:pt x="4792865" y="95754"/>
                  </a:lnTo>
                  <a:lnTo>
                    <a:pt x="4772988" y="57321"/>
                  </a:lnTo>
                  <a:lnTo>
                    <a:pt x="4742681" y="27014"/>
                  </a:lnTo>
                  <a:lnTo>
                    <a:pt x="4704248" y="7138"/>
                  </a:lnTo>
                  <a:lnTo>
                    <a:pt x="4659998" y="0"/>
                  </a:lnTo>
                  <a:close/>
                </a:path>
              </a:pathLst>
            </a:custGeom>
            <a:solidFill>
              <a:srgbClr val="FFF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06666" y="3559995"/>
              <a:ext cx="4800600" cy="2333625"/>
            </a:xfrm>
            <a:custGeom>
              <a:avLst/>
              <a:gdLst/>
              <a:ahLst/>
              <a:cxnLst/>
              <a:rect l="l" t="t" r="r" b="b"/>
              <a:pathLst>
                <a:path w="4800600" h="2333625">
                  <a:moveTo>
                    <a:pt x="0" y="140004"/>
                  </a:moveTo>
                  <a:lnTo>
                    <a:pt x="7136" y="95754"/>
                  </a:lnTo>
                  <a:lnTo>
                    <a:pt x="27010" y="57321"/>
                  </a:lnTo>
                  <a:lnTo>
                    <a:pt x="57316" y="27014"/>
                  </a:lnTo>
                  <a:lnTo>
                    <a:pt x="95749" y="7138"/>
                  </a:lnTo>
                  <a:lnTo>
                    <a:pt x="140004" y="0"/>
                  </a:lnTo>
                  <a:lnTo>
                    <a:pt x="4659998" y="0"/>
                  </a:lnTo>
                  <a:lnTo>
                    <a:pt x="4704248" y="7138"/>
                  </a:lnTo>
                  <a:lnTo>
                    <a:pt x="4742681" y="27014"/>
                  </a:lnTo>
                  <a:lnTo>
                    <a:pt x="4772988" y="57321"/>
                  </a:lnTo>
                  <a:lnTo>
                    <a:pt x="4792865" y="95754"/>
                  </a:lnTo>
                  <a:lnTo>
                    <a:pt x="4800003" y="140004"/>
                  </a:lnTo>
                  <a:lnTo>
                    <a:pt x="4800003" y="2193340"/>
                  </a:lnTo>
                  <a:lnTo>
                    <a:pt x="4792865" y="2237589"/>
                  </a:lnTo>
                  <a:lnTo>
                    <a:pt x="4772988" y="2276019"/>
                  </a:lnTo>
                  <a:lnTo>
                    <a:pt x="4742681" y="2306323"/>
                  </a:lnTo>
                  <a:lnTo>
                    <a:pt x="4704248" y="2326196"/>
                  </a:lnTo>
                  <a:lnTo>
                    <a:pt x="4659998" y="2333332"/>
                  </a:lnTo>
                  <a:lnTo>
                    <a:pt x="140004" y="2333332"/>
                  </a:lnTo>
                  <a:lnTo>
                    <a:pt x="95749" y="2326196"/>
                  </a:lnTo>
                  <a:lnTo>
                    <a:pt x="57316" y="2306323"/>
                  </a:lnTo>
                  <a:lnTo>
                    <a:pt x="27010" y="2276019"/>
                  </a:lnTo>
                  <a:lnTo>
                    <a:pt x="7136" y="2237589"/>
                  </a:lnTo>
                  <a:lnTo>
                    <a:pt x="0" y="2193340"/>
                  </a:lnTo>
                  <a:lnTo>
                    <a:pt x="0" y="140004"/>
                  </a:lnTo>
                  <a:close/>
                </a:path>
              </a:pathLst>
            </a:custGeom>
            <a:ln w="12700">
              <a:solidFill>
                <a:srgbClr val="FF70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13966" y="3601774"/>
            <a:ext cx="3900804" cy="831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7045"/>
                </a:solidFill>
                <a:latin typeface="Calibri"/>
                <a:cs typeface="Calibri"/>
              </a:rPr>
              <a:t>EXAMPLE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30"/>
              </a:lnSpc>
              <a:spcBef>
                <a:spcPts val="5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1)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Marla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passed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course,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someone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passed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course.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24</a:t>
            </a:fld>
            <a:r>
              <a:rPr spc="-10" dirty="0"/>
              <a:t>/28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613966" y="4609731"/>
            <a:ext cx="3945254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2)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Seven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prime,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there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exists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prime number.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20160"/>
            <a:ext cx="7905115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Quantified</a:t>
            </a:r>
            <a:r>
              <a:rPr spc="-110" dirty="0"/>
              <a:t> </a:t>
            </a:r>
            <a:r>
              <a:rPr spc="70" dirty="0"/>
              <a:t>rules</a:t>
            </a:r>
            <a:r>
              <a:rPr spc="-114" dirty="0"/>
              <a:t> </a:t>
            </a:r>
            <a:r>
              <a:rPr dirty="0"/>
              <a:t>at</a:t>
            </a:r>
            <a:r>
              <a:rPr spc="-85" dirty="0"/>
              <a:t> </a:t>
            </a:r>
            <a:r>
              <a:rPr spc="50" dirty="0"/>
              <a:t>work</a:t>
            </a:r>
            <a:r>
              <a:rPr spc="-95" dirty="0"/>
              <a:t> </a:t>
            </a:r>
            <a:r>
              <a:rPr spc="65" dirty="0"/>
              <a:t>(Example</a:t>
            </a:r>
            <a:r>
              <a:rPr spc="-100" dirty="0"/>
              <a:t> </a:t>
            </a:r>
            <a:r>
              <a:rPr spc="-60" dirty="0"/>
              <a:t>12)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19527"/>
            <a:ext cx="10939780" cy="972819"/>
            <a:chOff x="633730" y="1319527"/>
            <a:chExt cx="10939780" cy="972819"/>
          </a:xfrm>
        </p:grpSpPr>
        <p:sp>
          <p:nvSpPr>
            <p:cNvPr id="4" name="object 4"/>
            <p:cNvSpPr/>
            <p:nvPr/>
          </p:nvSpPr>
          <p:spPr>
            <a:xfrm>
              <a:off x="640080" y="1325877"/>
              <a:ext cx="10927080" cy="960119"/>
            </a:xfrm>
            <a:custGeom>
              <a:avLst/>
              <a:gdLst/>
              <a:ahLst/>
              <a:cxnLst/>
              <a:rect l="l" t="t" r="r" b="b"/>
              <a:pathLst>
                <a:path w="10927080" h="960119">
                  <a:moveTo>
                    <a:pt x="10817339" y="0"/>
                  </a:moveTo>
                  <a:lnTo>
                    <a:pt x="109740" y="0"/>
                  </a:lnTo>
                  <a:lnTo>
                    <a:pt x="67026" y="8624"/>
                  </a:lnTo>
                  <a:lnTo>
                    <a:pt x="32143" y="32143"/>
                  </a:lnTo>
                  <a:lnTo>
                    <a:pt x="8624" y="67026"/>
                  </a:lnTo>
                  <a:lnTo>
                    <a:pt x="0" y="109740"/>
                  </a:lnTo>
                  <a:lnTo>
                    <a:pt x="0" y="850379"/>
                  </a:lnTo>
                  <a:lnTo>
                    <a:pt x="8624" y="893099"/>
                  </a:lnTo>
                  <a:lnTo>
                    <a:pt x="32143" y="927981"/>
                  </a:lnTo>
                  <a:lnTo>
                    <a:pt x="67026" y="951497"/>
                  </a:lnTo>
                  <a:lnTo>
                    <a:pt x="109740" y="960120"/>
                  </a:lnTo>
                  <a:lnTo>
                    <a:pt x="10817339" y="960120"/>
                  </a:lnTo>
                  <a:lnTo>
                    <a:pt x="10860053" y="951497"/>
                  </a:lnTo>
                  <a:lnTo>
                    <a:pt x="10894936" y="927981"/>
                  </a:lnTo>
                  <a:lnTo>
                    <a:pt x="10918455" y="893099"/>
                  </a:lnTo>
                  <a:lnTo>
                    <a:pt x="10927080" y="850379"/>
                  </a:lnTo>
                  <a:lnTo>
                    <a:pt x="10927080" y="109740"/>
                  </a:lnTo>
                  <a:lnTo>
                    <a:pt x="10918455" y="67026"/>
                  </a:lnTo>
                  <a:lnTo>
                    <a:pt x="10894936" y="32143"/>
                  </a:lnTo>
                  <a:lnTo>
                    <a:pt x="10860053" y="8624"/>
                  </a:lnTo>
                  <a:lnTo>
                    <a:pt x="10817339" y="0"/>
                  </a:lnTo>
                  <a:close/>
                </a:path>
              </a:pathLst>
            </a:custGeom>
            <a:solidFill>
              <a:srgbClr val="FFF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25877"/>
              <a:ext cx="10927080" cy="960119"/>
            </a:xfrm>
            <a:custGeom>
              <a:avLst/>
              <a:gdLst/>
              <a:ahLst/>
              <a:cxnLst/>
              <a:rect l="l" t="t" r="r" b="b"/>
              <a:pathLst>
                <a:path w="10927080" h="960119">
                  <a:moveTo>
                    <a:pt x="0" y="109740"/>
                  </a:moveTo>
                  <a:lnTo>
                    <a:pt x="8624" y="67026"/>
                  </a:lnTo>
                  <a:lnTo>
                    <a:pt x="32143" y="32143"/>
                  </a:lnTo>
                  <a:lnTo>
                    <a:pt x="67026" y="8624"/>
                  </a:lnTo>
                  <a:lnTo>
                    <a:pt x="109740" y="0"/>
                  </a:lnTo>
                  <a:lnTo>
                    <a:pt x="10817339" y="0"/>
                  </a:lnTo>
                  <a:lnTo>
                    <a:pt x="10860053" y="8624"/>
                  </a:lnTo>
                  <a:lnTo>
                    <a:pt x="10894936" y="32143"/>
                  </a:lnTo>
                  <a:lnTo>
                    <a:pt x="10918455" y="67026"/>
                  </a:lnTo>
                  <a:lnTo>
                    <a:pt x="10927080" y="109740"/>
                  </a:lnTo>
                  <a:lnTo>
                    <a:pt x="10927080" y="850379"/>
                  </a:lnTo>
                  <a:lnTo>
                    <a:pt x="10918455" y="893099"/>
                  </a:lnTo>
                  <a:lnTo>
                    <a:pt x="10894936" y="927981"/>
                  </a:lnTo>
                  <a:lnTo>
                    <a:pt x="10860053" y="951497"/>
                  </a:lnTo>
                  <a:lnTo>
                    <a:pt x="10817339" y="960120"/>
                  </a:lnTo>
                  <a:lnTo>
                    <a:pt x="109740" y="960120"/>
                  </a:lnTo>
                  <a:lnTo>
                    <a:pt x="67026" y="951497"/>
                  </a:lnTo>
                  <a:lnTo>
                    <a:pt x="32143" y="927981"/>
                  </a:lnTo>
                  <a:lnTo>
                    <a:pt x="8624" y="893099"/>
                  </a:lnTo>
                  <a:lnTo>
                    <a:pt x="0" y="850379"/>
                  </a:lnTo>
                  <a:lnTo>
                    <a:pt x="0" y="109740"/>
                  </a:lnTo>
                  <a:close/>
                </a:path>
              </a:pathLst>
            </a:custGeom>
            <a:ln w="12700">
              <a:solidFill>
                <a:srgbClr val="F1C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0259" y="1389379"/>
            <a:ext cx="1049909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Show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premises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"Everyone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this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discrete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mathematics</a:t>
            </a:r>
            <a:r>
              <a:rPr sz="1850" spc="-5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class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taken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course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computer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science"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"Marla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student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this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class"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imply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conclusion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"Marla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has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taken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course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computer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science".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3730" y="2462526"/>
            <a:ext cx="4276725" cy="3865245"/>
            <a:chOff x="633730" y="2462526"/>
            <a:chExt cx="4276725" cy="3865245"/>
          </a:xfrm>
        </p:grpSpPr>
        <p:sp>
          <p:nvSpPr>
            <p:cNvPr id="8" name="object 8"/>
            <p:cNvSpPr/>
            <p:nvPr/>
          </p:nvSpPr>
          <p:spPr>
            <a:xfrm>
              <a:off x="704088" y="2532884"/>
              <a:ext cx="4206240" cy="3794760"/>
            </a:xfrm>
            <a:custGeom>
              <a:avLst/>
              <a:gdLst/>
              <a:ahLst/>
              <a:cxnLst/>
              <a:rect l="l" t="t" r="r" b="b"/>
              <a:pathLst>
                <a:path w="4206240" h="3794760">
                  <a:moveTo>
                    <a:pt x="4151363" y="0"/>
                  </a:moveTo>
                  <a:lnTo>
                    <a:pt x="54876" y="0"/>
                  </a:lnTo>
                  <a:lnTo>
                    <a:pt x="33513" y="4313"/>
                  </a:lnTo>
                  <a:lnTo>
                    <a:pt x="16070" y="16075"/>
                  </a:lnTo>
                  <a:lnTo>
                    <a:pt x="4311" y="33518"/>
                  </a:lnTo>
                  <a:lnTo>
                    <a:pt x="0" y="54876"/>
                  </a:lnTo>
                  <a:lnTo>
                    <a:pt x="0" y="3739896"/>
                  </a:lnTo>
                  <a:lnTo>
                    <a:pt x="4311" y="3761252"/>
                  </a:lnTo>
                  <a:lnTo>
                    <a:pt x="16070" y="3778691"/>
                  </a:lnTo>
                  <a:lnTo>
                    <a:pt x="33513" y="3790448"/>
                  </a:lnTo>
                  <a:lnTo>
                    <a:pt x="54876" y="3794760"/>
                  </a:lnTo>
                  <a:lnTo>
                    <a:pt x="4151363" y="3794760"/>
                  </a:lnTo>
                  <a:lnTo>
                    <a:pt x="4172726" y="3790448"/>
                  </a:lnTo>
                  <a:lnTo>
                    <a:pt x="4190169" y="3778691"/>
                  </a:lnTo>
                  <a:lnTo>
                    <a:pt x="4201928" y="3761252"/>
                  </a:lnTo>
                  <a:lnTo>
                    <a:pt x="4206240" y="3739896"/>
                  </a:lnTo>
                  <a:lnTo>
                    <a:pt x="4206240" y="54876"/>
                  </a:lnTo>
                  <a:lnTo>
                    <a:pt x="4201928" y="33518"/>
                  </a:lnTo>
                  <a:lnTo>
                    <a:pt x="4190169" y="16075"/>
                  </a:lnTo>
                  <a:lnTo>
                    <a:pt x="4172726" y="4313"/>
                  </a:lnTo>
                  <a:lnTo>
                    <a:pt x="4151363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0080" y="2468876"/>
              <a:ext cx="4206240" cy="3794760"/>
            </a:xfrm>
            <a:custGeom>
              <a:avLst/>
              <a:gdLst/>
              <a:ahLst/>
              <a:cxnLst/>
              <a:rect l="l" t="t" r="r" b="b"/>
              <a:pathLst>
                <a:path w="4206240" h="3794760">
                  <a:moveTo>
                    <a:pt x="4151363" y="0"/>
                  </a:moveTo>
                  <a:lnTo>
                    <a:pt x="54876" y="0"/>
                  </a:lnTo>
                  <a:lnTo>
                    <a:pt x="33513" y="4313"/>
                  </a:lnTo>
                  <a:lnTo>
                    <a:pt x="16070" y="16075"/>
                  </a:lnTo>
                  <a:lnTo>
                    <a:pt x="4311" y="33518"/>
                  </a:lnTo>
                  <a:lnTo>
                    <a:pt x="0" y="54876"/>
                  </a:lnTo>
                  <a:lnTo>
                    <a:pt x="0" y="3739896"/>
                  </a:lnTo>
                  <a:lnTo>
                    <a:pt x="4311" y="3761252"/>
                  </a:lnTo>
                  <a:lnTo>
                    <a:pt x="16070" y="3778691"/>
                  </a:lnTo>
                  <a:lnTo>
                    <a:pt x="33513" y="3790448"/>
                  </a:lnTo>
                  <a:lnTo>
                    <a:pt x="54876" y="3794760"/>
                  </a:lnTo>
                  <a:lnTo>
                    <a:pt x="4151363" y="3794760"/>
                  </a:lnTo>
                  <a:lnTo>
                    <a:pt x="4172726" y="3790448"/>
                  </a:lnTo>
                  <a:lnTo>
                    <a:pt x="4190169" y="3778691"/>
                  </a:lnTo>
                  <a:lnTo>
                    <a:pt x="4201928" y="3761252"/>
                  </a:lnTo>
                  <a:lnTo>
                    <a:pt x="4206240" y="3739896"/>
                  </a:lnTo>
                  <a:lnTo>
                    <a:pt x="4206240" y="54876"/>
                  </a:lnTo>
                  <a:lnTo>
                    <a:pt x="4201928" y="33518"/>
                  </a:lnTo>
                  <a:lnTo>
                    <a:pt x="4190169" y="16075"/>
                  </a:lnTo>
                  <a:lnTo>
                    <a:pt x="4172726" y="4313"/>
                  </a:lnTo>
                  <a:lnTo>
                    <a:pt x="4151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2468876"/>
              <a:ext cx="4206240" cy="3794760"/>
            </a:xfrm>
            <a:custGeom>
              <a:avLst/>
              <a:gdLst/>
              <a:ahLst/>
              <a:cxnLst/>
              <a:rect l="l" t="t" r="r" b="b"/>
              <a:pathLst>
                <a:path w="4206240" h="3794760">
                  <a:moveTo>
                    <a:pt x="0" y="54876"/>
                  </a:moveTo>
                  <a:lnTo>
                    <a:pt x="4311" y="33518"/>
                  </a:lnTo>
                  <a:lnTo>
                    <a:pt x="16070" y="16075"/>
                  </a:lnTo>
                  <a:lnTo>
                    <a:pt x="33513" y="4313"/>
                  </a:lnTo>
                  <a:lnTo>
                    <a:pt x="54876" y="0"/>
                  </a:lnTo>
                  <a:lnTo>
                    <a:pt x="4151363" y="0"/>
                  </a:lnTo>
                  <a:lnTo>
                    <a:pt x="4172726" y="4313"/>
                  </a:lnTo>
                  <a:lnTo>
                    <a:pt x="4190169" y="16075"/>
                  </a:lnTo>
                  <a:lnTo>
                    <a:pt x="4201928" y="33518"/>
                  </a:lnTo>
                  <a:lnTo>
                    <a:pt x="4206240" y="54876"/>
                  </a:lnTo>
                  <a:lnTo>
                    <a:pt x="4206240" y="3739896"/>
                  </a:lnTo>
                  <a:lnTo>
                    <a:pt x="4201928" y="3761252"/>
                  </a:lnTo>
                  <a:lnTo>
                    <a:pt x="4190169" y="3778691"/>
                  </a:lnTo>
                  <a:lnTo>
                    <a:pt x="4172726" y="3790448"/>
                  </a:lnTo>
                  <a:lnTo>
                    <a:pt x="4151363" y="3794760"/>
                  </a:lnTo>
                  <a:lnTo>
                    <a:pt x="54876" y="3794760"/>
                  </a:lnTo>
                  <a:lnTo>
                    <a:pt x="33513" y="3790448"/>
                  </a:lnTo>
                  <a:lnTo>
                    <a:pt x="16070" y="3778691"/>
                  </a:lnTo>
                  <a:lnTo>
                    <a:pt x="4311" y="3761252"/>
                  </a:lnTo>
                  <a:lnTo>
                    <a:pt x="0" y="3739896"/>
                  </a:lnTo>
                  <a:lnTo>
                    <a:pt x="0" y="54876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8585" y="2550667"/>
            <a:ext cx="4189729" cy="2912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ts val="1975"/>
              </a:lnSpc>
              <a:spcBef>
                <a:spcPts val="120"/>
              </a:spcBef>
            </a:pPr>
            <a:r>
              <a:rPr sz="1850" b="1" spc="-25" dirty="0">
                <a:solidFill>
                  <a:srgbClr val="FF7045"/>
                </a:solidFill>
                <a:latin typeface="Calibri"/>
                <a:cs typeface="Calibri"/>
              </a:rPr>
              <a:t>LET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D(x):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x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class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C(x):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x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took computer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science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50">
              <a:latin typeface="Calibri"/>
              <a:cs typeface="Calibri"/>
            </a:endParaRPr>
          </a:p>
          <a:p>
            <a:pPr marL="219710">
              <a:lnSpc>
                <a:spcPts val="1964"/>
              </a:lnSpc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PREMISES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145"/>
              </a:lnSpc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∀x(D(x)</a:t>
            </a:r>
            <a:r>
              <a:rPr sz="2000" spc="-4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2000" spc="-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C(x))</a:t>
            </a:r>
            <a:endParaRPr sz="2000">
              <a:latin typeface="Cambria Math"/>
              <a:cs typeface="Cambria Math"/>
            </a:endParaRPr>
          </a:p>
          <a:p>
            <a:pPr marL="219710">
              <a:lnSpc>
                <a:spcPct val="100000"/>
              </a:lnSpc>
            </a:pP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D(Marla)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000">
              <a:latin typeface="Cambria Math"/>
              <a:cs typeface="Cambria Math"/>
            </a:endParaRPr>
          </a:p>
          <a:p>
            <a:pPr marL="219710">
              <a:lnSpc>
                <a:spcPts val="2000"/>
              </a:lnSpc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CONCLUSION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ts val="2480"/>
              </a:lnSpc>
            </a:pPr>
            <a:r>
              <a:rPr sz="2250" b="1" spc="-10" dirty="0">
                <a:solidFill>
                  <a:srgbClr val="FF7045"/>
                </a:solidFill>
                <a:latin typeface="Cambria Math"/>
                <a:cs typeface="Cambria Math"/>
              </a:rPr>
              <a:t>C(Marla)</a:t>
            </a:r>
            <a:endParaRPr sz="22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20640" y="2468878"/>
            <a:ext cx="6446520" cy="640080"/>
          </a:xfrm>
          <a:custGeom>
            <a:avLst/>
            <a:gdLst/>
            <a:ahLst/>
            <a:cxnLst/>
            <a:rect l="l" t="t" r="r" b="b"/>
            <a:pathLst>
              <a:path w="6446520" h="640080">
                <a:moveTo>
                  <a:pt x="631850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5"/>
                </a:lnTo>
                <a:lnTo>
                  <a:pt x="0" y="512063"/>
                </a:lnTo>
                <a:lnTo>
                  <a:pt x="10060" y="561893"/>
                </a:lnTo>
                <a:lnTo>
                  <a:pt x="37495" y="602584"/>
                </a:lnTo>
                <a:lnTo>
                  <a:pt x="78186" y="630019"/>
                </a:lnTo>
                <a:lnTo>
                  <a:pt x="128016" y="640079"/>
                </a:lnTo>
                <a:lnTo>
                  <a:pt x="6318504" y="640079"/>
                </a:lnTo>
                <a:lnTo>
                  <a:pt x="6368333" y="630019"/>
                </a:lnTo>
                <a:lnTo>
                  <a:pt x="6409024" y="602584"/>
                </a:lnTo>
                <a:lnTo>
                  <a:pt x="6436459" y="561893"/>
                </a:lnTo>
                <a:lnTo>
                  <a:pt x="6446520" y="512063"/>
                </a:lnTo>
                <a:lnTo>
                  <a:pt x="6446520" y="128015"/>
                </a:lnTo>
                <a:lnTo>
                  <a:pt x="6436459" y="78186"/>
                </a:lnTo>
                <a:lnTo>
                  <a:pt x="6409024" y="37495"/>
                </a:lnTo>
                <a:lnTo>
                  <a:pt x="6368333" y="10060"/>
                </a:lnTo>
                <a:lnTo>
                  <a:pt x="6318504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90820" y="2618708"/>
            <a:ext cx="2095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1.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48001" y="2620134"/>
            <a:ext cx="170561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∀x(D(x)</a:t>
            </a:r>
            <a:r>
              <a:rPr sz="1850" spc="1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mbria Math"/>
                <a:cs typeface="Cambria Math"/>
              </a:rPr>
              <a:t>C(x))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11333" y="2618708"/>
            <a:ext cx="802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Premise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20640" y="3218686"/>
            <a:ext cx="6446520" cy="640080"/>
          </a:xfrm>
          <a:custGeom>
            <a:avLst/>
            <a:gdLst/>
            <a:ahLst/>
            <a:cxnLst/>
            <a:rect l="l" t="t" r="r" b="b"/>
            <a:pathLst>
              <a:path w="6446520" h="640079">
                <a:moveTo>
                  <a:pt x="631850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5"/>
                </a:lnTo>
                <a:lnTo>
                  <a:pt x="0" y="512063"/>
                </a:lnTo>
                <a:lnTo>
                  <a:pt x="10060" y="561893"/>
                </a:lnTo>
                <a:lnTo>
                  <a:pt x="37495" y="602584"/>
                </a:lnTo>
                <a:lnTo>
                  <a:pt x="78186" y="630019"/>
                </a:lnTo>
                <a:lnTo>
                  <a:pt x="128016" y="640079"/>
                </a:lnTo>
                <a:lnTo>
                  <a:pt x="6318504" y="640079"/>
                </a:lnTo>
                <a:lnTo>
                  <a:pt x="6368333" y="630019"/>
                </a:lnTo>
                <a:lnTo>
                  <a:pt x="6409024" y="602584"/>
                </a:lnTo>
                <a:lnTo>
                  <a:pt x="6436459" y="561893"/>
                </a:lnTo>
                <a:lnTo>
                  <a:pt x="6446520" y="512063"/>
                </a:lnTo>
                <a:lnTo>
                  <a:pt x="6446520" y="128015"/>
                </a:lnTo>
                <a:lnTo>
                  <a:pt x="6436459" y="78186"/>
                </a:lnTo>
                <a:lnTo>
                  <a:pt x="6409024" y="37495"/>
                </a:lnTo>
                <a:lnTo>
                  <a:pt x="6368333" y="10060"/>
                </a:lnTo>
                <a:lnTo>
                  <a:pt x="6318504" y="0"/>
                </a:lnTo>
                <a:close/>
              </a:path>
            </a:pathLst>
          </a:custGeom>
          <a:solidFill>
            <a:srgbClr val="FFE2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90820" y="3368516"/>
            <a:ext cx="2095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2.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48001" y="3369942"/>
            <a:ext cx="21901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D(Marla)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→</a:t>
            </a:r>
            <a:r>
              <a:rPr sz="1850" spc="2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C(Marla)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11333" y="3226107"/>
            <a:ext cx="218376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Universal</a:t>
            </a:r>
            <a:r>
              <a:rPr sz="185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instantiation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from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(1)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20640" y="3968494"/>
            <a:ext cx="6446520" cy="640080"/>
          </a:xfrm>
          <a:custGeom>
            <a:avLst/>
            <a:gdLst/>
            <a:ahLst/>
            <a:cxnLst/>
            <a:rect l="l" t="t" r="r" b="b"/>
            <a:pathLst>
              <a:path w="6446520" h="640079">
                <a:moveTo>
                  <a:pt x="631850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6"/>
                </a:lnTo>
                <a:lnTo>
                  <a:pt x="0" y="512064"/>
                </a:lnTo>
                <a:lnTo>
                  <a:pt x="10060" y="561893"/>
                </a:lnTo>
                <a:lnTo>
                  <a:pt x="37495" y="602584"/>
                </a:lnTo>
                <a:lnTo>
                  <a:pt x="78186" y="630019"/>
                </a:lnTo>
                <a:lnTo>
                  <a:pt x="128016" y="640080"/>
                </a:lnTo>
                <a:lnTo>
                  <a:pt x="6318504" y="640080"/>
                </a:lnTo>
                <a:lnTo>
                  <a:pt x="6368333" y="630019"/>
                </a:lnTo>
                <a:lnTo>
                  <a:pt x="6409024" y="602584"/>
                </a:lnTo>
                <a:lnTo>
                  <a:pt x="6436459" y="561893"/>
                </a:lnTo>
                <a:lnTo>
                  <a:pt x="6446520" y="512064"/>
                </a:lnTo>
                <a:lnTo>
                  <a:pt x="6446520" y="128016"/>
                </a:lnTo>
                <a:lnTo>
                  <a:pt x="6436459" y="78186"/>
                </a:lnTo>
                <a:lnTo>
                  <a:pt x="6409024" y="37495"/>
                </a:lnTo>
                <a:lnTo>
                  <a:pt x="6368333" y="10060"/>
                </a:lnTo>
                <a:lnTo>
                  <a:pt x="6318504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90820" y="4118324"/>
            <a:ext cx="2095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3.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48001" y="4119750"/>
            <a:ext cx="96710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D(Marla)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11333" y="4118324"/>
            <a:ext cx="80264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Premise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20640" y="4718302"/>
            <a:ext cx="6446520" cy="640080"/>
          </a:xfrm>
          <a:custGeom>
            <a:avLst/>
            <a:gdLst/>
            <a:ahLst/>
            <a:cxnLst/>
            <a:rect l="l" t="t" r="r" b="b"/>
            <a:pathLst>
              <a:path w="6446520" h="640079">
                <a:moveTo>
                  <a:pt x="6318504" y="0"/>
                </a:moveTo>
                <a:lnTo>
                  <a:pt x="128016" y="0"/>
                </a:lnTo>
                <a:lnTo>
                  <a:pt x="78186" y="10060"/>
                </a:lnTo>
                <a:lnTo>
                  <a:pt x="37495" y="37495"/>
                </a:lnTo>
                <a:lnTo>
                  <a:pt x="10060" y="78186"/>
                </a:lnTo>
                <a:lnTo>
                  <a:pt x="0" y="128015"/>
                </a:lnTo>
                <a:lnTo>
                  <a:pt x="0" y="512063"/>
                </a:lnTo>
                <a:lnTo>
                  <a:pt x="10060" y="561893"/>
                </a:lnTo>
                <a:lnTo>
                  <a:pt x="37495" y="602584"/>
                </a:lnTo>
                <a:lnTo>
                  <a:pt x="78186" y="630019"/>
                </a:lnTo>
                <a:lnTo>
                  <a:pt x="128016" y="640079"/>
                </a:lnTo>
                <a:lnTo>
                  <a:pt x="6318504" y="640079"/>
                </a:lnTo>
                <a:lnTo>
                  <a:pt x="6368333" y="630019"/>
                </a:lnTo>
                <a:lnTo>
                  <a:pt x="6409024" y="602584"/>
                </a:lnTo>
                <a:lnTo>
                  <a:pt x="6436459" y="561893"/>
                </a:lnTo>
                <a:lnTo>
                  <a:pt x="6446520" y="512063"/>
                </a:lnTo>
                <a:lnTo>
                  <a:pt x="6446520" y="128015"/>
                </a:lnTo>
                <a:lnTo>
                  <a:pt x="6436459" y="78186"/>
                </a:lnTo>
                <a:lnTo>
                  <a:pt x="6409024" y="37495"/>
                </a:lnTo>
                <a:lnTo>
                  <a:pt x="6368333" y="10060"/>
                </a:lnTo>
                <a:lnTo>
                  <a:pt x="6318504" y="0"/>
                </a:lnTo>
                <a:close/>
              </a:path>
            </a:pathLst>
          </a:custGeom>
          <a:solidFill>
            <a:srgbClr val="FFE2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290820" y="4869558"/>
            <a:ext cx="140144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69265" algn="l"/>
              </a:tabLst>
            </a:pPr>
            <a:r>
              <a:rPr sz="1850" b="1" spc="-25" dirty="0">
                <a:solidFill>
                  <a:srgbClr val="6B6890"/>
                </a:solidFill>
                <a:latin typeface="Calibri"/>
                <a:cs typeface="Calibri"/>
              </a:rPr>
              <a:t>4.</a:t>
            </a:r>
            <a:r>
              <a:rPr sz="1850" b="1" dirty="0">
                <a:solidFill>
                  <a:srgbClr val="6B6890"/>
                </a:solidFill>
                <a:latin typeface="Calibri"/>
                <a:cs typeface="Calibri"/>
              </a:rPr>
              <a:t>	</a:t>
            </a:r>
            <a:r>
              <a:rPr sz="1850" spc="-10" dirty="0">
                <a:solidFill>
                  <a:srgbClr val="2D2A5E"/>
                </a:solidFill>
                <a:latin typeface="Cambria Math"/>
                <a:cs typeface="Cambria Math"/>
              </a:rPr>
              <a:t>C(Marla)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11333" y="4725723"/>
            <a:ext cx="2292350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ponens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from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(2)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(3)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20640" y="5532118"/>
            <a:ext cx="6446520" cy="731520"/>
          </a:xfrm>
          <a:custGeom>
            <a:avLst/>
            <a:gdLst/>
            <a:ahLst/>
            <a:cxnLst/>
            <a:rect l="l" t="t" r="r" b="b"/>
            <a:pathLst>
              <a:path w="6446520" h="731520">
                <a:moveTo>
                  <a:pt x="6336792" y="0"/>
                </a:moveTo>
                <a:lnTo>
                  <a:pt x="109728" y="0"/>
                </a:lnTo>
                <a:lnTo>
                  <a:pt x="67015" y="8622"/>
                </a:lnTo>
                <a:lnTo>
                  <a:pt x="32137" y="32137"/>
                </a:lnTo>
                <a:lnTo>
                  <a:pt x="8622" y="67015"/>
                </a:lnTo>
                <a:lnTo>
                  <a:pt x="0" y="109728"/>
                </a:lnTo>
                <a:lnTo>
                  <a:pt x="0" y="621792"/>
                </a:lnTo>
                <a:lnTo>
                  <a:pt x="8622" y="664504"/>
                </a:lnTo>
                <a:lnTo>
                  <a:pt x="32137" y="699382"/>
                </a:lnTo>
                <a:lnTo>
                  <a:pt x="67015" y="722897"/>
                </a:lnTo>
                <a:lnTo>
                  <a:pt x="109728" y="731520"/>
                </a:lnTo>
                <a:lnTo>
                  <a:pt x="6336792" y="731520"/>
                </a:lnTo>
                <a:lnTo>
                  <a:pt x="6379504" y="722897"/>
                </a:lnTo>
                <a:lnTo>
                  <a:pt x="6414382" y="699382"/>
                </a:lnTo>
                <a:lnTo>
                  <a:pt x="6437897" y="664504"/>
                </a:lnTo>
                <a:lnTo>
                  <a:pt x="6446520" y="621792"/>
                </a:lnTo>
                <a:lnTo>
                  <a:pt x="6446520" y="109728"/>
                </a:lnTo>
                <a:lnTo>
                  <a:pt x="6437897" y="67015"/>
                </a:lnTo>
                <a:lnTo>
                  <a:pt x="6414382" y="32137"/>
                </a:lnTo>
                <a:lnTo>
                  <a:pt x="6379504" y="8622"/>
                </a:lnTo>
                <a:lnTo>
                  <a:pt x="6336792" y="0"/>
                </a:lnTo>
                <a:close/>
              </a:path>
            </a:pathLst>
          </a:custGeom>
          <a:solidFill>
            <a:srgbClr val="B8E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36540" y="5585396"/>
            <a:ext cx="601408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0"/>
              </a:spcBef>
            </a:pP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b="1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quantifier rule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(universal</a:t>
            </a:r>
            <a:r>
              <a:rPr sz="1850" b="1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instantiation)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b="1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propositional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rule</a:t>
            </a:r>
            <a:r>
              <a:rPr sz="1850" b="1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(modus ponens)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work</a:t>
            </a:r>
            <a:r>
              <a:rPr sz="1850" b="1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together</a:t>
            </a:r>
            <a:r>
              <a:rPr sz="1850" b="1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in</a:t>
            </a:r>
            <a:r>
              <a:rPr sz="1850" b="1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2D2A5E"/>
                </a:solidFill>
                <a:latin typeface="Calibri"/>
                <a:cs typeface="Calibri"/>
              </a:rPr>
              <a:t>one</a:t>
            </a:r>
            <a:r>
              <a:rPr sz="1850" b="1" spc="-10" dirty="0">
                <a:solidFill>
                  <a:srgbClr val="2D2A5E"/>
                </a:solidFill>
                <a:latin typeface="Calibri"/>
                <a:cs typeface="Calibri"/>
              </a:rPr>
              <a:t> argument.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25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520160"/>
            <a:ext cx="804164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65" dirty="0"/>
              <a:t>Universal</a:t>
            </a:r>
            <a:r>
              <a:rPr spc="-200" dirty="0"/>
              <a:t> </a:t>
            </a:r>
            <a:r>
              <a:rPr spc="175" dirty="0"/>
              <a:t>modus</a:t>
            </a:r>
            <a:r>
              <a:rPr spc="-190" dirty="0"/>
              <a:t> </a:t>
            </a:r>
            <a:r>
              <a:rPr spc="114" dirty="0"/>
              <a:t>ponens</a:t>
            </a:r>
            <a:r>
              <a:rPr spc="-175" dirty="0"/>
              <a:t> </a:t>
            </a:r>
            <a:r>
              <a:rPr spc="65" dirty="0"/>
              <a:t>(Example</a:t>
            </a:r>
            <a:r>
              <a:rPr spc="-195" dirty="0"/>
              <a:t> </a:t>
            </a:r>
            <a:r>
              <a:rPr spc="-45" dirty="0"/>
              <a:t>14)</a:t>
            </a:r>
          </a:p>
        </p:txBody>
      </p:sp>
      <p:sp>
        <p:nvSpPr>
          <p:cNvPr id="3" name="object 3"/>
          <p:cNvSpPr/>
          <p:nvPr/>
        </p:nvSpPr>
        <p:spPr>
          <a:xfrm>
            <a:off x="640080" y="1371598"/>
            <a:ext cx="3749040" cy="1097280"/>
          </a:xfrm>
          <a:custGeom>
            <a:avLst/>
            <a:gdLst/>
            <a:ahLst/>
            <a:cxnLst/>
            <a:rect l="l" t="t" r="r" b="b"/>
            <a:pathLst>
              <a:path w="3749040" h="1097280">
                <a:moveTo>
                  <a:pt x="3584448" y="0"/>
                </a:moveTo>
                <a:lnTo>
                  <a:pt x="164592" y="0"/>
                </a:lnTo>
                <a:lnTo>
                  <a:pt x="120835" y="5879"/>
                </a:lnTo>
                <a:lnTo>
                  <a:pt x="81517" y="22470"/>
                </a:lnTo>
                <a:lnTo>
                  <a:pt x="48206" y="48206"/>
                </a:lnTo>
                <a:lnTo>
                  <a:pt x="22470" y="81517"/>
                </a:lnTo>
                <a:lnTo>
                  <a:pt x="5879" y="120835"/>
                </a:lnTo>
                <a:lnTo>
                  <a:pt x="0" y="164591"/>
                </a:lnTo>
                <a:lnTo>
                  <a:pt x="0" y="932687"/>
                </a:lnTo>
                <a:lnTo>
                  <a:pt x="5879" y="976444"/>
                </a:lnTo>
                <a:lnTo>
                  <a:pt x="22470" y="1015762"/>
                </a:lnTo>
                <a:lnTo>
                  <a:pt x="48206" y="1049073"/>
                </a:lnTo>
                <a:lnTo>
                  <a:pt x="81517" y="1074809"/>
                </a:lnTo>
                <a:lnTo>
                  <a:pt x="120835" y="1091400"/>
                </a:lnTo>
                <a:lnTo>
                  <a:pt x="164592" y="1097279"/>
                </a:lnTo>
                <a:lnTo>
                  <a:pt x="3584448" y="1097279"/>
                </a:lnTo>
                <a:lnTo>
                  <a:pt x="3628204" y="1091400"/>
                </a:lnTo>
                <a:lnTo>
                  <a:pt x="3667522" y="1074809"/>
                </a:lnTo>
                <a:lnTo>
                  <a:pt x="3700833" y="1049073"/>
                </a:lnTo>
                <a:lnTo>
                  <a:pt x="3726569" y="1015762"/>
                </a:lnTo>
                <a:lnTo>
                  <a:pt x="3743160" y="976444"/>
                </a:lnTo>
                <a:lnTo>
                  <a:pt x="3749040" y="932687"/>
                </a:lnTo>
                <a:lnTo>
                  <a:pt x="3749040" y="164591"/>
                </a:lnTo>
                <a:lnTo>
                  <a:pt x="3743160" y="120835"/>
                </a:lnTo>
                <a:lnTo>
                  <a:pt x="3726569" y="81517"/>
                </a:lnTo>
                <a:lnTo>
                  <a:pt x="3700833" y="48206"/>
                </a:lnTo>
                <a:lnTo>
                  <a:pt x="3667522" y="22470"/>
                </a:lnTo>
                <a:lnTo>
                  <a:pt x="3628204" y="5879"/>
                </a:lnTo>
                <a:lnTo>
                  <a:pt x="3584448" y="0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5868" y="1718024"/>
            <a:ext cx="2057400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dirty="0">
                <a:solidFill>
                  <a:srgbClr val="2D2A5E"/>
                </a:solidFill>
                <a:latin typeface="Cambria Math"/>
                <a:cs typeface="Cambria Math"/>
              </a:rPr>
              <a:t>∀x(P(x) →</a:t>
            </a:r>
            <a:r>
              <a:rPr sz="2250" spc="-10" dirty="0">
                <a:solidFill>
                  <a:srgbClr val="2D2A5E"/>
                </a:solidFill>
                <a:latin typeface="Cambria Math"/>
                <a:cs typeface="Cambria Math"/>
              </a:rPr>
              <a:t> Q(x))</a:t>
            </a:r>
            <a:endParaRPr sz="225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7759" y="1371598"/>
            <a:ext cx="3017520" cy="1097280"/>
          </a:xfrm>
          <a:custGeom>
            <a:avLst/>
            <a:gdLst/>
            <a:ahLst/>
            <a:cxnLst/>
            <a:rect l="l" t="t" r="r" b="b"/>
            <a:pathLst>
              <a:path w="3017520" h="1097280">
                <a:moveTo>
                  <a:pt x="2852928" y="0"/>
                </a:moveTo>
                <a:lnTo>
                  <a:pt x="164592" y="0"/>
                </a:lnTo>
                <a:lnTo>
                  <a:pt x="120835" y="5879"/>
                </a:lnTo>
                <a:lnTo>
                  <a:pt x="81517" y="22470"/>
                </a:lnTo>
                <a:lnTo>
                  <a:pt x="48206" y="48206"/>
                </a:lnTo>
                <a:lnTo>
                  <a:pt x="22470" y="81517"/>
                </a:lnTo>
                <a:lnTo>
                  <a:pt x="5879" y="120835"/>
                </a:lnTo>
                <a:lnTo>
                  <a:pt x="0" y="164591"/>
                </a:lnTo>
                <a:lnTo>
                  <a:pt x="0" y="932687"/>
                </a:lnTo>
                <a:lnTo>
                  <a:pt x="5879" y="976444"/>
                </a:lnTo>
                <a:lnTo>
                  <a:pt x="22470" y="1015762"/>
                </a:lnTo>
                <a:lnTo>
                  <a:pt x="48206" y="1049073"/>
                </a:lnTo>
                <a:lnTo>
                  <a:pt x="81517" y="1074809"/>
                </a:lnTo>
                <a:lnTo>
                  <a:pt x="120835" y="1091400"/>
                </a:lnTo>
                <a:lnTo>
                  <a:pt x="164592" y="1097279"/>
                </a:lnTo>
                <a:lnTo>
                  <a:pt x="2852928" y="1097279"/>
                </a:lnTo>
                <a:lnTo>
                  <a:pt x="2896684" y="1091400"/>
                </a:lnTo>
                <a:lnTo>
                  <a:pt x="2936002" y="1074809"/>
                </a:lnTo>
                <a:lnTo>
                  <a:pt x="2969313" y="1049073"/>
                </a:lnTo>
                <a:lnTo>
                  <a:pt x="2995049" y="1015762"/>
                </a:lnTo>
                <a:lnTo>
                  <a:pt x="3011640" y="976444"/>
                </a:lnTo>
                <a:lnTo>
                  <a:pt x="3017520" y="932687"/>
                </a:lnTo>
                <a:lnTo>
                  <a:pt x="3017520" y="164591"/>
                </a:lnTo>
                <a:lnTo>
                  <a:pt x="3011640" y="120835"/>
                </a:lnTo>
                <a:lnTo>
                  <a:pt x="2995049" y="81517"/>
                </a:lnTo>
                <a:lnTo>
                  <a:pt x="2969313" y="48206"/>
                </a:lnTo>
                <a:lnTo>
                  <a:pt x="2936002" y="22470"/>
                </a:lnTo>
                <a:lnTo>
                  <a:pt x="2896684" y="5879"/>
                </a:lnTo>
                <a:lnTo>
                  <a:pt x="2852928" y="0"/>
                </a:lnTo>
                <a:close/>
              </a:path>
            </a:pathLst>
          </a:custGeom>
          <a:solidFill>
            <a:srgbClr val="B8E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02154" y="1739900"/>
            <a:ext cx="22891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P(a),</a:t>
            </a:r>
            <a:r>
              <a:rPr sz="2000" spc="-30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a</a:t>
            </a:r>
            <a:r>
              <a:rPr sz="2000" spc="-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in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2D2A5E"/>
                </a:solidFill>
                <a:latin typeface="Cambria Math"/>
                <a:cs typeface="Cambria Math"/>
              </a:rPr>
              <a:t>the</a:t>
            </a:r>
            <a:r>
              <a:rPr sz="2000" spc="-15" dirty="0">
                <a:solidFill>
                  <a:srgbClr val="2D2A5E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2D2A5E"/>
                </a:solidFill>
                <a:latin typeface="Cambria Math"/>
                <a:cs typeface="Cambria Math"/>
              </a:rPr>
              <a:t>domain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2186" y="1650968"/>
            <a:ext cx="38608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09645" algn="l"/>
              </a:tabLst>
            </a:pPr>
            <a:r>
              <a:rPr sz="3050" b="1" spc="-50" dirty="0">
                <a:solidFill>
                  <a:srgbClr val="FF7045"/>
                </a:solidFill>
                <a:latin typeface="Calibri"/>
                <a:cs typeface="Calibri"/>
              </a:rPr>
              <a:t>+</a:t>
            </a:r>
            <a:r>
              <a:rPr sz="3050" b="1" dirty="0">
                <a:solidFill>
                  <a:srgbClr val="FF7045"/>
                </a:solidFill>
                <a:latin typeface="Calibri"/>
                <a:cs typeface="Calibri"/>
              </a:rPr>
              <a:t>	</a:t>
            </a:r>
            <a:r>
              <a:rPr sz="3050" b="1" dirty="0">
                <a:solidFill>
                  <a:srgbClr val="FF7045"/>
                </a:solidFill>
                <a:latin typeface="Cambria Math"/>
                <a:cs typeface="Cambria Math"/>
              </a:rPr>
              <a:t>⇒</a:t>
            </a:r>
            <a:endParaRPr sz="30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03919" y="1371600"/>
            <a:ext cx="3063240" cy="1097280"/>
          </a:xfrm>
          <a:custGeom>
            <a:avLst/>
            <a:gdLst/>
            <a:ahLst/>
            <a:cxnLst/>
            <a:rect l="l" t="t" r="r" b="b"/>
            <a:pathLst>
              <a:path w="3063240" h="1097280">
                <a:moveTo>
                  <a:pt x="2898648" y="0"/>
                </a:moveTo>
                <a:lnTo>
                  <a:pt x="164592" y="0"/>
                </a:lnTo>
                <a:lnTo>
                  <a:pt x="120835" y="5879"/>
                </a:lnTo>
                <a:lnTo>
                  <a:pt x="81517" y="22470"/>
                </a:lnTo>
                <a:lnTo>
                  <a:pt x="48206" y="48206"/>
                </a:lnTo>
                <a:lnTo>
                  <a:pt x="22470" y="81517"/>
                </a:lnTo>
                <a:lnTo>
                  <a:pt x="5879" y="120835"/>
                </a:lnTo>
                <a:lnTo>
                  <a:pt x="0" y="164591"/>
                </a:lnTo>
                <a:lnTo>
                  <a:pt x="0" y="932687"/>
                </a:lnTo>
                <a:lnTo>
                  <a:pt x="5879" y="976444"/>
                </a:lnTo>
                <a:lnTo>
                  <a:pt x="22470" y="1015762"/>
                </a:lnTo>
                <a:lnTo>
                  <a:pt x="48206" y="1049073"/>
                </a:lnTo>
                <a:lnTo>
                  <a:pt x="81517" y="1074809"/>
                </a:lnTo>
                <a:lnTo>
                  <a:pt x="120835" y="1091400"/>
                </a:lnTo>
                <a:lnTo>
                  <a:pt x="164592" y="1097279"/>
                </a:lnTo>
                <a:lnTo>
                  <a:pt x="2898648" y="1097279"/>
                </a:lnTo>
                <a:lnTo>
                  <a:pt x="2942404" y="1091400"/>
                </a:lnTo>
                <a:lnTo>
                  <a:pt x="2981722" y="1074809"/>
                </a:lnTo>
                <a:lnTo>
                  <a:pt x="3015033" y="1049073"/>
                </a:lnTo>
                <a:lnTo>
                  <a:pt x="3040769" y="1015762"/>
                </a:lnTo>
                <a:lnTo>
                  <a:pt x="3057360" y="976444"/>
                </a:lnTo>
                <a:lnTo>
                  <a:pt x="3063240" y="932687"/>
                </a:lnTo>
                <a:lnTo>
                  <a:pt x="3063240" y="164591"/>
                </a:lnTo>
                <a:lnTo>
                  <a:pt x="3057360" y="120835"/>
                </a:lnTo>
                <a:lnTo>
                  <a:pt x="3040769" y="81517"/>
                </a:lnTo>
                <a:lnTo>
                  <a:pt x="3015033" y="48206"/>
                </a:lnTo>
                <a:lnTo>
                  <a:pt x="2981722" y="22470"/>
                </a:lnTo>
                <a:lnTo>
                  <a:pt x="2942404" y="5879"/>
                </a:lnTo>
                <a:lnTo>
                  <a:pt x="2898648" y="0"/>
                </a:lnTo>
                <a:close/>
              </a:path>
            </a:pathLst>
          </a:custGeom>
          <a:solidFill>
            <a:srgbClr val="FF7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75844" y="1674367"/>
            <a:ext cx="720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FFFFFF"/>
                </a:solidFill>
                <a:latin typeface="Cambria Math"/>
                <a:cs typeface="Cambria Math"/>
              </a:rPr>
              <a:t>Q(a)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3730" y="2645407"/>
            <a:ext cx="10939780" cy="881380"/>
            <a:chOff x="633730" y="2645407"/>
            <a:chExt cx="10939780" cy="881380"/>
          </a:xfrm>
        </p:grpSpPr>
        <p:sp>
          <p:nvSpPr>
            <p:cNvPr id="11" name="object 11"/>
            <p:cNvSpPr/>
            <p:nvPr/>
          </p:nvSpPr>
          <p:spPr>
            <a:xfrm>
              <a:off x="640080" y="2651757"/>
              <a:ext cx="10927080" cy="868680"/>
            </a:xfrm>
            <a:custGeom>
              <a:avLst/>
              <a:gdLst/>
              <a:ahLst/>
              <a:cxnLst/>
              <a:rect l="l" t="t" r="r" b="b"/>
              <a:pathLst>
                <a:path w="10927080" h="868679">
                  <a:moveTo>
                    <a:pt x="10817352" y="0"/>
                  </a:moveTo>
                  <a:lnTo>
                    <a:pt x="109728" y="0"/>
                  </a:lnTo>
                  <a:lnTo>
                    <a:pt x="67015" y="8622"/>
                  </a:lnTo>
                  <a:lnTo>
                    <a:pt x="32137" y="32137"/>
                  </a:lnTo>
                  <a:lnTo>
                    <a:pt x="8622" y="67015"/>
                  </a:lnTo>
                  <a:lnTo>
                    <a:pt x="0" y="109727"/>
                  </a:lnTo>
                  <a:lnTo>
                    <a:pt x="0" y="758951"/>
                  </a:lnTo>
                  <a:lnTo>
                    <a:pt x="8622" y="801664"/>
                  </a:lnTo>
                  <a:lnTo>
                    <a:pt x="32137" y="836542"/>
                  </a:lnTo>
                  <a:lnTo>
                    <a:pt x="67015" y="860057"/>
                  </a:lnTo>
                  <a:lnTo>
                    <a:pt x="109728" y="868679"/>
                  </a:lnTo>
                  <a:lnTo>
                    <a:pt x="10817352" y="868679"/>
                  </a:lnTo>
                  <a:lnTo>
                    <a:pt x="10860064" y="860057"/>
                  </a:lnTo>
                  <a:lnTo>
                    <a:pt x="10894942" y="836542"/>
                  </a:lnTo>
                  <a:lnTo>
                    <a:pt x="10918457" y="801664"/>
                  </a:lnTo>
                  <a:lnTo>
                    <a:pt x="10927080" y="758951"/>
                  </a:lnTo>
                  <a:lnTo>
                    <a:pt x="10927080" y="109727"/>
                  </a:lnTo>
                  <a:lnTo>
                    <a:pt x="10918457" y="67015"/>
                  </a:lnTo>
                  <a:lnTo>
                    <a:pt x="10894942" y="32137"/>
                  </a:lnTo>
                  <a:lnTo>
                    <a:pt x="10860064" y="8622"/>
                  </a:lnTo>
                  <a:lnTo>
                    <a:pt x="10817352" y="0"/>
                  </a:lnTo>
                  <a:close/>
                </a:path>
              </a:pathLst>
            </a:custGeom>
            <a:solidFill>
              <a:srgbClr val="FFF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" y="2651757"/>
              <a:ext cx="10927080" cy="868680"/>
            </a:xfrm>
            <a:custGeom>
              <a:avLst/>
              <a:gdLst/>
              <a:ahLst/>
              <a:cxnLst/>
              <a:rect l="l" t="t" r="r" b="b"/>
              <a:pathLst>
                <a:path w="10927080" h="868679">
                  <a:moveTo>
                    <a:pt x="0" y="109727"/>
                  </a:moveTo>
                  <a:lnTo>
                    <a:pt x="8622" y="67015"/>
                  </a:lnTo>
                  <a:lnTo>
                    <a:pt x="32137" y="32137"/>
                  </a:lnTo>
                  <a:lnTo>
                    <a:pt x="67015" y="8622"/>
                  </a:lnTo>
                  <a:lnTo>
                    <a:pt x="109728" y="0"/>
                  </a:lnTo>
                  <a:lnTo>
                    <a:pt x="10817352" y="0"/>
                  </a:lnTo>
                  <a:lnTo>
                    <a:pt x="10860064" y="8622"/>
                  </a:lnTo>
                  <a:lnTo>
                    <a:pt x="10894942" y="32137"/>
                  </a:lnTo>
                  <a:lnTo>
                    <a:pt x="10918457" y="67015"/>
                  </a:lnTo>
                  <a:lnTo>
                    <a:pt x="10927080" y="109727"/>
                  </a:lnTo>
                  <a:lnTo>
                    <a:pt x="10927080" y="758951"/>
                  </a:lnTo>
                  <a:lnTo>
                    <a:pt x="10918457" y="801664"/>
                  </a:lnTo>
                  <a:lnTo>
                    <a:pt x="10894942" y="836542"/>
                  </a:lnTo>
                  <a:lnTo>
                    <a:pt x="10860064" y="860057"/>
                  </a:lnTo>
                  <a:lnTo>
                    <a:pt x="10817352" y="868679"/>
                  </a:lnTo>
                  <a:lnTo>
                    <a:pt x="109728" y="868679"/>
                  </a:lnTo>
                  <a:lnTo>
                    <a:pt x="67015" y="860057"/>
                  </a:lnTo>
                  <a:lnTo>
                    <a:pt x="32137" y="836542"/>
                  </a:lnTo>
                  <a:lnTo>
                    <a:pt x="8622" y="801664"/>
                  </a:lnTo>
                  <a:lnTo>
                    <a:pt x="0" y="758951"/>
                  </a:lnTo>
                  <a:lnTo>
                    <a:pt x="0" y="109727"/>
                  </a:lnTo>
                  <a:close/>
                </a:path>
              </a:pathLst>
            </a:custGeom>
            <a:ln w="12699">
              <a:solidFill>
                <a:srgbClr val="F1C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0259" y="2715259"/>
            <a:ext cx="7879080" cy="530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975"/>
              </a:lnSpc>
              <a:spcBef>
                <a:spcPts val="120"/>
              </a:spcBef>
            </a:pPr>
            <a:r>
              <a:rPr sz="1850" b="1" spc="-10" dirty="0">
                <a:solidFill>
                  <a:srgbClr val="FF7045"/>
                </a:solidFill>
                <a:latin typeface="Calibri"/>
                <a:cs typeface="Calibri"/>
              </a:rPr>
              <a:t>QUESTION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1975"/>
              </a:lnSpc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Assume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for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all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positive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integers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n,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if 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&gt;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4, then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n²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&lt;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2ⁿ. Show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that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100²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&lt;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2¹⁰⁰.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3730" y="3696972"/>
            <a:ext cx="3590925" cy="2630805"/>
            <a:chOff x="633730" y="3696972"/>
            <a:chExt cx="3590925" cy="2630805"/>
          </a:xfrm>
        </p:grpSpPr>
        <p:sp>
          <p:nvSpPr>
            <p:cNvPr id="15" name="object 15"/>
            <p:cNvSpPr/>
            <p:nvPr/>
          </p:nvSpPr>
          <p:spPr>
            <a:xfrm>
              <a:off x="704088" y="3767330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34655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505456"/>
                  </a:lnTo>
                  <a:lnTo>
                    <a:pt x="4311" y="2526812"/>
                  </a:lnTo>
                  <a:lnTo>
                    <a:pt x="16068" y="2544251"/>
                  </a:lnTo>
                  <a:lnTo>
                    <a:pt x="33507" y="2556008"/>
                  </a:lnTo>
                  <a:lnTo>
                    <a:pt x="54864" y="2560320"/>
                  </a:lnTo>
                  <a:lnTo>
                    <a:pt x="3465576" y="2560320"/>
                  </a:lnTo>
                  <a:lnTo>
                    <a:pt x="3486932" y="2556008"/>
                  </a:lnTo>
                  <a:lnTo>
                    <a:pt x="3504371" y="2544251"/>
                  </a:lnTo>
                  <a:lnTo>
                    <a:pt x="3516128" y="2526812"/>
                  </a:lnTo>
                  <a:lnTo>
                    <a:pt x="3520440" y="2505456"/>
                  </a:lnTo>
                  <a:lnTo>
                    <a:pt x="3520440" y="54863"/>
                  </a:lnTo>
                  <a:lnTo>
                    <a:pt x="3516128" y="33507"/>
                  </a:lnTo>
                  <a:lnTo>
                    <a:pt x="3504371" y="16068"/>
                  </a:lnTo>
                  <a:lnTo>
                    <a:pt x="3486932" y="4311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80" y="3703322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34655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2505456"/>
                  </a:lnTo>
                  <a:lnTo>
                    <a:pt x="4311" y="2526812"/>
                  </a:lnTo>
                  <a:lnTo>
                    <a:pt x="16068" y="2544251"/>
                  </a:lnTo>
                  <a:lnTo>
                    <a:pt x="33507" y="2556008"/>
                  </a:lnTo>
                  <a:lnTo>
                    <a:pt x="54864" y="2560320"/>
                  </a:lnTo>
                  <a:lnTo>
                    <a:pt x="3465576" y="2560320"/>
                  </a:lnTo>
                  <a:lnTo>
                    <a:pt x="3486932" y="2556008"/>
                  </a:lnTo>
                  <a:lnTo>
                    <a:pt x="3504371" y="2544251"/>
                  </a:lnTo>
                  <a:lnTo>
                    <a:pt x="3516128" y="2526812"/>
                  </a:lnTo>
                  <a:lnTo>
                    <a:pt x="3520440" y="2505456"/>
                  </a:lnTo>
                  <a:lnTo>
                    <a:pt x="3520440" y="54864"/>
                  </a:lnTo>
                  <a:lnTo>
                    <a:pt x="3516128" y="33507"/>
                  </a:lnTo>
                  <a:lnTo>
                    <a:pt x="3504371" y="16068"/>
                  </a:lnTo>
                  <a:lnTo>
                    <a:pt x="3486932" y="4311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703322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465576" y="0"/>
                  </a:lnTo>
                  <a:lnTo>
                    <a:pt x="3486932" y="4311"/>
                  </a:lnTo>
                  <a:lnTo>
                    <a:pt x="3504371" y="16068"/>
                  </a:lnTo>
                  <a:lnTo>
                    <a:pt x="3516128" y="33507"/>
                  </a:lnTo>
                  <a:lnTo>
                    <a:pt x="3520440" y="54864"/>
                  </a:lnTo>
                  <a:lnTo>
                    <a:pt x="3520440" y="2505456"/>
                  </a:lnTo>
                  <a:lnTo>
                    <a:pt x="3516128" y="2526812"/>
                  </a:lnTo>
                  <a:lnTo>
                    <a:pt x="3504371" y="2544251"/>
                  </a:lnTo>
                  <a:lnTo>
                    <a:pt x="3486932" y="2556008"/>
                  </a:lnTo>
                  <a:lnTo>
                    <a:pt x="3465576" y="2560320"/>
                  </a:lnTo>
                  <a:lnTo>
                    <a:pt x="54864" y="2560320"/>
                  </a:lnTo>
                  <a:lnTo>
                    <a:pt x="33507" y="2556008"/>
                  </a:lnTo>
                  <a:lnTo>
                    <a:pt x="16068" y="2544251"/>
                  </a:lnTo>
                  <a:lnTo>
                    <a:pt x="4311" y="2526812"/>
                  </a:lnTo>
                  <a:lnTo>
                    <a:pt x="0" y="2505456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9808" y="3813047"/>
              <a:ext cx="3301365" cy="457200"/>
            </a:xfrm>
            <a:custGeom>
              <a:avLst/>
              <a:gdLst/>
              <a:ahLst/>
              <a:cxnLst/>
              <a:rect l="l" t="t" r="r" b="b"/>
              <a:pathLst>
                <a:path w="3301365" h="457200">
                  <a:moveTo>
                    <a:pt x="32552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11479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199"/>
                  </a:lnTo>
                  <a:lnTo>
                    <a:pt x="3255264" y="457199"/>
                  </a:lnTo>
                  <a:lnTo>
                    <a:pt x="3273059" y="453606"/>
                  </a:lnTo>
                  <a:lnTo>
                    <a:pt x="3287591" y="443807"/>
                  </a:lnTo>
                  <a:lnTo>
                    <a:pt x="3297390" y="429275"/>
                  </a:lnTo>
                  <a:lnTo>
                    <a:pt x="3300984" y="411479"/>
                  </a:lnTo>
                  <a:lnTo>
                    <a:pt x="3300984" y="45719"/>
                  </a:lnTo>
                  <a:lnTo>
                    <a:pt x="3297390" y="27924"/>
                  </a:lnTo>
                  <a:lnTo>
                    <a:pt x="3287591" y="13392"/>
                  </a:lnTo>
                  <a:lnTo>
                    <a:pt x="3273059" y="3593"/>
                  </a:lnTo>
                  <a:lnTo>
                    <a:pt x="3255264" y="0"/>
                  </a:lnTo>
                  <a:close/>
                </a:path>
              </a:pathLst>
            </a:custGeom>
            <a:solidFill>
              <a:srgbClr val="FFC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9808" y="3813047"/>
              <a:ext cx="3301365" cy="457200"/>
            </a:xfrm>
            <a:custGeom>
              <a:avLst/>
              <a:gdLst/>
              <a:ahLst/>
              <a:cxnLst/>
              <a:rect l="l" t="t" r="r" b="b"/>
              <a:pathLst>
                <a:path w="3301365" h="457200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3255264" y="0"/>
                  </a:lnTo>
                  <a:lnTo>
                    <a:pt x="3273059" y="3593"/>
                  </a:lnTo>
                  <a:lnTo>
                    <a:pt x="3287591" y="13392"/>
                  </a:lnTo>
                  <a:lnTo>
                    <a:pt x="3297390" y="27924"/>
                  </a:lnTo>
                  <a:lnTo>
                    <a:pt x="3300984" y="45719"/>
                  </a:lnTo>
                  <a:lnTo>
                    <a:pt x="3300984" y="411479"/>
                  </a:lnTo>
                  <a:lnTo>
                    <a:pt x="3297390" y="429275"/>
                  </a:lnTo>
                  <a:lnTo>
                    <a:pt x="3287591" y="443807"/>
                  </a:lnTo>
                  <a:lnTo>
                    <a:pt x="3273059" y="453606"/>
                  </a:lnTo>
                  <a:lnTo>
                    <a:pt x="3255264" y="457199"/>
                  </a:lnTo>
                  <a:lnTo>
                    <a:pt x="45720" y="457199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79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57954" y="3871436"/>
            <a:ext cx="3284854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7359">
              <a:lnSpc>
                <a:spcPct val="100000"/>
              </a:lnSpc>
              <a:spcBef>
                <a:spcPts val="120"/>
              </a:spcBef>
            </a:pPr>
            <a:r>
              <a:rPr sz="1850" b="1" spc="75" dirty="0">
                <a:solidFill>
                  <a:srgbClr val="2D2A5E"/>
                </a:solidFill>
                <a:latin typeface="Trebuchet MS"/>
                <a:cs typeface="Trebuchet MS"/>
              </a:rPr>
              <a:t>Step</a:t>
            </a:r>
            <a:r>
              <a:rPr sz="1850" b="1" spc="-11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0" dirty="0">
                <a:solidFill>
                  <a:srgbClr val="2D2A5E"/>
                </a:solidFill>
                <a:latin typeface="Trebuchet MS"/>
                <a:cs typeface="Trebuchet MS"/>
              </a:rPr>
              <a:t>1:</a:t>
            </a:r>
            <a:r>
              <a:rPr sz="1850" b="1" spc="-9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95" dirty="0">
                <a:solidFill>
                  <a:srgbClr val="2D2A5E"/>
                </a:solidFill>
                <a:latin typeface="Trebuchet MS"/>
                <a:cs typeface="Trebuchet MS"/>
              </a:rPr>
              <a:t>Read</a:t>
            </a:r>
            <a:r>
              <a:rPr sz="1850" b="1" spc="-1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the</a:t>
            </a:r>
            <a:r>
              <a:rPr sz="1850" b="1" spc="-10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20" dirty="0">
                <a:solidFill>
                  <a:srgbClr val="2D2A5E"/>
                </a:solidFill>
                <a:latin typeface="Trebuchet MS"/>
                <a:cs typeface="Trebuchet MS"/>
              </a:rPr>
              <a:t>rule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8585" y="4401129"/>
            <a:ext cx="3503929" cy="6997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525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Let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P(n):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&gt;</a:t>
            </a:r>
            <a:r>
              <a:rPr sz="1850" spc="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4 and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Q(n):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n²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&lt;</a:t>
            </a:r>
            <a:r>
              <a:rPr sz="1850" spc="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2ⁿ.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434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says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mbria Math"/>
                <a:cs typeface="Cambria Math"/>
              </a:rPr>
              <a:t>∀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(P(n)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→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Q(n)).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7050" y="3696972"/>
            <a:ext cx="3590925" cy="2630805"/>
            <a:chOff x="4337050" y="3696972"/>
            <a:chExt cx="3590925" cy="2630805"/>
          </a:xfrm>
        </p:grpSpPr>
        <p:sp>
          <p:nvSpPr>
            <p:cNvPr id="23" name="object 23"/>
            <p:cNvSpPr/>
            <p:nvPr/>
          </p:nvSpPr>
          <p:spPr>
            <a:xfrm>
              <a:off x="4407407" y="3767330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34655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505456"/>
                  </a:lnTo>
                  <a:lnTo>
                    <a:pt x="4311" y="2526812"/>
                  </a:lnTo>
                  <a:lnTo>
                    <a:pt x="16068" y="2544251"/>
                  </a:lnTo>
                  <a:lnTo>
                    <a:pt x="33507" y="2556008"/>
                  </a:lnTo>
                  <a:lnTo>
                    <a:pt x="54864" y="2560320"/>
                  </a:lnTo>
                  <a:lnTo>
                    <a:pt x="3465576" y="2560320"/>
                  </a:lnTo>
                  <a:lnTo>
                    <a:pt x="3486932" y="2556008"/>
                  </a:lnTo>
                  <a:lnTo>
                    <a:pt x="3504371" y="2544251"/>
                  </a:lnTo>
                  <a:lnTo>
                    <a:pt x="3516128" y="2526812"/>
                  </a:lnTo>
                  <a:lnTo>
                    <a:pt x="3520440" y="2505456"/>
                  </a:lnTo>
                  <a:lnTo>
                    <a:pt x="3520440" y="54863"/>
                  </a:lnTo>
                  <a:lnTo>
                    <a:pt x="3516128" y="33507"/>
                  </a:lnTo>
                  <a:lnTo>
                    <a:pt x="3504371" y="16068"/>
                  </a:lnTo>
                  <a:lnTo>
                    <a:pt x="3486932" y="4311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43400" y="3703322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34655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2505456"/>
                  </a:lnTo>
                  <a:lnTo>
                    <a:pt x="4311" y="2526812"/>
                  </a:lnTo>
                  <a:lnTo>
                    <a:pt x="16068" y="2544251"/>
                  </a:lnTo>
                  <a:lnTo>
                    <a:pt x="33507" y="2556008"/>
                  </a:lnTo>
                  <a:lnTo>
                    <a:pt x="54864" y="2560320"/>
                  </a:lnTo>
                  <a:lnTo>
                    <a:pt x="3465576" y="2560320"/>
                  </a:lnTo>
                  <a:lnTo>
                    <a:pt x="3486932" y="2556008"/>
                  </a:lnTo>
                  <a:lnTo>
                    <a:pt x="3504371" y="2544251"/>
                  </a:lnTo>
                  <a:lnTo>
                    <a:pt x="3516128" y="2526812"/>
                  </a:lnTo>
                  <a:lnTo>
                    <a:pt x="3520440" y="2505456"/>
                  </a:lnTo>
                  <a:lnTo>
                    <a:pt x="3520440" y="54864"/>
                  </a:lnTo>
                  <a:lnTo>
                    <a:pt x="3516128" y="33507"/>
                  </a:lnTo>
                  <a:lnTo>
                    <a:pt x="3504371" y="16068"/>
                  </a:lnTo>
                  <a:lnTo>
                    <a:pt x="3486932" y="4311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43400" y="3703322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465576" y="0"/>
                  </a:lnTo>
                  <a:lnTo>
                    <a:pt x="3486932" y="4311"/>
                  </a:lnTo>
                  <a:lnTo>
                    <a:pt x="3504371" y="16068"/>
                  </a:lnTo>
                  <a:lnTo>
                    <a:pt x="3516128" y="33507"/>
                  </a:lnTo>
                  <a:lnTo>
                    <a:pt x="3520440" y="54864"/>
                  </a:lnTo>
                  <a:lnTo>
                    <a:pt x="3520440" y="2505456"/>
                  </a:lnTo>
                  <a:lnTo>
                    <a:pt x="3516128" y="2526812"/>
                  </a:lnTo>
                  <a:lnTo>
                    <a:pt x="3504371" y="2544251"/>
                  </a:lnTo>
                  <a:lnTo>
                    <a:pt x="3486932" y="2556008"/>
                  </a:lnTo>
                  <a:lnTo>
                    <a:pt x="3465576" y="2560320"/>
                  </a:lnTo>
                  <a:lnTo>
                    <a:pt x="54864" y="2560320"/>
                  </a:lnTo>
                  <a:lnTo>
                    <a:pt x="33507" y="2556008"/>
                  </a:lnTo>
                  <a:lnTo>
                    <a:pt x="16068" y="2544251"/>
                  </a:lnTo>
                  <a:lnTo>
                    <a:pt x="4311" y="2526812"/>
                  </a:lnTo>
                  <a:lnTo>
                    <a:pt x="0" y="2505456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53128" y="3813047"/>
              <a:ext cx="3301365" cy="457200"/>
            </a:xfrm>
            <a:custGeom>
              <a:avLst/>
              <a:gdLst/>
              <a:ahLst/>
              <a:cxnLst/>
              <a:rect l="l" t="t" r="r" b="b"/>
              <a:pathLst>
                <a:path w="3301365" h="457200">
                  <a:moveTo>
                    <a:pt x="32552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11479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199"/>
                  </a:lnTo>
                  <a:lnTo>
                    <a:pt x="3255264" y="457199"/>
                  </a:lnTo>
                  <a:lnTo>
                    <a:pt x="3273059" y="453606"/>
                  </a:lnTo>
                  <a:lnTo>
                    <a:pt x="3287591" y="443807"/>
                  </a:lnTo>
                  <a:lnTo>
                    <a:pt x="3297390" y="429275"/>
                  </a:lnTo>
                  <a:lnTo>
                    <a:pt x="3300984" y="411479"/>
                  </a:lnTo>
                  <a:lnTo>
                    <a:pt x="3300984" y="45719"/>
                  </a:lnTo>
                  <a:lnTo>
                    <a:pt x="3297390" y="27924"/>
                  </a:lnTo>
                  <a:lnTo>
                    <a:pt x="3287591" y="13392"/>
                  </a:lnTo>
                  <a:lnTo>
                    <a:pt x="3273059" y="3593"/>
                  </a:lnTo>
                  <a:lnTo>
                    <a:pt x="3255264" y="0"/>
                  </a:lnTo>
                  <a:close/>
                </a:path>
              </a:pathLst>
            </a:custGeom>
            <a:solidFill>
              <a:srgbClr val="B8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53128" y="3813047"/>
              <a:ext cx="3301365" cy="457200"/>
            </a:xfrm>
            <a:custGeom>
              <a:avLst/>
              <a:gdLst/>
              <a:ahLst/>
              <a:cxnLst/>
              <a:rect l="l" t="t" r="r" b="b"/>
              <a:pathLst>
                <a:path w="3301365" h="457200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3255264" y="0"/>
                  </a:lnTo>
                  <a:lnTo>
                    <a:pt x="3273059" y="3593"/>
                  </a:lnTo>
                  <a:lnTo>
                    <a:pt x="3287591" y="13392"/>
                  </a:lnTo>
                  <a:lnTo>
                    <a:pt x="3297390" y="27924"/>
                  </a:lnTo>
                  <a:lnTo>
                    <a:pt x="3300984" y="45719"/>
                  </a:lnTo>
                  <a:lnTo>
                    <a:pt x="3300984" y="411479"/>
                  </a:lnTo>
                  <a:lnTo>
                    <a:pt x="3297390" y="429275"/>
                  </a:lnTo>
                  <a:lnTo>
                    <a:pt x="3287591" y="443807"/>
                  </a:lnTo>
                  <a:lnTo>
                    <a:pt x="3273059" y="453606"/>
                  </a:lnTo>
                  <a:lnTo>
                    <a:pt x="3255264" y="457199"/>
                  </a:lnTo>
                  <a:lnTo>
                    <a:pt x="45720" y="457199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79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461274" y="3871436"/>
            <a:ext cx="3284854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20"/>
              </a:spcBef>
            </a:pPr>
            <a:r>
              <a:rPr sz="1850" b="1" spc="80" dirty="0">
                <a:solidFill>
                  <a:srgbClr val="2D2A5E"/>
                </a:solidFill>
                <a:latin typeface="Trebuchet MS"/>
                <a:cs typeface="Trebuchet MS"/>
              </a:rPr>
              <a:t>Step</a:t>
            </a:r>
            <a:r>
              <a:rPr sz="1850" b="1" spc="-11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30" dirty="0">
                <a:solidFill>
                  <a:srgbClr val="2D2A5E"/>
                </a:solidFill>
                <a:latin typeface="Trebuchet MS"/>
                <a:cs typeface="Trebuchet MS"/>
              </a:rPr>
              <a:t>2:</a:t>
            </a:r>
            <a:r>
              <a:rPr sz="1850" b="1" spc="-9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65" dirty="0">
                <a:solidFill>
                  <a:srgbClr val="2D2A5E"/>
                </a:solidFill>
                <a:latin typeface="Trebuchet MS"/>
                <a:cs typeface="Trebuchet MS"/>
              </a:rPr>
              <a:t>Check</a:t>
            </a:r>
            <a:r>
              <a:rPr sz="1850" b="1" spc="-12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the</a:t>
            </a:r>
            <a:r>
              <a:rPr sz="1850" b="1" spc="-12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condition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51905" y="4452720"/>
            <a:ext cx="3503929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P(100)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true,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because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100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&gt; 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4.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040369" y="3696972"/>
            <a:ext cx="3590925" cy="2630805"/>
            <a:chOff x="8040369" y="3696972"/>
            <a:chExt cx="3590925" cy="2630805"/>
          </a:xfrm>
        </p:grpSpPr>
        <p:sp>
          <p:nvSpPr>
            <p:cNvPr id="31" name="object 31"/>
            <p:cNvSpPr/>
            <p:nvPr/>
          </p:nvSpPr>
          <p:spPr>
            <a:xfrm>
              <a:off x="8110727" y="3767330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34655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505456"/>
                  </a:lnTo>
                  <a:lnTo>
                    <a:pt x="4311" y="2526812"/>
                  </a:lnTo>
                  <a:lnTo>
                    <a:pt x="16068" y="2544251"/>
                  </a:lnTo>
                  <a:lnTo>
                    <a:pt x="33507" y="2556008"/>
                  </a:lnTo>
                  <a:lnTo>
                    <a:pt x="54864" y="2560320"/>
                  </a:lnTo>
                  <a:lnTo>
                    <a:pt x="3465576" y="2560320"/>
                  </a:lnTo>
                  <a:lnTo>
                    <a:pt x="3486932" y="2556008"/>
                  </a:lnTo>
                  <a:lnTo>
                    <a:pt x="3504371" y="2544251"/>
                  </a:lnTo>
                  <a:lnTo>
                    <a:pt x="3516128" y="2526812"/>
                  </a:lnTo>
                  <a:lnTo>
                    <a:pt x="3520440" y="2505456"/>
                  </a:lnTo>
                  <a:lnTo>
                    <a:pt x="3520440" y="54863"/>
                  </a:lnTo>
                  <a:lnTo>
                    <a:pt x="3516128" y="33507"/>
                  </a:lnTo>
                  <a:lnTo>
                    <a:pt x="3504371" y="16068"/>
                  </a:lnTo>
                  <a:lnTo>
                    <a:pt x="3486932" y="4311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46719" y="3703322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346557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2505456"/>
                  </a:lnTo>
                  <a:lnTo>
                    <a:pt x="4311" y="2526812"/>
                  </a:lnTo>
                  <a:lnTo>
                    <a:pt x="16068" y="2544251"/>
                  </a:lnTo>
                  <a:lnTo>
                    <a:pt x="33507" y="2556008"/>
                  </a:lnTo>
                  <a:lnTo>
                    <a:pt x="54864" y="2560320"/>
                  </a:lnTo>
                  <a:lnTo>
                    <a:pt x="3465576" y="2560320"/>
                  </a:lnTo>
                  <a:lnTo>
                    <a:pt x="3486932" y="2556008"/>
                  </a:lnTo>
                  <a:lnTo>
                    <a:pt x="3504371" y="2544251"/>
                  </a:lnTo>
                  <a:lnTo>
                    <a:pt x="3516128" y="2526812"/>
                  </a:lnTo>
                  <a:lnTo>
                    <a:pt x="3520440" y="2505456"/>
                  </a:lnTo>
                  <a:lnTo>
                    <a:pt x="3520440" y="54864"/>
                  </a:lnTo>
                  <a:lnTo>
                    <a:pt x="3516128" y="33507"/>
                  </a:lnTo>
                  <a:lnTo>
                    <a:pt x="3504371" y="16068"/>
                  </a:lnTo>
                  <a:lnTo>
                    <a:pt x="3486932" y="4311"/>
                  </a:lnTo>
                  <a:lnTo>
                    <a:pt x="34655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46719" y="3703322"/>
              <a:ext cx="3520440" cy="2560320"/>
            </a:xfrm>
            <a:custGeom>
              <a:avLst/>
              <a:gdLst/>
              <a:ahLst/>
              <a:cxnLst/>
              <a:rect l="l" t="t" r="r" b="b"/>
              <a:pathLst>
                <a:path w="3520440" h="2560320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465576" y="0"/>
                  </a:lnTo>
                  <a:lnTo>
                    <a:pt x="3486932" y="4311"/>
                  </a:lnTo>
                  <a:lnTo>
                    <a:pt x="3504371" y="16068"/>
                  </a:lnTo>
                  <a:lnTo>
                    <a:pt x="3516128" y="33507"/>
                  </a:lnTo>
                  <a:lnTo>
                    <a:pt x="3520440" y="54864"/>
                  </a:lnTo>
                  <a:lnTo>
                    <a:pt x="3520440" y="2505456"/>
                  </a:lnTo>
                  <a:lnTo>
                    <a:pt x="3516128" y="2526812"/>
                  </a:lnTo>
                  <a:lnTo>
                    <a:pt x="3504371" y="2544251"/>
                  </a:lnTo>
                  <a:lnTo>
                    <a:pt x="3486932" y="2556008"/>
                  </a:lnTo>
                  <a:lnTo>
                    <a:pt x="3465576" y="2560320"/>
                  </a:lnTo>
                  <a:lnTo>
                    <a:pt x="54864" y="2560320"/>
                  </a:lnTo>
                  <a:lnTo>
                    <a:pt x="33507" y="2556008"/>
                  </a:lnTo>
                  <a:lnTo>
                    <a:pt x="16068" y="2544251"/>
                  </a:lnTo>
                  <a:lnTo>
                    <a:pt x="4311" y="2526812"/>
                  </a:lnTo>
                  <a:lnTo>
                    <a:pt x="0" y="2505456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56447" y="3813047"/>
              <a:ext cx="3301365" cy="457200"/>
            </a:xfrm>
            <a:custGeom>
              <a:avLst/>
              <a:gdLst/>
              <a:ahLst/>
              <a:cxnLst/>
              <a:rect l="l" t="t" r="r" b="b"/>
              <a:pathLst>
                <a:path w="3301365" h="457200">
                  <a:moveTo>
                    <a:pt x="325526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19"/>
                  </a:lnTo>
                  <a:lnTo>
                    <a:pt x="0" y="411479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199"/>
                  </a:lnTo>
                  <a:lnTo>
                    <a:pt x="3255264" y="457199"/>
                  </a:lnTo>
                  <a:lnTo>
                    <a:pt x="3273059" y="453606"/>
                  </a:lnTo>
                  <a:lnTo>
                    <a:pt x="3287591" y="443807"/>
                  </a:lnTo>
                  <a:lnTo>
                    <a:pt x="3297390" y="429275"/>
                  </a:lnTo>
                  <a:lnTo>
                    <a:pt x="3300984" y="411479"/>
                  </a:lnTo>
                  <a:lnTo>
                    <a:pt x="3300984" y="45719"/>
                  </a:lnTo>
                  <a:lnTo>
                    <a:pt x="3297390" y="27924"/>
                  </a:lnTo>
                  <a:lnTo>
                    <a:pt x="3287591" y="13392"/>
                  </a:lnTo>
                  <a:lnTo>
                    <a:pt x="3273059" y="3593"/>
                  </a:lnTo>
                  <a:lnTo>
                    <a:pt x="325526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56447" y="3813047"/>
              <a:ext cx="3301365" cy="457200"/>
            </a:xfrm>
            <a:custGeom>
              <a:avLst/>
              <a:gdLst/>
              <a:ahLst/>
              <a:cxnLst/>
              <a:rect l="l" t="t" r="r" b="b"/>
              <a:pathLst>
                <a:path w="3301365" h="457200">
                  <a:moveTo>
                    <a:pt x="0" y="45719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3255264" y="0"/>
                  </a:lnTo>
                  <a:lnTo>
                    <a:pt x="3273059" y="3593"/>
                  </a:lnTo>
                  <a:lnTo>
                    <a:pt x="3287591" y="13392"/>
                  </a:lnTo>
                  <a:lnTo>
                    <a:pt x="3297390" y="27924"/>
                  </a:lnTo>
                  <a:lnTo>
                    <a:pt x="3300984" y="45719"/>
                  </a:lnTo>
                  <a:lnTo>
                    <a:pt x="3300984" y="411479"/>
                  </a:lnTo>
                  <a:lnTo>
                    <a:pt x="3297390" y="429275"/>
                  </a:lnTo>
                  <a:lnTo>
                    <a:pt x="3287591" y="443807"/>
                  </a:lnTo>
                  <a:lnTo>
                    <a:pt x="3273059" y="453606"/>
                  </a:lnTo>
                  <a:lnTo>
                    <a:pt x="3255264" y="457199"/>
                  </a:lnTo>
                  <a:lnTo>
                    <a:pt x="45720" y="457199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79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164594" y="3871436"/>
            <a:ext cx="3284854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47675">
              <a:lnSpc>
                <a:spcPct val="100000"/>
              </a:lnSpc>
              <a:spcBef>
                <a:spcPts val="120"/>
              </a:spcBef>
            </a:pPr>
            <a:r>
              <a:rPr sz="1850" b="1" spc="75" dirty="0">
                <a:solidFill>
                  <a:srgbClr val="2D2A5E"/>
                </a:solidFill>
                <a:latin typeface="Trebuchet MS"/>
                <a:cs typeface="Trebuchet MS"/>
              </a:rPr>
              <a:t>Step</a:t>
            </a:r>
            <a:r>
              <a:rPr sz="1850" b="1" spc="-7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40" dirty="0">
                <a:solidFill>
                  <a:srgbClr val="2D2A5E"/>
                </a:solidFill>
                <a:latin typeface="Trebuchet MS"/>
                <a:cs typeface="Trebuchet MS"/>
              </a:rPr>
              <a:t>3:</a:t>
            </a:r>
            <a:r>
              <a:rPr sz="1850" b="1" spc="-60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Get</a:t>
            </a:r>
            <a:r>
              <a:rPr sz="1850" b="1" spc="-7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dirty="0">
                <a:solidFill>
                  <a:srgbClr val="2D2A5E"/>
                </a:solidFill>
                <a:latin typeface="Trebuchet MS"/>
                <a:cs typeface="Trebuchet MS"/>
              </a:rPr>
              <a:t>the</a:t>
            </a:r>
            <a:r>
              <a:rPr sz="1850" b="1" spc="-85" dirty="0">
                <a:solidFill>
                  <a:srgbClr val="2D2A5E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2D2A5E"/>
                </a:solidFill>
                <a:latin typeface="Trebuchet MS"/>
                <a:cs typeface="Trebuchet MS"/>
              </a:rPr>
              <a:t>result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26</a:t>
            </a:fld>
            <a:r>
              <a:rPr spc="-10" dirty="0"/>
              <a:t>/28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055225" y="4452720"/>
            <a:ext cx="3503929" cy="929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9710" marR="59309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By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universal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ponens,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Q(100)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is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true.</a:t>
            </a:r>
            <a:endParaRPr sz="185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4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So</a:t>
            </a:r>
            <a:r>
              <a:rPr sz="185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100²</a:t>
            </a:r>
            <a:r>
              <a:rPr sz="1850" spc="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&lt; 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2¹⁰⁰.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48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"/>
              </a:spcBef>
            </a:pPr>
            <a:r>
              <a:rPr spc="135" dirty="0"/>
              <a:t>Summary</a:t>
            </a:r>
            <a:r>
              <a:rPr spc="-210" dirty="0"/>
              <a:t> </a:t>
            </a:r>
            <a:r>
              <a:rPr spc="135" dirty="0"/>
              <a:t>and</a:t>
            </a:r>
            <a:r>
              <a:rPr spc="-185" dirty="0"/>
              <a:t> </a:t>
            </a:r>
            <a:r>
              <a:rPr spc="90" dirty="0"/>
              <a:t>conclusion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730" y="1365255"/>
            <a:ext cx="7019925" cy="1122045"/>
            <a:chOff x="633730" y="1365255"/>
            <a:chExt cx="7019925" cy="1122045"/>
          </a:xfrm>
        </p:grpSpPr>
        <p:sp>
          <p:nvSpPr>
            <p:cNvPr id="4" name="object 4"/>
            <p:cNvSpPr/>
            <p:nvPr/>
          </p:nvSpPr>
          <p:spPr>
            <a:xfrm>
              <a:off x="704088" y="1435613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6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60"/>
                  </a:lnTo>
                  <a:lnTo>
                    <a:pt x="6894588" y="1051560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6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0" y="1371605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6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60"/>
                  </a:lnTo>
                  <a:lnTo>
                    <a:pt x="6894588" y="1051560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6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371605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0" y="54851"/>
                  </a:moveTo>
                  <a:lnTo>
                    <a:pt x="4311" y="33497"/>
                  </a:lnTo>
                  <a:lnTo>
                    <a:pt x="16067" y="16062"/>
                  </a:lnTo>
                  <a:lnTo>
                    <a:pt x="33502" y="4309"/>
                  </a:lnTo>
                  <a:lnTo>
                    <a:pt x="54851" y="0"/>
                  </a:lnTo>
                  <a:lnTo>
                    <a:pt x="6894588" y="0"/>
                  </a:lnTo>
                  <a:lnTo>
                    <a:pt x="6915937" y="4309"/>
                  </a:lnTo>
                  <a:lnTo>
                    <a:pt x="6933372" y="16062"/>
                  </a:lnTo>
                  <a:lnTo>
                    <a:pt x="6945128" y="33497"/>
                  </a:lnTo>
                  <a:lnTo>
                    <a:pt x="6949440" y="54851"/>
                  </a:lnTo>
                  <a:lnTo>
                    <a:pt x="6949440" y="996696"/>
                  </a:lnTo>
                  <a:lnTo>
                    <a:pt x="6945128" y="1018052"/>
                  </a:lnTo>
                  <a:lnTo>
                    <a:pt x="6933372" y="1035491"/>
                  </a:lnTo>
                  <a:lnTo>
                    <a:pt x="6915937" y="1047248"/>
                  </a:lnTo>
                  <a:lnTo>
                    <a:pt x="6894588" y="1051560"/>
                  </a:lnTo>
                  <a:lnTo>
                    <a:pt x="54851" y="1051560"/>
                  </a:lnTo>
                  <a:lnTo>
                    <a:pt x="33502" y="1047248"/>
                  </a:lnTo>
                  <a:lnTo>
                    <a:pt x="16067" y="1035491"/>
                  </a:lnTo>
                  <a:lnTo>
                    <a:pt x="4311" y="1018052"/>
                  </a:lnTo>
                  <a:lnTo>
                    <a:pt x="0" y="996696"/>
                  </a:lnTo>
                  <a:lnTo>
                    <a:pt x="0" y="54851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680" y="162763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11" y="4419"/>
                  </a:lnTo>
                  <a:lnTo>
                    <a:pt x="178602" y="17162"/>
                  </a:lnTo>
                  <a:lnTo>
                    <a:pt x="135867" y="37453"/>
                  </a:lnTo>
                  <a:lnTo>
                    <a:pt x="97580" y="64518"/>
                  </a:lnTo>
                  <a:lnTo>
                    <a:pt x="64518" y="97580"/>
                  </a:lnTo>
                  <a:lnTo>
                    <a:pt x="37453" y="135867"/>
                  </a:lnTo>
                  <a:lnTo>
                    <a:pt x="17162" y="178602"/>
                  </a:lnTo>
                  <a:lnTo>
                    <a:pt x="4419" y="225011"/>
                  </a:lnTo>
                  <a:lnTo>
                    <a:pt x="0" y="274320"/>
                  </a:lnTo>
                  <a:lnTo>
                    <a:pt x="4419" y="323628"/>
                  </a:lnTo>
                  <a:lnTo>
                    <a:pt x="17162" y="370037"/>
                  </a:lnTo>
                  <a:lnTo>
                    <a:pt x="37453" y="412772"/>
                  </a:lnTo>
                  <a:lnTo>
                    <a:pt x="64518" y="451059"/>
                  </a:lnTo>
                  <a:lnTo>
                    <a:pt x="97580" y="484121"/>
                  </a:lnTo>
                  <a:lnTo>
                    <a:pt x="135867" y="511186"/>
                  </a:lnTo>
                  <a:lnTo>
                    <a:pt x="178602" y="531477"/>
                  </a:lnTo>
                  <a:lnTo>
                    <a:pt x="225011" y="544220"/>
                  </a:lnTo>
                  <a:lnTo>
                    <a:pt x="274320" y="548640"/>
                  </a:lnTo>
                  <a:lnTo>
                    <a:pt x="323628" y="544220"/>
                  </a:lnTo>
                  <a:lnTo>
                    <a:pt x="370037" y="531477"/>
                  </a:lnTo>
                  <a:lnTo>
                    <a:pt x="412772" y="511186"/>
                  </a:lnTo>
                  <a:lnTo>
                    <a:pt x="451059" y="484121"/>
                  </a:lnTo>
                  <a:lnTo>
                    <a:pt x="484121" y="451059"/>
                  </a:lnTo>
                  <a:lnTo>
                    <a:pt x="511186" y="412772"/>
                  </a:lnTo>
                  <a:lnTo>
                    <a:pt x="531477" y="370037"/>
                  </a:lnTo>
                  <a:lnTo>
                    <a:pt x="544220" y="323628"/>
                  </a:lnTo>
                  <a:lnTo>
                    <a:pt x="548640" y="274320"/>
                  </a:lnTo>
                  <a:lnTo>
                    <a:pt x="544220" y="225011"/>
                  </a:lnTo>
                  <a:lnTo>
                    <a:pt x="531477" y="178602"/>
                  </a:lnTo>
                  <a:lnTo>
                    <a:pt x="511186" y="135867"/>
                  </a:lnTo>
                  <a:lnTo>
                    <a:pt x="484121" y="97580"/>
                  </a:lnTo>
                  <a:lnTo>
                    <a:pt x="451059" y="64518"/>
                  </a:lnTo>
                  <a:lnTo>
                    <a:pt x="412772" y="37453"/>
                  </a:lnTo>
                  <a:lnTo>
                    <a:pt x="370037" y="17162"/>
                  </a:lnTo>
                  <a:lnTo>
                    <a:pt x="323628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B6B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547" y="1731740"/>
            <a:ext cx="1333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6001" y="1584814"/>
            <a:ext cx="5365115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valid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argument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never</a:t>
            </a:r>
            <a:r>
              <a:rPr sz="185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has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all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true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premises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false conclusion.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3730" y="2599696"/>
            <a:ext cx="7019925" cy="1122045"/>
            <a:chOff x="633730" y="2599696"/>
            <a:chExt cx="7019925" cy="1122045"/>
          </a:xfrm>
        </p:grpSpPr>
        <p:sp>
          <p:nvSpPr>
            <p:cNvPr id="11" name="object 11"/>
            <p:cNvSpPr/>
            <p:nvPr/>
          </p:nvSpPr>
          <p:spPr>
            <a:xfrm>
              <a:off x="704088" y="2670053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6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60"/>
                  </a:lnTo>
                  <a:lnTo>
                    <a:pt x="6894588" y="1051560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6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" y="2606045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6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60"/>
                  </a:lnTo>
                  <a:lnTo>
                    <a:pt x="6894588" y="1051560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6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" y="2606046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0" y="54851"/>
                  </a:moveTo>
                  <a:lnTo>
                    <a:pt x="4311" y="33497"/>
                  </a:lnTo>
                  <a:lnTo>
                    <a:pt x="16067" y="16062"/>
                  </a:lnTo>
                  <a:lnTo>
                    <a:pt x="33502" y="4309"/>
                  </a:lnTo>
                  <a:lnTo>
                    <a:pt x="54851" y="0"/>
                  </a:lnTo>
                  <a:lnTo>
                    <a:pt x="6894588" y="0"/>
                  </a:lnTo>
                  <a:lnTo>
                    <a:pt x="6915937" y="4309"/>
                  </a:lnTo>
                  <a:lnTo>
                    <a:pt x="6933372" y="16062"/>
                  </a:lnTo>
                  <a:lnTo>
                    <a:pt x="6945128" y="33497"/>
                  </a:lnTo>
                  <a:lnTo>
                    <a:pt x="6949440" y="54851"/>
                  </a:lnTo>
                  <a:lnTo>
                    <a:pt x="6949440" y="996696"/>
                  </a:lnTo>
                  <a:lnTo>
                    <a:pt x="6945128" y="1018052"/>
                  </a:lnTo>
                  <a:lnTo>
                    <a:pt x="6933372" y="1035491"/>
                  </a:lnTo>
                  <a:lnTo>
                    <a:pt x="6915937" y="1047248"/>
                  </a:lnTo>
                  <a:lnTo>
                    <a:pt x="6894588" y="1051560"/>
                  </a:lnTo>
                  <a:lnTo>
                    <a:pt x="54851" y="1051560"/>
                  </a:lnTo>
                  <a:lnTo>
                    <a:pt x="33502" y="1047248"/>
                  </a:lnTo>
                  <a:lnTo>
                    <a:pt x="16067" y="1035491"/>
                  </a:lnTo>
                  <a:lnTo>
                    <a:pt x="4311" y="1018052"/>
                  </a:lnTo>
                  <a:lnTo>
                    <a:pt x="0" y="996696"/>
                  </a:lnTo>
                  <a:lnTo>
                    <a:pt x="0" y="54851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8680" y="286207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11" y="4419"/>
                  </a:lnTo>
                  <a:lnTo>
                    <a:pt x="178602" y="17162"/>
                  </a:lnTo>
                  <a:lnTo>
                    <a:pt x="135867" y="37453"/>
                  </a:lnTo>
                  <a:lnTo>
                    <a:pt x="97580" y="64518"/>
                  </a:lnTo>
                  <a:lnTo>
                    <a:pt x="64518" y="97580"/>
                  </a:lnTo>
                  <a:lnTo>
                    <a:pt x="37453" y="135867"/>
                  </a:lnTo>
                  <a:lnTo>
                    <a:pt x="17162" y="178602"/>
                  </a:lnTo>
                  <a:lnTo>
                    <a:pt x="4419" y="225011"/>
                  </a:lnTo>
                  <a:lnTo>
                    <a:pt x="0" y="274320"/>
                  </a:lnTo>
                  <a:lnTo>
                    <a:pt x="4419" y="323628"/>
                  </a:lnTo>
                  <a:lnTo>
                    <a:pt x="17162" y="370037"/>
                  </a:lnTo>
                  <a:lnTo>
                    <a:pt x="37453" y="412772"/>
                  </a:lnTo>
                  <a:lnTo>
                    <a:pt x="64518" y="451059"/>
                  </a:lnTo>
                  <a:lnTo>
                    <a:pt x="97580" y="484121"/>
                  </a:lnTo>
                  <a:lnTo>
                    <a:pt x="135867" y="511186"/>
                  </a:lnTo>
                  <a:lnTo>
                    <a:pt x="178602" y="531477"/>
                  </a:lnTo>
                  <a:lnTo>
                    <a:pt x="225011" y="544220"/>
                  </a:lnTo>
                  <a:lnTo>
                    <a:pt x="274320" y="548640"/>
                  </a:lnTo>
                  <a:lnTo>
                    <a:pt x="323628" y="544220"/>
                  </a:lnTo>
                  <a:lnTo>
                    <a:pt x="370037" y="531477"/>
                  </a:lnTo>
                  <a:lnTo>
                    <a:pt x="412772" y="511186"/>
                  </a:lnTo>
                  <a:lnTo>
                    <a:pt x="451059" y="484121"/>
                  </a:lnTo>
                  <a:lnTo>
                    <a:pt x="484121" y="451059"/>
                  </a:lnTo>
                  <a:lnTo>
                    <a:pt x="511186" y="412772"/>
                  </a:lnTo>
                  <a:lnTo>
                    <a:pt x="531477" y="370037"/>
                  </a:lnTo>
                  <a:lnTo>
                    <a:pt x="544220" y="323628"/>
                  </a:lnTo>
                  <a:lnTo>
                    <a:pt x="548640" y="274320"/>
                  </a:lnTo>
                  <a:lnTo>
                    <a:pt x="544220" y="225011"/>
                  </a:lnTo>
                  <a:lnTo>
                    <a:pt x="531477" y="178602"/>
                  </a:lnTo>
                  <a:lnTo>
                    <a:pt x="511186" y="135867"/>
                  </a:lnTo>
                  <a:lnTo>
                    <a:pt x="484121" y="97580"/>
                  </a:lnTo>
                  <a:lnTo>
                    <a:pt x="451059" y="64518"/>
                  </a:lnTo>
                  <a:lnTo>
                    <a:pt x="412772" y="37453"/>
                  </a:lnTo>
                  <a:lnTo>
                    <a:pt x="370037" y="17162"/>
                  </a:lnTo>
                  <a:lnTo>
                    <a:pt x="323628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E463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82547" y="2966180"/>
            <a:ext cx="1333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46001" y="2819254"/>
            <a:ext cx="5486400" cy="594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>
              <a:lnSpc>
                <a:spcPct val="100499"/>
              </a:lnSpc>
              <a:spcBef>
                <a:spcPts val="1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Eight</a:t>
            </a:r>
            <a:r>
              <a:rPr sz="1850" spc="-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propositional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are the</a:t>
            </a:r>
            <a:r>
              <a:rPr sz="1850" spc="-2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building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blocks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of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longer arguments.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3730" y="3834134"/>
            <a:ext cx="7019925" cy="1122045"/>
            <a:chOff x="633730" y="3834134"/>
            <a:chExt cx="7019925" cy="1122045"/>
          </a:xfrm>
        </p:grpSpPr>
        <p:sp>
          <p:nvSpPr>
            <p:cNvPr id="18" name="object 18"/>
            <p:cNvSpPr/>
            <p:nvPr/>
          </p:nvSpPr>
          <p:spPr>
            <a:xfrm>
              <a:off x="704088" y="3904492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5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59"/>
                  </a:lnTo>
                  <a:lnTo>
                    <a:pt x="6894588" y="1051559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5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0080" y="3840484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6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60"/>
                  </a:lnTo>
                  <a:lnTo>
                    <a:pt x="6894588" y="1051560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6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0080" y="3840484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0" y="54851"/>
                  </a:moveTo>
                  <a:lnTo>
                    <a:pt x="4311" y="33497"/>
                  </a:lnTo>
                  <a:lnTo>
                    <a:pt x="16067" y="16062"/>
                  </a:lnTo>
                  <a:lnTo>
                    <a:pt x="33502" y="4309"/>
                  </a:lnTo>
                  <a:lnTo>
                    <a:pt x="54851" y="0"/>
                  </a:lnTo>
                  <a:lnTo>
                    <a:pt x="6894588" y="0"/>
                  </a:lnTo>
                  <a:lnTo>
                    <a:pt x="6915937" y="4309"/>
                  </a:lnTo>
                  <a:lnTo>
                    <a:pt x="6933372" y="16062"/>
                  </a:lnTo>
                  <a:lnTo>
                    <a:pt x="6945128" y="33497"/>
                  </a:lnTo>
                  <a:lnTo>
                    <a:pt x="6949440" y="54851"/>
                  </a:lnTo>
                  <a:lnTo>
                    <a:pt x="6949440" y="996696"/>
                  </a:lnTo>
                  <a:lnTo>
                    <a:pt x="6945128" y="1018052"/>
                  </a:lnTo>
                  <a:lnTo>
                    <a:pt x="6933372" y="1035491"/>
                  </a:lnTo>
                  <a:lnTo>
                    <a:pt x="6915937" y="1047248"/>
                  </a:lnTo>
                  <a:lnTo>
                    <a:pt x="6894588" y="1051560"/>
                  </a:lnTo>
                  <a:lnTo>
                    <a:pt x="54851" y="1051560"/>
                  </a:lnTo>
                  <a:lnTo>
                    <a:pt x="33502" y="1047248"/>
                  </a:lnTo>
                  <a:lnTo>
                    <a:pt x="16067" y="1035491"/>
                  </a:lnTo>
                  <a:lnTo>
                    <a:pt x="4311" y="1018052"/>
                  </a:lnTo>
                  <a:lnTo>
                    <a:pt x="0" y="996696"/>
                  </a:lnTo>
                  <a:lnTo>
                    <a:pt x="0" y="54851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8680" y="409651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11" y="4419"/>
                  </a:lnTo>
                  <a:lnTo>
                    <a:pt x="178602" y="17162"/>
                  </a:lnTo>
                  <a:lnTo>
                    <a:pt x="135867" y="37453"/>
                  </a:lnTo>
                  <a:lnTo>
                    <a:pt x="97580" y="64518"/>
                  </a:lnTo>
                  <a:lnTo>
                    <a:pt x="64518" y="97580"/>
                  </a:lnTo>
                  <a:lnTo>
                    <a:pt x="37453" y="135867"/>
                  </a:lnTo>
                  <a:lnTo>
                    <a:pt x="17162" y="178602"/>
                  </a:lnTo>
                  <a:lnTo>
                    <a:pt x="4419" y="225011"/>
                  </a:lnTo>
                  <a:lnTo>
                    <a:pt x="0" y="274319"/>
                  </a:lnTo>
                  <a:lnTo>
                    <a:pt x="4419" y="323628"/>
                  </a:lnTo>
                  <a:lnTo>
                    <a:pt x="17162" y="370037"/>
                  </a:lnTo>
                  <a:lnTo>
                    <a:pt x="37453" y="412772"/>
                  </a:lnTo>
                  <a:lnTo>
                    <a:pt x="64518" y="451059"/>
                  </a:lnTo>
                  <a:lnTo>
                    <a:pt x="97580" y="484121"/>
                  </a:lnTo>
                  <a:lnTo>
                    <a:pt x="135867" y="511186"/>
                  </a:lnTo>
                  <a:lnTo>
                    <a:pt x="178602" y="531477"/>
                  </a:lnTo>
                  <a:lnTo>
                    <a:pt x="225011" y="544220"/>
                  </a:lnTo>
                  <a:lnTo>
                    <a:pt x="274320" y="548640"/>
                  </a:lnTo>
                  <a:lnTo>
                    <a:pt x="323628" y="544220"/>
                  </a:lnTo>
                  <a:lnTo>
                    <a:pt x="370037" y="531477"/>
                  </a:lnTo>
                  <a:lnTo>
                    <a:pt x="412772" y="511186"/>
                  </a:lnTo>
                  <a:lnTo>
                    <a:pt x="451059" y="484121"/>
                  </a:lnTo>
                  <a:lnTo>
                    <a:pt x="484121" y="451059"/>
                  </a:lnTo>
                  <a:lnTo>
                    <a:pt x="511186" y="412772"/>
                  </a:lnTo>
                  <a:lnTo>
                    <a:pt x="531477" y="370037"/>
                  </a:lnTo>
                  <a:lnTo>
                    <a:pt x="544220" y="323628"/>
                  </a:lnTo>
                  <a:lnTo>
                    <a:pt x="548640" y="274319"/>
                  </a:lnTo>
                  <a:lnTo>
                    <a:pt x="544220" y="225011"/>
                  </a:lnTo>
                  <a:lnTo>
                    <a:pt x="531477" y="178602"/>
                  </a:lnTo>
                  <a:lnTo>
                    <a:pt x="511186" y="135867"/>
                  </a:lnTo>
                  <a:lnTo>
                    <a:pt x="484121" y="97580"/>
                  </a:lnTo>
                  <a:lnTo>
                    <a:pt x="451059" y="64518"/>
                  </a:lnTo>
                  <a:lnTo>
                    <a:pt x="412772" y="37453"/>
                  </a:lnTo>
                  <a:lnTo>
                    <a:pt x="370037" y="17162"/>
                  </a:lnTo>
                  <a:lnTo>
                    <a:pt x="323628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36A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8585" y="4200620"/>
            <a:ext cx="693293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20"/>
              </a:spcBef>
              <a:tabLst>
                <a:tab pos="996950" algn="l"/>
              </a:tabLst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Fallacies</a:t>
            </a:r>
            <a:r>
              <a:rPr sz="2775" spc="-89" baseline="1501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look</a:t>
            </a:r>
            <a:r>
              <a:rPr sz="2775" spc="7" baseline="1501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like</a:t>
            </a:r>
            <a:r>
              <a:rPr sz="2775" spc="-37" baseline="1501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2775" spc="-44" baseline="1501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but</a:t>
            </a:r>
            <a:r>
              <a:rPr sz="2775" spc="-30" baseline="1501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are</a:t>
            </a:r>
            <a:r>
              <a:rPr sz="2775" spc="-22" baseline="1501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775" baseline="1501" dirty="0">
                <a:solidFill>
                  <a:srgbClr val="2D2A5E"/>
                </a:solidFill>
                <a:latin typeface="Calibri"/>
                <a:cs typeface="Calibri"/>
              </a:rPr>
              <a:t>not</a:t>
            </a:r>
            <a:r>
              <a:rPr sz="2775" spc="-15" baseline="1501" dirty="0">
                <a:solidFill>
                  <a:srgbClr val="2D2A5E"/>
                </a:solidFill>
                <a:latin typeface="Calibri"/>
                <a:cs typeface="Calibri"/>
              </a:rPr>
              <a:t> tautologies.</a:t>
            </a:r>
            <a:endParaRPr sz="2775" baseline="1501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3730" y="5068575"/>
            <a:ext cx="7019925" cy="1122045"/>
            <a:chOff x="633730" y="5068575"/>
            <a:chExt cx="7019925" cy="1122045"/>
          </a:xfrm>
        </p:grpSpPr>
        <p:sp>
          <p:nvSpPr>
            <p:cNvPr id="24" name="object 24"/>
            <p:cNvSpPr/>
            <p:nvPr/>
          </p:nvSpPr>
          <p:spPr>
            <a:xfrm>
              <a:off x="704088" y="5138933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5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59"/>
                  </a:lnTo>
                  <a:lnTo>
                    <a:pt x="6894588" y="1051559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5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0080" y="5074925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6894588" y="0"/>
                  </a:moveTo>
                  <a:lnTo>
                    <a:pt x="54851" y="0"/>
                  </a:lnTo>
                  <a:lnTo>
                    <a:pt x="33502" y="4309"/>
                  </a:lnTo>
                  <a:lnTo>
                    <a:pt x="16067" y="16062"/>
                  </a:lnTo>
                  <a:lnTo>
                    <a:pt x="4311" y="33497"/>
                  </a:lnTo>
                  <a:lnTo>
                    <a:pt x="0" y="54851"/>
                  </a:lnTo>
                  <a:lnTo>
                    <a:pt x="0" y="996695"/>
                  </a:lnTo>
                  <a:lnTo>
                    <a:pt x="4311" y="1018052"/>
                  </a:lnTo>
                  <a:lnTo>
                    <a:pt x="16067" y="1035491"/>
                  </a:lnTo>
                  <a:lnTo>
                    <a:pt x="33502" y="1047248"/>
                  </a:lnTo>
                  <a:lnTo>
                    <a:pt x="54851" y="1051559"/>
                  </a:lnTo>
                  <a:lnTo>
                    <a:pt x="6894588" y="1051559"/>
                  </a:lnTo>
                  <a:lnTo>
                    <a:pt x="6915937" y="1047248"/>
                  </a:lnTo>
                  <a:lnTo>
                    <a:pt x="6933372" y="1035491"/>
                  </a:lnTo>
                  <a:lnTo>
                    <a:pt x="6945128" y="1018052"/>
                  </a:lnTo>
                  <a:lnTo>
                    <a:pt x="6949440" y="996695"/>
                  </a:lnTo>
                  <a:lnTo>
                    <a:pt x="6949440" y="54851"/>
                  </a:lnTo>
                  <a:lnTo>
                    <a:pt x="6945128" y="33497"/>
                  </a:lnTo>
                  <a:lnTo>
                    <a:pt x="6933372" y="16062"/>
                  </a:lnTo>
                  <a:lnTo>
                    <a:pt x="6915937" y="4309"/>
                  </a:lnTo>
                  <a:lnTo>
                    <a:pt x="6894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0080" y="5074925"/>
              <a:ext cx="6949440" cy="1051560"/>
            </a:xfrm>
            <a:custGeom>
              <a:avLst/>
              <a:gdLst/>
              <a:ahLst/>
              <a:cxnLst/>
              <a:rect l="l" t="t" r="r" b="b"/>
              <a:pathLst>
                <a:path w="6949440" h="1051560">
                  <a:moveTo>
                    <a:pt x="0" y="54851"/>
                  </a:moveTo>
                  <a:lnTo>
                    <a:pt x="4311" y="33497"/>
                  </a:lnTo>
                  <a:lnTo>
                    <a:pt x="16067" y="16062"/>
                  </a:lnTo>
                  <a:lnTo>
                    <a:pt x="33502" y="4309"/>
                  </a:lnTo>
                  <a:lnTo>
                    <a:pt x="54851" y="0"/>
                  </a:lnTo>
                  <a:lnTo>
                    <a:pt x="6894588" y="0"/>
                  </a:lnTo>
                  <a:lnTo>
                    <a:pt x="6915937" y="4309"/>
                  </a:lnTo>
                  <a:lnTo>
                    <a:pt x="6933372" y="16062"/>
                  </a:lnTo>
                  <a:lnTo>
                    <a:pt x="6945128" y="33497"/>
                  </a:lnTo>
                  <a:lnTo>
                    <a:pt x="6949440" y="54851"/>
                  </a:lnTo>
                  <a:lnTo>
                    <a:pt x="6949440" y="996695"/>
                  </a:lnTo>
                  <a:lnTo>
                    <a:pt x="6945128" y="1018052"/>
                  </a:lnTo>
                  <a:lnTo>
                    <a:pt x="6933372" y="1035491"/>
                  </a:lnTo>
                  <a:lnTo>
                    <a:pt x="6915937" y="1047248"/>
                  </a:lnTo>
                  <a:lnTo>
                    <a:pt x="6894588" y="1051559"/>
                  </a:lnTo>
                  <a:lnTo>
                    <a:pt x="54851" y="1051559"/>
                  </a:lnTo>
                  <a:lnTo>
                    <a:pt x="33502" y="1047248"/>
                  </a:lnTo>
                  <a:lnTo>
                    <a:pt x="16067" y="1035491"/>
                  </a:lnTo>
                  <a:lnTo>
                    <a:pt x="4311" y="1018052"/>
                  </a:lnTo>
                  <a:lnTo>
                    <a:pt x="0" y="996695"/>
                  </a:lnTo>
                  <a:lnTo>
                    <a:pt x="0" y="54851"/>
                  </a:lnTo>
                  <a:close/>
                </a:path>
              </a:pathLst>
            </a:custGeom>
            <a:ln w="12699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8680" y="533095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11" y="4419"/>
                  </a:lnTo>
                  <a:lnTo>
                    <a:pt x="178602" y="17162"/>
                  </a:lnTo>
                  <a:lnTo>
                    <a:pt x="135867" y="37453"/>
                  </a:lnTo>
                  <a:lnTo>
                    <a:pt x="97580" y="64518"/>
                  </a:lnTo>
                  <a:lnTo>
                    <a:pt x="64518" y="97580"/>
                  </a:lnTo>
                  <a:lnTo>
                    <a:pt x="37453" y="135867"/>
                  </a:lnTo>
                  <a:lnTo>
                    <a:pt x="17162" y="178602"/>
                  </a:lnTo>
                  <a:lnTo>
                    <a:pt x="4419" y="225011"/>
                  </a:lnTo>
                  <a:lnTo>
                    <a:pt x="0" y="274320"/>
                  </a:lnTo>
                  <a:lnTo>
                    <a:pt x="4419" y="323628"/>
                  </a:lnTo>
                  <a:lnTo>
                    <a:pt x="17162" y="370037"/>
                  </a:lnTo>
                  <a:lnTo>
                    <a:pt x="37453" y="412772"/>
                  </a:lnTo>
                  <a:lnTo>
                    <a:pt x="64518" y="451059"/>
                  </a:lnTo>
                  <a:lnTo>
                    <a:pt x="97580" y="484121"/>
                  </a:lnTo>
                  <a:lnTo>
                    <a:pt x="135867" y="511186"/>
                  </a:lnTo>
                  <a:lnTo>
                    <a:pt x="178602" y="531477"/>
                  </a:lnTo>
                  <a:lnTo>
                    <a:pt x="225011" y="544220"/>
                  </a:lnTo>
                  <a:lnTo>
                    <a:pt x="274320" y="548640"/>
                  </a:lnTo>
                  <a:lnTo>
                    <a:pt x="323628" y="544220"/>
                  </a:lnTo>
                  <a:lnTo>
                    <a:pt x="370037" y="531477"/>
                  </a:lnTo>
                  <a:lnTo>
                    <a:pt x="412772" y="511186"/>
                  </a:lnTo>
                  <a:lnTo>
                    <a:pt x="451059" y="484121"/>
                  </a:lnTo>
                  <a:lnTo>
                    <a:pt x="484121" y="451059"/>
                  </a:lnTo>
                  <a:lnTo>
                    <a:pt x="511186" y="412772"/>
                  </a:lnTo>
                  <a:lnTo>
                    <a:pt x="531477" y="370037"/>
                  </a:lnTo>
                  <a:lnTo>
                    <a:pt x="544220" y="323628"/>
                  </a:lnTo>
                  <a:lnTo>
                    <a:pt x="548640" y="274320"/>
                  </a:lnTo>
                  <a:lnTo>
                    <a:pt x="544220" y="225011"/>
                  </a:lnTo>
                  <a:lnTo>
                    <a:pt x="531477" y="178602"/>
                  </a:lnTo>
                  <a:lnTo>
                    <a:pt x="511186" y="135867"/>
                  </a:lnTo>
                  <a:lnTo>
                    <a:pt x="484121" y="97580"/>
                  </a:lnTo>
                  <a:lnTo>
                    <a:pt x="451059" y="64518"/>
                  </a:lnTo>
                  <a:lnTo>
                    <a:pt x="412772" y="37453"/>
                  </a:lnTo>
                  <a:lnTo>
                    <a:pt x="370037" y="17162"/>
                  </a:lnTo>
                  <a:lnTo>
                    <a:pt x="323628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82547" y="5435060"/>
            <a:ext cx="1333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46001" y="5288134"/>
            <a:ext cx="5491480" cy="5943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Four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quantifier</a:t>
            </a:r>
            <a:r>
              <a:rPr sz="1850" spc="-3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universal</a:t>
            </a:r>
            <a:r>
              <a:rPr sz="1850" spc="-5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modus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ponens</a:t>
            </a:r>
            <a:r>
              <a:rPr sz="1850" spc="-4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extend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the</a:t>
            </a:r>
            <a:r>
              <a:rPr sz="1850" spc="-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method</a:t>
            </a:r>
            <a:r>
              <a:rPr sz="1850" spc="-3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1850" spc="2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"all"</a:t>
            </a:r>
            <a:r>
              <a:rPr sz="1850" spc="-1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D2A5E"/>
                </a:solidFill>
                <a:latin typeface="Calibri"/>
                <a:cs typeface="Calibri"/>
              </a:rPr>
              <a:t>and </a:t>
            </a:r>
            <a:r>
              <a:rPr sz="1850" spc="-10" dirty="0">
                <a:solidFill>
                  <a:srgbClr val="2D2A5E"/>
                </a:solidFill>
                <a:latin typeface="Calibri"/>
                <a:cs typeface="Calibri"/>
              </a:rPr>
              <a:t>"some".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948930" y="1365248"/>
            <a:ext cx="3682365" cy="4779645"/>
            <a:chOff x="7948930" y="1365248"/>
            <a:chExt cx="3682365" cy="4779645"/>
          </a:xfrm>
        </p:grpSpPr>
        <p:sp>
          <p:nvSpPr>
            <p:cNvPr id="31" name="object 31"/>
            <p:cNvSpPr/>
            <p:nvPr/>
          </p:nvSpPr>
          <p:spPr>
            <a:xfrm>
              <a:off x="8019288" y="1435606"/>
              <a:ext cx="3611879" cy="4709160"/>
            </a:xfrm>
            <a:custGeom>
              <a:avLst/>
              <a:gdLst/>
              <a:ahLst/>
              <a:cxnLst/>
              <a:rect l="l" t="t" r="r" b="b"/>
              <a:pathLst>
                <a:path w="3611879" h="4709160">
                  <a:moveTo>
                    <a:pt x="35570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654296"/>
                  </a:lnTo>
                  <a:lnTo>
                    <a:pt x="4311" y="4675652"/>
                  </a:lnTo>
                  <a:lnTo>
                    <a:pt x="16068" y="4693091"/>
                  </a:lnTo>
                  <a:lnTo>
                    <a:pt x="33507" y="4704848"/>
                  </a:lnTo>
                  <a:lnTo>
                    <a:pt x="54864" y="4709160"/>
                  </a:lnTo>
                  <a:lnTo>
                    <a:pt x="3557016" y="4709160"/>
                  </a:lnTo>
                  <a:lnTo>
                    <a:pt x="3578372" y="4704848"/>
                  </a:lnTo>
                  <a:lnTo>
                    <a:pt x="3595811" y="4693091"/>
                  </a:lnTo>
                  <a:lnTo>
                    <a:pt x="3607568" y="4675652"/>
                  </a:lnTo>
                  <a:lnTo>
                    <a:pt x="3611879" y="4654296"/>
                  </a:lnTo>
                  <a:lnTo>
                    <a:pt x="3611879" y="54863"/>
                  </a:lnTo>
                  <a:lnTo>
                    <a:pt x="3607568" y="33507"/>
                  </a:lnTo>
                  <a:lnTo>
                    <a:pt x="3595811" y="16068"/>
                  </a:lnTo>
                  <a:lnTo>
                    <a:pt x="3578372" y="4311"/>
                  </a:lnTo>
                  <a:lnTo>
                    <a:pt x="3557016" y="0"/>
                  </a:lnTo>
                  <a:close/>
                </a:path>
              </a:pathLst>
            </a:custGeom>
            <a:solidFill>
              <a:srgbClr val="DD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55280" y="1371598"/>
              <a:ext cx="3611879" cy="4709160"/>
            </a:xfrm>
            <a:custGeom>
              <a:avLst/>
              <a:gdLst/>
              <a:ahLst/>
              <a:cxnLst/>
              <a:rect l="l" t="t" r="r" b="b"/>
              <a:pathLst>
                <a:path w="3611879" h="4709160">
                  <a:moveTo>
                    <a:pt x="3557016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654296"/>
                  </a:lnTo>
                  <a:lnTo>
                    <a:pt x="4311" y="4675652"/>
                  </a:lnTo>
                  <a:lnTo>
                    <a:pt x="16068" y="4693091"/>
                  </a:lnTo>
                  <a:lnTo>
                    <a:pt x="33507" y="4704848"/>
                  </a:lnTo>
                  <a:lnTo>
                    <a:pt x="54864" y="4709160"/>
                  </a:lnTo>
                  <a:lnTo>
                    <a:pt x="3557016" y="4709160"/>
                  </a:lnTo>
                  <a:lnTo>
                    <a:pt x="3578372" y="4704848"/>
                  </a:lnTo>
                  <a:lnTo>
                    <a:pt x="3595811" y="4693091"/>
                  </a:lnTo>
                  <a:lnTo>
                    <a:pt x="3607568" y="4675652"/>
                  </a:lnTo>
                  <a:lnTo>
                    <a:pt x="3611879" y="4654296"/>
                  </a:lnTo>
                  <a:lnTo>
                    <a:pt x="3611879" y="54863"/>
                  </a:lnTo>
                  <a:lnTo>
                    <a:pt x="3607568" y="33507"/>
                  </a:lnTo>
                  <a:lnTo>
                    <a:pt x="3595811" y="16068"/>
                  </a:lnTo>
                  <a:lnTo>
                    <a:pt x="3578372" y="4311"/>
                  </a:lnTo>
                  <a:lnTo>
                    <a:pt x="3557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55280" y="1371598"/>
              <a:ext cx="3611879" cy="4709160"/>
            </a:xfrm>
            <a:custGeom>
              <a:avLst/>
              <a:gdLst/>
              <a:ahLst/>
              <a:cxnLst/>
              <a:rect l="l" t="t" r="r" b="b"/>
              <a:pathLst>
                <a:path w="3611879" h="470916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557016" y="0"/>
                  </a:lnTo>
                  <a:lnTo>
                    <a:pt x="3578372" y="4311"/>
                  </a:lnTo>
                  <a:lnTo>
                    <a:pt x="3595811" y="16068"/>
                  </a:lnTo>
                  <a:lnTo>
                    <a:pt x="3607568" y="33507"/>
                  </a:lnTo>
                  <a:lnTo>
                    <a:pt x="3611879" y="54863"/>
                  </a:lnTo>
                  <a:lnTo>
                    <a:pt x="3611879" y="4654296"/>
                  </a:lnTo>
                  <a:lnTo>
                    <a:pt x="3607568" y="4675652"/>
                  </a:lnTo>
                  <a:lnTo>
                    <a:pt x="3595811" y="4693091"/>
                  </a:lnTo>
                  <a:lnTo>
                    <a:pt x="3578372" y="4704848"/>
                  </a:lnTo>
                  <a:lnTo>
                    <a:pt x="3557016" y="4709160"/>
                  </a:lnTo>
                  <a:lnTo>
                    <a:pt x="54864" y="4709160"/>
                  </a:lnTo>
                  <a:lnTo>
                    <a:pt x="33507" y="4704848"/>
                  </a:lnTo>
                  <a:lnTo>
                    <a:pt x="16068" y="4693091"/>
                  </a:lnTo>
                  <a:lnTo>
                    <a:pt x="4311" y="4675652"/>
                  </a:lnTo>
                  <a:lnTo>
                    <a:pt x="0" y="465429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65008" y="1481326"/>
              <a:ext cx="3392804" cy="457200"/>
            </a:xfrm>
            <a:custGeom>
              <a:avLst/>
              <a:gdLst/>
              <a:ahLst/>
              <a:cxnLst/>
              <a:rect l="l" t="t" r="r" b="b"/>
              <a:pathLst>
                <a:path w="3392804" h="457200">
                  <a:moveTo>
                    <a:pt x="3346704" y="0"/>
                  </a:moveTo>
                  <a:lnTo>
                    <a:pt x="45720" y="0"/>
                  </a:lnTo>
                  <a:lnTo>
                    <a:pt x="27924" y="3593"/>
                  </a:lnTo>
                  <a:lnTo>
                    <a:pt x="13392" y="13392"/>
                  </a:lnTo>
                  <a:lnTo>
                    <a:pt x="3593" y="27924"/>
                  </a:lnTo>
                  <a:lnTo>
                    <a:pt x="0" y="45720"/>
                  </a:lnTo>
                  <a:lnTo>
                    <a:pt x="0" y="411480"/>
                  </a:lnTo>
                  <a:lnTo>
                    <a:pt x="3593" y="429275"/>
                  </a:lnTo>
                  <a:lnTo>
                    <a:pt x="13392" y="443807"/>
                  </a:lnTo>
                  <a:lnTo>
                    <a:pt x="27924" y="453606"/>
                  </a:lnTo>
                  <a:lnTo>
                    <a:pt x="45720" y="457200"/>
                  </a:lnTo>
                  <a:lnTo>
                    <a:pt x="3346704" y="457200"/>
                  </a:lnTo>
                  <a:lnTo>
                    <a:pt x="3364499" y="453606"/>
                  </a:lnTo>
                  <a:lnTo>
                    <a:pt x="3379031" y="443807"/>
                  </a:lnTo>
                  <a:lnTo>
                    <a:pt x="3388830" y="429275"/>
                  </a:lnTo>
                  <a:lnTo>
                    <a:pt x="3392424" y="411480"/>
                  </a:lnTo>
                  <a:lnTo>
                    <a:pt x="3392424" y="45720"/>
                  </a:lnTo>
                  <a:lnTo>
                    <a:pt x="3388830" y="27924"/>
                  </a:lnTo>
                  <a:lnTo>
                    <a:pt x="3379031" y="13392"/>
                  </a:lnTo>
                  <a:lnTo>
                    <a:pt x="3364499" y="3593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FFE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65008" y="1481326"/>
              <a:ext cx="3392804" cy="457200"/>
            </a:xfrm>
            <a:custGeom>
              <a:avLst/>
              <a:gdLst/>
              <a:ahLst/>
              <a:cxnLst/>
              <a:rect l="l" t="t" r="r" b="b"/>
              <a:pathLst>
                <a:path w="3392804" h="457200">
                  <a:moveTo>
                    <a:pt x="0" y="45720"/>
                  </a:moveTo>
                  <a:lnTo>
                    <a:pt x="3593" y="27924"/>
                  </a:lnTo>
                  <a:lnTo>
                    <a:pt x="13392" y="13392"/>
                  </a:lnTo>
                  <a:lnTo>
                    <a:pt x="27924" y="3593"/>
                  </a:lnTo>
                  <a:lnTo>
                    <a:pt x="45720" y="0"/>
                  </a:lnTo>
                  <a:lnTo>
                    <a:pt x="3346704" y="0"/>
                  </a:lnTo>
                  <a:lnTo>
                    <a:pt x="3364499" y="3593"/>
                  </a:lnTo>
                  <a:lnTo>
                    <a:pt x="3379031" y="13392"/>
                  </a:lnTo>
                  <a:lnTo>
                    <a:pt x="3388830" y="27924"/>
                  </a:lnTo>
                  <a:lnTo>
                    <a:pt x="3392424" y="45720"/>
                  </a:lnTo>
                  <a:lnTo>
                    <a:pt x="3392424" y="411480"/>
                  </a:lnTo>
                  <a:lnTo>
                    <a:pt x="3388830" y="429275"/>
                  </a:lnTo>
                  <a:lnTo>
                    <a:pt x="3379031" y="443807"/>
                  </a:lnTo>
                  <a:lnTo>
                    <a:pt x="3364499" y="453606"/>
                  </a:lnTo>
                  <a:lnTo>
                    <a:pt x="3346704" y="457200"/>
                  </a:lnTo>
                  <a:lnTo>
                    <a:pt x="45720" y="457200"/>
                  </a:lnTo>
                  <a:lnTo>
                    <a:pt x="27924" y="453606"/>
                  </a:lnTo>
                  <a:lnTo>
                    <a:pt x="13392" y="443807"/>
                  </a:lnTo>
                  <a:lnTo>
                    <a:pt x="3593" y="429275"/>
                  </a:lnTo>
                  <a:lnTo>
                    <a:pt x="0" y="41148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D2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073154" y="1539716"/>
            <a:ext cx="33762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51560">
              <a:lnSpc>
                <a:spcPct val="100000"/>
              </a:lnSpc>
              <a:spcBef>
                <a:spcPts val="120"/>
              </a:spcBef>
            </a:pPr>
            <a:r>
              <a:rPr sz="1850" b="1" spc="45" dirty="0">
                <a:solidFill>
                  <a:srgbClr val="2D2A5E"/>
                </a:solidFill>
                <a:latin typeface="Trebuchet MS"/>
                <a:cs typeface="Trebuchet MS"/>
              </a:rPr>
              <a:t>Conclusion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27</a:t>
            </a:fld>
            <a:r>
              <a:rPr spc="-10" dirty="0"/>
              <a:t>/28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963785" y="2162047"/>
            <a:ext cx="3595370" cy="356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2997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sound</a:t>
            </a:r>
            <a:r>
              <a:rPr sz="240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proof</a:t>
            </a:r>
            <a:r>
              <a:rPr sz="2400" spc="-4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D2A5E"/>
                </a:solidFill>
                <a:latin typeface="Calibri"/>
                <a:cs typeface="Calibri"/>
              </a:rPr>
              <a:t>connects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premises</a:t>
            </a:r>
            <a:r>
              <a:rPr sz="2400" spc="-7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to</a:t>
            </a:r>
            <a:r>
              <a:rPr sz="2400" spc="-8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D2A5E"/>
                </a:solidFill>
                <a:latin typeface="Calibri"/>
                <a:cs typeface="Calibri"/>
              </a:rPr>
              <a:t>its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conclusion</a:t>
            </a:r>
            <a:r>
              <a:rPr sz="2400" spc="-8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D2A5E"/>
                </a:solidFill>
                <a:latin typeface="Calibri"/>
                <a:cs typeface="Calibri"/>
              </a:rPr>
              <a:t>through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justified</a:t>
            </a:r>
            <a:r>
              <a:rPr sz="2400" spc="-105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steps.</a:t>
            </a:r>
            <a:r>
              <a:rPr sz="2400" spc="-114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D2A5E"/>
                </a:solidFill>
                <a:latin typeface="Calibri"/>
                <a:cs typeface="Calibri"/>
              </a:rPr>
              <a:t>Inference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rules</a:t>
            </a:r>
            <a:r>
              <a:rPr sz="2400" spc="-6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make</a:t>
            </a:r>
            <a:r>
              <a:rPr sz="2400" spc="-7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D2A5E"/>
                </a:solidFill>
                <a:latin typeface="Calibri"/>
                <a:cs typeface="Calibri"/>
              </a:rPr>
              <a:t>each</a:t>
            </a:r>
            <a:r>
              <a:rPr sz="2400" spc="-70" dirty="0">
                <a:solidFill>
                  <a:srgbClr val="2D2A5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D2A5E"/>
                </a:solidFill>
                <a:latin typeface="Calibri"/>
                <a:cs typeface="Calibri"/>
              </a:rPr>
              <a:t>step </a:t>
            </a:r>
            <a:r>
              <a:rPr sz="2400" spc="-10" dirty="0">
                <a:solidFill>
                  <a:srgbClr val="2D2A5E"/>
                </a:solidFill>
                <a:latin typeface="Calibri"/>
                <a:cs typeface="Calibri"/>
              </a:rPr>
              <a:t>checkable.</a:t>
            </a:r>
            <a:endParaRPr sz="2400">
              <a:latin typeface="Calibri"/>
              <a:cs typeface="Calibri"/>
            </a:endParaRPr>
          </a:p>
          <a:p>
            <a:pPr marL="9525" algn="ctr">
              <a:lnSpc>
                <a:spcPct val="100000"/>
              </a:lnSpc>
              <a:spcBef>
                <a:spcPts val="1025"/>
              </a:spcBef>
            </a:pPr>
            <a:r>
              <a:rPr sz="8000" b="1" spc="-50" dirty="0">
                <a:solidFill>
                  <a:srgbClr val="6C3EDF"/>
                </a:solidFill>
                <a:latin typeface="Cambria Math"/>
                <a:cs typeface="Cambria Math"/>
              </a:rPr>
              <a:t>∴</a:t>
            </a:r>
            <a:endParaRPr sz="8000">
              <a:latin typeface="Cambria Math"/>
              <a:cs typeface="Cambria Math"/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380" y="1284571"/>
            <a:ext cx="4236720" cy="10426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650" spc="110" dirty="0"/>
              <a:t>Thank</a:t>
            </a:r>
            <a:r>
              <a:rPr sz="6650" spc="-409" dirty="0"/>
              <a:t> </a:t>
            </a:r>
            <a:r>
              <a:rPr sz="6650" spc="160" dirty="0"/>
              <a:t>you</a:t>
            </a:r>
            <a:endParaRPr sz="6650"/>
          </a:p>
        </p:txBody>
      </p:sp>
      <p:sp>
        <p:nvSpPr>
          <p:cNvPr id="4" name="object 4"/>
          <p:cNvSpPr txBox="1"/>
          <p:nvPr/>
        </p:nvSpPr>
        <p:spPr>
          <a:xfrm>
            <a:off x="627380" y="2680555"/>
            <a:ext cx="26574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6C3EDF"/>
                </a:solidFill>
                <a:latin typeface="Calibri"/>
                <a:cs typeface="Calibri"/>
              </a:rPr>
              <a:t>Any</a:t>
            </a:r>
            <a:r>
              <a:rPr sz="3200" b="1" spc="-75" dirty="0">
                <a:solidFill>
                  <a:srgbClr val="6C3ED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6C3EDF"/>
                </a:solidFill>
                <a:latin typeface="Calibri"/>
                <a:cs typeface="Calibri"/>
              </a:rPr>
              <a:t>Questions?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80" y="3694015"/>
            <a:ext cx="506666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If</a:t>
            </a:r>
            <a:r>
              <a:rPr sz="2100" spc="4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you</a:t>
            </a:r>
            <a:r>
              <a:rPr sz="2100" spc="3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have</a:t>
            </a:r>
            <a:r>
              <a:rPr sz="2100" spc="6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any</a:t>
            </a:r>
            <a:r>
              <a:rPr sz="2100" spc="3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questions</a:t>
            </a:r>
            <a:r>
              <a:rPr sz="2100" spc="20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then</a:t>
            </a:r>
            <a:r>
              <a:rPr sz="2100" spc="3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B6890"/>
                </a:solidFill>
                <a:latin typeface="Calibri"/>
                <a:cs typeface="Calibri"/>
              </a:rPr>
              <a:t>ask</a:t>
            </a:r>
            <a:r>
              <a:rPr sz="2100" spc="55" dirty="0">
                <a:solidFill>
                  <a:srgbClr val="6B689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6B6890"/>
                </a:solidFill>
                <a:latin typeface="Calibri"/>
                <a:cs typeface="Calibri"/>
              </a:rPr>
              <a:t>frequently.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851140" y="1358900"/>
            <a:ext cx="3683000" cy="3683000"/>
            <a:chOff x="7851140" y="1358900"/>
            <a:chExt cx="3683000" cy="3683000"/>
          </a:xfrm>
        </p:grpSpPr>
        <p:sp>
          <p:nvSpPr>
            <p:cNvPr id="7" name="object 7"/>
            <p:cNvSpPr/>
            <p:nvPr/>
          </p:nvSpPr>
          <p:spPr>
            <a:xfrm>
              <a:off x="7863840" y="137160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1828800" y="0"/>
                  </a:moveTo>
                  <a:lnTo>
                    <a:pt x="1780850" y="616"/>
                  </a:lnTo>
                  <a:lnTo>
                    <a:pt x="1733206" y="2455"/>
                  </a:lnTo>
                  <a:lnTo>
                    <a:pt x="1685880" y="5502"/>
                  </a:lnTo>
                  <a:lnTo>
                    <a:pt x="1638888" y="9741"/>
                  </a:lnTo>
                  <a:lnTo>
                    <a:pt x="1592246" y="15158"/>
                  </a:lnTo>
                  <a:lnTo>
                    <a:pt x="1545969" y="21737"/>
                  </a:lnTo>
                  <a:lnTo>
                    <a:pt x="1500070" y="29464"/>
                  </a:lnTo>
                  <a:lnTo>
                    <a:pt x="1454567" y="38323"/>
                  </a:lnTo>
                  <a:lnTo>
                    <a:pt x="1409472" y="48299"/>
                  </a:lnTo>
                  <a:lnTo>
                    <a:pt x="1364803" y="59378"/>
                  </a:lnTo>
                  <a:lnTo>
                    <a:pt x="1320573" y="71544"/>
                  </a:lnTo>
                  <a:lnTo>
                    <a:pt x="1276798" y="84782"/>
                  </a:lnTo>
                  <a:lnTo>
                    <a:pt x="1233492" y="99077"/>
                  </a:lnTo>
                  <a:lnTo>
                    <a:pt x="1190672" y="114414"/>
                  </a:lnTo>
                  <a:lnTo>
                    <a:pt x="1148351" y="130778"/>
                  </a:lnTo>
                  <a:lnTo>
                    <a:pt x="1106546" y="148154"/>
                  </a:lnTo>
                  <a:lnTo>
                    <a:pt x="1065270" y="166526"/>
                  </a:lnTo>
                  <a:lnTo>
                    <a:pt x="1024540" y="185881"/>
                  </a:lnTo>
                  <a:lnTo>
                    <a:pt x="984369" y="206202"/>
                  </a:lnTo>
                  <a:lnTo>
                    <a:pt x="944774" y="227475"/>
                  </a:lnTo>
                  <a:lnTo>
                    <a:pt x="905769" y="249684"/>
                  </a:lnTo>
                  <a:lnTo>
                    <a:pt x="867370" y="272815"/>
                  </a:lnTo>
                  <a:lnTo>
                    <a:pt x="829590" y="296853"/>
                  </a:lnTo>
                  <a:lnTo>
                    <a:pt x="792447" y="321782"/>
                  </a:lnTo>
                  <a:lnTo>
                    <a:pt x="755953" y="347587"/>
                  </a:lnTo>
                  <a:lnTo>
                    <a:pt x="720126" y="374254"/>
                  </a:lnTo>
                  <a:lnTo>
                    <a:pt x="684978" y="401766"/>
                  </a:lnTo>
                  <a:lnTo>
                    <a:pt x="650527" y="430110"/>
                  </a:lnTo>
                  <a:lnTo>
                    <a:pt x="616786" y="459270"/>
                  </a:lnTo>
                  <a:lnTo>
                    <a:pt x="583771" y="489232"/>
                  </a:lnTo>
                  <a:lnTo>
                    <a:pt x="551497" y="519979"/>
                  </a:lnTo>
                  <a:lnTo>
                    <a:pt x="519979" y="551497"/>
                  </a:lnTo>
                  <a:lnTo>
                    <a:pt x="489232" y="583771"/>
                  </a:lnTo>
                  <a:lnTo>
                    <a:pt x="459270" y="616786"/>
                  </a:lnTo>
                  <a:lnTo>
                    <a:pt x="430110" y="650527"/>
                  </a:lnTo>
                  <a:lnTo>
                    <a:pt x="401766" y="684978"/>
                  </a:lnTo>
                  <a:lnTo>
                    <a:pt x="374254" y="720126"/>
                  </a:lnTo>
                  <a:lnTo>
                    <a:pt x="347587" y="755953"/>
                  </a:lnTo>
                  <a:lnTo>
                    <a:pt x="321782" y="792447"/>
                  </a:lnTo>
                  <a:lnTo>
                    <a:pt x="296853" y="829590"/>
                  </a:lnTo>
                  <a:lnTo>
                    <a:pt x="272815" y="867370"/>
                  </a:lnTo>
                  <a:lnTo>
                    <a:pt x="249684" y="905769"/>
                  </a:lnTo>
                  <a:lnTo>
                    <a:pt x="227475" y="944774"/>
                  </a:lnTo>
                  <a:lnTo>
                    <a:pt x="206202" y="984369"/>
                  </a:lnTo>
                  <a:lnTo>
                    <a:pt x="185881" y="1024540"/>
                  </a:lnTo>
                  <a:lnTo>
                    <a:pt x="166526" y="1065270"/>
                  </a:lnTo>
                  <a:lnTo>
                    <a:pt x="148154" y="1106546"/>
                  </a:lnTo>
                  <a:lnTo>
                    <a:pt x="130778" y="1148351"/>
                  </a:lnTo>
                  <a:lnTo>
                    <a:pt x="114414" y="1190672"/>
                  </a:lnTo>
                  <a:lnTo>
                    <a:pt x="99077" y="1233492"/>
                  </a:lnTo>
                  <a:lnTo>
                    <a:pt x="84782" y="1276798"/>
                  </a:lnTo>
                  <a:lnTo>
                    <a:pt x="71544" y="1320573"/>
                  </a:lnTo>
                  <a:lnTo>
                    <a:pt x="59378" y="1364803"/>
                  </a:lnTo>
                  <a:lnTo>
                    <a:pt x="48299" y="1409472"/>
                  </a:lnTo>
                  <a:lnTo>
                    <a:pt x="38323" y="1454567"/>
                  </a:lnTo>
                  <a:lnTo>
                    <a:pt x="29464" y="1500070"/>
                  </a:lnTo>
                  <a:lnTo>
                    <a:pt x="21737" y="1545969"/>
                  </a:lnTo>
                  <a:lnTo>
                    <a:pt x="15158" y="1592246"/>
                  </a:lnTo>
                  <a:lnTo>
                    <a:pt x="9741" y="1638888"/>
                  </a:lnTo>
                  <a:lnTo>
                    <a:pt x="5502" y="1685880"/>
                  </a:lnTo>
                  <a:lnTo>
                    <a:pt x="2455" y="1733206"/>
                  </a:lnTo>
                  <a:lnTo>
                    <a:pt x="616" y="1780850"/>
                  </a:lnTo>
                  <a:lnTo>
                    <a:pt x="0" y="1828800"/>
                  </a:lnTo>
                  <a:lnTo>
                    <a:pt x="616" y="1876749"/>
                  </a:lnTo>
                  <a:lnTo>
                    <a:pt x="2455" y="1924393"/>
                  </a:lnTo>
                  <a:lnTo>
                    <a:pt x="5502" y="1971719"/>
                  </a:lnTo>
                  <a:lnTo>
                    <a:pt x="9741" y="2018711"/>
                  </a:lnTo>
                  <a:lnTo>
                    <a:pt x="15158" y="2065353"/>
                  </a:lnTo>
                  <a:lnTo>
                    <a:pt x="21737" y="2111630"/>
                  </a:lnTo>
                  <a:lnTo>
                    <a:pt x="29464" y="2157529"/>
                  </a:lnTo>
                  <a:lnTo>
                    <a:pt x="38323" y="2203032"/>
                  </a:lnTo>
                  <a:lnTo>
                    <a:pt x="48299" y="2248127"/>
                  </a:lnTo>
                  <a:lnTo>
                    <a:pt x="59378" y="2292796"/>
                  </a:lnTo>
                  <a:lnTo>
                    <a:pt x="71544" y="2337026"/>
                  </a:lnTo>
                  <a:lnTo>
                    <a:pt x="84782" y="2380801"/>
                  </a:lnTo>
                  <a:lnTo>
                    <a:pt x="99077" y="2424107"/>
                  </a:lnTo>
                  <a:lnTo>
                    <a:pt x="114414" y="2466927"/>
                  </a:lnTo>
                  <a:lnTo>
                    <a:pt x="130778" y="2509248"/>
                  </a:lnTo>
                  <a:lnTo>
                    <a:pt x="148154" y="2551053"/>
                  </a:lnTo>
                  <a:lnTo>
                    <a:pt x="166526" y="2592329"/>
                  </a:lnTo>
                  <a:lnTo>
                    <a:pt x="185881" y="2633059"/>
                  </a:lnTo>
                  <a:lnTo>
                    <a:pt x="206202" y="2673230"/>
                  </a:lnTo>
                  <a:lnTo>
                    <a:pt x="227475" y="2712825"/>
                  </a:lnTo>
                  <a:lnTo>
                    <a:pt x="249684" y="2751830"/>
                  </a:lnTo>
                  <a:lnTo>
                    <a:pt x="272815" y="2790229"/>
                  </a:lnTo>
                  <a:lnTo>
                    <a:pt x="296853" y="2828009"/>
                  </a:lnTo>
                  <a:lnTo>
                    <a:pt x="321782" y="2865152"/>
                  </a:lnTo>
                  <a:lnTo>
                    <a:pt x="347587" y="2901646"/>
                  </a:lnTo>
                  <a:lnTo>
                    <a:pt x="374254" y="2937473"/>
                  </a:lnTo>
                  <a:lnTo>
                    <a:pt x="401766" y="2972621"/>
                  </a:lnTo>
                  <a:lnTo>
                    <a:pt x="430110" y="3007072"/>
                  </a:lnTo>
                  <a:lnTo>
                    <a:pt x="459270" y="3040813"/>
                  </a:lnTo>
                  <a:lnTo>
                    <a:pt x="489232" y="3073828"/>
                  </a:lnTo>
                  <a:lnTo>
                    <a:pt x="519979" y="3106102"/>
                  </a:lnTo>
                  <a:lnTo>
                    <a:pt x="551497" y="3137620"/>
                  </a:lnTo>
                  <a:lnTo>
                    <a:pt x="583771" y="3168367"/>
                  </a:lnTo>
                  <a:lnTo>
                    <a:pt x="616786" y="3198329"/>
                  </a:lnTo>
                  <a:lnTo>
                    <a:pt x="650527" y="3227489"/>
                  </a:lnTo>
                  <a:lnTo>
                    <a:pt x="684978" y="3255833"/>
                  </a:lnTo>
                  <a:lnTo>
                    <a:pt x="720126" y="3283345"/>
                  </a:lnTo>
                  <a:lnTo>
                    <a:pt x="755953" y="3310012"/>
                  </a:lnTo>
                  <a:lnTo>
                    <a:pt x="792447" y="3335817"/>
                  </a:lnTo>
                  <a:lnTo>
                    <a:pt x="829590" y="3360746"/>
                  </a:lnTo>
                  <a:lnTo>
                    <a:pt x="867370" y="3384784"/>
                  </a:lnTo>
                  <a:lnTo>
                    <a:pt x="905769" y="3407915"/>
                  </a:lnTo>
                  <a:lnTo>
                    <a:pt x="944774" y="3430124"/>
                  </a:lnTo>
                  <a:lnTo>
                    <a:pt x="984369" y="3451397"/>
                  </a:lnTo>
                  <a:lnTo>
                    <a:pt x="1024540" y="3471718"/>
                  </a:lnTo>
                  <a:lnTo>
                    <a:pt x="1065270" y="3491073"/>
                  </a:lnTo>
                  <a:lnTo>
                    <a:pt x="1106546" y="3509445"/>
                  </a:lnTo>
                  <a:lnTo>
                    <a:pt x="1148351" y="3526821"/>
                  </a:lnTo>
                  <a:lnTo>
                    <a:pt x="1190672" y="3543185"/>
                  </a:lnTo>
                  <a:lnTo>
                    <a:pt x="1233492" y="3558522"/>
                  </a:lnTo>
                  <a:lnTo>
                    <a:pt x="1276798" y="3572817"/>
                  </a:lnTo>
                  <a:lnTo>
                    <a:pt x="1320573" y="3586055"/>
                  </a:lnTo>
                  <a:lnTo>
                    <a:pt x="1364803" y="3598221"/>
                  </a:lnTo>
                  <a:lnTo>
                    <a:pt x="1409472" y="3609300"/>
                  </a:lnTo>
                  <a:lnTo>
                    <a:pt x="1454567" y="3619276"/>
                  </a:lnTo>
                  <a:lnTo>
                    <a:pt x="1500070" y="3628135"/>
                  </a:lnTo>
                  <a:lnTo>
                    <a:pt x="1545969" y="3635862"/>
                  </a:lnTo>
                  <a:lnTo>
                    <a:pt x="1592246" y="3642441"/>
                  </a:lnTo>
                  <a:lnTo>
                    <a:pt x="1638888" y="3647858"/>
                  </a:lnTo>
                  <a:lnTo>
                    <a:pt x="1685880" y="3652097"/>
                  </a:lnTo>
                  <a:lnTo>
                    <a:pt x="1733206" y="3655144"/>
                  </a:lnTo>
                  <a:lnTo>
                    <a:pt x="1780850" y="3656983"/>
                  </a:lnTo>
                  <a:lnTo>
                    <a:pt x="1828800" y="3657600"/>
                  </a:lnTo>
                  <a:lnTo>
                    <a:pt x="1876749" y="3656983"/>
                  </a:lnTo>
                  <a:lnTo>
                    <a:pt x="1924393" y="3655144"/>
                  </a:lnTo>
                  <a:lnTo>
                    <a:pt x="1971719" y="3652097"/>
                  </a:lnTo>
                  <a:lnTo>
                    <a:pt x="2018711" y="3647858"/>
                  </a:lnTo>
                  <a:lnTo>
                    <a:pt x="2065353" y="3642441"/>
                  </a:lnTo>
                  <a:lnTo>
                    <a:pt x="2111630" y="3635862"/>
                  </a:lnTo>
                  <a:lnTo>
                    <a:pt x="2157529" y="3628135"/>
                  </a:lnTo>
                  <a:lnTo>
                    <a:pt x="2203032" y="3619276"/>
                  </a:lnTo>
                  <a:lnTo>
                    <a:pt x="2248127" y="3609300"/>
                  </a:lnTo>
                  <a:lnTo>
                    <a:pt x="2292796" y="3598221"/>
                  </a:lnTo>
                  <a:lnTo>
                    <a:pt x="2337026" y="3586055"/>
                  </a:lnTo>
                  <a:lnTo>
                    <a:pt x="2380801" y="3572817"/>
                  </a:lnTo>
                  <a:lnTo>
                    <a:pt x="2424107" y="3558522"/>
                  </a:lnTo>
                  <a:lnTo>
                    <a:pt x="2466927" y="3543185"/>
                  </a:lnTo>
                  <a:lnTo>
                    <a:pt x="2509248" y="3526821"/>
                  </a:lnTo>
                  <a:lnTo>
                    <a:pt x="2551053" y="3509445"/>
                  </a:lnTo>
                  <a:lnTo>
                    <a:pt x="2592329" y="3491073"/>
                  </a:lnTo>
                  <a:lnTo>
                    <a:pt x="2633059" y="3471718"/>
                  </a:lnTo>
                  <a:lnTo>
                    <a:pt x="2673230" y="3451397"/>
                  </a:lnTo>
                  <a:lnTo>
                    <a:pt x="2712825" y="3430124"/>
                  </a:lnTo>
                  <a:lnTo>
                    <a:pt x="2751830" y="3407915"/>
                  </a:lnTo>
                  <a:lnTo>
                    <a:pt x="2790229" y="3384784"/>
                  </a:lnTo>
                  <a:lnTo>
                    <a:pt x="2828009" y="3360746"/>
                  </a:lnTo>
                  <a:lnTo>
                    <a:pt x="2865152" y="3335817"/>
                  </a:lnTo>
                  <a:lnTo>
                    <a:pt x="2901646" y="3310012"/>
                  </a:lnTo>
                  <a:lnTo>
                    <a:pt x="2937473" y="3283345"/>
                  </a:lnTo>
                  <a:lnTo>
                    <a:pt x="2972621" y="3255833"/>
                  </a:lnTo>
                  <a:lnTo>
                    <a:pt x="3007072" y="3227489"/>
                  </a:lnTo>
                  <a:lnTo>
                    <a:pt x="3040813" y="3198329"/>
                  </a:lnTo>
                  <a:lnTo>
                    <a:pt x="3073828" y="3168367"/>
                  </a:lnTo>
                  <a:lnTo>
                    <a:pt x="3106102" y="3137620"/>
                  </a:lnTo>
                  <a:lnTo>
                    <a:pt x="3137620" y="3106102"/>
                  </a:lnTo>
                  <a:lnTo>
                    <a:pt x="3168367" y="3073828"/>
                  </a:lnTo>
                  <a:lnTo>
                    <a:pt x="3198329" y="3040813"/>
                  </a:lnTo>
                  <a:lnTo>
                    <a:pt x="3227489" y="3007072"/>
                  </a:lnTo>
                  <a:lnTo>
                    <a:pt x="3255833" y="2972621"/>
                  </a:lnTo>
                  <a:lnTo>
                    <a:pt x="3283345" y="2937473"/>
                  </a:lnTo>
                  <a:lnTo>
                    <a:pt x="3310012" y="2901646"/>
                  </a:lnTo>
                  <a:lnTo>
                    <a:pt x="3335817" y="2865152"/>
                  </a:lnTo>
                  <a:lnTo>
                    <a:pt x="3360746" y="2828009"/>
                  </a:lnTo>
                  <a:lnTo>
                    <a:pt x="3384784" y="2790229"/>
                  </a:lnTo>
                  <a:lnTo>
                    <a:pt x="3407915" y="2751830"/>
                  </a:lnTo>
                  <a:lnTo>
                    <a:pt x="3430124" y="2712825"/>
                  </a:lnTo>
                  <a:lnTo>
                    <a:pt x="3451397" y="2673230"/>
                  </a:lnTo>
                  <a:lnTo>
                    <a:pt x="3471718" y="2633059"/>
                  </a:lnTo>
                  <a:lnTo>
                    <a:pt x="3491073" y="2592329"/>
                  </a:lnTo>
                  <a:lnTo>
                    <a:pt x="3509445" y="2551053"/>
                  </a:lnTo>
                  <a:lnTo>
                    <a:pt x="3526821" y="2509248"/>
                  </a:lnTo>
                  <a:lnTo>
                    <a:pt x="3543185" y="2466927"/>
                  </a:lnTo>
                  <a:lnTo>
                    <a:pt x="3558522" y="2424107"/>
                  </a:lnTo>
                  <a:lnTo>
                    <a:pt x="3572817" y="2380801"/>
                  </a:lnTo>
                  <a:lnTo>
                    <a:pt x="3586055" y="2337026"/>
                  </a:lnTo>
                  <a:lnTo>
                    <a:pt x="3598221" y="2292796"/>
                  </a:lnTo>
                  <a:lnTo>
                    <a:pt x="3609300" y="2248127"/>
                  </a:lnTo>
                  <a:lnTo>
                    <a:pt x="3619276" y="2203032"/>
                  </a:lnTo>
                  <a:lnTo>
                    <a:pt x="3628135" y="2157529"/>
                  </a:lnTo>
                  <a:lnTo>
                    <a:pt x="3635862" y="2111630"/>
                  </a:lnTo>
                  <a:lnTo>
                    <a:pt x="3642441" y="2065353"/>
                  </a:lnTo>
                  <a:lnTo>
                    <a:pt x="3647858" y="2018711"/>
                  </a:lnTo>
                  <a:lnTo>
                    <a:pt x="3652097" y="1971719"/>
                  </a:lnTo>
                  <a:lnTo>
                    <a:pt x="3655144" y="1924393"/>
                  </a:lnTo>
                  <a:lnTo>
                    <a:pt x="3656983" y="1876749"/>
                  </a:lnTo>
                  <a:lnTo>
                    <a:pt x="3657600" y="1828800"/>
                  </a:lnTo>
                  <a:lnTo>
                    <a:pt x="3656983" y="1780850"/>
                  </a:lnTo>
                  <a:lnTo>
                    <a:pt x="3655144" y="1733206"/>
                  </a:lnTo>
                  <a:lnTo>
                    <a:pt x="3652097" y="1685880"/>
                  </a:lnTo>
                  <a:lnTo>
                    <a:pt x="3647858" y="1638888"/>
                  </a:lnTo>
                  <a:lnTo>
                    <a:pt x="3642441" y="1592246"/>
                  </a:lnTo>
                  <a:lnTo>
                    <a:pt x="3635862" y="1545969"/>
                  </a:lnTo>
                  <a:lnTo>
                    <a:pt x="3628135" y="1500070"/>
                  </a:lnTo>
                  <a:lnTo>
                    <a:pt x="3619276" y="1454567"/>
                  </a:lnTo>
                  <a:lnTo>
                    <a:pt x="3609300" y="1409472"/>
                  </a:lnTo>
                  <a:lnTo>
                    <a:pt x="3598221" y="1364803"/>
                  </a:lnTo>
                  <a:lnTo>
                    <a:pt x="3586055" y="1320573"/>
                  </a:lnTo>
                  <a:lnTo>
                    <a:pt x="3572817" y="1276798"/>
                  </a:lnTo>
                  <a:lnTo>
                    <a:pt x="3558522" y="1233492"/>
                  </a:lnTo>
                  <a:lnTo>
                    <a:pt x="3543185" y="1190672"/>
                  </a:lnTo>
                  <a:lnTo>
                    <a:pt x="3526821" y="1148351"/>
                  </a:lnTo>
                  <a:lnTo>
                    <a:pt x="3509445" y="1106546"/>
                  </a:lnTo>
                  <a:lnTo>
                    <a:pt x="3491073" y="1065270"/>
                  </a:lnTo>
                  <a:lnTo>
                    <a:pt x="3471718" y="1024540"/>
                  </a:lnTo>
                  <a:lnTo>
                    <a:pt x="3451397" y="984369"/>
                  </a:lnTo>
                  <a:lnTo>
                    <a:pt x="3430124" y="944774"/>
                  </a:lnTo>
                  <a:lnTo>
                    <a:pt x="3407915" y="905769"/>
                  </a:lnTo>
                  <a:lnTo>
                    <a:pt x="3384784" y="867370"/>
                  </a:lnTo>
                  <a:lnTo>
                    <a:pt x="3360746" y="829590"/>
                  </a:lnTo>
                  <a:lnTo>
                    <a:pt x="3335817" y="792447"/>
                  </a:lnTo>
                  <a:lnTo>
                    <a:pt x="3310012" y="755953"/>
                  </a:lnTo>
                  <a:lnTo>
                    <a:pt x="3283345" y="720126"/>
                  </a:lnTo>
                  <a:lnTo>
                    <a:pt x="3255833" y="684978"/>
                  </a:lnTo>
                  <a:lnTo>
                    <a:pt x="3227489" y="650527"/>
                  </a:lnTo>
                  <a:lnTo>
                    <a:pt x="3198329" y="616786"/>
                  </a:lnTo>
                  <a:lnTo>
                    <a:pt x="3168367" y="583771"/>
                  </a:lnTo>
                  <a:lnTo>
                    <a:pt x="3137620" y="551497"/>
                  </a:lnTo>
                  <a:lnTo>
                    <a:pt x="3106102" y="519979"/>
                  </a:lnTo>
                  <a:lnTo>
                    <a:pt x="3073828" y="489232"/>
                  </a:lnTo>
                  <a:lnTo>
                    <a:pt x="3040813" y="459270"/>
                  </a:lnTo>
                  <a:lnTo>
                    <a:pt x="3007072" y="430110"/>
                  </a:lnTo>
                  <a:lnTo>
                    <a:pt x="2972621" y="401766"/>
                  </a:lnTo>
                  <a:lnTo>
                    <a:pt x="2937473" y="374254"/>
                  </a:lnTo>
                  <a:lnTo>
                    <a:pt x="2901646" y="347587"/>
                  </a:lnTo>
                  <a:lnTo>
                    <a:pt x="2865152" y="321782"/>
                  </a:lnTo>
                  <a:lnTo>
                    <a:pt x="2828009" y="296853"/>
                  </a:lnTo>
                  <a:lnTo>
                    <a:pt x="2790229" y="272815"/>
                  </a:lnTo>
                  <a:lnTo>
                    <a:pt x="2751830" y="249684"/>
                  </a:lnTo>
                  <a:lnTo>
                    <a:pt x="2712825" y="227475"/>
                  </a:lnTo>
                  <a:lnTo>
                    <a:pt x="2673230" y="206202"/>
                  </a:lnTo>
                  <a:lnTo>
                    <a:pt x="2633059" y="185881"/>
                  </a:lnTo>
                  <a:lnTo>
                    <a:pt x="2592329" y="166526"/>
                  </a:lnTo>
                  <a:lnTo>
                    <a:pt x="2551053" y="148154"/>
                  </a:lnTo>
                  <a:lnTo>
                    <a:pt x="2509248" y="130778"/>
                  </a:lnTo>
                  <a:lnTo>
                    <a:pt x="2466927" y="114414"/>
                  </a:lnTo>
                  <a:lnTo>
                    <a:pt x="2424107" y="99077"/>
                  </a:lnTo>
                  <a:lnTo>
                    <a:pt x="2380801" y="84782"/>
                  </a:lnTo>
                  <a:lnTo>
                    <a:pt x="2337026" y="71544"/>
                  </a:lnTo>
                  <a:lnTo>
                    <a:pt x="2292796" y="59378"/>
                  </a:lnTo>
                  <a:lnTo>
                    <a:pt x="2248127" y="48299"/>
                  </a:lnTo>
                  <a:lnTo>
                    <a:pt x="2203032" y="38323"/>
                  </a:lnTo>
                  <a:lnTo>
                    <a:pt x="2157529" y="29464"/>
                  </a:lnTo>
                  <a:lnTo>
                    <a:pt x="2111630" y="21737"/>
                  </a:lnTo>
                  <a:lnTo>
                    <a:pt x="2065353" y="15158"/>
                  </a:lnTo>
                  <a:lnTo>
                    <a:pt x="2018711" y="9741"/>
                  </a:lnTo>
                  <a:lnTo>
                    <a:pt x="1971719" y="5502"/>
                  </a:lnTo>
                  <a:lnTo>
                    <a:pt x="1924393" y="2455"/>
                  </a:lnTo>
                  <a:lnTo>
                    <a:pt x="1876749" y="616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0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63840" y="137160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0" y="1828800"/>
                  </a:moveTo>
                  <a:lnTo>
                    <a:pt x="616" y="1780850"/>
                  </a:lnTo>
                  <a:lnTo>
                    <a:pt x="2455" y="1733206"/>
                  </a:lnTo>
                  <a:lnTo>
                    <a:pt x="5502" y="1685880"/>
                  </a:lnTo>
                  <a:lnTo>
                    <a:pt x="9741" y="1638888"/>
                  </a:lnTo>
                  <a:lnTo>
                    <a:pt x="15158" y="1592246"/>
                  </a:lnTo>
                  <a:lnTo>
                    <a:pt x="21737" y="1545969"/>
                  </a:lnTo>
                  <a:lnTo>
                    <a:pt x="29464" y="1500070"/>
                  </a:lnTo>
                  <a:lnTo>
                    <a:pt x="38323" y="1454567"/>
                  </a:lnTo>
                  <a:lnTo>
                    <a:pt x="48299" y="1409472"/>
                  </a:lnTo>
                  <a:lnTo>
                    <a:pt x="59378" y="1364803"/>
                  </a:lnTo>
                  <a:lnTo>
                    <a:pt x="71544" y="1320573"/>
                  </a:lnTo>
                  <a:lnTo>
                    <a:pt x="84782" y="1276798"/>
                  </a:lnTo>
                  <a:lnTo>
                    <a:pt x="99077" y="1233492"/>
                  </a:lnTo>
                  <a:lnTo>
                    <a:pt x="114414" y="1190672"/>
                  </a:lnTo>
                  <a:lnTo>
                    <a:pt x="130778" y="1148351"/>
                  </a:lnTo>
                  <a:lnTo>
                    <a:pt x="148154" y="1106546"/>
                  </a:lnTo>
                  <a:lnTo>
                    <a:pt x="166526" y="1065270"/>
                  </a:lnTo>
                  <a:lnTo>
                    <a:pt x="185881" y="1024540"/>
                  </a:lnTo>
                  <a:lnTo>
                    <a:pt x="206202" y="984369"/>
                  </a:lnTo>
                  <a:lnTo>
                    <a:pt x="227475" y="944774"/>
                  </a:lnTo>
                  <a:lnTo>
                    <a:pt x="249684" y="905769"/>
                  </a:lnTo>
                  <a:lnTo>
                    <a:pt x="272815" y="867370"/>
                  </a:lnTo>
                  <a:lnTo>
                    <a:pt x="296853" y="829590"/>
                  </a:lnTo>
                  <a:lnTo>
                    <a:pt x="321782" y="792447"/>
                  </a:lnTo>
                  <a:lnTo>
                    <a:pt x="347587" y="755953"/>
                  </a:lnTo>
                  <a:lnTo>
                    <a:pt x="374254" y="720126"/>
                  </a:lnTo>
                  <a:lnTo>
                    <a:pt x="401766" y="684978"/>
                  </a:lnTo>
                  <a:lnTo>
                    <a:pt x="430110" y="650527"/>
                  </a:lnTo>
                  <a:lnTo>
                    <a:pt x="459270" y="616786"/>
                  </a:lnTo>
                  <a:lnTo>
                    <a:pt x="489232" y="583771"/>
                  </a:lnTo>
                  <a:lnTo>
                    <a:pt x="519979" y="551497"/>
                  </a:lnTo>
                  <a:lnTo>
                    <a:pt x="551497" y="519979"/>
                  </a:lnTo>
                  <a:lnTo>
                    <a:pt x="583771" y="489232"/>
                  </a:lnTo>
                  <a:lnTo>
                    <a:pt x="616786" y="459270"/>
                  </a:lnTo>
                  <a:lnTo>
                    <a:pt x="650527" y="430110"/>
                  </a:lnTo>
                  <a:lnTo>
                    <a:pt x="684978" y="401766"/>
                  </a:lnTo>
                  <a:lnTo>
                    <a:pt x="720126" y="374254"/>
                  </a:lnTo>
                  <a:lnTo>
                    <a:pt x="755953" y="347587"/>
                  </a:lnTo>
                  <a:lnTo>
                    <a:pt x="792447" y="321782"/>
                  </a:lnTo>
                  <a:lnTo>
                    <a:pt x="829590" y="296853"/>
                  </a:lnTo>
                  <a:lnTo>
                    <a:pt x="867370" y="272815"/>
                  </a:lnTo>
                  <a:lnTo>
                    <a:pt x="905769" y="249684"/>
                  </a:lnTo>
                  <a:lnTo>
                    <a:pt x="944774" y="227475"/>
                  </a:lnTo>
                  <a:lnTo>
                    <a:pt x="984369" y="206202"/>
                  </a:lnTo>
                  <a:lnTo>
                    <a:pt x="1024540" y="185881"/>
                  </a:lnTo>
                  <a:lnTo>
                    <a:pt x="1065270" y="166526"/>
                  </a:lnTo>
                  <a:lnTo>
                    <a:pt x="1106546" y="148154"/>
                  </a:lnTo>
                  <a:lnTo>
                    <a:pt x="1148351" y="130778"/>
                  </a:lnTo>
                  <a:lnTo>
                    <a:pt x="1190672" y="114414"/>
                  </a:lnTo>
                  <a:lnTo>
                    <a:pt x="1233492" y="99077"/>
                  </a:lnTo>
                  <a:lnTo>
                    <a:pt x="1276798" y="84782"/>
                  </a:lnTo>
                  <a:lnTo>
                    <a:pt x="1320573" y="71544"/>
                  </a:lnTo>
                  <a:lnTo>
                    <a:pt x="1364803" y="59378"/>
                  </a:lnTo>
                  <a:lnTo>
                    <a:pt x="1409472" y="48299"/>
                  </a:lnTo>
                  <a:lnTo>
                    <a:pt x="1454567" y="38323"/>
                  </a:lnTo>
                  <a:lnTo>
                    <a:pt x="1500070" y="29464"/>
                  </a:lnTo>
                  <a:lnTo>
                    <a:pt x="1545969" y="21737"/>
                  </a:lnTo>
                  <a:lnTo>
                    <a:pt x="1592246" y="15158"/>
                  </a:lnTo>
                  <a:lnTo>
                    <a:pt x="1638888" y="9741"/>
                  </a:lnTo>
                  <a:lnTo>
                    <a:pt x="1685880" y="5502"/>
                  </a:lnTo>
                  <a:lnTo>
                    <a:pt x="1733206" y="2455"/>
                  </a:lnTo>
                  <a:lnTo>
                    <a:pt x="1780850" y="616"/>
                  </a:lnTo>
                  <a:lnTo>
                    <a:pt x="1828800" y="0"/>
                  </a:lnTo>
                  <a:lnTo>
                    <a:pt x="1876749" y="616"/>
                  </a:lnTo>
                  <a:lnTo>
                    <a:pt x="1924393" y="2455"/>
                  </a:lnTo>
                  <a:lnTo>
                    <a:pt x="1971719" y="5502"/>
                  </a:lnTo>
                  <a:lnTo>
                    <a:pt x="2018711" y="9741"/>
                  </a:lnTo>
                  <a:lnTo>
                    <a:pt x="2065353" y="15158"/>
                  </a:lnTo>
                  <a:lnTo>
                    <a:pt x="2111630" y="21737"/>
                  </a:lnTo>
                  <a:lnTo>
                    <a:pt x="2157529" y="29464"/>
                  </a:lnTo>
                  <a:lnTo>
                    <a:pt x="2203032" y="38323"/>
                  </a:lnTo>
                  <a:lnTo>
                    <a:pt x="2248127" y="48299"/>
                  </a:lnTo>
                  <a:lnTo>
                    <a:pt x="2292796" y="59378"/>
                  </a:lnTo>
                  <a:lnTo>
                    <a:pt x="2337026" y="71544"/>
                  </a:lnTo>
                  <a:lnTo>
                    <a:pt x="2380801" y="84782"/>
                  </a:lnTo>
                  <a:lnTo>
                    <a:pt x="2424107" y="99077"/>
                  </a:lnTo>
                  <a:lnTo>
                    <a:pt x="2466927" y="114414"/>
                  </a:lnTo>
                  <a:lnTo>
                    <a:pt x="2509248" y="130778"/>
                  </a:lnTo>
                  <a:lnTo>
                    <a:pt x="2551053" y="148154"/>
                  </a:lnTo>
                  <a:lnTo>
                    <a:pt x="2592329" y="166526"/>
                  </a:lnTo>
                  <a:lnTo>
                    <a:pt x="2633059" y="185881"/>
                  </a:lnTo>
                  <a:lnTo>
                    <a:pt x="2673230" y="206202"/>
                  </a:lnTo>
                  <a:lnTo>
                    <a:pt x="2712825" y="227475"/>
                  </a:lnTo>
                  <a:lnTo>
                    <a:pt x="2751830" y="249684"/>
                  </a:lnTo>
                  <a:lnTo>
                    <a:pt x="2790229" y="272815"/>
                  </a:lnTo>
                  <a:lnTo>
                    <a:pt x="2828009" y="296853"/>
                  </a:lnTo>
                  <a:lnTo>
                    <a:pt x="2865152" y="321782"/>
                  </a:lnTo>
                  <a:lnTo>
                    <a:pt x="2901646" y="347587"/>
                  </a:lnTo>
                  <a:lnTo>
                    <a:pt x="2937473" y="374254"/>
                  </a:lnTo>
                  <a:lnTo>
                    <a:pt x="2972621" y="401766"/>
                  </a:lnTo>
                  <a:lnTo>
                    <a:pt x="3007072" y="430110"/>
                  </a:lnTo>
                  <a:lnTo>
                    <a:pt x="3040813" y="459270"/>
                  </a:lnTo>
                  <a:lnTo>
                    <a:pt x="3073828" y="489232"/>
                  </a:lnTo>
                  <a:lnTo>
                    <a:pt x="3106102" y="519979"/>
                  </a:lnTo>
                  <a:lnTo>
                    <a:pt x="3137620" y="551497"/>
                  </a:lnTo>
                  <a:lnTo>
                    <a:pt x="3168367" y="583771"/>
                  </a:lnTo>
                  <a:lnTo>
                    <a:pt x="3198329" y="616786"/>
                  </a:lnTo>
                  <a:lnTo>
                    <a:pt x="3227489" y="650527"/>
                  </a:lnTo>
                  <a:lnTo>
                    <a:pt x="3255833" y="684978"/>
                  </a:lnTo>
                  <a:lnTo>
                    <a:pt x="3283345" y="720126"/>
                  </a:lnTo>
                  <a:lnTo>
                    <a:pt x="3310012" y="755953"/>
                  </a:lnTo>
                  <a:lnTo>
                    <a:pt x="3335817" y="792447"/>
                  </a:lnTo>
                  <a:lnTo>
                    <a:pt x="3360746" y="829590"/>
                  </a:lnTo>
                  <a:lnTo>
                    <a:pt x="3384784" y="867370"/>
                  </a:lnTo>
                  <a:lnTo>
                    <a:pt x="3407915" y="905769"/>
                  </a:lnTo>
                  <a:lnTo>
                    <a:pt x="3430124" y="944774"/>
                  </a:lnTo>
                  <a:lnTo>
                    <a:pt x="3451397" y="984369"/>
                  </a:lnTo>
                  <a:lnTo>
                    <a:pt x="3471718" y="1024540"/>
                  </a:lnTo>
                  <a:lnTo>
                    <a:pt x="3491073" y="1065270"/>
                  </a:lnTo>
                  <a:lnTo>
                    <a:pt x="3509445" y="1106546"/>
                  </a:lnTo>
                  <a:lnTo>
                    <a:pt x="3526821" y="1148351"/>
                  </a:lnTo>
                  <a:lnTo>
                    <a:pt x="3543185" y="1190672"/>
                  </a:lnTo>
                  <a:lnTo>
                    <a:pt x="3558522" y="1233492"/>
                  </a:lnTo>
                  <a:lnTo>
                    <a:pt x="3572817" y="1276798"/>
                  </a:lnTo>
                  <a:lnTo>
                    <a:pt x="3586055" y="1320573"/>
                  </a:lnTo>
                  <a:lnTo>
                    <a:pt x="3598221" y="1364803"/>
                  </a:lnTo>
                  <a:lnTo>
                    <a:pt x="3609300" y="1409472"/>
                  </a:lnTo>
                  <a:lnTo>
                    <a:pt x="3619276" y="1454567"/>
                  </a:lnTo>
                  <a:lnTo>
                    <a:pt x="3628135" y="1500070"/>
                  </a:lnTo>
                  <a:lnTo>
                    <a:pt x="3635862" y="1545969"/>
                  </a:lnTo>
                  <a:lnTo>
                    <a:pt x="3642441" y="1592246"/>
                  </a:lnTo>
                  <a:lnTo>
                    <a:pt x="3647858" y="1638888"/>
                  </a:lnTo>
                  <a:lnTo>
                    <a:pt x="3652097" y="1685880"/>
                  </a:lnTo>
                  <a:lnTo>
                    <a:pt x="3655144" y="1733206"/>
                  </a:lnTo>
                  <a:lnTo>
                    <a:pt x="3656983" y="1780850"/>
                  </a:lnTo>
                  <a:lnTo>
                    <a:pt x="3657600" y="1828800"/>
                  </a:lnTo>
                  <a:lnTo>
                    <a:pt x="3656983" y="1876749"/>
                  </a:lnTo>
                  <a:lnTo>
                    <a:pt x="3655144" y="1924393"/>
                  </a:lnTo>
                  <a:lnTo>
                    <a:pt x="3652097" y="1971719"/>
                  </a:lnTo>
                  <a:lnTo>
                    <a:pt x="3647858" y="2018711"/>
                  </a:lnTo>
                  <a:lnTo>
                    <a:pt x="3642441" y="2065353"/>
                  </a:lnTo>
                  <a:lnTo>
                    <a:pt x="3635862" y="2111630"/>
                  </a:lnTo>
                  <a:lnTo>
                    <a:pt x="3628135" y="2157529"/>
                  </a:lnTo>
                  <a:lnTo>
                    <a:pt x="3619276" y="2203032"/>
                  </a:lnTo>
                  <a:lnTo>
                    <a:pt x="3609300" y="2248127"/>
                  </a:lnTo>
                  <a:lnTo>
                    <a:pt x="3598221" y="2292796"/>
                  </a:lnTo>
                  <a:lnTo>
                    <a:pt x="3586055" y="2337026"/>
                  </a:lnTo>
                  <a:lnTo>
                    <a:pt x="3572817" y="2380801"/>
                  </a:lnTo>
                  <a:lnTo>
                    <a:pt x="3558522" y="2424107"/>
                  </a:lnTo>
                  <a:lnTo>
                    <a:pt x="3543185" y="2466927"/>
                  </a:lnTo>
                  <a:lnTo>
                    <a:pt x="3526821" y="2509248"/>
                  </a:lnTo>
                  <a:lnTo>
                    <a:pt x="3509445" y="2551053"/>
                  </a:lnTo>
                  <a:lnTo>
                    <a:pt x="3491073" y="2592329"/>
                  </a:lnTo>
                  <a:lnTo>
                    <a:pt x="3471718" y="2633059"/>
                  </a:lnTo>
                  <a:lnTo>
                    <a:pt x="3451397" y="2673230"/>
                  </a:lnTo>
                  <a:lnTo>
                    <a:pt x="3430124" y="2712825"/>
                  </a:lnTo>
                  <a:lnTo>
                    <a:pt x="3407915" y="2751830"/>
                  </a:lnTo>
                  <a:lnTo>
                    <a:pt x="3384784" y="2790229"/>
                  </a:lnTo>
                  <a:lnTo>
                    <a:pt x="3360746" y="2828009"/>
                  </a:lnTo>
                  <a:lnTo>
                    <a:pt x="3335817" y="2865152"/>
                  </a:lnTo>
                  <a:lnTo>
                    <a:pt x="3310012" y="2901646"/>
                  </a:lnTo>
                  <a:lnTo>
                    <a:pt x="3283345" y="2937473"/>
                  </a:lnTo>
                  <a:lnTo>
                    <a:pt x="3255833" y="2972621"/>
                  </a:lnTo>
                  <a:lnTo>
                    <a:pt x="3227489" y="3007072"/>
                  </a:lnTo>
                  <a:lnTo>
                    <a:pt x="3198329" y="3040813"/>
                  </a:lnTo>
                  <a:lnTo>
                    <a:pt x="3168367" y="3073828"/>
                  </a:lnTo>
                  <a:lnTo>
                    <a:pt x="3137620" y="3106102"/>
                  </a:lnTo>
                  <a:lnTo>
                    <a:pt x="3106102" y="3137620"/>
                  </a:lnTo>
                  <a:lnTo>
                    <a:pt x="3073828" y="3168367"/>
                  </a:lnTo>
                  <a:lnTo>
                    <a:pt x="3040813" y="3198329"/>
                  </a:lnTo>
                  <a:lnTo>
                    <a:pt x="3007072" y="3227489"/>
                  </a:lnTo>
                  <a:lnTo>
                    <a:pt x="2972621" y="3255833"/>
                  </a:lnTo>
                  <a:lnTo>
                    <a:pt x="2937473" y="3283345"/>
                  </a:lnTo>
                  <a:lnTo>
                    <a:pt x="2901646" y="3310012"/>
                  </a:lnTo>
                  <a:lnTo>
                    <a:pt x="2865152" y="3335817"/>
                  </a:lnTo>
                  <a:lnTo>
                    <a:pt x="2828009" y="3360746"/>
                  </a:lnTo>
                  <a:lnTo>
                    <a:pt x="2790229" y="3384784"/>
                  </a:lnTo>
                  <a:lnTo>
                    <a:pt x="2751830" y="3407915"/>
                  </a:lnTo>
                  <a:lnTo>
                    <a:pt x="2712825" y="3430124"/>
                  </a:lnTo>
                  <a:lnTo>
                    <a:pt x="2673230" y="3451397"/>
                  </a:lnTo>
                  <a:lnTo>
                    <a:pt x="2633059" y="3471718"/>
                  </a:lnTo>
                  <a:lnTo>
                    <a:pt x="2592329" y="3491073"/>
                  </a:lnTo>
                  <a:lnTo>
                    <a:pt x="2551053" y="3509445"/>
                  </a:lnTo>
                  <a:lnTo>
                    <a:pt x="2509248" y="3526821"/>
                  </a:lnTo>
                  <a:lnTo>
                    <a:pt x="2466927" y="3543185"/>
                  </a:lnTo>
                  <a:lnTo>
                    <a:pt x="2424107" y="3558522"/>
                  </a:lnTo>
                  <a:lnTo>
                    <a:pt x="2380801" y="3572817"/>
                  </a:lnTo>
                  <a:lnTo>
                    <a:pt x="2337026" y="3586055"/>
                  </a:lnTo>
                  <a:lnTo>
                    <a:pt x="2292796" y="3598221"/>
                  </a:lnTo>
                  <a:lnTo>
                    <a:pt x="2248127" y="3609300"/>
                  </a:lnTo>
                  <a:lnTo>
                    <a:pt x="2203032" y="3619276"/>
                  </a:lnTo>
                  <a:lnTo>
                    <a:pt x="2157529" y="3628135"/>
                  </a:lnTo>
                  <a:lnTo>
                    <a:pt x="2111630" y="3635862"/>
                  </a:lnTo>
                  <a:lnTo>
                    <a:pt x="2065353" y="3642441"/>
                  </a:lnTo>
                  <a:lnTo>
                    <a:pt x="2018711" y="3647858"/>
                  </a:lnTo>
                  <a:lnTo>
                    <a:pt x="1971719" y="3652097"/>
                  </a:lnTo>
                  <a:lnTo>
                    <a:pt x="1924393" y="3655144"/>
                  </a:lnTo>
                  <a:lnTo>
                    <a:pt x="1876749" y="3656983"/>
                  </a:lnTo>
                  <a:lnTo>
                    <a:pt x="1828800" y="3657600"/>
                  </a:lnTo>
                  <a:lnTo>
                    <a:pt x="1780850" y="3656983"/>
                  </a:lnTo>
                  <a:lnTo>
                    <a:pt x="1733206" y="3655144"/>
                  </a:lnTo>
                  <a:lnTo>
                    <a:pt x="1685880" y="3652097"/>
                  </a:lnTo>
                  <a:lnTo>
                    <a:pt x="1638888" y="3647858"/>
                  </a:lnTo>
                  <a:lnTo>
                    <a:pt x="1592246" y="3642441"/>
                  </a:lnTo>
                  <a:lnTo>
                    <a:pt x="1545969" y="3635862"/>
                  </a:lnTo>
                  <a:lnTo>
                    <a:pt x="1500070" y="3628135"/>
                  </a:lnTo>
                  <a:lnTo>
                    <a:pt x="1454567" y="3619276"/>
                  </a:lnTo>
                  <a:lnTo>
                    <a:pt x="1409472" y="3609300"/>
                  </a:lnTo>
                  <a:lnTo>
                    <a:pt x="1364803" y="3598221"/>
                  </a:lnTo>
                  <a:lnTo>
                    <a:pt x="1320573" y="3586055"/>
                  </a:lnTo>
                  <a:lnTo>
                    <a:pt x="1276798" y="3572817"/>
                  </a:lnTo>
                  <a:lnTo>
                    <a:pt x="1233492" y="3558522"/>
                  </a:lnTo>
                  <a:lnTo>
                    <a:pt x="1190672" y="3543185"/>
                  </a:lnTo>
                  <a:lnTo>
                    <a:pt x="1148351" y="3526821"/>
                  </a:lnTo>
                  <a:lnTo>
                    <a:pt x="1106546" y="3509445"/>
                  </a:lnTo>
                  <a:lnTo>
                    <a:pt x="1065270" y="3491073"/>
                  </a:lnTo>
                  <a:lnTo>
                    <a:pt x="1024540" y="3471718"/>
                  </a:lnTo>
                  <a:lnTo>
                    <a:pt x="984369" y="3451397"/>
                  </a:lnTo>
                  <a:lnTo>
                    <a:pt x="944774" y="3430124"/>
                  </a:lnTo>
                  <a:lnTo>
                    <a:pt x="905769" y="3407915"/>
                  </a:lnTo>
                  <a:lnTo>
                    <a:pt x="867370" y="3384784"/>
                  </a:lnTo>
                  <a:lnTo>
                    <a:pt x="829590" y="3360746"/>
                  </a:lnTo>
                  <a:lnTo>
                    <a:pt x="792447" y="3335817"/>
                  </a:lnTo>
                  <a:lnTo>
                    <a:pt x="755953" y="3310012"/>
                  </a:lnTo>
                  <a:lnTo>
                    <a:pt x="720126" y="3283345"/>
                  </a:lnTo>
                  <a:lnTo>
                    <a:pt x="684978" y="3255833"/>
                  </a:lnTo>
                  <a:lnTo>
                    <a:pt x="650527" y="3227489"/>
                  </a:lnTo>
                  <a:lnTo>
                    <a:pt x="616786" y="3198329"/>
                  </a:lnTo>
                  <a:lnTo>
                    <a:pt x="583771" y="3168367"/>
                  </a:lnTo>
                  <a:lnTo>
                    <a:pt x="551497" y="3137620"/>
                  </a:lnTo>
                  <a:lnTo>
                    <a:pt x="519979" y="3106102"/>
                  </a:lnTo>
                  <a:lnTo>
                    <a:pt x="489232" y="3073828"/>
                  </a:lnTo>
                  <a:lnTo>
                    <a:pt x="459270" y="3040813"/>
                  </a:lnTo>
                  <a:lnTo>
                    <a:pt x="430110" y="3007072"/>
                  </a:lnTo>
                  <a:lnTo>
                    <a:pt x="401766" y="2972621"/>
                  </a:lnTo>
                  <a:lnTo>
                    <a:pt x="374254" y="2937473"/>
                  </a:lnTo>
                  <a:lnTo>
                    <a:pt x="347587" y="2901646"/>
                  </a:lnTo>
                  <a:lnTo>
                    <a:pt x="321782" y="2865152"/>
                  </a:lnTo>
                  <a:lnTo>
                    <a:pt x="296853" y="2828009"/>
                  </a:lnTo>
                  <a:lnTo>
                    <a:pt x="272815" y="2790229"/>
                  </a:lnTo>
                  <a:lnTo>
                    <a:pt x="249684" y="2751830"/>
                  </a:lnTo>
                  <a:lnTo>
                    <a:pt x="227475" y="2712825"/>
                  </a:lnTo>
                  <a:lnTo>
                    <a:pt x="206202" y="2673230"/>
                  </a:lnTo>
                  <a:lnTo>
                    <a:pt x="185881" y="2633059"/>
                  </a:lnTo>
                  <a:lnTo>
                    <a:pt x="166526" y="2592329"/>
                  </a:lnTo>
                  <a:lnTo>
                    <a:pt x="148154" y="2551053"/>
                  </a:lnTo>
                  <a:lnTo>
                    <a:pt x="130778" y="2509248"/>
                  </a:lnTo>
                  <a:lnTo>
                    <a:pt x="114414" y="2466927"/>
                  </a:lnTo>
                  <a:lnTo>
                    <a:pt x="99077" y="2424107"/>
                  </a:lnTo>
                  <a:lnTo>
                    <a:pt x="84782" y="2380801"/>
                  </a:lnTo>
                  <a:lnTo>
                    <a:pt x="71544" y="2337026"/>
                  </a:lnTo>
                  <a:lnTo>
                    <a:pt x="59378" y="2292796"/>
                  </a:lnTo>
                  <a:lnTo>
                    <a:pt x="48299" y="2248127"/>
                  </a:lnTo>
                  <a:lnTo>
                    <a:pt x="38323" y="2203032"/>
                  </a:lnTo>
                  <a:lnTo>
                    <a:pt x="29464" y="2157529"/>
                  </a:lnTo>
                  <a:lnTo>
                    <a:pt x="21737" y="2111630"/>
                  </a:lnTo>
                  <a:lnTo>
                    <a:pt x="15158" y="2065353"/>
                  </a:lnTo>
                  <a:lnTo>
                    <a:pt x="9741" y="2018711"/>
                  </a:lnTo>
                  <a:lnTo>
                    <a:pt x="5502" y="1971719"/>
                  </a:lnTo>
                  <a:lnTo>
                    <a:pt x="2455" y="1924393"/>
                  </a:lnTo>
                  <a:lnTo>
                    <a:pt x="616" y="1876749"/>
                  </a:lnTo>
                  <a:lnTo>
                    <a:pt x="0" y="1828800"/>
                  </a:lnTo>
                  <a:close/>
                </a:path>
              </a:pathLst>
            </a:custGeom>
            <a:ln w="25400">
              <a:solidFill>
                <a:srgbClr val="6C3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83698" y="2265235"/>
            <a:ext cx="831215" cy="1711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50" b="1" spc="50" dirty="0">
                <a:solidFill>
                  <a:srgbClr val="FF7045"/>
                </a:solidFill>
                <a:latin typeface="Cambria Math"/>
                <a:cs typeface="Cambria Math"/>
              </a:rPr>
              <a:t>∴</a:t>
            </a:r>
            <a:endParaRPr sz="11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45"/>
              </a:lnSpc>
            </a:pPr>
            <a:fld id="{81D60167-4931-47E6-BA6A-407CBD079E47}" type="slidenum">
              <a:rPr spc="-10" dirty="0"/>
              <a:t>28</a:t>
            </a:fld>
            <a:r>
              <a:rPr spc="-10" dirty="0"/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2802</Words>
  <Application>Microsoft Office PowerPoint</Application>
  <PresentationFormat>Widescreen</PresentationFormat>
  <Paragraphs>605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Times New Roman</vt:lpstr>
      <vt:lpstr>Trebuchet MS</vt:lpstr>
      <vt:lpstr>Office Theme</vt:lpstr>
      <vt:lpstr>Rules of Inference DISCRETE MATHEMATICS · 0613–105</vt:lpstr>
      <vt:lpstr>Presentation outline</vt:lpstr>
      <vt:lpstr>Introduction</vt:lpstr>
      <vt:lpstr>Importance and real-life use</vt:lpstr>
      <vt:lpstr>Valid arguments in propositional logic</vt:lpstr>
      <vt:lpstr>TOPICS I’LL COVER</vt:lpstr>
      <vt:lpstr>The 8 rules of inference</vt:lpstr>
      <vt:lpstr>Rule 1: Modus ponens</vt:lpstr>
      <vt:lpstr>Rule 2: Modus tollens</vt:lpstr>
      <vt:lpstr>Rule 3: Hypothetical syllogism</vt:lpstr>
      <vt:lpstr>Rule 4: Disjunctive syllogism</vt:lpstr>
      <vt:lpstr>Rule 5: Addition</vt:lpstr>
      <vt:lpstr>Rule 6: Simplification</vt:lpstr>
      <vt:lpstr>Rule 7: Conjunction</vt:lpstr>
      <vt:lpstr>Rule 8: Resolution</vt:lpstr>
      <vt:lpstr>Building an argument (Example 6)</vt:lpstr>
      <vt:lpstr>SAJAL SAHA</vt:lpstr>
      <vt:lpstr>What is a fallacy?</vt:lpstr>
      <vt:lpstr>Rain and a dry road A visual example of modus tollens</vt:lpstr>
      <vt:lpstr>Fallacies (Example 10)</vt:lpstr>
      <vt:lpstr>TOPICS I’LL COVER</vt:lpstr>
      <vt:lpstr>Rules for quantified statements Four rules let you move between "for all", "there exists" and a particular element.</vt:lpstr>
      <vt:lpstr>Universal rules in detail</vt:lpstr>
      <vt:lpstr>Existential rules in detail</vt:lpstr>
      <vt:lpstr>Quantified rules at work (Example 12)</vt:lpstr>
      <vt:lpstr>Universal modus ponens (Example 14)</vt:lpstr>
      <vt:lpstr>Summary and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Faysal Ahmed</dc:creator>
  <cp:lastModifiedBy>Faysal Ahmed</cp:lastModifiedBy>
  <cp:revision>1</cp:revision>
  <dcterms:created xsi:type="dcterms:W3CDTF">2026-10-08T15:45:09Z</dcterms:created>
  <dcterms:modified xsi:type="dcterms:W3CDTF">2026-10-08T15:49:13Z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2026-10-08T00:00:00Z</vt:filetime>
  </property>
  <property fmtid="{D5CDD505-2E9C-101B-9397-08002B2CF9AE}" pid="3" name="Creator">
    <vt:lpwstr>Acrobat PDFMaker 26 for PowerPoint</vt:lpwstr>
  </property>
  <property fmtid="{D5CDD505-2E9C-101B-9397-08002B2CF9AE}" pid="4" name="LastSaved">
    <vt:filetime>2026-10-08T00:00:00Z</vt:filetime>
  </property>
  <property fmtid="{D5CDD505-2E9C-101B-9397-08002B2CF9AE}" pid="5" name="Producer">
    <vt:lpwstr>Adobe PDF Library 26.1.98</vt:lpwstr>
  </property>
</Properties>
</file>