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8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81" r:id="rId21"/>
    <p:sldId id="271" r:id="rId22"/>
    <p:sldId id="282" r:id="rId23"/>
    <p:sldId id="272" r:id="rId24"/>
    <p:sldId id="283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9144000" cy="5143500" type="screen16x9"/>
  <p:notesSz cx="6858000" cy="9144000"/>
  <p:embeddedFontLst>
    <p:embeddedFont>
      <p:font typeface="Raleway"/>
      <p:regular r:id="rId36"/>
      <p:bold r:id="rId37"/>
    </p:embeddedFont>
    <p:embeddedFont>
      <p:font typeface="Calibri" panose="020F0502020204030204"/>
      <p:regular r:id="rId38"/>
    </p:embeddedFont>
    <p:embeddedFont>
      <p:font typeface="Cambria Math" panose="02040503050406030204"/>
      <p:regular r:id="rId39"/>
    </p:embeddedFont>
    <p:embeddedFont>
      <p:font typeface="Arial Black" panose="020B0A04020102020204" charset="0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font" Target="fonts/font5.fntdata"/><Relationship Id="rId4" Type="http://schemas.openxmlformats.org/officeDocument/2006/relationships/slide" Target="slides/slide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FT">
  <p:cSld name="SOF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">
  <p:cSld name="GRID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9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9207" y="196978"/>
            <a:ext cx="2259583" cy="676269"/>
          </a:xfrm>
          <a:prstGeom prst="rect">
            <a:avLst/>
          </a:prstGeom>
        </p:spPr>
      </p:pic>
      <p:sp>
        <p:nvSpPr>
          <p:cNvPr id="94" name="course-label"/>
          <p:cNvSpPr>
            <a:spLocks noGrp="1"/>
          </p:cNvSpPr>
          <p:nvPr/>
        </p:nvSpPr>
        <p:spPr>
          <a:xfrm>
            <a:off x="699207" y="1890813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ClrTx/>
              <a:buFontTx/>
              <a:buNone/>
              <a:defRPr sz="1125" b="1">
                <a:solidFill>
                  <a:srgbClr val="6E3DE1"/>
                </a:solidFill>
                <a:latin typeface="Raleway"/>
                <a:ea typeface="Raleway"/>
                <a:cs typeface="Raleway"/>
              </a:defRPr>
            </a:pPr>
            <a:r>
              <a:rPr sz="1300" b="1">
                <a:solidFill>
                  <a:srgbClr val="6E3DE1"/>
                </a:solidFill>
                <a:latin typeface="Raleway"/>
                <a:ea typeface="Raleway"/>
                <a:cs typeface="Raleway"/>
              </a:rPr>
              <a:t>DISCRETE MATHEMATICS  ·  </a:t>
            </a:r>
            <a:r>
              <a:rPr sz="1300" b="1">
                <a:solidFill>
                  <a:srgbClr val="6E3DE1"/>
                </a:solidFill>
                <a:latin typeface="Arial Black" panose="020B0A04020102020204" charset="0"/>
                <a:ea typeface="Raleway"/>
                <a:cs typeface="Arial Black" panose="020B0A04020102020204" charset="0"/>
              </a:rPr>
              <a:t>0613–105</a:t>
            </a:r>
            <a:endParaRPr sz="1300" b="1">
              <a:solidFill>
                <a:srgbClr val="6E3DE1"/>
              </a:solidFill>
              <a:latin typeface="Arial Black" panose="020B0A04020102020204" charset="0"/>
              <a:ea typeface="Raleway"/>
              <a:cs typeface="Arial Black" panose="020B0A04020102020204" charset="0"/>
            </a:endParaRPr>
          </a:p>
        </p:txBody>
      </p:sp>
      <p:sp>
        <p:nvSpPr>
          <p:cNvPr id="95" name="title"/>
          <p:cNvSpPr>
            <a:spLocks noGrp="1"/>
          </p:cNvSpPr>
          <p:nvPr/>
        </p:nvSpPr>
        <p:spPr>
          <a:xfrm>
            <a:off x="699207" y="1207877"/>
            <a:ext cx="7620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ClrTx/>
              <a:buFontTx/>
              <a:buNone/>
              <a:defRPr sz="4125" b="1">
                <a:solidFill>
                  <a:srgbClr val="302A63"/>
                </a:solidFill>
                <a:latin typeface="Raleway"/>
                <a:ea typeface="Raleway"/>
                <a:cs typeface="Raleway"/>
              </a:defRPr>
            </a:pPr>
            <a:r>
              <a:rPr sz="3600" b="1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Rules of Inference</a:t>
            </a:r>
            <a:endParaRPr sz="3600" b="1">
              <a:solidFill>
                <a:srgbClr val="302A63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96" name="subtitle"/>
          <p:cNvSpPr>
            <a:spLocks noGrp="1"/>
          </p:cNvSpPr>
          <p:nvPr/>
        </p:nvSpPr>
        <p:spPr>
          <a:xfrm>
            <a:off x="813157" y="835084"/>
            <a:ext cx="7429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ClrTx/>
              <a:buFontTx/>
              <a:buNone/>
              <a:defRPr sz="1425" b="0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1200">
                <a:solidFill>
                  <a:schemeClr val="accent5">
                    <a:lumMod val="75000"/>
                  </a:schemeClr>
                </a:solidFill>
                <a:latin typeface="Raleway"/>
                <a:ea typeface="Raleway"/>
                <a:cs typeface="Raleway"/>
              </a:rPr>
              <a:t>Department of Computer Science &amp; Engineering</a:t>
            </a:r>
            <a:endParaRPr sz="1200">
              <a:solidFill>
                <a:schemeClr val="accent5">
                  <a:lumMod val="75000"/>
                </a:schemeClr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97" name="presenters-panel-theme-shadow"/>
          <p:cNvSpPr>
            <a:spLocks noGrp="1"/>
          </p:cNvSpPr>
          <p:nvPr/>
        </p:nvSpPr>
        <p:spPr>
          <a:xfrm>
            <a:off x="653034" y="2613088"/>
            <a:ext cx="5284470" cy="1996059"/>
          </a:xfrm>
          <a:prstGeom prst="roundRect">
            <a:avLst>
              <a:gd name="adj" fmla="val 3550"/>
            </a:avLst>
          </a:prstGeom>
          <a:solidFill>
            <a:srgbClr val="AD79E6"/>
          </a:solidFill>
          <a:ln w="0">
            <a:noFill/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8" name="presenters-panel"/>
          <p:cNvSpPr>
            <a:spLocks noGrp="1"/>
          </p:cNvSpPr>
          <p:nvPr/>
        </p:nvSpPr>
        <p:spPr>
          <a:xfrm>
            <a:off x="587298" y="2497410"/>
            <a:ext cx="5327904" cy="2125980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1430">
            <a:solidFill>
              <a:srgbClr val="302A63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9" name="instructor-panel-theme-shadow"/>
          <p:cNvSpPr>
            <a:spLocks noGrp="1"/>
          </p:cNvSpPr>
          <p:nvPr/>
        </p:nvSpPr>
        <p:spPr>
          <a:xfrm>
            <a:off x="6140196" y="2613088"/>
            <a:ext cx="2852166" cy="1996059"/>
          </a:xfrm>
          <a:prstGeom prst="roundRect">
            <a:avLst>
              <a:gd name="adj" fmla="val 3550"/>
            </a:avLst>
          </a:prstGeom>
          <a:solidFill>
            <a:srgbClr val="AD79E6"/>
          </a:solidFill>
          <a:ln w="0">
            <a:noFill/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" name="instructor-panel"/>
          <p:cNvSpPr>
            <a:spLocks noGrp="1"/>
          </p:cNvSpPr>
          <p:nvPr/>
        </p:nvSpPr>
        <p:spPr>
          <a:xfrm>
            <a:off x="6096762" y="2571750"/>
            <a:ext cx="2852166" cy="1996059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1430">
            <a:solidFill>
              <a:srgbClr val="302A63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1" name="presenters-header-band"/>
          <p:cNvSpPr>
            <a:spLocks noGrp="1"/>
          </p:cNvSpPr>
          <p:nvPr/>
        </p:nvSpPr>
        <p:spPr>
          <a:xfrm>
            <a:off x="660273" y="2613088"/>
            <a:ext cx="5183124" cy="253937"/>
          </a:xfrm>
          <a:prstGeom prst="roundRect">
            <a:avLst>
              <a:gd name="adj" fmla="val 13953"/>
            </a:avLst>
          </a:prstGeom>
          <a:solidFill>
            <a:srgbClr val="E8DEFF"/>
          </a:solidFill>
          <a:ln w="0">
            <a:noFill/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2" name="instructor-header-band"/>
          <p:cNvSpPr>
            <a:spLocks noGrp="1"/>
          </p:cNvSpPr>
          <p:nvPr/>
        </p:nvSpPr>
        <p:spPr>
          <a:xfrm>
            <a:off x="6147435" y="2613088"/>
            <a:ext cx="2750820" cy="253937"/>
          </a:xfrm>
          <a:prstGeom prst="roundRect">
            <a:avLst>
              <a:gd name="adj" fmla="val 13953"/>
            </a:avLst>
          </a:prstGeom>
          <a:solidFill>
            <a:srgbClr val="BFE9E9"/>
          </a:solidFill>
          <a:ln w="0">
            <a:noFill/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3" name="presented-by-heading"/>
          <p:cNvSpPr>
            <a:spLocks noGrp="1"/>
          </p:cNvSpPr>
          <p:nvPr/>
        </p:nvSpPr>
        <p:spPr>
          <a:xfrm>
            <a:off x="826770" y="2642616"/>
            <a:ext cx="4850130" cy="1830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304" lnSpcReduction="10000"/>
          </a:bodyPr>
          <a:lstStyle/>
          <a:p>
            <a:pPr>
              <a:buClrTx/>
              <a:buFontTx/>
              <a:buNone/>
              <a:defRPr sz="1200" b="1">
                <a:solidFill>
                  <a:srgbClr val="302A63"/>
                </a:solidFill>
                <a:latin typeface="Raleway"/>
                <a:ea typeface="Raleway"/>
                <a:cs typeface="Raleway"/>
              </a:defRPr>
            </a:pPr>
            <a:r>
              <a:rPr sz="1400" b="1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PRESENTED BY</a:t>
            </a:r>
            <a:endParaRPr sz="1400" b="1">
              <a:solidFill>
                <a:srgbClr val="302A63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04" name="presented-to-heading"/>
          <p:cNvSpPr>
            <a:spLocks noGrp="1"/>
          </p:cNvSpPr>
          <p:nvPr/>
        </p:nvSpPr>
        <p:spPr>
          <a:xfrm>
            <a:off x="6299454" y="2642616"/>
            <a:ext cx="2446782" cy="1830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304" lnSpcReduction="10000"/>
          </a:bodyPr>
          <a:lstStyle/>
          <a:p>
            <a:pPr>
              <a:buClrTx/>
              <a:buFontTx/>
              <a:buNone/>
              <a:defRPr sz="1200" b="1">
                <a:solidFill>
                  <a:srgbClr val="302A63"/>
                </a:solidFill>
                <a:latin typeface="Raleway"/>
                <a:ea typeface="Raleway"/>
                <a:cs typeface="Raleway"/>
              </a:defRPr>
            </a:pPr>
            <a:r>
              <a:rPr sz="1400" b="1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PRESENTED TO</a:t>
            </a:r>
            <a:endParaRPr sz="1400" b="1">
              <a:solidFill>
                <a:srgbClr val="302A63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05" name="presenter-index-1"/>
          <p:cNvSpPr>
            <a:spLocks noGrp="1"/>
          </p:cNvSpPr>
          <p:nvPr/>
        </p:nvSpPr>
        <p:spPr>
          <a:xfrm>
            <a:off x="812292" y="2961513"/>
            <a:ext cx="325755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107"/>
          </a:bodyPr>
          <a:lstStyle/>
          <a:p>
            <a:pPr>
              <a:buClrTx/>
              <a:buFontTx/>
              <a:buNone/>
              <a:defRPr sz="1200" b="1">
                <a:solidFill>
                  <a:srgbClr val="FF6748"/>
                </a:solidFill>
                <a:latin typeface="Raleway"/>
                <a:ea typeface="Raleway"/>
                <a:cs typeface="Raleway"/>
              </a:defRPr>
            </a:pPr>
            <a:r>
              <a:rPr sz="1400" b="1">
                <a:solidFill>
                  <a:srgbClr val="FF6748"/>
                </a:solidFill>
                <a:latin typeface="Raleway"/>
                <a:ea typeface="Raleway"/>
                <a:cs typeface="Raleway"/>
              </a:rPr>
              <a:t>01</a:t>
            </a:r>
            <a:endParaRPr sz="1400" b="1">
              <a:solidFill>
                <a:srgbClr val="FF6748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06" name="presenter-name-1"/>
          <p:cNvSpPr>
            <a:spLocks noGrp="1"/>
          </p:cNvSpPr>
          <p:nvPr/>
        </p:nvSpPr>
        <p:spPr>
          <a:xfrm>
            <a:off x="1203198" y="2961513"/>
            <a:ext cx="3510915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333" lnSpcReduction="10000"/>
          </a:bodyPr>
          <a:lstStyle/>
          <a:p>
            <a:pPr>
              <a:buClrTx/>
              <a:buFontTx/>
              <a:buNone/>
              <a:defRPr sz="1500" b="1">
                <a:solidFill>
                  <a:srgbClr val="302A63"/>
                </a:solidFill>
                <a:latin typeface="Raleway"/>
                <a:ea typeface="Raleway"/>
                <a:cs typeface="Raleway"/>
              </a:defRPr>
            </a:pPr>
            <a:r>
              <a:rPr sz="1500" b="1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Abu Raihan Rafit</a:t>
            </a:r>
            <a:endParaRPr sz="1500" b="1">
              <a:solidFill>
                <a:srgbClr val="302A63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07" name="presenter-roll-1"/>
          <p:cNvSpPr>
            <a:spLocks noGrp="1"/>
          </p:cNvSpPr>
          <p:nvPr/>
        </p:nvSpPr>
        <p:spPr>
          <a:xfrm>
            <a:off x="4844415" y="2961513"/>
            <a:ext cx="810768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107"/>
          </a:bodyPr>
          <a:lstStyle/>
          <a:p>
            <a:pPr algn="r">
              <a:buClrTx/>
              <a:buFontTx/>
              <a:buNone/>
              <a:defRPr sz="1200" b="1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1400" b="1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Roll-18</a:t>
            </a:r>
            <a:endParaRPr sz="1400" b="1">
              <a:solidFill>
                <a:srgbClr val="69678C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08" name="presenter-row-divider-1"/>
          <p:cNvSpPr>
            <a:spLocks noGrp="1"/>
          </p:cNvSpPr>
          <p:nvPr/>
        </p:nvSpPr>
        <p:spPr>
          <a:xfrm>
            <a:off x="812292" y="3244977"/>
            <a:ext cx="4879086" cy="5906"/>
          </a:xfrm>
          <a:prstGeom prst="rect">
            <a:avLst/>
          </a:prstGeom>
          <a:solidFill>
            <a:srgbClr val="E4E0F0"/>
          </a:solidFill>
          <a:ln w="0">
            <a:noFill/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9" name="presenter-index-2"/>
          <p:cNvSpPr>
            <a:spLocks noGrp="1"/>
          </p:cNvSpPr>
          <p:nvPr/>
        </p:nvSpPr>
        <p:spPr>
          <a:xfrm>
            <a:off x="812292" y="3321749"/>
            <a:ext cx="325755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107"/>
          </a:bodyPr>
          <a:lstStyle/>
          <a:p>
            <a:pPr>
              <a:buClrTx/>
              <a:buFontTx/>
              <a:buNone/>
              <a:defRPr sz="1200" b="1">
                <a:solidFill>
                  <a:srgbClr val="FF6748"/>
                </a:solidFill>
                <a:latin typeface="Raleway"/>
                <a:ea typeface="Raleway"/>
                <a:cs typeface="Raleway"/>
              </a:defRPr>
            </a:pPr>
            <a:r>
              <a:rPr sz="1400" b="1">
                <a:solidFill>
                  <a:srgbClr val="FF6748"/>
                </a:solidFill>
                <a:latin typeface="Raleway"/>
                <a:ea typeface="Raleway"/>
                <a:cs typeface="Raleway"/>
              </a:rPr>
              <a:t>02</a:t>
            </a:r>
            <a:endParaRPr sz="1400" b="1">
              <a:solidFill>
                <a:srgbClr val="FF6748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10" name="presenter-name-2"/>
          <p:cNvSpPr>
            <a:spLocks noGrp="1"/>
          </p:cNvSpPr>
          <p:nvPr/>
        </p:nvSpPr>
        <p:spPr>
          <a:xfrm>
            <a:off x="1203198" y="4042220"/>
            <a:ext cx="3510915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333" lnSpcReduction="10000"/>
          </a:bodyPr>
          <a:lstStyle/>
          <a:p>
            <a:pPr>
              <a:buClrTx/>
              <a:buFontTx/>
              <a:buNone/>
              <a:defRPr sz="1500" b="1">
                <a:solidFill>
                  <a:srgbClr val="302A63"/>
                </a:solidFill>
                <a:latin typeface="Raleway"/>
                <a:ea typeface="Raleway"/>
                <a:cs typeface="Raleway"/>
              </a:defRPr>
            </a:pPr>
            <a:r>
              <a:rPr sz="1500" b="1" dirty="0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Mahmudul Haque Mahi</a:t>
            </a:r>
            <a:endParaRPr sz="1500" b="1" dirty="0">
              <a:solidFill>
                <a:srgbClr val="302A63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11" name="presenter-roll-2"/>
          <p:cNvSpPr>
            <a:spLocks noGrp="1"/>
          </p:cNvSpPr>
          <p:nvPr/>
        </p:nvSpPr>
        <p:spPr>
          <a:xfrm>
            <a:off x="4814679" y="3321749"/>
            <a:ext cx="810768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107"/>
          </a:bodyPr>
          <a:lstStyle/>
          <a:p>
            <a:pPr algn="r">
              <a:buClrTx/>
              <a:buFontTx/>
              <a:buNone/>
              <a:defRPr sz="1200" b="1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1400" b="1" dirty="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Roll-</a:t>
            </a:r>
            <a:r>
              <a:rPr lang="en-US" sz="1400" b="1" dirty="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03</a:t>
            </a:r>
            <a:endParaRPr sz="1400" b="1" dirty="0">
              <a:solidFill>
                <a:srgbClr val="69678C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12" name="presenter-row-divider-2"/>
          <p:cNvSpPr>
            <a:spLocks noGrp="1"/>
          </p:cNvSpPr>
          <p:nvPr/>
        </p:nvSpPr>
        <p:spPr>
          <a:xfrm>
            <a:off x="812292" y="3605213"/>
            <a:ext cx="4879086" cy="5906"/>
          </a:xfrm>
          <a:prstGeom prst="rect">
            <a:avLst/>
          </a:prstGeom>
          <a:solidFill>
            <a:srgbClr val="E4E0F0"/>
          </a:solidFill>
          <a:ln w="0">
            <a:noFill/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3" name="presenter-index-3"/>
          <p:cNvSpPr>
            <a:spLocks noGrp="1"/>
          </p:cNvSpPr>
          <p:nvPr/>
        </p:nvSpPr>
        <p:spPr>
          <a:xfrm>
            <a:off x="812292" y="3681984"/>
            <a:ext cx="325755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107"/>
          </a:bodyPr>
          <a:lstStyle/>
          <a:p>
            <a:pPr>
              <a:buClrTx/>
              <a:buFontTx/>
              <a:buNone/>
              <a:defRPr sz="1200" b="1">
                <a:solidFill>
                  <a:srgbClr val="FF6748"/>
                </a:solidFill>
                <a:latin typeface="Raleway"/>
                <a:ea typeface="Raleway"/>
                <a:cs typeface="Raleway"/>
              </a:defRPr>
            </a:pPr>
            <a:r>
              <a:rPr sz="1400" b="1">
                <a:solidFill>
                  <a:srgbClr val="FF6748"/>
                </a:solidFill>
                <a:latin typeface="Raleway"/>
                <a:ea typeface="Raleway"/>
                <a:cs typeface="Raleway"/>
              </a:rPr>
              <a:t>03</a:t>
            </a:r>
            <a:endParaRPr sz="1400" b="1">
              <a:solidFill>
                <a:srgbClr val="FF6748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14" name="presenter-name-3"/>
          <p:cNvSpPr>
            <a:spLocks noGrp="1"/>
          </p:cNvSpPr>
          <p:nvPr/>
        </p:nvSpPr>
        <p:spPr>
          <a:xfrm>
            <a:off x="1203198" y="3325402"/>
            <a:ext cx="3510915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333" lnSpcReduction="10000"/>
          </a:bodyPr>
          <a:lstStyle/>
          <a:p>
            <a:pPr>
              <a:buClrTx/>
              <a:buFontTx/>
              <a:buNone/>
              <a:defRPr sz="1500" b="1">
                <a:solidFill>
                  <a:srgbClr val="302A63"/>
                </a:solidFill>
                <a:latin typeface="Raleway"/>
                <a:ea typeface="Raleway"/>
                <a:cs typeface="Raleway"/>
              </a:defRPr>
            </a:pPr>
            <a:r>
              <a:rPr sz="1500" b="1" dirty="0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Faysal Ahmed </a:t>
            </a:r>
            <a:r>
              <a:rPr sz="1500" b="1" dirty="0" err="1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Srabon</a:t>
            </a:r>
            <a:endParaRPr sz="1500" b="1" dirty="0">
              <a:solidFill>
                <a:srgbClr val="302A63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15" name="presenter-roll-3"/>
          <p:cNvSpPr>
            <a:spLocks noGrp="1"/>
          </p:cNvSpPr>
          <p:nvPr/>
        </p:nvSpPr>
        <p:spPr>
          <a:xfrm>
            <a:off x="4844415" y="3681984"/>
            <a:ext cx="810768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107"/>
          </a:bodyPr>
          <a:lstStyle/>
          <a:p>
            <a:pPr algn="r">
              <a:buClrTx/>
              <a:buFontTx/>
              <a:buNone/>
              <a:defRPr sz="1200" b="1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1400" b="1" dirty="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Roll-</a:t>
            </a:r>
            <a:r>
              <a:rPr lang="en-US" sz="1400" b="1" dirty="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36</a:t>
            </a:r>
            <a:endParaRPr sz="1400" b="1" dirty="0">
              <a:solidFill>
                <a:srgbClr val="69678C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16" name="presenter-row-divider-3"/>
          <p:cNvSpPr>
            <a:spLocks noGrp="1"/>
          </p:cNvSpPr>
          <p:nvPr/>
        </p:nvSpPr>
        <p:spPr>
          <a:xfrm>
            <a:off x="812292" y="3965448"/>
            <a:ext cx="4879086" cy="5906"/>
          </a:xfrm>
          <a:prstGeom prst="rect">
            <a:avLst/>
          </a:prstGeom>
          <a:solidFill>
            <a:srgbClr val="E4E0F0"/>
          </a:solidFill>
          <a:ln w="0">
            <a:noFill/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7" name="presenter-index-4"/>
          <p:cNvSpPr>
            <a:spLocks noGrp="1"/>
          </p:cNvSpPr>
          <p:nvPr/>
        </p:nvSpPr>
        <p:spPr>
          <a:xfrm>
            <a:off x="812292" y="4042220"/>
            <a:ext cx="325755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107"/>
          </a:bodyPr>
          <a:lstStyle/>
          <a:p>
            <a:pPr>
              <a:buClrTx/>
              <a:buFontTx/>
              <a:buNone/>
              <a:defRPr sz="1200" b="1">
                <a:solidFill>
                  <a:srgbClr val="FF6748"/>
                </a:solidFill>
                <a:latin typeface="Raleway"/>
                <a:ea typeface="Raleway"/>
                <a:cs typeface="Raleway"/>
              </a:defRPr>
            </a:pPr>
            <a:r>
              <a:rPr sz="1400" b="1">
                <a:solidFill>
                  <a:srgbClr val="FF6748"/>
                </a:solidFill>
                <a:latin typeface="Raleway"/>
                <a:ea typeface="Raleway"/>
                <a:cs typeface="Raleway"/>
              </a:rPr>
              <a:t>04</a:t>
            </a:r>
            <a:endParaRPr sz="1400" b="1">
              <a:solidFill>
                <a:srgbClr val="FF6748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18" name="presenter-name-4"/>
          <p:cNvSpPr>
            <a:spLocks noGrp="1"/>
          </p:cNvSpPr>
          <p:nvPr/>
        </p:nvSpPr>
        <p:spPr>
          <a:xfrm>
            <a:off x="1203198" y="3714985"/>
            <a:ext cx="3510915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333" lnSpcReduction="10000"/>
          </a:bodyPr>
          <a:lstStyle/>
          <a:p>
            <a:pPr>
              <a:buClrTx/>
              <a:buFontTx/>
              <a:buNone/>
              <a:defRPr sz="1500" b="1">
                <a:solidFill>
                  <a:srgbClr val="302A63"/>
                </a:solidFill>
                <a:latin typeface="Raleway"/>
                <a:ea typeface="Raleway"/>
                <a:cs typeface="Raleway"/>
              </a:defRPr>
            </a:pPr>
            <a:r>
              <a:rPr sz="1500" b="1" dirty="0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Sajal Saha</a:t>
            </a:r>
            <a:endParaRPr sz="1500" b="1" dirty="0">
              <a:solidFill>
                <a:srgbClr val="302A63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19" name="presenter-roll-4"/>
          <p:cNvSpPr>
            <a:spLocks noGrp="1"/>
          </p:cNvSpPr>
          <p:nvPr/>
        </p:nvSpPr>
        <p:spPr>
          <a:xfrm>
            <a:off x="4844415" y="4042220"/>
            <a:ext cx="810768" cy="200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107"/>
          </a:bodyPr>
          <a:lstStyle/>
          <a:p>
            <a:pPr algn="r">
              <a:buClrTx/>
              <a:buFontTx/>
              <a:buNone/>
              <a:defRPr sz="1200" b="1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1400" b="1" dirty="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Roll-</a:t>
            </a:r>
            <a:r>
              <a:rPr lang="en-US" sz="1400" b="1" dirty="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11</a:t>
            </a:r>
            <a:endParaRPr sz="1400" b="1" dirty="0">
              <a:solidFill>
                <a:srgbClr val="69678C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20" name="instructor-name"/>
          <p:cNvSpPr>
            <a:spLocks noGrp="1"/>
          </p:cNvSpPr>
          <p:nvPr/>
        </p:nvSpPr>
        <p:spPr>
          <a:xfrm>
            <a:off x="6313932" y="3126867"/>
            <a:ext cx="2417826" cy="2539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8867" lnSpcReduction="10000"/>
          </a:bodyPr>
          <a:lstStyle/>
          <a:p>
            <a:pPr>
              <a:buClrTx/>
              <a:buFontTx/>
              <a:buNone/>
              <a:defRPr sz="1875" b="1">
                <a:solidFill>
                  <a:srgbClr val="302A63"/>
                </a:solidFill>
                <a:latin typeface="Raleway"/>
                <a:ea typeface="Raleway"/>
                <a:cs typeface="Raleway"/>
              </a:defRPr>
            </a:pPr>
            <a:r>
              <a:rPr sz="1875" b="1">
                <a:solidFill>
                  <a:srgbClr val="302A63"/>
                </a:solidFill>
                <a:latin typeface="Raleway"/>
                <a:ea typeface="Raleway"/>
                <a:cs typeface="Raleway"/>
              </a:rPr>
              <a:t>Tahzib Ul Islam</a:t>
            </a:r>
            <a:endParaRPr sz="1875" b="1">
              <a:solidFill>
                <a:srgbClr val="302A63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21" name="instructor-divider"/>
          <p:cNvSpPr>
            <a:spLocks noGrp="1"/>
          </p:cNvSpPr>
          <p:nvPr/>
        </p:nvSpPr>
        <p:spPr>
          <a:xfrm>
            <a:off x="6313932" y="3463481"/>
            <a:ext cx="2417826" cy="5906"/>
          </a:xfrm>
          <a:prstGeom prst="rect">
            <a:avLst/>
          </a:prstGeom>
          <a:solidFill>
            <a:srgbClr val="DCD6EA"/>
          </a:solidFill>
          <a:ln w="0">
            <a:noFill/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sz="1800" kern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2" name="instructor-title"/>
          <p:cNvSpPr>
            <a:spLocks noGrp="1"/>
          </p:cNvSpPr>
          <p:nvPr/>
        </p:nvSpPr>
        <p:spPr>
          <a:xfrm>
            <a:off x="6313932" y="3541364"/>
            <a:ext cx="2417826" cy="1830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304" lnSpcReduction="10000"/>
          </a:bodyPr>
          <a:lstStyle/>
          <a:p>
            <a:pPr>
              <a:buClrTx/>
              <a:buFontTx/>
              <a:buNone/>
              <a:defRPr sz="1350" b="0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1400">
                <a:solidFill>
                  <a:schemeClr val="tx1">
                    <a:lumMod val="60000"/>
                    <a:lumOff val="40000"/>
                  </a:schemeClr>
                </a:solidFill>
                <a:latin typeface="Raleway"/>
                <a:ea typeface="Raleway"/>
                <a:cs typeface="Raleway"/>
              </a:rPr>
              <a:t>Associate Professor</a:t>
            </a:r>
            <a:endParaRPr sz="1400">
              <a:solidFill>
                <a:schemeClr val="tx1">
                  <a:lumMod val="60000"/>
                  <a:lumOff val="40000"/>
                </a:schemeClr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23" name="instructor-university"/>
          <p:cNvSpPr>
            <a:spLocks noGrp="1"/>
          </p:cNvSpPr>
          <p:nvPr/>
        </p:nvSpPr>
        <p:spPr>
          <a:xfrm>
            <a:off x="6313932" y="4088288"/>
            <a:ext cx="2417826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/>
          </a:bodyPr>
          <a:lstStyle/>
          <a:p>
            <a:pPr>
              <a:buClrTx/>
              <a:buFontTx/>
              <a:buNone/>
              <a:defRPr sz="1275" b="0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140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Dhaka International University</a:t>
            </a:r>
            <a:endParaRPr sz="1400">
              <a:solidFill>
                <a:srgbClr val="69678C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125" name="footer-page-1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0880" lnSpcReduction="20000"/>
          </a:bodyPr>
          <a:lstStyle/>
          <a:p>
            <a:pPr algn="r">
              <a:buClrTx/>
              <a:buFontTx/>
              <a:buNone/>
              <a:defRPr sz="900" b="0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240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1/2</a:t>
            </a:r>
            <a:r>
              <a:rPr lang="en-US" sz="220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8</a:t>
            </a:r>
            <a:endParaRPr lang="en-US" sz="2200">
              <a:solidFill>
                <a:srgbClr val="69678C"/>
              </a:solidFill>
              <a:latin typeface="Raleway"/>
              <a:ea typeface="Raleway"/>
              <a:cs typeface="Raleway"/>
            </a:endParaRPr>
          </a:p>
        </p:txBody>
      </p:sp>
      <p:sp>
        <p:nvSpPr>
          <p:cNvPr id="6" name="instructor-university"/>
          <p:cNvSpPr>
            <a:spLocks noGrp="1"/>
          </p:cNvSpPr>
          <p:nvPr/>
        </p:nvSpPr>
        <p:spPr>
          <a:xfrm>
            <a:off x="6313932" y="3786894"/>
            <a:ext cx="2417826" cy="32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ClrTx/>
              <a:buFontTx/>
              <a:buNone/>
              <a:defRPr sz="1275" b="0">
                <a:solidFill>
                  <a:srgbClr val="69678C"/>
                </a:solidFill>
                <a:latin typeface="Raleway"/>
                <a:ea typeface="Raleway"/>
                <a:cs typeface="Raleway"/>
              </a:defRPr>
            </a:pPr>
            <a:r>
              <a:rPr sz="1400">
                <a:solidFill>
                  <a:srgbClr val="69678C"/>
                </a:solidFill>
                <a:latin typeface="Raleway"/>
                <a:ea typeface="Raleway"/>
                <a:cs typeface="Raleway"/>
              </a:rPr>
              <a:t>Department of CSE</a:t>
            </a:r>
            <a:endParaRPr sz="1400">
              <a:solidFill>
                <a:srgbClr val="69678C"/>
              </a:solidFill>
              <a:latin typeface="Raleway"/>
              <a:ea typeface="Raleway"/>
              <a:cs typeface="Raleway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>
            <a:spLocks noGrp="1"/>
          </p:cNvSpPr>
          <p:nvPr/>
        </p:nvSpPr>
        <p:spPr>
          <a:xfrm>
            <a:off x="480060" y="480060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2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Rules of Inference  |  Discrete Mathematics  |  CSE, DIU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0" name="Google Shape;90;p18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" name="Google Shape;91;p18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Presentation outline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2" name="Google Shape;92;p18"/>
          <p:cNvSpPr>
            <a:spLocks noGrp="1"/>
          </p:cNvSpPr>
          <p:nvPr/>
        </p:nvSpPr>
        <p:spPr>
          <a:xfrm>
            <a:off x="876300" y="891540"/>
            <a:ext cx="6347460" cy="3749040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4A3A9A">
                <a:alpha val="12157"/>
              </a:srgbClr>
            </a:outerShdw>
          </a:effectLst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18"/>
          <p:cNvSpPr>
            <a:spLocks noGrp="1"/>
          </p:cNvSpPr>
          <p:nvPr/>
        </p:nvSpPr>
        <p:spPr>
          <a:xfrm>
            <a:off x="1102995" y="1011793"/>
            <a:ext cx="3022600" cy="212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9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Topic</a:t>
            </a:r>
            <a:endParaRPr sz="9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4" name="Google Shape;94;p18"/>
          <p:cNvSpPr>
            <a:spLocks noGrp="1"/>
          </p:cNvSpPr>
          <p:nvPr/>
        </p:nvSpPr>
        <p:spPr>
          <a:xfrm>
            <a:off x="5939155" y="1011793"/>
            <a:ext cx="1057910" cy="212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9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Slide No.</a:t>
            </a:r>
            <a:endParaRPr sz="9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" name="Google Shape;95;p18"/>
          <p:cNvSpPr>
            <a:spLocks noGrp="1"/>
          </p:cNvSpPr>
          <p:nvPr/>
        </p:nvSpPr>
        <p:spPr>
          <a:xfrm>
            <a:off x="1102995" y="1294739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01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" name="Google Shape;96;p18"/>
          <p:cNvSpPr>
            <a:spLocks noGrp="1"/>
          </p:cNvSpPr>
          <p:nvPr/>
        </p:nvSpPr>
        <p:spPr>
          <a:xfrm>
            <a:off x="1631950" y="1294739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Introduction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7" name="Google Shape;97;p18"/>
          <p:cNvSpPr>
            <a:spLocks noGrp="1"/>
          </p:cNvSpPr>
          <p:nvPr/>
        </p:nvSpPr>
        <p:spPr>
          <a:xfrm>
            <a:off x="5939155" y="1294739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77" name="Google Shape;98;p18"/>
          <p:cNvCxnSpPr/>
          <p:nvPr/>
        </p:nvCxnSpPr>
        <p:spPr>
          <a:xfrm>
            <a:off x="1102995" y="1620128"/>
            <a:ext cx="5894070" cy="0"/>
          </a:xfrm>
          <a:prstGeom prst="straightConnector1">
            <a:avLst/>
          </a:prstGeom>
          <a:ln w="12700" cap="flat">
            <a:solidFill>
              <a:srgbClr val="CFC8F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99" name="Google Shape;99;p18"/>
          <p:cNvSpPr>
            <a:spLocks noGrp="1"/>
          </p:cNvSpPr>
          <p:nvPr/>
        </p:nvSpPr>
        <p:spPr>
          <a:xfrm>
            <a:off x="1102995" y="1662570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02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" name="Google Shape;100;p18"/>
          <p:cNvSpPr>
            <a:spLocks noGrp="1"/>
          </p:cNvSpPr>
          <p:nvPr/>
        </p:nvSpPr>
        <p:spPr>
          <a:xfrm>
            <a:off x="1631950" y="1662570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Importance and real-life use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1" name="Google Shape;101;p18"/>
          <p:cNvSpPr>
            <a:spLocks noGrp="1"/>
          </p:cNvSpPr>
          <p:nvPr/>
        </p:nvSpPr>
        <p:spPr>
          <a:xfrm>
            <a:off x="5939155" y="1662570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81" name="Google Shape;102;p18"/>
          <p:cNvCxnSpPr/>
          <p:nvPr/>
        </p:nvCxnSpPr>
        <p:spPr>
          <a:xfrm>
            <a:off x="1102995" y="1987958"/>
            <a:ext cx="5894070" cy="0"/>
          </a:xfrm>
          <a:prstGeom prst="straightConnector1">
            <a:avLst/>
          </a:prstGeom>
          <a:ln w="12700" cap="flat">
            <a:solidFill>
              <a:srgbClr val="CFC8F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3" name="Google Shape;103;p18"/>
          <p:cNvSpPr>
            <a:spLocks noGrp="1"/>
          </p:cNvSpPr>
          <p:nvPr/>
        </p:nvSpPr>
        <p:spPr>
          <a:xfrm>
            <a:off x="1102995" y="2030400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03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4" name="Google Shape;104;p18"/>
          <p:cNvSpPr>
            <a:spLocks noGrp="1"/>
          </p:cNvSpPr>
          <p:nvPr/>
        </p:nvSpPr>
        <p:spPr>
          <a:xfrm>
            <a:off x="1631950" y="2030400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Valid arguments in propositional logic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5" name="Google Shape;105;p18"/>
          <p:cNvSpPr>
            <a:spLocks noGrp="1"/>
          </p:cNvSpPr>
          <p:nvPr/>
        </p:nvSpPr>
        <p:spPr>
          <a:xfrm>
            <a:off x="5939155" y="2030400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85" name="Google Shape;106;p18"/>
          <p:cNvCxnSpPr/>
          <p:nvPr/>
        </p:nvCxnSpPr>
        <p:spPr>
          <a:xfrm>
            <a:off x="1102995" y="2355788"/>
            <a:ext cx="5894070" cy="0"/>
          </a:xfrm>
          <a:prstGeom prst="straightConnector1">
            <a:avLst/>
          </a:prstGeom>
          <a:ln w="12700" cap="flat">
            <a:solidFill>
              <a:srgbClr val="CFC8F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7" name="Google Shape;107;p18"/>
          <p:cNvSpPr>
            <a:spLocks noGrp="1"/>
          </p:cNvSpPr>
          <p:nvPr/>
        </p:nvSpPr>
        <p:spPr>
          <a:xfrm>
            <a:off x="1102995" y="2398230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04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8" name="Google Shape;108;p18"/>
          <p:cNvSpPr>
            <a:spLocks noGrp="1"/>
          </p:cNvSpPr>
          <p:nvPr/>
        </p:nvSpPr>
        <p:spPr>
          <a:xfrm>
            <a:off x="1631950" y="2398230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8 rules of inference, one by one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9" name="Google Shape;109;p18"/>
          <p:cNvSpPr>
            <a:spLocks noGrp="1"/>
          </p:cNvSpPr>
          <p:nvPr/>
        </p:nvSpPr>
        <p:spPr>
          <a:xfrm>
            <a:off x="5939155" y="2398230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7–15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89" name="Google Shape;110;p18"/>
          <p:cNvCxnSpPr/>
          <p:nvPr/>
        </p:nvCxnSpPr>
        <p:spPr>
          <a:xfrm>
            <a:off x="1102995" y="2723619"/>
            <a:ext cx="5894070" cy="0"/>
          </a:xfrm>
          <a:prstGeom prst="straightConnector1">
            <a:avLst/>
          </a:prstGeom>
          <a:ln w="12700" cap="flat">
            <a:solidFill>
              <a:srgbClr val="CFC8F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1" name="Google Shape;111;p18"/>
          <p:cNvSpPr>
            <a:spLocks noGrp="1"/>
          </p:cNvSpPr>
          <p:nvPr/>
        </p:nvSpPr>
        <p:spPr>
          <a:xfrm>
            <a:off x="1102995" y="2766061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05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2" name="Google Shape;112;p18"/>
          <p:cNvSpPr>
            <a:spLocks noGrp="1"/>
          </p:cNvSpPr>
          <p:nvPr/>
        </p:nvSpPr>
        <p:spPr>
          <a:xfrm>
            <a:off x="1631950" y="2766061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 arguments (Example 6)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3" name="Google Shape;113;p18"/>
          <p:cNvSpPr>
            <a:spLocks noGrp="1"/>
          </p:cNvSpPr>
          <p:nvPr/>
        </p:nvSpPr>
        <p:spPr>
          <a:xfrm>
            <a:off x="5939155" y="2766061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16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93" name="Google Shape;114;p18"/>
          <p:cNvCxnSpPr/>
          <p:nvPr/>
        </p:nvCxnSpPr>
        <p:spPr>
          <a:xfrm>
            <a:off x="1102995" y="3091449"/>
            <a:ext cx="5894070" cy="0"/>
          </a:xfrm>
          <a:prstGeom prst="straightConnector1">
            <a:avLst/>
          </a:prstGeom>
          <a:ln w="12700" cap="flat">
            <a:solidFill>
              <a:srgbClr val="CFC8F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5" name="Google Shape;115;p18"/>
          <p:cNvSpPr>
            <a:spLocks noGrp="1"/>
          </p:cNvSpPr>
          <p:nvPr/>
        </p:nvSpPr>
        <p:spPr>
          <a:xfrm>
            <a:off x="1102995" y="3133891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06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6" name="Google Shape;116;p18"/>
          <p:cNvSpPr>
            <a:spLocks noGrp="1"/>
          </p:cNvSpPr>
          <p:nvPr/>
        </p:nvSpPr>
        <p:spPr>
          <a:xfrm>
            <a:off x="1631950" y="3133891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Fallacies: concept + Example 10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7" name="Google Shape;117;p18"/>
          <p:cNvSpPr>
            <a:spLocks noGrp="1"/>
          </p:cNvSpPr>
          <p:nvPr/>
        </p:nvSpPr>
        <p:spPr>
          <a:xfrm>
            <a:off x="5939155" y="3133891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18–20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97" name="Google Shape;118;p18"/>
          <p:cNvCxnSpPr/>
          <p:nvPr/>
        </p:nvCxnSpPr>
        <p:spPr>
          <a:xfrm>
            <a:off x="1102995" y="3459279"/>
            <a:ext cx="5894070" cy="0"/>
          </a:xfrm>
          <a:prstGeom prst="straightConnector1">
            <a:avLst/>
          </a:prstGeom>
          <a:ln w="12700" cap="flat">
            <a:solidFill>
              <a:srgbClr val="CFC8F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9" name="Google Shape;119;p18"/>
          <p:cNvSpPr>
            <a:spLocks noGrp="1"/>
          </p:cNvSpPr>
          <p:nvPr/>
        </p:nvSpPr>
        <p:spPr>
          <a:xfrm>
            <a:off x="1102995" y="3501721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07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0" name="Google Shape;120;p18"/>
          <p:cNvSpPr>
            <a:spLocks noGrp="1"/>
          </p:cNvSpPr>
          <p:nvPr/>
        </p:nvSpPr>
        <p:spPr>
          <a:xfrm>
            <a:off x="1631950" y="3501721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Quantified rules: overview + details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1" name="Google Shape;121;p18"/>
          <p:cNvSpPr>
            <a:spLocks noGrp="1"/>
          </p:cNvSpPr>
          <p:nvPr/>
        </p:nvSpPr>
        <p:spPr>
          <a:xfrm>
            <a:off x="5939155" y="3501721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22–24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01" name="Google Shape;122;p18"/>
          <p:cNvCxnSpPr/>
          <p:nvPr/>
        </p:nvCxnSpPr>
        <p:spPr>
          <a:xfrm>
            <a:off x="1102995" y="3827110"/>
            <a:ext cx="5894070" cy="0"/>
          </a:xfrm>
          <a:prstGeom prst="straightConnector1">
            <a:avLst/>
          </a:prstGeom>
          <a:ln w="12700" cap="flat">
            <a:solidFill>
              <a:srgbClr val="CFC8F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3" name="Google Shape;123;p18"/>
          <p:cNvSpPr>
            <a:spLocks noGrp="1"/>
          </p:cNvSpPr>
          <p:nvPr/>
        </p:nvSpPr>
        <p:spPr>
          <a:xfrm>
            <a:off x="1102995" y="3869552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08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4" name="Google Shape;124;p18"/>
          <p:cNvSpPr>
            <a:spLocks noGrp="1"/>
          </p:cNvSpPr>
          <p:nvPr/>
        </p:nvSpPr>
        <p:spPr>
          <a:xfrm>
            <a:off x="1631950" y="3869552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Quantified examples + universal modus ponens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5" name="Google Shape;125;p18"/>
          <p:cNvSpPr>
            <a:spLocks noGrp="1"/>
          </p:cNvSpPr>
          <p:nvPr/>
        </p:nvSpPr>
        <p:spPr>
          <a:xfrm>
            <a:off x="5939155" y="3869552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25–26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05" name="Google Shape;126;p18"/>
          <p:cNvCxnSpPr/>
          <p:nvPr/>
        </p:nvCxnSpPr>
        <p:spPr>
          <a:xfrm>
            <a:off x="1102995" y="4194940"/>
            <a:ext cx="5894070" cy="0"/>
          </a:xfrm>
          <a:prstGeom prst="straightConnector1">
            <a:avLst/>
          </a:prstGeom>
          <a:ln w="12700" cap="flat">
            <a:solidFill>
              <a:srgbClr val="CFC8F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7" name="Google Shape;127;p18"/>
          <p:cNvSpPr>
            <a:spLocks noGrp="1"/>
          </p:cNvSpPr>
          <p:nvPr/>
        </p:nvSpPr>
        <p:spPr>
          <a:xfrm>
            <a:off x="1102995" y="4237382"/>
            <a:ext cx="45339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400"/>
              <a:buFont typeface="Raleway"/>
              <a:buNone/>
            </a:pPr>
            <a:r>
              <a:rPr sz="1400" b="1" i="0" u="none" cap="none">
                <a:solidFill>
                  <a:srgbClr val="FF7145"/>
                </a:solidFill>
                <a:latin typeface="Raleway"/>
                <a:ea typeface="Raleway"/>
                <a:cs typeface="Raleway"/>
              </a:rPr>
              <a:t>09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8" name="Google Shape;128;p18"/>
          <p:cNvSpPr>
            <a:spLocks noGrp="1"/>
          </p:cNvSpPr>
          <p:nvPr/>
        </p:nvSpPr>
        <p:spPr>
          <a:xfrm>
            <a:off x="1631950" y="4237382"/>
            <a:ext cx="4004945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Summary and conclusion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9" name="Google Shape;129;p18"/>
          <p:cNvSpPr>
            <a:spLocks noGrp="1"/>
          </p:cNvSpPr>
          <p:nvPr/>
        </p:nvSpPr>
        <p:spPr>
          <a:xfrm>
            <a:off x="5939155" y="4237382"/>
            <a:ext cx="1057910" cy="28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1300"/>
              <a:buFont typeface="Calibri" panose="020F0502020204030204"/>
              <a:buNone/>
            </a:pPr>
            <a:r>
              <a:rPr sz="1400" b="1" i="0" u="none" cap="none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27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0" name="Google Shape;140;p19"/>
          <p:cNvSpPr>
            <a:spLocks noGrp="1"/>
          </p:cNvSpPr>
          <p:nvPr/>
        </p:nvSpPr>
        <p:spPr>
          <a:xfrm>
            <a:off x="480060" y="23139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Introduction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1" name="Google Shape;141;p19"/>
          <p:cNvSpPr>
            <a:spLocks noGrp="1"/>
          </p:cNvSpPr>
          <p:nvPr/>
        </p:nvSpPr>
        <p:spPr>
          <a:xfrm>
            <a:off x="528066" y="1076706"/>
            <a:ext cx="4114800" cy="3657600"/>
          </a:xfrm>
          <a:prstGeom prst="roundRect">
            <a:avLst>
              <a:gd name="adj" fmla="val 2353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9"/>
          <p:cNvSpPr>
            <a:spLocks noGrp="1"/>
          </p:cNvSpPr>
          <p:nvPr/>
        </p:nvSpPr>
        <p:spPr>
          <a:xfrm>
            <a:off x="480060" y="1028700"/>
            <a:ext cx="4114800" cy="3657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19"/>
          <p:cNvSpPr>
            <a:spLocks noGrp="1"/>
          </p:cNvSpPr>
          <p:nvPr/>
        </p:nvSpPr>
        <p:spPr>
          <a:xfrm>
            <a:off x="562356" y="1110996"/>
            <a:ext cx="3950208" cy="342900"/>
          </a:xfrm>
          <a:prstGeom prst="roundRect">
            <a:avLst>
              <a:gd name="adj" fmla="val 10000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19"/>
          <p:cNvSpPr>
            <a:spLocks noGrp="1"/>
          </p:cNvSpPr>
          <p:nvPr/>
        </p:nvSpPr>
        <p:spPr>
          <a:xfrm>
            <a:off x="562356" y="1110996"/>
            <a:ext cx="395020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What are rules of inference?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5" name="Google Shape;145;p19"/>
          <p:cNvSpPr>
            <a:spLocks noGrp="1"/>
          </p:cNvSpPr>
          <p:nvPr/>
        </p:nvSpPr>
        <p:spPr>
          <a:xfrm>
            <a:off x="651510" y="1543050"/>
            <a:ext cx="37719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libri" panose="020F0502020204030204"/>
              <a:buNone/>
            </a:pPr>
            <a:r>
              <a:rPr sz="16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Rules of inference are reliable patterns for deriving a conclusion from premises. For example, if p → q and p are true, we may conclude q (modus ponens).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6" name="Google Shape;146;p19"/>
          <p:cNvSpPr>
            <a:spLocks noGrp="1"/>
          </p:cNvSpPr>
          <p:nvPr/>
        </p:nvSpPr>
        <p:spPr>
          <a:xfrm>
            <a:off x="4814316" y="1076706"/>
            <a:ext cx="3909060" cy="3657600"/>
          </a:xfrm>
          <a:prstGeom prst="roundRect">
            <a:avLst>
              <a:gd name="adj" fmla="val 2353"/>
            </a:avLst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19"/>
          <p:cNvSpPr>
            <a:spLocks noGrp="1"/>
          </p:cNvSpPr>
          <p:nvPr/>
        </p:nvSpPr>
        <p:spPr>
          <a:xfrm>
            <a:off x="4766310" y="1028700"/>
            <a:ext cx="3909060" cy="3657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9"/>
          <p:cNvSpPr>
            <a:spLocks noGrp="1"/>
          </p:cNvSpPr>
          <p:nvPr/>
        </p:nvSpPr>
        <p:spPr>
          <a:xfrm>
            <a:off x="4848606" y="1110996"/>
            <a:ext cx="3744468" cy="342900"/>
          </a:xfrm>
          <a:prstGeom prst="roundRect">
            <a:avLst>
              <a:gd name="adj" fmla="val 10000"/>
            </a:avLst>
          </a:prstGeom>
          <a:solidFill>
            <a:srgbClr val="B8EDE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19"/>
          <p:cNvSpPr>
            <a:spLocks noGrp="1"/>
          </p:cNvSpPr>
          <p:nvPr/>
        </p:nvSpPr>
        <p:spPr>
          <a:xfrm>
            <a:off x="4848606" y="1110996"/>
            <a:ext cx="37444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What you’ll learn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0" name="Google Shape;150;p19"/>
          <p:cNvSpPr>
            <a:spLocks noGrp="1"/>
          </p:cNvSpPr>
          <p:nvPr/>
        </p:nvSpPr>
        <p:spPr>
          <a:xfrm>
            <a:off x="4937760" y="1645539"/>
            <a:ext cx="233172" cy="233172"/>
          </a:xfrm>
          <a:prstGeom prst="ellipse">
            <a:avLst/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19"/>
          <p:cNvSpPr>
            <a:spLocks noGrp="1"/>
          </p:cNvSpPr>
          <p:nvPr/>
        </p:nvSpPr>
        <p:spPr>
          <a:xfrm>
            <a:off x="4937760" y="1638300"/>
            <a:ext cx="2331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2" name="Google Shape;152;p19"/>
          <p:cNvSpPr>
            <a:spLocks noGrp="1"/>
          </p:cNvSpPr>
          <p:nvPr/>
        </p:nvSpPr>
        <p:spPr>
          <a:xfrm>
            <a:off x="5280660" y="1562100"/>
            <a:ext cx="322326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eight propositional rules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 derive valid conclusions.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3" name="Google Shape;153;p19"/>
          <p:cNvSpPr>
            <a:spLocks noGrp="1"/>
          </p:cNvSpPr>
          <p:nvPr/>
        </p:nvSpPr>
        <p:spPr>
          <a:xfrm>
            <a:off x="4937760" y="2283714"/>
            <a:ext cx="233172" cy="233172"/>
          </a:xfrm>
          <a:prstGeom prst="ellipse">
            <a:avLst/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19"/>
          <p:cNvSpPr>
            <a:spLocks noGrp="1"/>
          </p:cNvSpPr>
          <p:nvPr/>
        </p:nvSpPr>
        <p:spPr>
          <a:xfrm>
            <a:off x="4937760" y="2276475"/>
            <a:ext cx="2331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5" name="Google Shape;155;p19"/>
          <p:cNvSpPr>
            <a:spLocks noGrp="1"/>
          </p:cNvSpPr>
          <p:nvPr/>
        </p:nvSpPr>
        <p:spPr>
          <a:xfrm>
            <a:off x="5280660" y="2200275"/>
            <a:ext cx="322326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 a proof step by step and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justify each line.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6" name="Google Shape;156;p19"/>
          <p:cNvSpPr>
            <a:spLocks noGrp="1"/>
          </p:cNvSpPr>
          <p:nvPr/>
        </p:nvSpPr>
        <p:spPr>
          <a:xfrm>
            <a:off x="4937760" y="2921889"/>
            <a:ext cx="233172" cy="233172"/>
          </a:xfrm>
          <a:prstGeom prst="ellipse">
            <a:avLst/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19"/>
          <p:cNvSpPr>
            <a:spLocks noGrp="1"/>
          </p:cNvSpPr>
          <p:nvPr/>
        </p:nvSpPr>
        <p:spPr>
          <a:xfrm>
            <a:off x="4937760" y="2914650"/>
            <a:ext cx="2331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8" name="Google Shape;158;p19"/>
          <p:cNvSpPr>
            <a:spLocks noGrp="1"/>
          </p:cNvSpPr>
          <p:nvPr/>
        </p:nvSpPr>
        <p:spPr>
          <a:xfrm>
            <a:off x="5280660" y="2838450"/>
            <a:ext cx="322326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Recognize common fallacies and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explain why their conclusions fail.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9" name="Google Shape;159;p19"/>
          <p:cNvSpPr>
            <a:spLocks noGrp="1"/>
          </p:cNvSpPr>
          <p:nvPr/>
        </p:nvSpPr>
        <p:spPr>
          <a:xfrm>
            <a:off x="4937760" y="3560064"/>
            <a:ext cx="233172" cy="233172"/>
          </a:xfrm>
          <a:prstGeom prst="ellipse">
            <a:avLst/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19"/>
          <p:cNvSpPr>
            <a:spLocks noGrp="1"/>
          </p:cNvSpPr>
          <p:nvPr/>
        </p:nvSpPr>
        <p:spPr>
          <a:xfrm>
            <a:off x="4937760" y="3552825"/>
            <a:ext cx="2331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1" name="Google Shape;161;p19"/>
          <p:cNvSpPr>
            <a:spLocks noGrp="1"/>
          </p:cNvSpPr>
          <p:nvPr/>
        </p:nvSpPr>
        <p:spPr>
          <a:xfrm>
            <a:off x="5280660" y="3476625"/>
            <a:ext cx="322326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quantifier rules for “all”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 “some,” then combine them.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00" name="Flow premise 1"/>
          <p:cNvSpPr/>
          <p:nvPr/>
        </p:nvSpPr>
        <p:spPr>
          <a:xfrm>
            <a:off x="700000" y="2769875"/>
            <a:ext cx="1400000" cy="430000"/>
          </a:xfrm>
          <a:prstGeom prst="roundRect">
            <a:avLst>
              <a:gd name="adj" fmla="val 30000"/>
            </a:avLst>
          </a:prstGeom>
          <a:solidFill>
            <a:srgbClr val="E8E3FA"/>
          </a:solidFill>
          <a:ln w="12700">
            <a:solidFill>
              <a:srgbClr val="9B6BE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>
                <a:solidFill>
                  <a:srgbClr val="2E2A5E"/>
                </a:solidFill>
              </a:rPr>
              <a:t>p → q</a:t>
            </a:r>
            <a:endParaRPr lang="en-US" sz="1800" b="1">
              <a:solidFill>
                <a:srgbClr val="2E2A5E"/>
              </a:solidFill>
            </a:endParaRPr>
          </a:p>
        </p:txBody>
      </p:sp>
      <p:sp>
        <p:nvSpPr>
          <p:cNvPr id="2201" name="Flow premise 2"/>
          <p:cNvSpPr/>
          <p:nvPr/>
        </p:nvSpPr>
        <p:spPr>
          <a:xfrm>
            <a:off x="700000" y="3329875"/>
            <a:ext cx="1400000" cy="430000"/>
          </a:xfrm>
          <a:prstGeom prst="roundRect">
            <a:avLst>
              <a:gd name="adj" fmla="val 30000"/>
            </a:avLst>
          </a:prstGeom>
          <a:solidFill>
            <a:srgbClr val="E8E3FA"/>
          </a:solidFill>
          <a:ln w="12700">
            <a:solidFill>
              <a:srgbClr val="9B6BE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>
                <a:solidFill>
                  <a:srgbClr val="2E2A5E"/>
                </a:solidFill>
              </a:rPr>
              <a:t>p</a:t>
            </a:r>
            <a:endParaRPr lang="en-US" sz="1800" b="1">
              <a:solidFill>
                <a:srgbClr val="2E2A5E"/>
              </a:solidFill>
            </a:endParaRPr>
          </a:p>
        </p:txBody>
      </p:sp>
      <p:sp>
        <p:nvSpPr>
          <p:cNvPr id="2202" name="Flow arrow"/>
          <p:cNvSpPr/>
          <p:nvPr/>
        </p:nvSpPr>
        <p:spPr>
          <a:xfrm>
            <a:off x="2250000" y="3169875"/>
            <a:ext cx="520000" cy="3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714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</a:p>
        </p:txBody>
      </p:sp>
      <p:sp>
        <p:nvSpPr>
          <p:cNvPr id="2" name="Flow premise 2"/>
          <p:cNvSpPr/>
          <p:nvPr/>
        </p:nvSpPr>
        <p:spPr>
          <a:xfrm>
            <a:off x="2990445" y="3169855"/>
            <a:ext cx="1400000" cy="43000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 w="12700">
            <a:solidFill>
              <a:srgbClr val="9B6BE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en-GB" sz="1800" b="1">
                <a:solidFill>
                  <a:schemeClr val="bg1"/>
                </a:solidFill>
              </a:rPr>
              <a:t>∴q</a:t>
            </a:r>
            <a:endParaRPr lang="en-US" altLang="en-GB" sz="1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7" name="Google Shape;187;p20"/>
          <p:cNvSpPr>
            <a:spLocks noGrp="1"/>
          </p:cNvSpPr>
          <p:nvPr/>
        </p:nvSpPr>
        <p:spPr>
          <a:xfrm>
            <a:off x="472626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Importance and real-life use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8" name="Google Shape;188;p20"/>
          <p:cNvSpPr>
            <a:spLocks noGrp="1"/>
          </p:cNvSpPr>
          <p:nvPr/>
        </p:nvSpPr>
        <p:spPr>
          <a:xfrm>
            <a:off x="528066" y="1110996"/>
            <a:ext cx="2297430" cy="1680210"/>
          </a:xfrm>
          <a:prstGeom prst="roundRect">
            <a:avLst>
              <a:gd name="adj" fmla="val 2449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20"/>
          <p:cNvSpPr>
            <a:spLocks noGrp="1"/>
          </p:cNvSpPr>
          <p:nvPr/>
        </p:nvSpPr>
        <p:spPr>
          <a:xfrm>
            <a:off x="480060" y="1062990"/>
            <a:ext cx="2297430" cy="168021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20"/>
          <p:cNvSpPr>
            <a:spLocks noGrp="1"/>
          </p:cNvSpPr>
          <p:nvPr/>
        </p:nvSpPr>
        <p:spPr>
          <a:xfrm>
            <a:off x="562356" y="1145286"/>
            <a:ext cx="2132838" cy="342900"/>
          </a:xfrm>
          <a:prstGeom prst="roundRect">
            <a:avLst>
              <a:gd name="adj" fmla="val 10000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20"/>
          <p:cNvSpPr>
            <a:spLocks noGrp="1"/>
          </p:cNvSpPr>
          <p:nvPr/>
        </p:nvSpPr>
        <p:spPr>
          <a:xfrm>
            <a:off x="562356" y="1145286"/>
            <a:ext cx="21328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Mathematical proofs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2" name="Google Shape;192;p20"/>
          <p:cNvSpPr>
            <a:spLocks noGrp="1"/>
          </p:cNvSpPr>
          <p:nvPr/>
        </p:nvSpPr>
        <p:spPr>
          <a:xfrm>
            <a:off x="699516" y="1543050"/>
            <a:ext cx="195453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Proofs are valid arguments. Rules of inference are the basic tools for establishing truth.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3" name="Google Shape;193;p20"/>
          <p:cNvSpPr>
            <a:spLocks noGrp="1"/>
          </p:cNvSpPr>
          <p:nvPr/>
        </p:nvSpPr>
        <p:spPr>
          <a:xfrm>
            <a:off x="2962656" y="1110996"/>
            <a:ext cx="2297430" cy="1680210"/>
          </a:xfrm>
          <a:prstGeom prst="roundRect">
            <a:avLst>
              <a:gd name="adj" fmla="val 2449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20"/>
          <p:cNvSpPr>
            <a:spLocks noGrp="1"/>
          </p:cNvSpPr>
          <p:nvPr/>
        </p:nvSpPr>
        <p:spPr>
          <a:xfrm>
            <a:off x="2914650" y="1062990"/>
            <a:ext cx="2297430" cy="168021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20"/>
          <p:cNvSpPr>
            <a:spLocks noGrp="1"/>
          </p:cNvSpPr>
          <p:nvPr/>
        </p:nvSpPr>
        <p:spPr>
          <a:xfrm>
            <a:off x="2996946" y="1145286"/>
            <a:ext cx="2132838" cy="342900"/>
          </a:xfrm>
          <a:prstGeom prst="roundRect">
            <a:avLst>
              <a:gd name="adj" fmla="val 10000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20"/>
          <p:cNvSpPr>
            <a:spLocks noGrp="1"/>
          </p:cNvSpPr>
          <p:nvPr/>
        </p:nvSpPr>
        <p:spPr>
          <a:xfrm>
            <a:off x="2996946" y="1145286"/>
            <a:ext cx="21328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Faster than truth tables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7" name="Google Shape;197;p20"/>
          <p:cNvSpPr>
            <a:spLocks noGrp="1"/>
          </p:cNvSpPr>
          <p:nvPr/>
        </p:nvSpPr>
        <p:spPr>
          <a:xfrm>
            <a:off x="3086100" y="1645920"/>
            <a:ext cx="195453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With 10 variables a truth table needs 1024 rows. A few rules reach the answer in a few steps.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8" name="Google Shape;198;p20"/>
          <p:cNvSpPr>
            <a:spLocks noGrp="1"/>
          </p:cNvSpPr>
          <p:nvPr/>
        </p:nvSpPr>
        <p:spPr>
          <a:xfrm>
            <a:off x="528066" y="2928366"/>
            <a:ext cx="2297430" cy="1680210"/>
          </a:xfrm>
          <a:prstGeom prst="roundRect">
            <a:avLst>
              <a:gd name="adj" fmla="val 2449"/>
            </a:avLst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20"/>
          <p:cNvSpPr>
            <a:spLocks noGrp="1"/>
          </p:cNvSpPr>
          <p:nvPr/>
        </p:nvSpPr>
        <p:spPr>
          <a:xfrm>
            <a:off x="480060" y="2880360"/>
            <a:ext cx="2297430" cy="168021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20"/>
          <p:cNvSpPr>
            <a:spLocks noGrp="1"/>
          </p:cNvSpPr>
          <p:nvPr/>
        </p:nvSpPr>
        <p:spPr>
          <a:xfrm>
            <a:off x="562356" y="2962656"/>
            <a:ext cx="2132838" cy="342900"/>
          </a:xfrm>
          <a:prstGeom prst="roundRect">
            <a:avLst>
              <a:gd name="adj" fmla="val 10000"/>
            </a:avLst>
          </a:prstGeom>
          <a:solidFill>
            <a:srgbClr val="B8EDE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20"/>
          <p:cNvSpPr>
            <a:spLocks noGrp="1"/>
          </p:cNvSpPr>
          <p:nvPr/>
        </p:nvSpPr>
        <p:spPr>
          <a:xfrm>
            <a:off x="562356" y="2962656"/>
            <a:ext cx="21328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Automated reasoning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2" name="Google Shape;202;p20"/>
          <p:cNvSpPr>
            <a:spLocks noGrp="1"/>
          </p:cNvSpPr>
          <p:nvPr/>
        </p:nvSpPr>
        <p:spPr>
          <a:xfrm>
            <a:off x="651510" y="3463290"/>
            <a:ext cx="195453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Programs that prove theorems use resolution. The language Prolog is built on it.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3" name="Google Shape;203;p20"/>
          <p:cNvSpPr>
            <a:spLocks noGrp="1"/>
          </p:cNvSpPr>
          <p:nvPr/>
        </p:nvSpPr>
        <p:spPr>
          <a:xfrm>
            <a:off x="2962656" y="2928366"/>
            <a:ext cx="2297430" cy="1680210"/>
          </a:xfrm>
          <a:prstGeom prst="roundRect">
            <a:avLst>
              <a:gd name="adj" fmla="val 2449"/>
            </a:avLst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0"/>
          <p:cNvSpPr>
            <a:spLocks noGrp="1"/>
          </p:cNvSpPr>
          <p:nvPr/>
        </p:nvSpPr>
        <p:spPr>
          <a:xfrm>
            <a:off x="2914650" y="2880360"/>
            <a:ext cx="2297430" cy="168021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20"/>
          <p:cNvSpPr>
            <a:spLocks noGrp="1"/>
          </p:cNvSpPr>
          <p:nvPr/>
        </p:nvSpPr>
        <p:spPr>
          <a:xfrm>
            <a:off x="2996946" y="2962656"/>
            <a:ext cx="2132838" cy="342900"/>
          </a:xfrm>
          <a:prstGeom prst="roundRect">
            <a:avLst>
              <a:gd name="adj" fmla="val 10000"/>
            </a:avLst>
          </a:prstGeom>
          <a:solidFill>
            <a:srgbClr val="FFE9A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20"/>
          <p:cNvSpPr>
            <a:spLocks noGrp="1"/>
          </p:cNvSpPr>
          <p:nvPr/>
        </p:nvSpPr>
        <p:spPr>
          <a:xfrm>
            <a:off x="2996946" y="2962656"/>
            <a:ext cx="21328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Access checks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7" name="Google Shape;207;p20"/>
          <p:cNvSpPr>
            <a:spLocks noGrp="1"/>
          </p:cNvSpPr>
          <p:nvPr/>
        </p:nvSpPr>
        <p:spPr>
          <a:xfrm>
            <a:off x="3086100" y="3463290"/>
            <a:ext cx="195453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login that needs a current password applies modus ponens each time you sign in.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8" name="Google Shape;208;p20"/>
          <p:cNvSpPr>
            <a:spLocks noGrp="1"/>
          </p:cNvSpPr>
          <p:nvPr/>
        </p:nvSpPr>
        <p:spPr>
          <a:xfrm>
            <a:off x="5534406" y="1110996"/>
            <a:ext cx="3188970" cy="3634740"/>
          </a:xfrm>
          <a:prstGeom prst="roundRect">
            <a:avLst>
              <a:gd name="adj" fmla="val 1290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0"/>
          <p:cNvSpPr>
            <a:spLocks noGrp="1"/>
          </p:cNvSpPr>
          <p:nvPr/>
        </p:nvSpPr>
        <p:spPr>
          <a:xfrm>
            <a:off x="5486400" y="1062990"/>
            <a:ext cx="3188970" cy="36347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20"/>
          <p:cNvSpPr>
            <a:spLocks noGrp="1"/>
          </p:cNvSpPr>
          <p:nvPr/>
        </p:nvSpPr>
        <p:spPr>
          <a:xfrm>
            <a:off x="5568696" y="1145286"/>
            <a:ext cx="3024378" cy="342900"/>
          </a:xfrm>
          <a:prstGeom prst="roundRect">
            <a:avLst>
              <a:gd name="adj" fmla="val 10000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20"/>
          <p:cNvSpPr>
            <a:spLocks noGrp="1"/>
          </p:cNvSpPr>
          <p:nvPr/>
        </p:nvSpPr>
        <p:spPr>
          <a:xfrm>
            <a:off x="5568696" y="1145286"/>
            <a:ext cx="302437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Real-life example: logging in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2" name="Google Shape;212;p20"/>
          <p:cNvSpPr>
            <a:spLocks noGrp="1"/>
          </p:cNvSpPr>
          <p:nvPr/>
        </p:nvSpPr>
        <p:spPr>
          <a:xfrm>
            <a:off x="5692140" y="1714500"/>
            <a:ext cx="2777490" cy="822960"/>
          </a:xfrm>
          <a:prstGeom prst="roundRect">
            <a:avLst>
              <a:gd name="adj" fmla="val 10000"/>
            </a:avLst>
          </a:prstGeom>
          <a:solidFill>
            <a:srgbClr val="F3F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p20"/>
          <p:cNvSpPr>
            <a:spLocks noGrp="1"/>
          </p:cNvSpPr>
          <p:nvPr/>
        </p:nvSpPr>
        <p:spPr>
          <a:xfrm>
            <a:off x="5829300" y="1714500"/>
            <a:ext cx="250317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If you have a current password, then you can log onto the network.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4" name="Google Shape;214;p20"/>
          <p:cNvSpPr>
            <a:spLocks noGrp="1"/>
          </p:cNvSpPr>
          <p:nvPr/>
        </p:nvSpPr>
        <p:spPr>
          <a:xfrm>
            <a:off x="5692140" y="2708910"/>
            <a:ext cx="2777490" cy="617220"/>
          </a:xfrm>
          <a:prstGeom prst="roundRect">
            <a:avLst>
              <a:gd name="adj" fmla="val 13333"/>
            </a:avLst>
          </a:prstGeom>
          <a:solidFill>
            <a:srgbClr val="F3F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20"/>
          <p:cNvSpPr>
            <a:spLocks noGrp="1"/>
          </p:cNvSpPr>
          <p:nvPr/>
        </p:nvSpPr>
        <p:spPr>
          <a:xfrm>
            <a:off x="5829300" y="2708910"/>
            <a:ext cx="250317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libri" panose="020F0502020204030204"/>
              <a:buNone/>
            </a:pPr>
            <a:r>
              <a:rPr sz="16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 have a current password.</a:t>
            </a:r>
            <a:endParaRPr sz="1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6" name="Google Shape;216;p20"/>
          <p:cNvSpPr>
            <a:spLocks noGrp="1"/>
          </p:cNvSpPr>
          <p:nvPr/>
        </p:nvSpPr>
        <p:spPr>
          <a:xfrm>
            <a:off x="5715000" y="3693033"/>
            <a:ext cx="2777490" cy="82296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7145">
                  <a:tint val="66000"/>
                  <a:satMod val="160000"/>
                </a:srgbClr>
              </a:gs>
              <a:gs pos="50000">
                <a:srgbClr val="FF7145">
                  <a:tint val="44500"/>
                  <a:satMod val="160000"/>
                </a:srgbClr>
              </a:gs>
              <a:gs pos="100000">
                <a:srgbClr val="FF7145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7" name="Google Shape;217;p20"/>
          <p:cNvSpPr>
            <a:spLocks noGrp="1"/>
          </p:cNvSpPr>
          <p:nvPr/>
        </p:nvSpPr>
        <p:spPr>
          <a:xfrm>
            <a:off x="5949315" y="3669030"/>
            <a:ext cx="250317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600" b="1" i="0" u="none" cap="none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Therefore, you can log onto the network.</a:t>
            </a:r>
            <a:endParaRPr sz="1600" b="0" i="0" u="none" cap="none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5" name="Google Shape;225;p21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Valid arguments in propositional logic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6" name="Google Shape;226;p21"/>
          <p:cNvSpPr>
            <a:spLocks noGrp="1"/>
          </p:cNvSpPr>
          <p:nvPr/>
        </p:nvSpPr>
        <p:spPr>
          <a:xfrm>
            <a:off x="505764" y="1032102"/>
            <a:ext cx="5760720" cy="1351026"/>
          </a:xfrm>
          <a:prstGeom prst="roundRect">
            <a:avLst>
              <a:gd name="adj" fmla="val 3046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21"/>
          <p:cNvSpPr>
            <a:spLocks noGrp="1"/>
          </p:cNvSpPr>
          <p:nvPr/>
        </p:nvSpPr>
        <p:spPr>
          <a:xfrm>
            <a:off x="480060" y="1013832"/>
            <a:ext cx="5760720" cy="1351026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21"/>
          <p:cNvSpPr>
            <a:spLocks noGrp="1"/>
          </p:cNvSpPr>
          <p:nvPr/>
        </p:nvSpPr>
        <p:spPr>
          <a:xfrm>
            <a:off x="651510" y="113157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LET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9" name="Google Shape;229;p21"/>
          <p:cNvSpPr>
            <a:spLocks noGrp="1"/>
          </p:cNvSpPr>
          <p:nvPr/>
        </p:nvSpPr>
        <p:spPr>
          <a:xfrm>
            <a:off x="651510" y="1303020"/>
            <a:ext cx="54178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p: You have a current password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q: You can log onto the network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0" name="Google Shape;230;p21"/>
          <p:cNvSpPr>
            <a:spLocks noGrp="1"/>
          </p:cNvSpPr>
          <p:nvPr/>
        </p:nvSpPr>
        <p:spPr>
          <a:xfrm>
            <a:off x="651510" y="174879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1" name="Google Shape;231;p21"/>
          <p:cNvSpPr>
            <a:spLocks noGrp="1"/>
          </p:cNvSpPr>
          <p:nvPr/>
        </p:nvSpPr>
        <p:spPr>
          <a:xfrm>
            <a:off x="651510" y="1920240"/>
            <a:ext cx="54178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If you have a current password, you can log onto the network. You have a current password. Can you log onto the network?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2" name="Google Shape;232;p21"/>
          <p:cNvSpPr>
            <a:spLocks noGrp="1"/>
          </p:cNvSpPr>
          <p:nvPr/>
        </p:nvSpPr>
        <p:spPr>
          <a:xfrm>
            <a:off x="480060" y="2468880"/>
            <a:ext cx="5760720" cy="534924"/>
          </a:xfrm>
          <a:prstGeom prst="roundRect">
            <a:avLst>
              <a:gd name="adj" fmla="val 17949"/>
            </a:avLst>
          </a:prstGeom>
          <a:solidFill>
            <a:srgbClr val="E9E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21"/>
          <p:cNvSpPr>
            <a:spLocks noGrp="1"/>
          </p:cNvSpPr>
          <p:nvPr/>
        </p:nvSpPr>
        <p:spPr>
          <a:xfrm>
            <a:off x="685800" y="2468880"/>
            <a:ext cx="137160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800"/>
              <a:buFont typeface="Cambria Math" panose="02040503050406030204"/>
              <a:buNone/>
            </a:pPr>
            <a:r>
              <a:rPr sz="18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4" name="Google Shape;234;p21"/>
          <p:cNvSpPr>
            <a:spLocks noGrp="1"/>
          </p:cNvSpPr>
          <p:nvPr/>
        </p:nvSpPr>
        <p:spPr>
          <a:xfrm>
            <a:off x="2057400" y="2468880"/>
            <a:ext cx="404622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If you have a current password, then you can log onto the network.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5" name="Google Shape;235;p21"/>
          <p:cNvSpPr>
            <a:spLocks noGrp="1"/>
          </p:cNvSpPr>
          <p:nvPr/>
        </p:nvSpPr>
        <p:spPr>
          <a:xfrm>
            <a:off x="480060" y="3086100"/>
            <a:ext cx="5760720" cy="534924"/>
          </a:xfrm>
          <a:prstGeom prst="roundRect">
            <a:avLst>
              <a:gd name="adj" fmla="val 17949"/>
            </a:avLst>
          </a:prstGeom>
          <a:solidFill>
            <a:srgbClr val="B8EDE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21"/>
          <p:cNvSpPr>
            <a:spLocks noGrp="1"/>
          </p:cNvSpPr>
          <p:nvPr/>
        </p:nvSpPr>
        <p:spPr>
          <a:xfrm>
            <a:off x="685800" y="3086100"/>
            <a:ext cx="137160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800"/>
              <a:buFont typeface="Cambria Math" panose="02040503050406030204"/>
              <a:buNone/>
            </a:pPr>
            <a:r>
              <a:rPr sz="18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</a:t>
            </a:r>
            <a:endParaRPr sz="1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7" name="Google Shape;237;p21"/>
          <p:cNvSpPr>
            <a:spLocks noGrp="1"/>
          </p:cNvSpPr>
          <p:nvPr/>
        </p:nvSpPr>
        <p:spPr>
          <a:xfrm>
            <a:off x="2057400" y="3086100"/>
            <a:ext cx="404622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 have a current password.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8" name="Google Shape;238;p21"/>
          <p:cNvSpPr>
            <a:spLocks noGrp="1"/>
          </p:cNvSpPr>
          <p:nvPr/>
        </p:nvSpPr>
        <p:spPr>
          <a:xfrm>
            <a:off x="480060" y="3703320"/>
            <a:ext cx="5760720" cy="534924"/>
          </a:xfrm>
          <a:prstGeom prst="roundRect">
            <a:avLst>
              <a:gd name="adj" fmla="val 17949"/>
            </a:avLst>
          </a:prstGeom>
          <a:solidFill>
            <a:srgbClr val="FF7145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21"/>
          <p:cNvSpPr>
            <a:spLocks noGrp="1"/>
          </p:cNvSpPr>
          <p:nvPr/>
        </p:nvSpPr>
        <p:spPr>
          <a:xfrm>
            <a:off x="685800" y="3703320"/>
            <a:ext cx="137160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 Math" panose="02040503050406030204"/>
              <a:buNone/>
            </a:pPr>
            <a:r>
              <a:rPr sz="1800" b="1" i="0" u="none" cap="none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q</a:t>
            </a:r>
            <a:endParaRPr sz="1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0" name="Google Shape;240;p21"/>
          <p:cNvSpPr>
            <a:spLocks noGrp="1"/>
          </p:cNvSpPr>
          <p:nvPr/>
        </p:nvSpPr>
        <p:spPr>
          <a:xfrm>
            <a:off x="2057400" y="3703320"/>
            <a:ext cx="404622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Therefore, you can log onto the network.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1" name="Google Shape;241;p21"/>
          <p:cNvSpPr>
            <a:spLocks noGrp="1"/>
          </p:cNvSpPr>
          <p:nvPr/>
        </p:nvSpPr>
        <p:spPr>
          <a:xfrm>
            <a:off x="480060" y="4354830"/>
            <a:ext cx="5760720" cy="342900"/>
          </a:xfrm>
          <a:prstGeom prst="roundRect">
            <a:avLst>
              <a:gd name="adj" fmla="val 24000"/>
            </a:avLst>
          </a:prstGeom>
          <a:solidFill>
            <a:srgbClr val="FFE9A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21"/>
          <p:cNvSpPr>
            <a:spLocks noGrp="1"/>
          </p:cNvSpPr>
          <p:nvPr/>
        </p:nvSpPr>
        <p:spPr>
          <a:xfrm>
            <a:off x="651510" y="4354830"/>
            <a:ext cx="54178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(p ∧ (p → q)) → q is a tautology, so the conclusion q must be true.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3" name="Google Shape;243;p21"/>
          <p:cNvSpPr>
            <a:spLocks noGrp="1"/>
          </p:cNvSpPr>
          <p:nvPr/>
        </p:nvSpPr>
        <p:spPr>
          <a:xfrm>
            <a:off x="6563106" y="1076706"/>
            <a:ext cx="2160270" cy="2297430"/>
          </a:xfrm>
          <a:prstGeom prst="roundRect">
            <a:avLst>
              <a:gd name="adj" fmla="val 1905"/>
            </a:avLst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21"/>
          <p:cNvSpPr>
            <a:spLocks noGrp="1"/>
          </p:cNvSpPr>
          <p:nvPr/>
        </p:nvSpPr>
        <p:spPr>
          <a:xfrm>
            <a:off x="6515100" y="1028700"/>
            <a:ext cx="2160270" cy="229743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21"/>
          <p:cNvSpPr>
            <a:spLocks noGrp="1"/>
          </p:cNvSpPr>
          <p:nvPr/>
        </p:nvSpPr>
        <p:spPr>
          <a:xfrm>
            <a:off x="6597396" y="1110996"/>
            <a:ext cx="1995678" cy="342900"/>
          </a:xfrm>
          <a:prstGeom prst="roundRect">
            <a:avLst>
              <a:gd name="adj" fmla="val 10000"/>
            </a:avLst>
          </a:prstGeom>
          <a:solidFill>
            <a:srgbClr val="B8EDE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21"/>
          <p:cNvSpPr>
            <a:spLocks noGrp="1"/>
          </p:cNvSpPr>
          <p:nvPr/>
        </p:nvSpPr>
        <p:spPr>
          <a:xfrm>
            <a:off x="6597396" y="1110996"/>
            <a:ext cx="199567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Truth table: p → q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7" name="Google Shape;247;p21"/>
          <p:cNvSpPr>
            <a:spLocks noGrp="1"/>
          </p:cNvSpPr>
          <p:nvPr/>
        </p:nvSpPr>
        <p:spPr>
          <a:xfrm>
            <a:off x="6652260" y="157734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E9E0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21"/>
          <p:cNvSpPr>
            <a:spLocks noGrp="1"/>
          </p:cNvSpPr>
          <p:nvPr/>
        </p:nvSpPr>
        <p:spPr>
          <a:xfrm>
            <a:off x="6652260" y="157734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9" name="Google Shape;249;p21"/>
          <p:cNvSpPr>
            <a:spLocks noGrp="1"/>
          </p:cNvSpPr>
          <p:nvPr/>
        </p:nvSpPr>
        <p:spPr>
          <a:xfrm>
            <a:off x="7200900" y="157734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E9E0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21"/>
          <p:cNvSpPr>
            <a:spLocks noGrp="1"/>
          </p:cNvSpPr>
          <p:nvPr/>
        </p:nvSpPr>
        <p:spPr>
          <a:xfrm>
            <a:off x="7200900" y="157734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1" name="Google Shape;251;p21"/>
          <p:cNvSpPr>
            <a:spLocks noGrp="1"/>
          </p:cNvSpPr>
          <p:nvPr/>
        </p:nvSpPr>
        <p:spPr>
          <a:xfrm>
            <a:off x="7749540" y="1577340"/>
            <a:ext cx="788670" cy="308610"/>
          </a:xfrm>
          <a:prstGeom prst="roundRect">
            <a:avLst>
              <a:gd name="adj" fmla="val 4444"/>
            </a:avLst>
          </a:prstGeom>
          <a:solidFill>
            <a:srgbClr val="E9E0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21"/>
          <p:cNvSpPr>
            <a:spLocks noGrp="1"/>
          </p:cNvSpPr>
          <p:nvPr/>
        </p:nvSpPr>
        <p:spPr>
          <a:xfrm>
            <a:off x="7749540" y="1577340"/>
            <a:ext cx="78867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3" name="Google Shape;253;p21"/>
          <p:cNvSpPr>
            <a:spLocks noGrp="1"/>
          </p:cNvSpPr>
          <p:nvPr/>
        </p:nvSpPr>
        <p:spPr>
          <a:xfrm>
            <a:off x="6652260" y="188595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21"/>
          <p:cNvSpPr>
            <a:spLocks noGrp="1"/>
          </p:cNvSpPr>
          <p:nvPr/>
        </p:nvSpPr>
        <p:spPr>
          <a:xfrm>
            <a:off x="6652260" y="188595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5" name="Google Shape;255;p21"/>
          <p:cNvSpPr>
            <a:spLocks noGrp="1"/>
          </p:cNvSpPr>
          <p:nvPr/>
        </p:nvSpPr>
        <p:spPr>
          <a:xfrm>
            <a:off x="7200900" y="188595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6" name="Google Shape;256;p21"/>
          <p:cNvSpPr>
            <a:spLocks noGrp="1"/>
          </p:cNvSpPr>
          <p:nvPr/>
        </p:nvSpPr>
        <p:spPr>
          <a:xfrm>
            <a:off x="7200900" y="188595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7" name="Google Shape;257;p21"/>
          <p:cNvSpPr>
            <a:spLocks noGrp="1"/>
          </p:cNvSpPr>
          <p:nvPr/>
        </p:nvSpPr>
        <p:spPr>
          <a:xfrm>
            <a:off x="7749540" y="1885950"/>
            <a:ext cx="78867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21"/>
          <p:cNvSpPr>
            <a:spLocks noGrp="1"/>
          </p:cNvSpPr>
          <p:nvPr/>
        </p:nvSpPr>
        <p:spPr>
          <a:xfrm>
            <a:off x="7749540" y="1885950"/>
            <a:ext cx="78867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9" name="Google Shape;259;p21"/>
          <p:cNvSpPr>
            <a:spLocks noGrp="1"/>
          </p:cNvSpPr>
          <p:nvPr/>
        </p:nvSpPr>
        <p:spPr>
          <a:xfrm>
            <a:off x="6652260" y="219456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FFE3D9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21"/>
          <p:cNvSpPr>
            <a:spLocks noGrp="1"/>
          </p:cNvSpPr>
          <p:nvPr/>
        </p:nvSpPr>
        <p:spPr>
          <a:xfrm>
            <a:off x="6652260" y="219456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1" name="Google Shape;261;p21"/>
          <p:cNvSpPr>
            <a:spLocks noGrp="1"/>
          </p:cNvSpPr>
          <p:nvPr/>
        </p:nvSpPr>
        <p:spPr>
          <a:xfrm>
            <a:off x="7200900" y="219456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FFE3D9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21"/>
          <p:cNvSpPr>
            <a:spLocks noGrp="1"/>
          </p:cNvSpPr>
          <p:nvPr/>
        </p:nvSpPr>
        <p:spPr>
          <a:xfrm>
            <a:off x="7200900" y="219456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F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3" name="Google Shape;263;p21"/>
          <p:cNvSpPr>
            <a:spLocks noGrp="1"/>
          </p:cNvSpPr>
          <p:nvPr/>
        </p:nvSpPr>
        <p:spPr>
          <a:xfrm>
            <a:off x="7749540" y="2194560"/>
            <a:ext cx="788670" cy="308610"/>
          </a:xfrm>
          <a:prstGeom prst="roundRect">
            <a:avLst>
              <a:gd name="adj" fmla="val 4444"/>
            </a:avLst>
          </a:prstGeom>
          <a:solidFill>
            <a:srgbClr val="FFE3D9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" name="Google Shape;264;p21"/>
          <p:cNvSpPr>
            <a:spLocks noGrp="1"/>
          </p:cNvSpPr>
          <p:nvPr/>
        </p:nvSpPr>
        <p:spPr>
          <a:xfrm>
            <a:off x="7749540" y="2194560"/>
            <a:ext cx="78867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F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5" name="Google Shape;265;p21"/>
          <p:cNvSpPr>
            <a:spLocks noGrp="1"/>
          </p:cNvSpPr>
          <p:nvPr/>
        </p:nvSpPr>
        <p:spPr>
          <a:xfrm>
            <a:off x="6652260" y="250317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21"/>
          <p:cNvSpPr>
            <a:spLocks noGrp="1"/>
          </p:cNvSpPr>
          <p:nvPr/>
        </p:nvSpPr>
        <p:spPr>
          <a:xfrm>
            <a:off x="6652260" y="250317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F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7" name="Google Shape;267;p21"/>
          <p:cNvSpPr>
            <a:spLocks noGrp="1"/>
          </p:cNvSpPr>
          <p:nvPr/>
        </p:nvSpPr>
        <p:spPr>
          <a:xfrm>
            <a:off x="7200900" y="250317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8" name="Google Shape;268;p21"/>
          <p:cNvSpPr>
            <a:spLocks noGrp="1"/>
          </p:cNvSpPr>
          <p:nvPr/>
        </p:nvSpPr>
        <p:spPr>
          <a:xfrm>
            <a:off x="7200900" y="250317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9" name="Google Shape;269;p21"/>
          <p:cNvSpPr>
            <a:spLocks noGrp="1"/>
          </p:cNvSpPr>
          <p:nvPr/>
        </p:nvSpPr>
        <p:spPr>
          <a:xfrm>
            <a:off x="7749540" y="2503170"/>
            <a:ext cx="78867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0" name="Google Shape;270;p21"/>
          <p:cNvSpPr>
            <a:spLocks noGrp="1"/>
          </p:cNvSpPr>
          <p:nvPr/>
        </p:nvSpPr>
        <p:spPr>
          <a:xfrm>
            <a:off x="7749540" y="2503170"/>
            <a:ext cx="78867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1" name="Google Shape;271;p21"/>
          <p:cNvSpPr>
            <a:spLocks noGrp="1"/>
          </p:cNvSpPr>
          <p:nvPr/>
        </p:nvSpPr>
        <p:spPr>
          <a:xfrm>
            <a:off x="6652260" y="281178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2" name="Google Shape;272;p21"/>
          <p:cNvSpPr>
            <a:spLocks noGrp="1"/>
          </p:cNvSpPr>
          <p:nvPr/>
        </p:nvSpPr>
        <p:spPr>
          <a:xfrm>
            <a:off x="6652260" y="281178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F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3" name="Google Shape;273;p21"/>
          <p:cNvSpPr>
            <a:spLocks noGrp="1"/>
          </p:cNvSpPr>
          <p:nvPr/>
        </p:nvSpPr>
        <p:spPr>
          <a:xfrm>
            <a:off x="7200900" y="2811780"/>
            <a:ext cx="54864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21"/>
          <p:cNvSpPr>
            <a:spLocks noGrp="1"/>
          </p:cNvSpPr>
          <p:nvPr/>
        </p:nvSpPr>
        <p:spPr>
          <a:xfrm>
            <a:off x="7200900" y="2811780"/>
            <a:ext cx="5486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F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5" name="Google Shape;275;p21"/>
          <p:cNvSpPr>
            <a:spLocks noGrp="1"/>
          </p:cNvSpPr>
          <p:nvPr/>
        </p:nvSpPr>
        <p:spPr>
          <a:xfrm>
            <a:off x="7749540" y="2811780"/>
            <a:ext cx="788670" cy="30861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mpd="sng">
            <a:solidFill>
              <a:srgbClr val="D9D3F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21"/>
          <p:cNvSpPr>
            <a:spLocks noGrp="1"/>
          </p:cNvSpPr>
          <p:nvPr/>
        </p:nvSpPr>
        <p:spPr>
          <a:xfrm>
            <a:off x="7749540" y="2811780"/>
            <a:ext cx="78867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7" name="Google Shape;277;p21"/>
          <p:cNvSpPr>
            <a:spLocks noGrp="1"/>
          </p:cNvSpPr>
          <p:nvPr/>
        </p:nvSpPr>
        <p:spPr>
          <a:xfrm>
            <a:off x="6515100" y="3497580"/>
            <a:ext cx="216027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valid form with a false premise still proves nothing about the conclusion.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60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60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60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60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60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60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decel="60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decel="60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decel="60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decel="60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decel="60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decel="60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60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00" decel="60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8"/>
          <p:cNvSpPr>
            <a:spLocks noGrp="1"/>
          </p:cNvSpPr>
          <p:nvPr/>
        </p:nvSpPr>
        <p:spPr>
          <a:xfrm>
            <a:off x="480060" y="1694610"/>
            <a:ext cx="51435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5000"/>
              <a:buFont typeface="Raleway"/>
              <a:buNone/>
            </a:pPr>
            <a:r>
              <a:rPr lang="en-US" sz="3600" b="0" i="0" u="non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FAYSAL AHMED SRABON</a:t>
            </a:r>
            <a:endParaRPr sz="36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76" name="Google Shape;976;p38"/>
          <p:cNvSpPr>
            <a:spLocks noGrp="1"/>
          </p:cNvSpPr>
          <p:nvPr/>
        </p:nvSpPr>
        <p:spPr>
          <a:xfrm>
            <a:off x="501631" y="2281906"/>
            <a:ext cx="51435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2100"/>
              <a:buFont typeface="Calibri" panose="020F0502020204030204"/>
              <a:buNone/>
            </a:pPr>
            <a:r>
              <a:rPr lang="en-US" sz="2100" b="1" i="0" u="none" cap="none" dirty="0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ROLL : 03</a:t>
            </a:r>
            <a:endParaRPr lang="en-US" sz="21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83" name="Rectangle 982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buNone/>
              <a:defRPr sz="240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40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6/28</a:t>
            </a:r>
            <a:endParaRPr sz="2400">
              <a:solidFill>
                <a:srgbClr val="6B689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01" name="Roadmap heading"/>
          <p:cNvSpPr txBox="1"/>
          <p:nvPr/>
        </p:nvSpPr>
        <p:spPr>
          <a:xfrm>
            <a:off x="5660000" y="1220000"/>
            <a:ext cx="31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300" b="1">
                <a:solidFill>
                  <a:srgbClr val="30264D"/>
                </a:solidFill>
                <a:latin typeface="Raleway"/>
              </a:rPr>
              <a:t>TOPICS I’LL COVER</a:t>
            </a:r>
            <a:endParaRPr lang="en-US" sz="2300"/>
          </a:p>
        </p:txBody>
      </p:sp>
      <p:sp>
        <p:nvSpPr>
          <p:cNvPr id="1302" name="Roadmap accent rule"/>
          <p:cNvSpPr/>
          <p:nvPr/>
        </p:nvSpPr>
        <p:spPr>
          <a:xfrm>
            <a:off x="5659999" y="1730000"/>
            <a:ext cx="2814927" cy="76498"/>
          </a:xfrm>
          <a:prstGeom prst="rect">
            <a:avLst/>
          </a:prstGeom>
          <a:solidFill>
            <a:srgbClr val="9365E8"/>
          </a:solidFill>
          <a:ln w="0">
            <a:solidFill>
              <a:srgbClr val="936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4" name="Roadmap track"/>
          <p:cNvSpPr/>
          <p:nvPr/>
        </p:nvSpPr>
        <p:spPr>
          <a:xfrm>
            <a:off x="5825000" y="2190000"/>
            <a:ext cx="26000" cy="1700000"/>
          </a:xfrm>
          <a:prstGeom prst="rect">
            <a:avLst/>
          </a:prstGeom>
          <a:solidFill>
            <a:srgbClr val="D9D0EC"/>
          </a:solidFill>
          <a:ln w="0">
            <a:solidFill>
              <a:srgbClr val="D9D0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3" name="Topic waypoint 1"/>
          <p:cNvSpPr/>
          <p:nvPr/>
        </p:nvSpPr>
        <p:spPr>
          <a:xfrm>
            <a:off x="5702830" y="2100000"/>
            <a:ext cx="274644" cy="283854"/>
          </a:xfrm>
          <a:prstGeom prst="ellipse">
            <a:avLst/>
          </a:prstGeom>
          <a:solidFill>
            <a:srgbClr val="9365E8"/>
          </a:solidFill>
          <a:ln w="0">
            <a:solidFill>
              <a:srgbClr val="936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4" name="Topic index 1"/>
          <p:cNvSpPr txBox="1"/>
          <p:nvPr/>
        </p:nvSpPr>
        <p:spPr>
          <a:xfrm>
            <a:off x="5710263" y="2112059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01</a:t>
            </a:r>
            <a:endParaRPr lang="en-US" sz="1200" dirty="0"/>
          </a:p>
        </p:txBody>
      </p:sp>
      <p:sp>
        <p:nvSpPr>
          <p:cNvPr id="1315" name="Topic name 1"/>
          <p:cNvSpPr txBox="1"/>
          <p:nvPr/>
        </p:nvSpPr>
        <p:spPr>
          <a:xfrm>
            <a:off x="6100000" y="2090000"/>
            <a:ext cx="26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rgbClr val="30264D"/>
                </a:solidFill>
                <a:latin typeface="Raleway"/>
              </a:rPr>
              <a:t>Eight rules of inference</a:t>
            </a:r>
            <a:endParaRPr lang="en-US" dirty="0"/>
          </a:p>
        </p:txBody>
      </p:sp>
      <p:sp>
        <p:nvSpPr>
          <p:cNvPr id="1316" name="Topic waypoint 2"/>
          <p:cNvSpPr/>
          <p:nvPr/>
        </p:nvSpPr>
        <p:spPr>
          <a:xfrm>
            <a:off x="5702829" y="2950000"/>
            <a:ext cx="274645" cy="283854"/>
          </a:xfrm>
          <a:prstGeom prst="ellipse">
            <a:avLst/>
          </a:prstGeom>
          <a:solidFill>
            <a:srgbClr val="26AEB8"/>
          </a:solidFill>
          <a:ln w="0">
            <a:solidFill>
              <a:srgbClr val="26AEB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7" name="Topic index 2"/>
          <p:cNvSpPr txBox="1"/>
          <p:nvPr/>
        </p:nvSpPr>
        <p:spPr>
          <a:xfrm>
            <a:off x="5710263" y="2984361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02</a:t>
            </a:r>
            <a:endParaRPr lang="en-US" sz="1200" dirty="0"/>
          </a:p>
        </p:txBody>
      </p:sp>
      <p:sp>
        <p:nvSpPr>
          <p:cNvPr id="1318" name="Topic name 2"/>
          <p:cNvSpPr txBox="1"/>
          <p:nvPr/>
        </p:nvSpPr>
        <p:spPr>
          <a:xfrm>
            <a:off x="6100000" y="2940000"/>
            <a:ext cx="26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rgbClr val="30264D"/>
                </a:solidFill>
                <a:latin typeface="Raleway"/>
              </a:rPr>
              <a:t>Valid propositional arguments</a:t>
            </a:r>
            <a:endParaRPr lang="en-US" dirty="0"/>
          </a:p>
        </p:txBody>
      </p:sp>
      <p:sp>
        <p:nvSpPr>
          <p:cNvPr id="1319" name="Topic waypoint 3"/>
          <p:cNvSpPr/>
          <p:nvPr/>
        </p:nvSpPr>
        <p:spPr>
          <a:xfrm>
            <a:off x="5710263" y="3814868"/>
            <a:ext cx="274645" cy="283854"/>
          </a:xfrm>
          <a:prstGeom prst="ellipse">
            <a:avLst/>
          </a:prstGeom>
          <a:solidFill>
            <a:srgbClr val="F07A62"/>
          </a:solidFill>
          <a:ln w="0">
            <a:solidFill>
              <a:srgbClr val="F07A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0" name="Topic index 3"/>
          <p:cNvSpPr txBox="1"/>
          <p:nvPr/>
        </p:nvSpPr>
        <p:spPr>
          <a:xfrm>
            <a:off x="5710263" y="3834361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03</a:t>
            </a:r>
            <a:endParaRPr lang="en-US" sz="1200" dirty="0"/>
          </a:p>
        </p:txBody>
      </p:sp>
      <p:sp>
        <p:nvSpPr>
          <p:cNvPr id="1321" name="Topic name 3"/>
          <p:cNvSpPr txBox="1"/>
          <p:nvPr/>
        </p:nvSpPr>
        <p:spPr>
          <a:xfrm>
            <a:off x="6100000" y="3790000"/>
            <a:ext cx="26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rgbClr val="30264D"/>
                </a:solidFill>
                <a:latin typeface="Raleway"/>
              </a:rPr>
              <a:t>Worked examples</a:t>
            </a:r>
            <a:endParaRPr lang="en-US" dirty="0"/>
          </a:p>
        </p:txBody>
      </p:sp>
      <p:pic>
        <p:nvPicPr>
          <p:cNvPr id="5" name="Picture 9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9207" y="196978"/>
            <a:ext cx="2259583" cy="6762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0790" y="2632223"/>
            <a:ext cx="2193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BATCH : CSD-105</a:t>
            </a:r>
            <a:endParaRPr lang="en-U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5" name="Google Shape;285;p22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The 8 rules of inference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366" name="Google Shape;287;p22"/>
          <p:cNvCxnSpPr/>
          <p:nvPr/>
        </p:nvCxnSpPr>
        <p:spPr>
          <a:xfrm>
            <a:off x="480060" y="2777490"/>
            <a:ext cx="8195310" cy="0"/>
          </a:xfrm>
          <a:prstGeom prst="straightConnector1">
            <a:avLst/>
          </a:prstGeom>
          <a:ln w="38100" cap="flat">
            <a:solidFill>
              <a:srgbClr val="2E2A5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8" name="Google Shape;288;p22"/>
          <p:cNvSpPr>
            <a:spLocks noGrp="1"/>
          </p:cNvSpPr>
          <p:nvPr/>
        </p:nvSpPr>
        <p:spPr>
          <a:xfrm>
            <a:off x="528066" y="1110996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22"/>
          <p:cNvSpPr>
            <a:spLocks noGrp="1"/>
          </p:cNvSpPr>
          <p:nvPr/>
        </p:nvSpPr>
        <p:spPr>
          <a:xfrm>
            <a:off x="480060" y="1062990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0" name="Google Shape;290;p22"/>
          <p:cNvSpPr>
            <a:spLocks noGrp="1"/>
          </p:cNvSpPr>
          <p:nvPr/>
        </p:nvSpPr>
        <p:spPr>
          <a:xfrm>
            <a:off x="548640" y="1131570"/>
            <a:ext cx="1165860" cy="356616"/>
          </a:xfrm>
          <a:prstGeom prst="roundRect">
            <a:avLst>
              <a:gd name="adj" fmla="val 9615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22"/>
          <p:cNvSpPr>
            <a:spLocks noGrp="1"/>
          </p:cNvSpPr>
          <p:nvPr/>
        </p:nvSpPr>
        <p:spPr>
          <a:xfrm>
            <a:off x="562356" y="1131570"/>
            <a:ext cx="113842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05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Modus ponens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2" name="Google Shape;292;p22"/>
          <p:cNvSpPr>
            <a:spLocks noGrp="1"/>
          </p:cNvSpPr>
          <p:nvPr/>
        </p:nvSpPr>
        <p:spPr>
          <a:xfrm>
            <a:off x="617220" y="1549908"/>
            <a:ext cx="10972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5" name="Google Shape;295;p22"/>
          <p:cNvSpPr>
            <a:spLocks noGrp="1"/>
          </p:cNvSpPr>
          <p:nvPr/>
        </p:nvSpPr>
        <p:spPr>
          <a:xfrm>
            <a:off x="1062990" y="268833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9B6BE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22"/>
          <p:cNvSpPr>
            <a:spLocks noGrp="1"/>
          </p:cNvSpPr>
          <p:nvPr/>
        </p:nvSpPr>
        <p:spPr>
          <a:xfrm>
            <a:off x="925830" y="288036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01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7" name="Google Shape;297;p22"/>
          <p:cNvSpPr>
            <a:spLocks noGrp="1"/>
          </p:cNvSpPr>
          <p:nvPr/>
        </p:nvSpPr>
        <p:spPr>
          <a:xfrm>
            <a:off x="1501902" y="3271266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22"/>
          <p:cNvSpPr>
            <a:spLocks noGrp="1"/>
          </p:cNvSpPr>
          <p:nvPr/>
        </p:nvSpPr>
        <p:spPr>
          <a:xfrm>
            <a:off x="1453896" y="3223260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9" name="Google Shape;299;p22"/>
          <p:cNvSpPr>
            <a:spLocks noGrp="1"/>
          </p:cNvSpPr>
          <p:nvPr/>
        </p:nvSpPr>
        <p:spPr>
          <a:xfrm>
            <a:off x="1522476" y="3291840"/>
            <a:ext cx="1165860" cy="356616"/>
          </a:xfrm>
          <a:prstGeom prst="roundRect">
            <a:avLst>
              <a:gd name="adj" fmla="val 9615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0" name="Google Shape;300;p22"/>
          <p:cNvSpPr>
            <a:spLocks noGrp="1"/>
          </p:cNvSpPr>
          <p:nvPr/>
        </p:nvSpPr>
        <p:spPr>
          <a:xfrm>
            <a:off x="1536192" y="3291840"/>
            <a:ext cx="113842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05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Modus tollens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1" name="Google Shape;301;p22"/>
          <p:cNvSpPr>
            <a:spLocks noGrp="1"/>
          </p:cNvSpPr>
          <p:nvPr/>
        </p:nvSpPr>
        <p:spPr>
          <a:xfrm>
            <a:off x="1591056" y="3737610"/>
            <a:ext cx="10972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¬p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4" name="Google Shape;304;p22"/>
          <p:cNvSpPr>
            <a:spLocks noGrp="1"/>
          </p:cNvSpPr>
          <p:nvPr/>
        </p:nvSpPr>
        <p:spPr>
          <a:xfrm>
            <a:off x="2036826" y="268833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E5646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2"/>
          <p:cNvSpPr>
            <a:spLocks noGrp="1"/>
          </p:cNvSpPr>
          <p:nvPr/>
        </p:nvSpPr>
        <p:spPr>
          <a:xfrm>
            <a:off x="1899666" y="288036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02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6" name="Google Shape;306;p22"/>
          <p:cNvSpPr>
            <a:spLocks noGrp="1"/>
          </p:cNvSpPr>
          <p:nvPr/>
        </p:nvSpPr>
        <p:spPr>
          <a:xfrm>
            <a:off x="2475738" y="1110996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7" name="Google Shape;307;p22"/>
          <p:cNvSpPr>
            <a:spLocks noGrp="1"/>
          </p:cNvSpPr>
          <p:nvPr/>
        </p:nvSpPr>
        <p:spPr>
          <a:xfrm>
            <a:off x="2427732" y="1062990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8" name="Google Shape;308;p22"/>
          <p:cNvSpPr>
            <a:spLocks noGrp="1"/>
          </p:cNvSpPr>
          <p:nvPr/>
        </p:nvSpPr>
        <p:spPr>
          <a:xfrm>
            <a:off x="2496312" y="1131570"/>
            <a:ext cx="1165860" cy="356616"/>
          </a:xfrm>
          <a:prstGeom prst="roundRect">
            <a:avLst>
              <a:gd name="adj" fmla="val 9615"/>
            </a:avLst>
          </a:prstGeom>
          <a:solidFill>
            <a:srgbClr val="B8EDE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9" name="Google Shape;309;p22"/>
          <p:cNvSpPr>
            <a:spLocks noGrp="1"/>
          </p:cNvSpPr>
          <p:nvPr/>
        </p:nvSpPr>
        <p:spPr>
          <a:xfrm>
            <a:off x="2510028" y="1131570"/>
            <a:ext cx="113842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05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Hypothetical syllogism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0" name="Google Shape;310;p22"/>
          <p:cNvSpPr>
            <a:spLocks noGrp="1"/>
          </p:cNvSpPr>
          <p:nvPr/>
        </p:nvSpPr>
        <p:spPr>
          <a:xfrm>
            <a:off x="2564892" y="1577340"/>
            <a:ext cx="10972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 → r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 → r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3" name="Google Shape;313;p22"/>
          <p:cNvSpPr>
            <a:spLocks noGrp="1"/>
          </p:cNvSpPr>
          <p:nvPr/>
        </p:nvSpPr>
        <p:spPr>
          <a:xfrm>
            <a:off x="3010662" y="268833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36AEB6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4" name="Google Shape;314;p22"/>
          <p:cNvSpPr>
            <a:spLocks noGrp="1"/>
          </p:cNvSpPr>
          <p:nvPr/>
        </p:nvSpPr>
        <p:spPr>
          <a:xfrm>
            <a:off x="2873502" y="288036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03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5" name="Google Shape;315;p22"/>
          <p:cNvSpPr>
            <a:spLocks noGrp="1"/>
          </p:cNvSpPr>
          <p:nvPr/>
        </p:nvSpPr>
        <p:spPr>
          <a:xfrm>
            <a:off x="3449574" y="3271266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6" name="Google Shape;316;p22"/>
          <p:cNvSpPr>
            <a:spLocks noGrp="1"/>
          </p:cNvSpPr>
          <p:nvPr/>
        </p:nvSpPr>
        <p:spPr>
          <a:xfrm>
            <a:off x="3401568" y="3223260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22"/>
          <p:cNvSpPr>
            <a:spLocks noGrp="1"/>
          </p:cNvSpPr>
          <p:nvPr/>
        </p:nvSpPr>
        <p:spPr>
          <a:xfrm>
            <a:off x="3470148" y="3291840"/>
            <a:ext cx="1165860" cy="356616"/>
          </a:xfrm>
          <a:prstGeom prst="roundRect">
            <a:avLst>
              <a:gd name="adj" fmla="val 9615"/>
            </a:avLst>
          </a:prstGeom>
          <a:solidFill>
            <a:srgbClr val="FFE9A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22"/>
          <p:cNvSpPr>
            <a:spLocks noGrp="1"/>
          </p:cNvSpPr>
          <p:nvPr/>
        </p:nvSpPr>
        <p:spPr>
          <a:xfrm>
            <a:off x="3483864" y="3291840"/>
            <a:ext cx="113842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05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Disjunctive syllogism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9" name="Google Shape;319;p22"/>
          <p:cNvSpPr>
            <a:spLocks noGrp="1"/>
          </p:cNvSpPr>
          <p:nvPr/>
        </p:nvSpPr>
        <p:spPr>
          <a:xfrm>
            <a:off x="3538728" y="3737610"/>
            <a:ext cx="10972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∨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2" name="Google Shape;322;p22"/>
          <p:cNvSpPr>
            <a:spLocks noGrp="1"/>
          </p:cNvSpPr>
          <p:nvPr/>
        </p:nvSpPr>
        <p:spPr>
          <a:xfrm>
            <a:off x="3984498" y="268833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DDA700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22"/>
          <p:cNvSpPr>
            <a:spLocks noGrp="1"/>
          </p:cNvSpPr>
          <p:nvPr/>
        </p:nvSpPr>
        <p:spPr>
          <a:xfrm>
            <a:off x="3847338" y="288036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04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4" name="Google Shape;324;p22"/>
          <p:cNvSpPr>
            <a:spLocks noGrp="1"/>
          </p:cNvSpPr>
          <p:nvPr/>
        </p:nvSpPr>
        <p:spPr>
          <a:xfrm>
            <a:off x="4423410" y="1110996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22"/>
          <p:cNvSpPr>
            <a:spLocks noGrp="1"/>
          </p:cNvSpPr>
          <p:nvPr/>
        </p:nvSpPr>
        <p:spPr>
          <a:xfrm>
            <a:off x="4375404" y="1062990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22"/>
          <p:cNvSpPr>
            <a:spLocks noGrp="1"/>
          </p:cNvSpPr>
          <p:nvPr/>
        </p:nvSpPr>
        <p:spPr>
          <a:xfrm>
            <a:off x="4443984" y="1131570"/>
            <a:ext cx="1165860" cy="356616"/>
          </a:xfrm>
          <a:prstGeom prst="roundRect">
            <a:avLst>
              <a:gd name="adj" fmla="val 9615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7" name="Google Shape;327;p22"/>
          <p:cNvSpPr>
            <a:spLocks noGrp="1"/>
          </p:cNvSpPr>
          <p:nvPr/>
        </p:nvSpPr>
        <p:spPr>
          <a:xfrm>
            <a:off x="4457700" y="1131570"/>
            <a:ext cx="113842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05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Addition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8" name="Google Shape;328;p22"/>
          <p:cNvSpPr>
            <a:spLocks noGrp="1"/>
          </p:cNvSpPr>
          <p:nvPr/>
        </p:nvSpPr>
        <p:spPr>
          <a:xfrm>
            <a:off x="4512564" y="1577340"/>
            <a:ext cx="10972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 ∨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1" name="Google Shape;331;p22"/>
          <p:cNvSpPr>
            <a:spLocks noGrp="1"/>
          </p:cNvSpPr>
          <p:nvPr/>
        </p:nvSpPr>
        <p:spPr>
          <a:xfrm>
            <a:off x="4958334" y="268833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9B6BE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22"/>
          <p:cNvSpPr>
            <a:spLocks noGrp="1"/>
          </p:cNvSpPr>
          <p:nvPr/>
        </p:nvSpPr>
        <p:spPr>
          <a:xfrm>
            <a:off x="4821174" y="288036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05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3" name="Google Shape;333;p22"/>
          <p:cNvSpPr>
            <a:spLocks noGrp="1"/>
          </p:cNvSpPr>
          <p:nvPr/>
        </p:nvSpPr>
        <p:spPr>
          <a:xfrm>
            <a:off x="5397246" y="3271266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22"/>
          <p:cNvSpPr>
            <a:spLocks noGrp="1"/>
          </p:cNvSpPr>
          <p:nvPr/>
        </p:nvSpPr>
        <p:spPr>
          <a:xfrm>
            <a:off x="5349240" y="3223260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335;p22"/>
          <p:cNvSpPr>
            <a:spLocks noGrp="1"/>
          </p:cNvSpPr>
          <p:nvPr/>
        </p:nvSpPr>
        <p:spPr>
          <a:xfrm>
            <a:off x="5417820" y="3291840"/>
            <a:ext cx="1165860" cy="356616"/>
          </a:xfrm>
          <a:prstGeom prst="roundRect">
            <a:avLst>
              <a:gd name="adj" fmla="val 9615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6" name="Google Shape;336;p22"/>
          <p:cNvSpPr>
            <a:spLocks noGrp="1"/>
          </p:cNvSpPr>
          <p:nvPr/>
        </p:nvSpPr>
        <p:spPr>
          <a:xfrm>
            <a:off x="5431536" y="3291840"/>
            <a:ext cx="113842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05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Simplification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7" name="Google Shape;337;p22"/>
          <p:cNvSpPr>
            <a:spLocks noGrp="1"/>
          </p:cNvSpPr>
          <p:nvPr/>
        </p:nvSpPr>
        <p:spPr>
          <a:xfrm>
            <a:off x="5486400" y="3737610"/>
            <a:ext cx="10972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∧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0" name="Google Shape;340;p22"/>
          <p:cNvSpPr>
            <a:spLocks noGrp="1"/>
          </p:cNvSpPr>
          <p:nvPr/>
        </p:nvSpPr>
        <p:spPr>
          <a:xfrm>
            <a:off x="5932170" y="268833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E5646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22"/>
          <p:cNvSpPr>
            <a:spLocks noGrp="1"/>
          </p:cNvSpPr>
          <p:nvPr/>
        </p:nvSpPr>
        <p:spPr>
          <a:xfrm>
            <a:off x="5795010" y="288036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06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2" name="Google Shape;342;p22"/>
          <p:cNvSpPr>
            <a:spLocks noGrp="1"/>
          </p:cNvSpPr>
          <p:nvPr/>
        </p:nvSpPr>
        <p:spPr>
          <a:xfrm>
            <a:off x="6371082" y="1110996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3" name="Google Shape;343;p22"/>
          <p:cNvSpPr>
            <a:spLocks noGrp="1"/>
          </p:cNvSpPr>
          <p:nvPr/>
        </p:nvSpPr>
        <p:spPr>
          <a:xfrm>
            <a:off x="6323076" y="1062990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22"/>
          <p:cNvSpPr>
            <a:spLocks noGrp="1"/>
          </p:cNvSpPr>
          <p:nvPr/>
        </p:nvSpPr>
        <p:spPr>
          <a:xfrm>
            <a:off x="6391656" y="1131570"/>
            <a:ext cx="1165860" cy="356616"/>
          </a:xfrm>
          <a:prstGeom prst="roundRect">
            <a:avLst>
              <a:gd name="adj" fmla="val 9615"/>
            </a:avLst>
          </a:prstGeom>
          <a:solidFill>
            <a:srgbClr val="B8EDE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5" name="Google Shape;345;p22"/>
          <p:cNvSpPr>
            <a:spLocks noGrp="1"/>
          </p:cNvSpPr>
          <p:nvPr/>
        </p:nvSpPr>
        <p:spPr>
          <a:xfrm>
            <a:off x="6405372" y="1131570"/>
            <a:ext cx="113842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05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Conjunction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6" name="Google Shape;346;p22"/>
          <p:cNvSpPr>
            <a:spLocks noGrp="1"/>
          </p:cNvSpPr>
          <p:nvPr/>
        </p:nvSpPr>
        <p:spPr>
          <a:xfrm>
            <a:off x="6460236" y="1577340"/>
            <a:ext cx="10972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 ∧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9" name="Google Shape;349;p22"/>
          <p:cNvSpPr>
            <a:spLocks noGrp="1"/>
          </p:cNvSpPr>
          <p:nvPr/>
        </p:nvSpPr>
        <p:spPr>
          <a:xfrm>
            <a:off x="6906006" y="268833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36AEB6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0" name="Google Shape;350;p22"/>
          <p:cNvSpPr>
            <a:spLocks noGrp="1"/>
          </p:cNvSpPr>
          <p:nvPr/>
        </p:nvSpPr>
        <p:spPr>
          <a:xfrm>
            <a:off x="6768846" y="288036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07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1" name="Google Shape;351;p22"/>
          <p:cNvSpPr>
            <a:spLocks noGrp="1"/>
          </p:cNvSpPr>
          <p:nvPr/>
        </p:nvSpPr>
        <p:spPr>
          <a:xfrm>
            <a:off x="7344918" y="3271266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2" name="Google Shape;352;p22"/>
          <p:cNvSpPr>
            <a:spLocks noGrp="1"/>
          </p:cNvSpPr>
          <p:nvPr/>
        </p:nvSpPr>
        <p:spPr>
          <a:xfrm>
            <a:off x="7296912" y="3223260"/>
            <a:ext cx="1303020" cy="12001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3" name="Google Shape;353;p22"/>
          <p:cNvSpPr>
            <a:spLocks noGrp="1"/>
          </p:cNvSpPr>
          <p:nvPr/>
        </p:nvSpPr>
        <p:spPr>
          <a:xfrm>
            <a:off x="7365492" y="3291840"/>
            <a:ext cx="1165860" cy="356616"/>
          </a:xfrm>
          <a:prstGeom prst="roundRect">
            <a:avLst>
              <a:gd name="adj" fmla="val 9615"/>
            </a:avLst>
          </a:prstGeom>
          <a:solidFill>
            <a:srgbClr val="FFE9A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p22"/>
          <p:cNvSpPr>
            <a:spLocks noGrp="1"/>
          </p:cNvSpPr>
          <p:nvPr/>
        </p:nvSpPr>
        <p:spPr>
          <a:xfrm>
            <a:off x="7379208" y="3291840"/>
            <a:ext cx="113842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05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Resolution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5" name="Google Shape;355;p22"/>
          <p:cNvSpPr>
            <a:spLocks noGrp="1"/>
          </p:cNvSpPr>
          <p:nvPr/>
        </p:nvSpPr>
        <p:spPr>
          <a:xfrm>
            <a:off x="7434072" y="3737610"/>
            <a:ext cx="10972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∨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¬p ∨ r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q ∨ r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8" name="Google Shape;358;p22"/>
          <p:cNvSpPr>
            <a:spLocks noGrp="1"/>
          </p:cNvSpPr>
          <p:nvPr/>
        </p:nvSpPr>
        <p:spPr>
          <a:xfrm>
            <a:off x="7879842" y="268833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DDA700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9" name="Google Shape;359;p22"/>
          <p:cNvSpPr>
            <a:spLocks noGrp="1"/>
          </p:cNvSpPr>
          <p:nvPr/>
        </p:nvSpPr>
        <p:spPr>
          <a:xfrm>
            <a:off x="7742682" y="288036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08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800" decel="60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00" decel="60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decel="60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800" decel="60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800" decel="60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decel="60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decel="60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decel="60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decel="60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800" decel="60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8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800" decel="60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800" decel="60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800" decel="60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800" decel="60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decel="60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decel="60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decel="60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decel="60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800" decel="600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800" decel="60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8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800" decel="60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800" decel="60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8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800" decel="60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decel="60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decel="60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decel="60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decel="60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8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800" decel="60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8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800" decel="60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8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800" decel="600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8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800" decel="60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8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800" decel="60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decel="60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decel="60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decel="600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decel="600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8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800" decel="60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8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800" decel="600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8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800" decel="60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8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800" decel="60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8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800" decel="60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decel="600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decel="600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decel="60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decel="60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6000"/>
                            </p:stCondLst>
                            <p:childTnLst>
                              <p:par>
                                <p:cTn id="1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8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800" decel="60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8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800" decel="60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8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800" decel="60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8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800" decel="600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8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800" decel="600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decel="60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decel="60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decel="60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decel="60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7000"/>
                            </p:stCondLst>
                            <p:childTnLst>
                              <p:par>
                                <p:cTn id="1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8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800" decel="60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8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2" dur="800" decel="60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8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6" dur="800" decel="60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8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800" decel="600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8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800" decel="60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decel="60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decel="60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decel="600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decel="600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8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9" dur="800" decel="600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8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3" dur="800" decel="60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8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7" dur="800" decel="600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8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1" dur="800" decel="60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8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5" dur="800" decel="600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decel="600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decel="600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decel="600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decel="600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" grpId="0" animBg="1"/>
      <p:bldP spid="289" grpId="0" animBg="1"/>
      <p:bldP spid="290" grpId="0" animBg="1"/>
      <p:bldP spid="291" grpId="0" animBg="1"/>
      <p:bldP spid="292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8" grpId="0" animBg="1"/>
      <p:bldP spid="3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Rule 1: Modus ponens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FORM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 → q, p ∴ q</a:t>
            </a: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        TAUTOLOGY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(p ∧ (p → q)) → q</a:t>
            </a:r>
            <a:endParaRPr lang="en-US" sz="125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Rule symbol"/>
          <p:cNvSpPr/>
          <p:nvPr/>
        </p:nvSpPr>
        <p:spPr>
          <a:xfrm>
            <a:off x="8001000" y="274320"/>
            <a:ext cx="566928" cy="566928"/>
          </a:xfrm>
          <a:prstGeom prst="ellipse">
            <a:avLst/>
          </a:prstGeom>
          <a:solidFill>
            <a:srgbClr val="E9E0FF"/>
          </a:solidFill>
          <a:ln w="15875">
            <a:solidFill>
              <a:srgbClr val="2E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→</a:t>
            </a:r>
            <a:endParaRPr lang="en-US" sz="200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8/28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ule tracker 1"/>
          <p:cNvSpPr/>
          <p:nvPr/>
        </p:nvSpPr>
        <p:spPr>
          <a:xfrm>
            <a:off x="48006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FF7145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ule tracker 2"/>
          <p:cNvSpPr/>
          <p:nvPr/>
        </p:nvSpPr>
        <p:spPr>
          <a:xfrm>
            <a:off x="970178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tracker 3"/>
          <p:cNvSpPr/>
          <p:nvPr/>
        </p:nvSpPr>
        <p:spPr>
          <a:xfrm>
            <a:off x="1460297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tracker 4"/>
          <p:cNvSpPr/>
          <p:nvPr/>
        </p:nvSpPr>
        <p:spPr>
          <a:xfrm>
            <a:off x="1950415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Rule tracker 5"/>
          <p:cNvSpPr/>
          <p:nvPr/>
        </p:nvSpPr>
        <p:spPr>
          <a:xfrm>
            <a:off x="2440534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tracker 6"/>
          <p:cNvSpPr/>
          <p:nvPr/>
        </p:nvSpPr>
        <p:spPr>
          <a:xfrm>
            <a:off x="2930652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tracker 7"/>
          <p:cNvSpPr/>
          <p:nvPr/>
        </p:nvSpPr>
        <p:spPr>
          <a:xfrm>
            <a:off x="342077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Rule tracker 8"/>
          <p:cNvSpPr/>
          <p:nvPr/>
        </p:nvSpPr>
        <p:spPr>
          <a:xfrm>
            <a:off x="3910889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Let card"/>
          <p:cNvSpPr/>
          <p:nvPr/>
        </p:nvSpPr>
        <p:spPr>
          <a:xfrm>
            <a:off x="475488" y="1280160"/>
            <a:ext cx="3291840" cy="932688"/>
          </a:xfrm>
          <a:prstGeom prst="roundRect">
            <a:avLst>
              <a:gd name="adj" fmla="val 7000"/>
            </a:avLst>
          </a:prstGeom>
          <a:solidFill>
            <a:srgbClr val="F3F0FF"/>
          </a:solidFill>
          <a:ln w="12700">
            <a:solidFill>
              <a:srgbClr val="DAD4F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9B6BE8"/>
                </a:solidFill>
                <a:latin typeface="Calibri" panose="020F0502020204030204"/>
                <a:cs typeface="Calibri" panose="020F0502020204030204"/>
              </a:rPr>
              <a:t>LET</a:t>
            </a:r>
            <a:endParaRPr lang="en-US" sz="950" b="1" i="0" dirty="0">
              <a:solidFill>
                <a:srgbClr val="9B6BE8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p: It is snowing today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q: We will go skiing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Question card"/>
          <p:cNvSpPr/>
          <p:nvPr/>
        </p:nvSpPr>
        <p:spPr>
          <a:xfrm>
            <a:off x="475488" y="2350008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FFF1EA"/>
          </a:solidFill>
          <a:ln w="12700">
            <a:solidFill>
              <a:srgbClr val="FFD9C9"/>
            </a:solidFill>
          </a:ln>
        </p:spPr>
        <p:txBody>
          <a:bodyPr wrap="square" lIns="137160" tIns="91440" rIns="109728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50" b="1" i="0" dirty="0">
                <a:solidFill>
                  <a:srgbClr val="FF7145"/>
                </a:solidFill>
                <a:latin typeface="Calibri" panose="020F0502020204030204"/>
                <a:cs typeface="Calibri" panose="020F0502020204030204"/>
              </a:rPr>
              <a:t>QUESTION</a:t>
            </a:r>
            <a:endParaRPr lang="en-US" sz="950" b="1" i="0" dirty="0">
              <a:solidFill>
                <a:srgbClr val="FF7145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If it snows today, then we will go skiing. It is snowing today. What can we conclude?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Plain words card"/>
          <p:cNvSpPr/>
          <p:nvPr/>
        </p:nvSpPr>
        <p:spPr>
          <a:xfrm>
            <a:off x="475488" y="3657600"/>
            <a:ext cx="32918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wrap="square" lIns="137160" tIns="82296" rIns="109728" bIns="36576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IN PLAIN WORDS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rPr>
              <a:t>If a conditional is true and its hypothesis is true, its conclusion must be true.</a:t>
            </a:r>
            <a:endParaRPr lang="en-US" sz="1100" b="0" i="0" dirty="0">
              <a:solidFill>
                <a:srgbClr val="4C4563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Illustration panel"/>
          <p:cNvSpPr/>
          <p:nvPr/>
        </p:nvSpPr>
        <p:spPr>
          <a:xfrm>
            <a:off x="4023360" y="1280160"/>
            <a:ext cx="4645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Panel label"/>
          <p:cNvSpPr txBox="1"/>
          <p:nvPr/>
        </p:nvSpPr>
        <p:spPr>
          <a:xfrm>
            <a:off x="4251960" y="14081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HOW IT WORKS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Premise 1"/>
          <p:cNvGrpSpPr/>
          <p:nvPr/>
        </p:nvGrpSpPr>
        <p:grpSpPr>
          <a:xfrm>
            <a:off x="4224528" y="1714500"/>
            <a:ext cx="4242816" cy="694944"/>
            <a:chOff x="4224528" y="1714500"/>
            <a:chExt cx="4242816" cy="694944"/>
          </a:xfrm>
        </p:grpSpPr>
        <p:sp>
          <p:nvSpPr>
            <p:cNvPr id="19" name="Premise 1 box"/>
            <p:cNvSpPr/>
            <p:nvPr/>
          </p:nvSpPr>
          <p:spPr>
            <a:xfrm>
              <a:off x="4224528" y="1714500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3F0FF"/>
            </a:solidFill>
            <a:ln w="15875">
              <a:solidFill>
                <a:srgbClr val="9B6BE8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remise 1 badge"/>
            <p:cNvSpPr/>
            <p:nvPr/>
          </p:nvSpPr>
          <p:spPr>
            <a:xfrm>
              <a:off x="4370832" y="1897380"/>
              <a:ext cx="329184" cy="329184"/>
            </a:xfrm>
            <a:prstGeom prst="ellipse">
              <a:avLst/>
            </a:prstGeom>
            <a:solidFill>
              <a:srgbClr val="9B6BE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1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Premise 1 formula"/>
            <p:cNvSpPr txBox="1"/>
            <p:nvPr/>
          </p:nvSpPr>
          <p:spPr>
            <a:xfrm>
              <a:off x="4818888" y="1714500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 → q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2" name="Premise 1 meaning"/>
            <p:cNvSpPr txBox="1"/>
            <p:nvPr/>
          </p:nvSpPr>
          <p:spPr>
            <a:xfrm>
              <a:off x="6281928" y="1714500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If it snows today, then we will go skiing.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9" name="Premise 2"/>
          <p:cNvGrpSpPr/>
          <p:nvPr/>
        </p:nvGrpSpPr>
        <p:grpSpPr>
          <a:xfrm>
            <a:off x="4224528" y="2455164"/>
            <a:ext cx="4242816" cy="923544"/>
            <a:chOff x="4224528" y="2455164"/>
            <a:chExt cx="4242816" cy="923544"/>
          </a:xfrm>
        </p:grpSpPr>
        <p:sp>
          <p:nvSpPr>
            <p:cNvPr id="24" name="Arrow"/>
            <p:cNvSpPr/>
            <p:nvPr/>
          </p:nvSpPr>
          <p:spPr>
            <a:xfrm>
              <a:off x="6245352" y="2455164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9B6BE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Premise 2 box"/>
            <p:cNvSpPr/>
            <p:nvPr/>
          </p:nvSpPr>
          <p:spPr>
            <a:xfrm>
              <a:off x="4224528" y="2683764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3F0FF"/>
            </a:solidFill>
            <a:ln w="15875">
              <a:solidFill>
                <a:srgbClr val="9B6BE8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Premise 2 badge"/>
            <p:cNvSpPr/>
            <p:nvPr/>
          </p:nvSpPr>
          <p:spPr>
            <a:xfrm>
              <a:off x="4370832" y="2866644"/>
              <a:ext cx="329184" cy="329184"/>
            </a:xfrm>
            <a:prstGeom prst="ellipse">
              <a:avLst/>
            </a:prstGeom>
            <a:solidFill>
              <a:srgbClr val="9B6BE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2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7" name="Premise 2 formula"/>
            <p:cNvSpPr txBox="1"/>
            <p:nvPr/>
          </p:nvSpPr>
          <p:spPr>
            <a:xfrm>
              <a:off x="4818888" y="2683764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8" name="Premise 2 meaning"/>
            <p:cNvSpPr txBox="1"/>
            <p:nvPr/>
          </p:nvSpPr>
          <p:spPr>
            <a:xfrm>
              <a:off x="6281928" y="2683764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It is snowing today.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Answer"/>
          <p:cNvGrpSpPr/>
          <p:nvPr/>
        </p:nvGrpSpPr>
        <p:grpSpPr>
          <a:xfrm>
            <a:off x="4224528" y="3424428"/>
            <a:ext cx="4242816" cy="923544"/>
            <a:chOff x="4224528" y="3424428"/>
            <a:chExt cx="4242816" cy="923544"/>
          </a:xfrm>
        </p:grpSpPr>
        <p:sp>
          <p:nvSpPr>
            <p:cNvPr id="30" name="Arrow"/>
            <p:cNvSpPr/>
            <p:nvPr/>
          </p:nvSpPr>
          <p:spPr>
            <a:xfrm>
              <a:off x="6245352" y="3424428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Answer box"/>
            <p:cNvSpPr/>
            <p:nvPr/>
          </p:nvSpPr>
          <p:spPr>
            <a:xfrm>
              <a:off x="4224528" y="3653028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Answer formula"/>
            <p:cNvSpPr txBox="1"/>
            <p:nvPr/>
          </p:nvSpPr>
          <p:spPr>
            <a:xfrm>
              <a:off x="4453128" y="3653028"/>
              <a:ext cx="178308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dirty="0">
                  <a:solidFill>
                    <a:srgbClr val="FFFFFF"/>
                  </a:solidFill>
                  <a:latin typeface="Cambria Math" panose="02040503050406030204"/>
                  <a:cs typeface="Cambria Math" panose="02040503050406030204"/>
                </a:rPr>
                <a:t>∴ q</a:t>
              </a:r>
              <a:endParaRPr lang="en-US" sz="2200" b="0" i="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3" name="Answer text"/>
            <p:cNvSpPr txBox="1"/>
            <p:nvPr/>
          </p:nvSpPr>
          <p:spPr>
            <a:xfrm>
              <a:off x="6281928" y="3653028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None/>
              </a:pPr>
              <a:r>
                <a:rPr lang="en-US" sz="900" b="1" i="0" dirty="0">
                  <a:solidFill>
                    <a:srgbClr val="FFE3D8"/>
                  </a:solidFill>
                  <a:latin typeface="Calibri" panose="020F0502020204030204"/>
                  <a:cs typeface="Calibri" panose="020F0502020204030204"/>
                </a:rPr>
                <a:t>ANSWER</a:t>
              </a:r>
              <a:endParaRPr lang="en-US" sz="900" b="1" i="0" dirty="0">
                <a:solidFill>
                  <a:srgbClr val="FFE3D8"/>
                </a:solidFill>
                <a:latin typeface="Calibri" panose="020F0502020204030204"/>
                <a:cs typeface="Calibri" panose="020F0502020204030204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We will go skiing.</a:t>
              </a:r>
              <a:endParaRPr lang="en-US" sz="125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Rule 2: Modus tollens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FORM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 → q, ¬q ∴ ¬p</a:t>
            </a: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        TAUTOLOGY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(¬q ∧ (p → q)) → ¬p</a:t>
            </a:r>
            <a:endParaRPr lang="en-US" sz="125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Rule symbol"/>
          <p:cNvSpPr/>
          <p:nvPr/>
        </p:nvSpPr>
        <p:spPr>
          <a:xfrm>
            <a:off x="8001000" y="274320"/>
            <a:ext cx="566928" cy="566928"/>
          </a:xfrm>
          <a:prstGeom prst="ellipse">
            <a:avLst/>
          </a:prstGeom>
          <a:solidFill>
            <a:srgbClr val="FFC9CD"/>
          </a:solidFill>
          <a:ln w="15875">
            <a:solidFill>
              <a:srgbClr val="2E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¬</a:t>
            </a:r>
            <a:endParaRPr lang="en-US" sz="200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9/28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ule tracker 1"/>
          <p:cNvSpPr/>
          <p:nvPr/>
        </p:nvSpPr>
        <p:spPr>
          <a:xfrm>
            <a:off x="48006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ule tracker 2"/>
          <p:cNvSpPr/>
          <p:nvPr/>
        </p:nvSpPr>
        <p:spPr>
          <a:xfrm>
            <a:off x="970178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FF7145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tracker 3"/>
          <p:cNvSpPr/>
          <p:nvPr/>
        </p:nvSpPr>
        <p:spPr>
          <a:xfrm>
            <a:off x="1460297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tracker 4"/>
          <p:cNvSpPr/>
          <p:nvPr/>
        </p:nvSpPr>
        <p:spPr>
          <a:xfrm>
            <a:off x="1950415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Rule tracker 5"/>
          <p:cNvSpPr/>
          <p:nvPr/>
        </p:nvSpPr>
        <p:spPr>
          <a:xfrm>
            <a:off x="2440534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tracker 6"/>
          <p:cNvSpPr/>
          <p:nvPr/>
        </p:nvSpPr>
        <p:spPr>
          <a:xfrm>
            <a:off x="2930652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tracker 7"/>
          <p:cNvSpPr/>
          <p:nvPr/>
        </p:nvSpPr>
        <p:spPr>
          <a:xfrm>
            <a:off x="342077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Rule tracker 8"/>
          <p:cNvSpPr/>
          <p:nvPr/>
        </p:nvSpPr>
        <p:spPr>
          <a:xfrm>
            <a:off x="3910889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Let card"/>
          <p:cNvSpPr/>
          <p:nvPr/>
        </p:nvSpPr>
        <p:spPr>
          <a:xfrm>
            <a:off x="475488" y="1280160"/>
            <a:ext cx="3291840" cy="932688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 w="12700">
            <a:solidFill>
              <a:srgbClr val="DAD4F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E5646F"/>
                </a:solidFill>
                <a:latin typeface="Calibri" panose="020F0502020204030204"/>
                <a:cs typeface="Calibri" panose="020F0502020204030204"/>
              </a:rPr>
              <a:t>LET</a:t>
            </a:r>
            <a:endParaRPr lang="en-US" sz="950" b="1" i="0" dirty="0">
              <a:solidFill>
                <a:srgbClr val="E5646F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p: It rains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q: The ground is wet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Question card"/>
          <p:cNvSpPr/>
          <p:nvPr/>
        </p:nvSpPr>
        <p:spPr>
          <a:xfrm>
            <a:off x="475488" y="2350008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FFF1EA"/>
          </a:solidFill>
          <a:ln w="12700">
            <a:solidFill>
              <a:srgbClr val="FFD9C9"/>
            </a:solidFill>
          </a:ln>
        </p:spPr>
        <p:txBody>
          <a:bodyPr wrap="square" lIns="137160" tIns="91440" rIns="109728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50" b="1" i="0" dirty="0">
                <a:solidFill>
                  <a:srgbClr val="FF7145"/>
                </a:solidFill>
                <a:latin typeface="Calibri" panose="020F0502020204030204"/>
                <a:cs typeface="Calibri" panose="020F0502020204030204"/>
              </a:rPr>
              <a:t>QUESTION</a:t>
            </a:r>
            <a:endParaRPr lang="en-US" sz="950" b="1" i="0" dirty="0">
              <a:solidFill>
                <a:srgbClr val="FF7145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If it rains, then the ground is wet. The ground is not wet. What can we conclude?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Plain words card"/>
          <p:cNvSpPr/>
          <p:nvPr/>
        </p:nvSpPr>
        <p:spPr>
          <a:xfrm>
            <a:off x="475488" y="3657600"/>
            <a:ext cx="32918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wrap="square" lIns="137160" tIns="82296" rIns="109728" bIns="36576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IN PLAIN WORDS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rPr>
              <a:t>If a conditional is true and its conclusion is false, its hypothesis must be false.</a:t>
            </a:r>
            <a:endParaRPr lang="en-US" sz="1100" b="0" i="0" dirty="0">
              <a:solidFill>
                <a:srgbClr val="4C4563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Illustration panel"/>
          <p:cNvSpPr/>
          <p:nvPr/>
        </p:nvSpPr>
        <p:spPr>
          <a:xfrm>
            <a:off x="4023360" y="1280160"/>
            <a:ext cx="4645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Panel label"/>
          <p:cNvSpPr txBox="1"/>
          <p:nvPr/>
        </p:nvSpPr>
        <p:spPr>
          <a:xfrm>
            <a:off x="4251960" y="14081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HOW IT WORKS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Premise 1"/>
          <p:cNvGrpSpPr/>
          <p:nvPr/>
        </p:nvGrpSpPr>
        <p:grpSpPr>
          <a:xfrm>
            <a:off x="4224528" y="1714500"/>
            <a:ext cx="4242816" cy="694944"/>
            <a:chOff x="4224528" y="1714500"/>
            <a:chExt cx="4242816" cy="694944"/>
          </a:xfrm>
        </p:grpSpPr>
        <p:sp>
          <p:nvSpPr>
            <p:cNvPr id="19" name="Premise 1 box"/>
            <p:cNvSpPr/>
            <p:nvPr/>
          </p:nvSpPr>
          <p:spPr>
            <a:xfrm>
              <a:off x="4224528" y="1714500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F1F2"/>
            </a:solidFill>
            <a:ln w="15875">
              <a:solidFill>
                <a:srgbClr val="E5646F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remise 1 badge"/>
            <p:cNvSpPr/>
            <p:nvPr/>
          </p:nvSpPr>
          <p:spPr>
            <a:xfrm>
              <a:off x="4370832" y="1897380"/>
              <a:ext cx="329184" cy="329184"/>
            </a:xfrm>
            <a:prstGeom prst="ellipse">
              <a:avLst/>
            </a:prstGeom>
            <a:solidFill>
              <a:srgbClr val="E5646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1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Premise 1 formula"/>
            <p:cNvSpPr txBox="1"/>
            <p:nvPr/>
          </p:nvSpPr>
          <p:spPr>
            <a:xfrm>
              <a:off x="4818888" y="1714500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 → q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2" name="Premise 1 meaning"/>
            <p:cNvSpPr txBox="1"/>
            <p:nvPr/>
          </p:nvSpPr>
          <p:spPr>
            <a:xfrm>
              <a:off x="6281928" y="1714500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If it rains, then the ground is wet.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9" name="Premise 2"/>
          <p:cNvGrpSpPr/>
          <p:nvPr/>
        </p:nvGrpSpPr>
        <p:grpSpPr>
          <a:xfrm>
            <a:off x="4224528" y="2455164"/>
            <a:ext cx="4242816" cy="923544"/>
            <a:chOff x="4224528" y="2455164"/>
            <a:chExt cx="4242816" cy="923544"/>
          </a:xfrm>
        </p:grpSpPr>
        <p:sp>
          <p:nvSpPr>
            <p:cNvPr id="24" name="Arrow"/>
            <p:cNvSpPr/>
            <p:nvPr/>
          </p:nvSpPr>
          <p:spPr>
            <a:xfrm>
              <a:off x="6245352" y="2455164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E5646F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Premise 2 box"/>
            <p:cNvSpPr/>
            <p:nvPr/>
          </p:nvSpPr>
          <p:spPr>
            <a:xfrm>
              <a:off x="4224528" y="2683764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F1F2"/>
            </a:solidFill>
            <a:ln w="15875">
              <a:solidFill>
                <a:srgbClr val="E5646F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Premise 2 badge"/>
            <p:cNvSpPr/>
            <p:nvPr/>
          </p:nvSpPr>
          <p:spPr>
            <a:xfrm>
              <a:off x="4370832" y="2866644"/>
              <a:ext cx="329184" cy="329184"/>
            </a:xfrm>
            <a:prstGeom prst="ellipse">
              <a:avLst/>
            </a:prstGeom>
            <a:solidFill>
              <a:srgbClr val="E5646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2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7" name="Premise 2 formula"/>
            <p:cNvSpPr txBox="1"/>
            <p:nvPr/>
          </p:nvSpPr>
          <p:spPr>
            <a:xfrm>
              <a:off x="4818888" y="2683764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¬q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8" name="Premise 2 meaning"/>
            <p:cNvSpPr txBox="1"/>
            <p:nvPr/>
          </p:nvSpPr>
          <p:spPr>
            <a:xfrm>
              <a:off x="6281928" y="2683764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The ground is not wet.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Answer"/>
          <p:cNvGrpSpPr/>
          <p:nvPr/>
        </p:nvGrpSpPr>
        <p:grpSpPr>
          <a:xfrm>
            <a:off x="4224528" y="3424428"/>
            <a:ext cx="4242816" cy="923544"/>
            <a:chOff x="4224528" y="3424428"/>
            <a:chExt cx="4242816" cy="923544"/>
          </a:xfrm>
        </p:grpSpPr>
        <p:sp>
          <p:nvSpPr>
            <p:cNvPr id="30" name="Arrow"/>
            <p:cNvSpPr/>
            <p:nvPr/>
          </p:nvSpPr>
          <p:spPr>
            <a:xfrm>
              <a:off x="6245352" y="3424428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Answer box"/>
            <p:cNvSpPr/>
            <p:nvPr/>
          </p:nvSpPr>
          <p:spPr>
            <a:xfrm>
              <a:off x="4224528" y="3653028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Answer formula"/>
            <p:cNvSpPr txBox="1"/>
            <p:nvPr/>
          </p:nvSpPr>
          <p:spPr>
            <a:xfrm>
              <a:off x="4453128" y="3653028"/>
              <a:ext cx="178308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dirty="0">
                  <a:solidFill>
                    <a:srgbClr val="FFFFFF"/>
                  </a:solidFill>
                  <a:latin typeface="Cambria Math" panose="02040503050406030204"/>
                  <a:cs typeface="Cambria Math" panose="02040503050406030204"/>
                </a:rPr>
                <a:t>∴ ¬p</a:t>
              </a:r>
              <a:endParaRPr lang="en-US" sz="2200" b="0" i="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3" name="Answer text"/>
            <p:cNvSpPr txBox="1"/>
            <p:nvPr/>
          </p:nvSpPr>
          <p:spPr>
            <a:xfrm>
              <a:off x="6281928" y="3653028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None/>
              </a:pPr>
              <a:r>
                <a:rPr lang="en-US" sz="900" b="1" i="0" dirty="0">
                  <a:solidFill>
                    <a:srgbClr val="FFE3D8"/>
                  </a:solidFill>
                  <a:latin typeface="Calibri" panose="020F0502020204030204"/>
                  <a:cs typeface="Calibri" panose="020F0502020204030204"/>
                </a:rPr>
                <a:t>ANSWER</a:t>
              </a:r>
              <a:endParaRPr lang="en-US" sz="900" b="1" i="0" dirty="0">
                <a:solidFill>
                  <a:srgbClr val="FFE3D8"/>
                </a:solidFill>
                <a:latin typeface="Calibri" panose="020F0502020204030204"/>
                <a:cs typeface="Calibri" panose="020F0502020204030204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It did not rain.</a:t>
              </a:r>
              <a:endParaRPr lang="en-US" sz="125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Rule 3: Hypothetical syllogism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FORM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 → q, q → r ∴ p → r</a:t>
            </a: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        TAUTOLOGY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((p → q) ∧ (q → r)) → (p → r)</a:t>
            </a:r>
            <a:endParaRPr lang="en-US" sz="125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Rule symbol"/>
          <p:cNvSpPr/>
          <p:nvPr/>
        </p:nvSpPr>
        <p:spPr>
          <a:xfrm>
            <a:off x="8001000" y="274320"/>
            <a:ext cx="566928" cy="566928"/>
          </a:xfrm>
          <a:prstGeom prst="ellipse">
            <a:avLst/>
          </a:prstGeom>
          <a:solidFill>
            <a:srgbClr val="B8EDEF"/>
          </a:solidFill>
          <a:ln w="15875">
            <a:solidFill>
              <a:srgbClr val="2E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⇒</a:t>
            </a:r>
            <a:endParaRPr lang="en-US" sz="200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10/28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ule tracker 1"/>
          <p:cNvSpPr/>
          <p:nvPr/>
        </p:nvSpPr>
        <p:spPr>
          <a:xfrm>
            <a:off x="48006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ule tracker 2"/>
          <p:cNvSpPr/>
          <p:nvPr/>
        </p:nvSpPr>
        <p:spPr>
          <a:xfrm>
            <a:off x="970178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tracker 3"/>
          <p:cNvSpPr/>
          <p:nvPr/>
        </p:nvSpPr>
        <p:spPr>
          <a:xfrm>
            <a:off x="1460297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FF7145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tracker 4"/>
          <p:cNvSpPr/>
          <p:nvPr/>
        </p:nvSpPr>
        <p:spPr>
          <a:xfrm>
            <a:off x="1950415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Rule tracker 5"/>
          <p:cNvSpPr/>
          <p:nvPr/>
        </p:nvSpPr>
        <p:spPr>
          <a:xfrm>
            <a:off x="2440534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tracker 6"/>
          <p:cNvSpPr/>
          <p:nvPr/>
        </p:nvSpPr>
        <p:spPr>
          <a:xfrm>
            <a:off x="2930652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tracker 7"/>
          <p:cNvSpPr/>
          <p:nvPr/>
        </p:nvSpPr>
        <p:spPr>
          <a:xfrm>
            <a:off x="342077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Rule tracker 8"/>
          <p:cNvSpPr/>
          <p:nvPr/>
        </p:nvSpPr>
        <p:spPr>
          <a:xfrm>
            <a:off x="3910889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Let card"/>
          <p:cNvSpPr/>
          <p:nvPr/>
        </p:nvSpPr>
        <p:spPr>
          <a:xfrm>
            <a:off x="475488" y="1280160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E4F6F7"/>
          </a:solidFill>
          <a:ln w="12700">
            <a:solidFill>
              <a:srgbClr val="DAD4F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2AA9B0"/>
                </a:solidFill>
                <a:latin typeface="Calibri" panose="020F0502020204030204"/>
                <a:cs typeface="Calibri" panose="020F0502020204030204"/>
              </a:rPr>
              <a:t>LET</a:t>
            </a:r>
            <a:endParaRPr lang="en-US" sz="950" b="1" i="0" dirty="0">
              <a:solidFill>
                <a:srgbClr val="2AA9B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p: It rains today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q: We will not have a barbecue today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r: We will have a barbecue tomorrow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Question card"/>
          <p:cNvSpPr/>
          <p:nvPr/>
        </p:nvSpPr>
        <p:spPr>
          <a:xfrm>
            <a:off x="475488" y="2587752"/>
            <a:ext cx="3291840" cy="932688"/>
          </a:xfrm>
          <a:prstGeom prst="roundRect">
            <a:avLst>
              <a:gd name="adj" fmla="val 7000"/>
            </a:avLst>
          </a:prstGeom>
          <a:solidFill>
            <a:srgbClr val="FFF1EA"/>
          </a:solidFill>
          <a:ln w="12700">
            <a:solidFill>
              <a:srgbClr val="FFD9C9"/>
            </a:solidFill>
          </a:ln>
        </p:spPr>
        <p:txBody>
          <a:bodyPr wrap="square" lIns="137160" tIns="91440" rIns="109728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50" b="1" i="0" dirty="0">
                <a:solidFill>
                  <a:srgbClr val="FF7145"/>
                </a:solidFill>
                <a:latin typeface="Calibri" panose="020F0502020204030204"/>
                <a:cs typeface="Calibri" panose="020F0502020204030204"/>
              </a:rPr>
              <a:t>QUESTION</a:t>
            </a:r>
            <a:endParaRPr lang="en-US" sz="950" b="1" i="0" dirty="0">
              <a:solidFill>
                <a:srgbClr val="FF7145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If it rains today, we will not have a barbecue today. If we do not have a barbecue today, we will have one tomorrow. What follows?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Plain words card"/>
          <p:cNvSpPr/>
          <p:nvPr/>
        </p:nvSpPr>
        <p:spPr>
          <a:xfrm>
            <a:off x="475488" y="3657600"/>
            <a:ext cx="32918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wrap="square" lIns="137160" tIns="82296" rIns="109728" bIns="36576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IN PLAIN WORDS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rPr>
              <a:t>Conditionals chain together: if p leads to q and q leads to r, then p leads to r.</a:t>
            </a:r>
            <a:endParaRPr lang="en-US" sz="1100" b="0" i="0" dirty="0">
              <a:solidFill>
                <a:srgbClr val="4C4563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Illustration panel"/>
          <p:cNvSpPr/>
          <p:nvPr/>
        </p:nvSpPr>
        <p:spPr>
          <a:xfrm>
            <a:off x="4023360" y="1280160"/>
            <a:ext cx="4645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Panel label"/>
          <p:cNvSpPr txBox="1"/>
          <p:nvPr/>
        </p:nvSpPr>
        <p:spPr>
          <a:xfrm>
            <a:off x="4251960" y="14081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HOW IT WORKS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Premise 1"/>
          <p:cNvGrpSpPr/>
          <p:nvPr/>
        </p:nvGrpSpPr>
        <p:grpSpPr>
          <a:xfrm>
            <a:off x="4224528" y="1714500"/>
            <a:ext cx="4242816" cy="694944"/>
            <a:chOff x="4224528" y="1714500"/>
            <a:chExt cx="4242816" cy="694944"/>
          </a:xfrm>
        </p:grpSpPr>
        <p:sp>
          <p:nvSpPr>
            <p:cNvPr id="19" name="Premise 1 box"/>
            <p:cNvSpPr/>
            <p:nvPr/>
          </p:nvSpPr>
          <p:spPr>
            <a:xfrm>
              <a:off x="4224528" y="1714500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E4F6F7"/>
            </a:solidFill>
            <a:ln w="15875">
              <a:solidFill>
                <a:srgbClr val="2AA9B0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remise 1 badge"/>
            <p:cNvSpPr/>
            <p:nvPr/>
          </p:nvSpPr>
          <p:spPr>
            <a:xfrm>
              <a:off x="4370832" y="1897380"/>
              <a:ext cx="329184" cy="329184"/>
            </a:xfrm>
            <a:prstGeom prst="ellipse">
              <a:avLst/>
            </a:prstGeom>
            <a:solidFill>
              <a:srgbClr val="2AA9B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1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Premise 1 formula"/>
            <p:cNvSpPr txBox="1"/>
            <p:nvPr/>
          </p:nvSpPr>
          <p:spPr>
            <a:xfrm>
              <a:off x="4818888" y="1714500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 → q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2" name="Premise 1 meaning"/>
            <p:cNvSpPr txBox="1"/>
            <p:nvPr/>
          </p:nvSpPr>
          <p:spPr>
            <a:xfrm>
              <a:off x="6281928" y="1714500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If it rains today, we will not have a barbecue today.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9" name="Premise 2"/>
          <p:cNvGrpSpPr/>
          <p:nvPr/>
        </p:nvGrpSpPr>
        <p:grpSpPr>
          <a:xfrm>
            <a:off x="4224528" y="2455164"/>
            <a:ext cx="4242816" cy="923544"/>
            <a:chOff x="4224528" y="2455164"/>
            <a:chExt cx="4242816" cy="923544"/>
          </a:xfrm>
        </p:grpSpPr>
        <p:sp>
          <p:nvSpPr>
            <p:cNvPr id="24" name="Arrow"/>
            <p:cNvSpPr/>
            <p:nvPr/>
          </p:nvSpPr>
          <p:spPr>
            <a:xfrm>
              <a:off x="6245352" y="2455164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2AA9B0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Premise 2 box"/>
            <p:cNvSpPr/>
            <p:nvPr/>
          </p:nvSpPr>
          <p:spPr>
            <a:xfrm>
              <a:off x="4224528" y="2683764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E4F6F7"/>
            </a:solidFill>
            <a:ln w="15875">
              <a:solidFill>
                <a:srgbClr val="2AA9B0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Premise 2 badge"/>
            <p:cNvSpPr/>
            <p:nvPr/>
          </p:nvSpPr>
          <p:spPr>
            <a:xfrm>
              <a:off x="4370832" y="2866644"/>
              <a:ext cx="329184" cy="329184"/>
            </a:xfrm>
            <a:prstGeom prst="ellipse">
              <a:avLst/>
            </a:prstGeom>
            <a:solidFill>
              <a:srgbClr val="2AA9B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2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7" name="Premise 2 formula"/>
            <p:cNvSpPr txBox="1"/>
            <p:nvPr/>
          </p:nvSpPr>
          <p:spPr>
            <a:xfrm>
              <a:off x="4818888" y="2683764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q → r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8" name="Premise 2 meaning"/>
            <p:cNvSpPr txBox="1"/>
            <p:nvPr/>
          </p:nvSpPr>
          <p:spPr>
            <a:xfrm>
              <a:off x="6281928" y="2683764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If we do not have a barbecue today, we will have one tomorrow.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Answer"/>
          <p:cNvGrpSpPr/>
          <p:nvPr/>
        </p:nvGrpSpPr>
        <p:grpSpPr>
          <a:xfrm>
            <a:off x="4224528" y="3424428"/>
            <a:ext cx="4242816" cy="923544"/>
            <a:chOff x="4224528" y="3424428"/>
            <a:chExt cx="4242816" cy="923544"/>
          </a:xfrm>
        </p:grpSpPr>
        <p:sp>
          <p:nvSpPr>
            <p:cNvPr id="30" name="Arrow"/>
            <p:cNvSpPr/>
            <p:nvPr/>
          </p:nvSpPr>
          <p:spPr>
            <a:xfrm>
              <a:off x="6245352" y="3424428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Answer box"/>
            <p:cNvSpPr/>
            <p:nvPr/>
          </p:nvSpPr>
          <p:spPr>
            <a:xfrm>
              <a:off x="4224528" y="3653028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Answer formula"/>
            <p:cNvSpPr txBox="1"/>
            <p:nvPr/>
          </p:nvSpPr>
          <p:spPr>
            <a:xfrm>
              <a:off x="4453128" y="3653028"/>
              <a:ext cx="178308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dirty="0">
                  <a:solidFill>
                    <a:srgbClr val="FFFFFF"/>
                  </a:solidFill>
                  <a:latin typeface="Cambria Math" panose="02040503050406030204"/>
                  <a:cs typeface="Cambria Math" panose="02040503050406030204"/>
                </a:rPr>
                <a:t>∴ p → r</a:t>
              </a:r>
              <a:endParaRPr lang="en-US" sz="2200" b="0" i="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3" name="Answer text"/>
            <p:cNvSpPr txBox="1"/>
            <p:nvPr/>
          </p:nvSpPr>
          <p:spPr>
            <a:xfrm>
              <a:off x="6281928" y="3653028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None/>
              </a:pPr>
              <a:r>
                <a:rPr lang="en-US" sz="900" b="1" i="0" dirty="0">
                  <a:solidFill>
                    <a:srgbClr val="FFE3D8"/>
                  </a:solidFill>
                  <a:latin typeface="Calibri" panose="020F0502020204030204"/>
                  <a:cs typeface="Calibri" panose="020F0502020204030204"/>
                </a:rPr>
                <a:t>ANSWER</a:t>
              </a:r>
              <a:endParaRPr lang="en-US" sz="900" b="1" i="0" dirty="0">
                <a:solidFill>
                  <a:srgbClr val="FFE3D8"/>
                </a:solidFill>
                <a:latin typeface="Calibri" panose="020F0502020204030204"/>
                <a:cs typeface="Calibri" panose="020F0502020204030204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If it rains today, then we will have a barbecue tomorrow.</a:t>
              </a:r>
              <a:endParaRPr lang="en-US" sz="125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Rule 4: Disjunctive syllogism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FORM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 ∨ q, ¬p ∴ q</a:t>
            </a: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        TAUTOLOGY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((p ∨ q) ∧ ¬p) → q</a:t>
            </a:r>
            <a:endParaRPr lang="en-US" sz="125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Rule symbol"/>
          <p:cNvSpPr/>
          <p:nvPr/>
        </p:nvSpPr>
        <p:spPr>
          <a:xfrm>
            <a:off x="8001000" y="274320"/>
            <a:ext cx="566928" cy="566928"/>
          </a:xfrm>
          <a:prstGeom prst="ellipse">
            <a:avLst/>
          </a:prstGeom>
          <a:solidFill>
            <a:srgbClr val="FFE9A8"/>
          </a:solidFill>
          <a:ln w="15875">
            <a:solidFill>
              <a:srgbClr val="2E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∨</a:t>
            </a:r>
            <a:endParaRPr lang="en-US" sz="200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11/28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ule tracker 1"/>
          <p:cNvSpPr/>
          <p:nvPr/>
        </p:nvSpPr>
        <p:spPr>
          <a:xfrm>
            <a:off x="48006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ule tracker 2"/>
          <p:cNvSpPr/>
          <p:nvPr/>
        </p:nvSpPr>
        <p:spPr>
          <a:xfrm>
            <a:off x="970178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tracker 3"/>
          <p:cNvSpPr/>
          <p:nvPr/>
        </p:nvSpPr>
        <p:spPr>
          <a:xfrm>
            <a:off x="1460297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tracker 4"/>
          <p:cNvSpPr/>
          <p:nvPr/>
        </p:nvSpPr>
        <p:spPr>
          <a:xfrm>
            <a:off x="1950415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FF7145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Rule tracker 5"/>
          <p:cNvSpPr/>
          <p:nvPr/>
        </p:nvSpPr>
        <p:spPr>
          <a:xfrm>
            <a:off x="2440534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tracker 6"/>
          <p:cNvSpPr/>
          <p:nvPr/>
        </p:nvSpPr>
        <p:spPr>
          <a:xfrm>
            <a:off x="2930652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tracker 7"/>
          <p:cNvSpPr/>
          <p:nvPr/>
        </p:nvSpPr>
        <p:spPr>
          <a:xfrm>
            <a:off x="342077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Rule tracker 8"/>
          <p:cNvSpPr/>
          <p:nvPr/>
        </p:nvSpPr>
        <p:spPr>
          <a:xfrm>
            <a:off x="3910889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Let card"/>
          <p:cNvSpPr/>
          <p:nvPr/>
        </p:nvSpPr>
        <p:spPr>
          <a:xfrm>
            <a:off x="475488" y="1280160"/>
            <a:ext cx="3291840" cy="932688"/>
          </a:xfrm>
          <a:prstGeom prst="roundRect">
            <a:avLst>
              <a:gd name="adj" fmla="val 7000"/>
            </a:avLst>
          </a:prstGeom>
          <a:solidFill>
            <a:srgbClr val="FFF8E1"/>
          </a:solidFill>
          <a:ln w="12700">
            <a:solidFill>
              <a:srgbClr val="DAD4F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E0A92B"/>
                </a:solidFill>
                <a:latin typeface="Calibri" panose="020F0502020204030204"/>
                <a:cs typeface="Calibri" panose="020F0502020204030204"/>
              </a:rPr>
              <a:t>LET</a:t>
            </a:r>
            <a:endParaRPr lang="en-US" sz="950" b="1" i="0" dirty="0">
              <a:solidFill>
                <a:srgbClr val="E0A92B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p: The server is down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q: The network is down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Question card"/>
          <p:cNvSpPr/>
          <p:nvPr/>
        </p:nvSpPr>
        <p:spPr>
          <a:xfrm>
            <a:off x="475488" y="2350008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FFF1EA"/>
          </a:solidFill>
          <a:ln w="12700">
            <a:solidFill>
              <a:srgbClr val="FFD9C9"/>
            </a:solidFill>
          </a:ln>
        </p:spPr>
        <p:txBody>
          <a:bodyPr wrap="square" lIns="137160" tIns="91440" rIns="109728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50" b="1" i="0" dirty="0">
                <a:solidFill>
                  <a:srgbClr val="FF7145"/>
                </a:solidFill>
                <a:latin typeface="Calibri" panose="020F0502020204030204"/>
                <a:cs typeface="Calibri" panose="020F0502020204030204"/>
              </a:rPr>
              <a:t>QUESTION</a:t>
            </a:r>
            <a:endParaRPr lang="en-US" sz="950" b="1" i="0" dirty="0">
              <a:solidFill>
                <a:srgbClr val="FF7145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The server is down or the network is down. The server is not down. What can we conclude?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Plain words card"/>
          <p:cNvSpPr/>
          <p:nvPr/>
        </p:nvSpPr>
        <p:spPr>
          <a:xfrm>
            <a:off x="475488" y="3657600"/>
            <a:ext cx="32918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wrap="square" lIns="137160" tIns="82296" rIns="109728" bIns="36576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IN PLAIN WORDS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rPr>
              <a:t>If one of two options is true and the first is false, the second must be true.</a:t>
            </a:r>
            <a:endParaRPr lang="en-US" sz="1100" b="0" i="0" dirty="0">
              <a:solidFill>
                <a:srgbClr val="4C4563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Illustration panel"/>
          <p:cNvSpPr/>
          <p:nvPr/>
        </p:nvSpPr>
        <p:spPr>
          <a:xfrm>
            <a:off x="4023360" y="1280160"/>
            <a:ext cx="4645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Panel label"/>
          <p:cNvSpPr txBox="1"/>
          <p:nvPr/>
        </p:nvSpPr>
        <p:spPr>
          <a:xfrm>
            <a:off x="4251960" y="14081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HOW IT WORKS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Premise 1"/>
          <p:cNvGrpSpPr/>
          <p:nvPr/>
        </p:nvGrpSpPr>
        <p:grpSpPr>
          <a:xfrm>
            <a:off x="4224528" y="1714500"/>
            <a:ext cx="4242816" cy="694944"/>
            <a:chOff x="4224528" y="1714500"/>
            <a:chExt cx="4242816" cy="694944"/>
          </a:xfrm>
        </p:grpSpPr>
        <p:sp>
          <p:nvSpPr>
            <p:cNvPr id="19" name="Premise 1 box"/>
            <p:cNvSpPr/>
            <p:nvPr/>
          </p:nvSpPr>
          <p:spPr>
            <a:xfrm>
              <a:off x="4224528" y="1714500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F8E1"/>
            </a:solidFill>
            <a:ln w="15875">
              <a:solidFill>
                <a:srgbClr val="E0A92B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remise 1 badge"/>
            <p:cNvSpPr/>
            <p:nvPr/>
          </p:nvSpPr>
          <p:spPr>
            <a:xfrm>
              <a:off x="4370832" y="1897380"/>
              <a:ext cx="329184" cy="329184"/>
            </a:xfrm>
            <a:prstGeom prst="ellipse">
              <a:avLst/>
            </a:prstGeom>
            <a:solidFill>
              <a:srgbClr val="E0A92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1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Premise 1 formula"/>
            <p:cNvSpPr txBox="1"/>
            <p:nvPr/>
          </p:nvSpPr>
          <p:spPr>
            <a:xfrm>
              <a:off x="4818888" y="1714500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 ∨ q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2" name="Premise 1 meaning"/>
            <p:cNvSpPr txBox="1"/>
            <p:nvPr/>
          </p:nvSpPr>
          <p:spPr>
            <a:xfrm>
              <a:off x="6281928" y="1714500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The server is down or the network is down.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9" name="Premise 2"/>
          <p:cNvGrpSpPr/>
          <p:nvPr/>
        </p:nvGrpSpPr>
        <p:grpSpPr>
          <a:xfrm>
            <a:off x="4224528" y="2455164"/>
            <a:ext cx="4242816" cy="923544"/>
            <a:chOff x="4224528" y="2455164"/>
            <a:chExt cx="4242816" cy="923544"/>
          </a:xfrm>
        </p:grpSpPr>
        <p:sp>
          <p:nvSpPr>
            <p:cNvPr id="24" name="Arrow"/>
            <p:cNvSpPr/>
            <p:nvPr/>
          </p:nvSpPr>
          <p:spPr>
            <a:xfrm>
              <a:off x="6245352" y="2455164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E0A92B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Premise 2 box"/>
            <p:cNvSpPr/>
            <p:nvPr/>
          </p:nvSpPr>
          <p:spPr>
            <a:xfrm>
              <a:off x="4224528" y="2683764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F8E1"/>
            </a:solidFill>
            <a:ln w="15875">
              <a:solidFill>
                <a:srgbClr val="E0A92B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Premise 2 badge"/>
            <p:cNvSpPr/>
            <p:nvPr/>
          </p:nvSpPr>
          <p:spPr>
            <a:xfrm>
              <a:off x="4370832" y="2866644"/>
              <a:ext cx="329184" cy="329184"/>
            </a:xfrm>
            <a:prstGeom prst="ellipse">
              <a:avLst/>
            </a:prstGeom>
            <a:solidFill>
              <a:srgbClr val="E0A92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2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7" name="Premise 2 formula"/>
            <p:cNvSpPr txBox="1"/>
            <p:nvPr/>
          </p:nvSpPr>
          <p:spPr>
            <a:xfrm>
              <a:off x="4818888" y="2683764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¬p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8" name="Premise 2 meaning"/>
            <p:cNvSpPr txBox="1"/>
            <p:nvPr/>
          </p:nvSpPr>
          <p:spPr>
            <a:xfrm>
              <a:off x="6281928" y="2683764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The server is not down.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Answer"/>
          <p:cNvGrpSpPr/>
          <p:nvPr/>
        </p:nvGrpSpPr>
        <p:grpSpPr>
          <a:xfrm>
            <a:off x="4224528" y="3424428"/>
            <a:ext cx="4242816" cy="923544"/>
            <a:chOff x="4224528" y="3424428"/>
            <a:chExt cx="4242816" cy="923544"/>
          </a:xfrm>
        </p:grpSpPr>
        <p:sp>
          <p:nvSpPr>
            <p:cNvPr id="30" name="Arrow"/>
            <p:cNvSpPr/>
            <p:nvPr/>
          </p:nvSpPr>
          <p:spPr>
            <a:xfrm>
              <a:off x="6245352" y="3424428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Answer box"/>
            <p:cNvSpPr/>
            <p:nvPr/>
          </p:nvSpPr>
          <p:spPr>
            <a:xfrm>
              <a:off x="4224528" y="3653028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Answer formula"/>
            <p:cNvSpPr txBox="1"/>
            <p:nvPr/>
          </p:nvSpPr>
          <p:spPr>
            <a:xfrm>
              <a:off x="4453128" y="3653028"/>
              <a:ext cx="178308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dirty="0">
                  <a:solidFill>
                    <a:srgbClr val="FFFFFF"/>
                  </a:solidFill>
                  <a:latin typeface="Cambria Math" panose="02040503050406030204"/>
                  <a:cs typeface="Cambria Math" panose="02040503050406030204"/>
                </a:rPr>
                <a:t>∴ q</a:t>
              </a:r>
              <a:endParaRPr lang="en-US" sz="2200" b="0" i="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3" name="Answer text"/>
            <p:cNvSpPr txBox="1"/>
            <p:nvPr/>
          </p:nvSpPr>
          <p:spPr>
            <a:xfrm>
              <a:off x="6281928" y="3653028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None/>
              </a:pPr>
              <a:r>
                <a:rPr lang="en-US" sz="900" b="1" i="0" dirty="0">
                  <a:solidFill>
                    <a:srgbClr val="FFE3D8"/>
                  </a:solidFill>
                  <a:latin typeface="Calibri" panose="020F0502020204030204"/>
                  <a:cs typeface="Calibri" panose="020F0502020204030204"/>
                </a:rPr>
                <a:t>ANSWER</a:t>
              </a:r>
              <a:endParaRPr lang="en-US" sz="900" b="1" i="0" dirty="0">
                <a:solidFill>
                  <a:srgbClr val="FFE3D8"/>
                </a:solidFill>
                <a:latin typeface="Calibri" panose="020F0502020204030204"/>
                <a:cs typeface="Calibri" panose="020F0502020204030204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The network is down.</a:t>
              </a:r>
              <a:endParaRPr lang="en-US" sz="125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Rule 5: Addition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FORM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 ∴ p ∨ q</a:t>
            </a: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        TAUTOLOGY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 → (p ∨ q)</a:t>
            </a:r>
            <a:endParaRPr lang="en-US" sz="125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Rule symbol"/>
          <p:cNvSpPr/>
          <p:nvPr/>
        </p:nvSpPr>
        <p:spPr>
          <a:xfrm>
            <a:off x="8001000" y="274320"/>
            <a:ext cx="566928" cy="566928"/>
          </a:xfrm>
          <a:prstGeom prst="ellipse">
            <a:avLst/>
          </a:prstGeom>
          <a:solidFill>
            <a:srgbClr val="E9E0FF"/>
          </a:solidFill>
          <a:ln w="15875">
            <a:solidFill>
              <a:srgbClr val="2E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+</a:t>
            </a:r>
            <a:endParaRPr lang="en-US" sz="200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12/28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ule tracker 1"/>
          <p:cNvSpPr/>
          <p:nvPr/>
        </p:nvSpPr>
        <p:spPr>
          <a:xfrm>
            <a:off x="48006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ule tracker 2"/>
          <p:cNvSpPr/>
          <p:nvPr/>
        </p:nvSpPr>
        <p:spPr>
          <a:xfrm>
            <a:off x="970178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tracker 3"/>
          <p:cNvSpPr/>
          <p:nvPr/>
        </p:nvSpPr>
        <p:spPr>
          <a:xfrm>
            <a:off x="1460297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tracker 4"/>
          <p:cNvSpPr/>
          <p:nvPr/>
        </p:nvSpPr>
        <p:spPr>
          <a:xfrm>
            <a:off x="1950415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Rule tracker 5"/>
          <p:cNvSpPr/>
          <p:nvPr/>
        </p:nvSpPr>
        <p:spPr>
          <a:xfrm>
            <a:off x="2440534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FF7145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tracker 6"/>
          <p:cNvSpPr/>
          <p:nvPr/>
        </p:nvSpPr>
        <p:spPr>
          <a:xfrm>
            <a:off x="2930652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tracker 7"/>
          <p:cNvSpPr/>
          <p:nvPr/>
        </p:nvSpPr>
        <p:spPr>
          <a:xfrm>
            <a:off x="342077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Rule tracker 8"/>
          <p:cNvSpPr/>
          <p:nvPr/>
        </p:nvSpPr>
        <p:spPr>
          <a:xfrm>
            <a:off x="3910889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Let card"/>
          <p:cNvSpPr/>
          <p:nvPr/>
        </p:nvSpPr>
        <p:spPr>
          <a:xfrm>
            <a:off x="475488" y="1280160"/>
            <a:ext cx="3291840" cy="932688"/>
          </a:xfrm>
          <a:prstGeom prst="roundRect">
            <a:avLst>
              <a:gd name="adj" fmla="val 7000"/>
            </a:avLst>
          </a:prstGeom>
          <a:solidFill>
            <a:srgbClr val="F3F0FF"/>
          </a:solidFill>
          <a:ln w="12700">
            <a:solidFill>
              <a:srgbClr val="DAD4F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9B6BE8"/>
                </a:solidFill>
                <a:latin typeface="Calibri" panose="020F0502020204030204"/>
                <a:cs typeface="Calibri" panose="020F0502020204030204"/>
              </a:rPr>
              <a:t>LET</a:t>
            </a:r>
            <a:endParaRPr lang="en-US" sz="950" b="1" i="0" dirty="0">
              <a:solidFill>
                <a:srgbClr val="9B6BE8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p: It is below freezing now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q: It is raining now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Question card"/>
          <p:cNvSpPr/>
          <p:nvPr/>
        </p:nvSpPr>
        <p:spPr>
          <a:xfrm>
            <a:off x="475488" y="2350008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FFF1EA"/>
          </a:solidFill>
          <a:ln w="12700">
            <a:solidFill>
              <a:srgbClr val="FFD9C9"/>
            </a:solidFill>
          </a:ln>
        </p:spPr>
        <p:txBody>
          <a:bodyPr wrap="square" lIns="137160" tIns="91440" rIns="109728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50" b="1" i="0" dirty="0">
                <a:solidFill>
                  <a:srgbClr val="FF7145"/>
                </a:solidFill>
                <a:latin typeface="Calibri" panose="020F0502020204030204"/>
                <a:cs typeface="Calibri" panose="020F0502020204030204"/>
              </a:rPr>
              <a:t>QUESTION</a:t>
            </a:r>
            <a:endParaRPr lang="en-US" sz="950" b="1" i="0" dirty="0">
              <a:solidFill>
                <a:srgbClr val="FF7145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It is below freezing now. What can we conclude about "below freezing or raining"?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Plain words card"/>
          <p:cNvSpPr/>
          <p:nvPr/>
        </p:nvSpPr>
        <p:spPr>
          <a:xfrm>
            <a:off x="475488" y="3657600"/>
            <a:ext cx="32918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wrap="square" lIns="137160" tIns="82296" rIns="109728" bIns="36576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IN PLAIN WORDS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rPr>
              <a:t>From any true statement p you can form p or q, for any statement q.</a:t>
            </a:r>
            <a:endParaRPr lang="en-US" sz="1100" b="0" i="0" dirty="0">
              <a:solidFill>
                <a:srgbClr val="4C4563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Illustration panel"/>
          <p:cNvSpPr/>
          <p:nvPr/>
        </p:nvSpPr>
        <p:spPr>
          <a:xfrm>
            <a:off x="4023360" y="1280160"/>
            <a:ext cx="4645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Panel label"/>
          <p:cNvSpPr txBox="1"/>
          <p:nvPr/>
        </p:nvSpPr>
        <p:spPr>
          <a:xfrm>
            <a:off x="4251960" y="14081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HOW IT WORKS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Premise 1"/>
          <p:cNvGrpSpPr/>
          <p:nvPr/>
        </p:nvGrpSpPr>
        <p:grpSpPr>
          <a:xfrm>
            <a:off x="4224528" y="2025396"/>
            <a:ext cx="4242816" cy="868680"/>
            <a:chOff x="4224528" y="2025396"/>
            <a:chExt cx="4242816" cy="868680"/>
          </a:xfrm>
        </p:grpSpPr>
        <p:sp>
          <p:nvSpPr>
            <p:cNvPr id="19" name="Premise 1 box"/>
            <p:cNvSpPr/>
            <p:nvPr/>
          </p:nvSpPr>
          <p:spPr>
            <a:xfrm>
              <a:off x="4224528" y="2025396"/>
              <a:ext cx="4242816" cy="868680"/>
            </a:xfrm>
            <a:prstGeom prst="roundRect">
              <a:avLst>
                <a:gd name="adj" fmla="val 12000"/>
              </a:avLst>
            </a:prstGeom>
            <a:solidFill>
              <a:srgbClr val="F3F0FF"/>
            </a:solidFill>
            <a:ln w="15875">
              <a:solidFill>
                <a:srgbClr val="9B6BE8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remise 1 badge"/>
            <p:cNvSpPr/>
            <p:nvPr/>
          </p:nvSpPr>
          <p:spPr>
            <a:xfrm>
              <a:off x="4370832" y="2295144"/>
              <a:ext cx="329184" cy="329184"/>
            </a:xfrm>
            <a:prstGeom prst="ellipse">
              <a:avLst/>
            </a:prstGeom>
            <a:solidFill>
              <a:srgbClr val="9B6BE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1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Premise 1 formula"/>
            <p:cNvSpPr txBox="1"/>
            <p:nvPr/>
          </p:nvSpPr>
          <p:spPr>
            <a:xfrm>
              <a:off x="4818888" y="2025396"/>
              <a:ext cx="141732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2" name="Premise 1 meaning"/>
            <p:cNvSpPr txBox="1"/>
            <p:nvPr/>
          </p:nvSpPr>
          <p:spPr>
            <a:xfrm>
              <a:off x="6281928" y="2025396"/>
              <a:ext cx="2048256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It is below freezing now.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8" name="Answer"/>
          <p:cNvGrpSpPr/>
          <p:nvPr/>
        </p:nvGrpSpPr>
        <p:grpSpPr>
          <a:xfrm>
            <a:off x="4224528" y="2939796"/>
            <a:ext cx="4242816" cy="1097280"/>
            <a:chOff x="4224528" y="2939796"/>
            <a:chExt cx="4242816" cy="1097280"/>
          </a:xfrm>
        </p:grpSpPr>
        <p:sp>
          <p:nvSpPr>
            <p:cNvPr id="24" name="Arrow"/>
            <p:cNvSpPr/>
            <p:nvPr/>
          </p:nvSpPr>
          <p:spPr>
            <a:xfrm>
              <a:off x="6245352" y="2939796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Answer box"/>
            <p:cNvSpPr/>
            <p:nvPr/>
          </p:nvSpPr>
          <p:spPr>
            <a:xfrm>
              <a:off x="4224528" y="3168396"/>
              <a:ext cx="4242816" cy="868680"/>
            </a:xfrm>
            <a:prstGeom prst="roundRect">
              <a:avLst>
                <a:gd name="adj" fmla="val 12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Answer formula"/>
            <p:cNvSpPr txBox="1"/>
            <p:nvPr/>
          </p:nvSpPr>
          <p:spPr>
            <a:xfrm>
              <a:off x="4453128" y="3168396"/>
              <a:ext cx="178308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dirty="0">
                  <a:solidFill>
                    <a:srgbClr val="FFFFFF"/>
                  </a:solidFill>
                  <a:latin typeface="Cambria Math" panose="02040503050406030204"/>
                  <a:cs typeface="Cambria Math" panose="02040503050406030204"/>
                </a:rPr>
                <a:t>∴ p ∨ q</a:t>
              </a:r>
              <a:endParaRPr lang="en-US" sz="2200" b="0" i="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7" name="Answer text"/>
            <p:cNvSpPr txBox="1"/>
            <p:nvPr/>
          </p:nvSpPr>
          <p:spPr>
            <a:xfrm>
              <a:off x="6281928" y="3168396"/>
              <a:ext cx="2048256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None/>
              </a:pPr>
              <a:r>
                <a:rPr lang="en-US" sz="900" b="1" i="0" dirty="0">
                  <a:solidFill>
                    <a:srgbClr val="FFE3D8"/>
                  </a:solidFill>
                  <a:latin typeface="Calibri" panose="020F0502020204030204"/>
                  <a:cs typeface="Calibri" panose="020F0502020204030204"/>
                </a:rPr>
                <a:t>ANSWER</a:t>
              </a:r>
              <a:endParaRPr lang="en-US" sz="900" b="1" i="0" dirty="0">
                <a:solidFill>
                  <a:srgbClr val="FFE3D8"/>
                </a:solidFill>
                <a:latin typeface="Calibri" panose="020F0502020204030204"/>
                <a:cs typeface="Calibri" panose="020F0502020204030204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It is below freezing or raining now.</a:t>
              </a:r>
              <a:endParaRPr lang="en-US" sz="125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Rule 6: Simplification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FORM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 ∧ q ∴ p</a:t>
            </a: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        TAUTOLOGY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(p ∧ q) → p</a:t>
            </a:r>
            <a:endParaRPr lang="en-US" sz="125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Rule symbol"/>
          <p:cNvSpPr/>
          <p:nvPr/>
        </p:nvSpPr>
        <p:spPr>
          <a:xfrm>
            <a:off x="8001000" y="274320"/>
            <a:ext cx="566928" cy="566928"/>
          </a:xfrm>
          <a:prstGeom prst="ellipse">
            <a:avLst/>
          </a:prstGeom>
          <a:solidFill>
            <a:srgbClr val="FFC9CD"/>
          </a:solidFill>
          <a:ln w="15875">
            <a:solidFill>
              <a:srgbClr val="2E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∧</a:t>
            </a:r>
            <a:endParaRPr lang="en-US" sz="200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13/28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ule tracker 1"/>
          <p:cNvSpPr/>
          <p:nvPr/>
        </p:nvSpPr>
        <p:spPr>
          <a:xfrm>
            <a:off x="48006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ule tracker 2"/>
          <p:cNvSpPr/>
          <p:nvPr/>
        </p:nvSpPr>
        <p:spPr>
          <a:xfrm>
            <a:off x="970178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tracker 3"/>
          <p:cNvSpPr/>
          <p:nvPr/>
        </p:nvSpPr>
        <p:spPr>
          <a:xfrm>
            <a:off x="1460297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tracker 4"/>
          <p:cNvSpPr/>
          <p:nvPr/>
        </p:nvSpPr>
        <p:spPr>
          <a:xfrm>
            <a:off x="1950415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Rule tracker 5"/>
          <p:cNvSpPr/>
          <p:nvPr/>
        </p:nvSpPr>
        <p:spPr>
          <a:xfrm>
            <a:off x="2440534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tracker 6"/>
          <p:cNvSpPr/>
          <p:nvPr/>
        </p:nvSpPr>
        <p:spPr>
          <a:xfrm>
            <a:off x="2930652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FF7145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tracker 7"/>
          <p:cNvSpPr/>
          <p:nvPr/>
        </p:nvSpPr>
        <p:spPr>
          <a:xfrm>
            <a:off x="342077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Rule tracker 8"/>
          <p:cNvSpPr/>
          <p:nvPr/>
        </p:nvSpPr>
        <p:spPr>
          <a:xfrm>
            <a:off x="3910889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Let card"/>
          <p:cNvSpPr/>
          <p:nvPr/>
        </p:nvSpPr>
        <p:spPr>
          <a:xfrm>
            <a:off x="475488" y="1280160"/>
            <a:ext cx="3291840" cy="932688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 w="12700">
            <a:solidFill>
              <a:srgbClr val="DAD4F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E5646F"/>
                </a:solidFill>
                <a:latin typeface="Calibri" panose="020F0502020204030204"/>
                <a:cs typeface="Calibri" panose="020F0502020204030204"/>
              </a:rPr>
              <a:t>LET</a:t>
            </a:r>
            <a:endParaRPr lang="en-US" sz="950" b="1" i="0" dirty="0">
              <a:solidFill>
                <a:srgbClr val="E5646F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p: It is below freezing now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q: It is raining now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Question card"/>
          <p:cNvSpPr/>
          <p:nvPr/>
        </p:nvSpPr>
        <p:spPr>
          <a:xfrm>
            <a:off x="475488" y="2350008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FFF1EA"/>
          </a:solidFill>
          <a:ln w="12700">
            <a:solidFill>
              <a:srgbClr val="FFD9C9"/>
            </a:solidFill>
          </a:ln>
        </p:spPr>
        <p:txBody>
          <a:bodyPr wrap="square" lIns="137160" tIns="91440" rIns="109728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50" b="1" i="0" dirty="0">
                <a:solidFill>
                  <a:srgbClr val="FF7145"/>
                </a:solidFill>
                <a:latin typeface="Calibri" panose="020F0502020204030204"/>
                <a:cs typeface="Calibri" panose="020F0502020204030204"/>
              </a:rPr>
              <a:t>QUESTION</a:t>
            </a:r>
            <a:endParaRPr lang="en-US" sz="950" b="1" i="0" dirty="0">
              <a:solidFill>
                <a:srgbClr val="FF7145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It is below freezing and raining now. What can we conclude about freezing?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Plain words card"/>
          <p:cNvSpPr/>
          <p:nvPr/>
        </p:nvSpPr>
        <p:spPr>
          <a:xfrm>
            <a:off x="475488" y="3657600"/>
            <a:ext cx="32918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wrap="square" lIns="137160" tIns="82296" rIns="109728" bIns="36576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IN PLAIN WORDS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rPr>
              <a:t>From a true conjunction you can take either part on its own.</a:t>
            </a:r>
            <a:endParaRPr lang="en-US" sz="1100" b="0" i="0" dirty="0">
              <a:solidFill>
                <a:srgbClr val="4C4563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Illustration panel"/>
          <p:cNvSpPr/>
          <p:nvPr/>
        </p:nvSpPr>
        <p:spPr>
          <a:xfrm>
            <a:off x="4023360" y="1280160"/>
            <a:ext cx="4645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Panel label"/>
          <p:cNvSpPr txBox="1"/>
          <p:nvPr/>
        </p:nvSpPr>
        <p:spPr>
          <a:xfrm>
            <a:off x="4251960" y="14081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HOW IT WORKS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Premise 1"/>
          <p:cNvGrpSpPr/>
          <p:nvPr/>
        </p:nvGrpSpPr>
        <p:grpSpPr>
          <a:xfrm>
            <a:off x="4224528" y="2025396"/>
            <a:ext cx="4242816" cy="868680"/>
            <a:chOff x="4224528" y="2025396"/>
            <a:chExt cx="4242816" cy="868680"/>
          </a:xfrm>
        </p:grpSpPr>
        <p:sp>
          <p:nvSpPr>
            <p:cNvPr id="19" name="Premise 1 box"/>
            <p:cNvSpPr/>
            <p:nvPr/>
          </p:nvSpPr>
          <p:spPr>
            <a:xfrm>
              <a:off x="4224528" y="2025396"/>
              <a:ext cx="4242816" cy="868680"/>
            </a:xfrm>
            <a:prstGeom prst="roundRect">
              <a:avLst>
                <a:gd name="adj" fmla="val 12000"/>
              </a:avLst>
            </a:prstGeom>
            <a:solidFill>
              <a:srgbClr val="FFF1F2"/>
            </a:solidFill>
            <a:ln w="15875">
              <a:solidFill>
                <a:srgbClr val="E5646F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remise 1 badge"/>
            <p:cNvSpPr/>
            <p:nvPr/>
          </p:nvSpPr>
          <p:spPr>
            <a:xfrm>
              <a:off x="4370832" y="2295144"/>
              <a:ext cx="329184" cy="329184"/>
            </a:xfrm>
            <a:prstGeom prst="ellipse">
              <a:avLst/>
            </a:prstGeom>
            <a:solidFill>
              <a:srgbClr val="E5646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1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Premise 1 formula"/>
            <p:cNvSpPr txBox="1"/>
            <p:nvPr/>
          </p:nvSpPr>
          <p:spPr>
            <a:xfrm>
              <a:off x="4818888" y="2025396"/>
              <a:ext cx="141732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 ∧ q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2" name="Premise 1 meaning"/>
            <p:cNvSpPr txBox="1"/>
            <p:nvPr/>
          </p:nvSpPr>
          <p:spPr>
            <a:xfrm>
              <a:off x="6281928" y="2025396"/>
              <a:ext cx="2048256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It is below freezing and raining now.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8" name="Answer"/>
          <p:cNvGrpSpPr/>
          <p:nvPr/>
        </p:nvGrpSpPr>
        <p:grpSpPr>
          <a:xfrm>
            <a:off x="4224528" y="2939796"/>
            <a:ext cx="4242816" cy="1097280"/>
            <a:chOff x="4224528" y="2939796"/>
            <a:chExt cx="4242816" cy="1097280"/>
          </a:xfrm>
        </p:grpSpPr>
        <p:sp>
          <p:nvSpPr>
            <p:cNvPr id="24" name="Arrow"/>
            <p:cNvSpPr/>
            <p:nvPr/>
          </p:nvSpPr>
          <p:spPr>
            <a:xfrm>
              <a:off x="6245352" y="2939796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Answer box"/>
            <p:cNvSpPr/>
            <p:nvPr/>
          </p:nvSpPr>
          <p:spPr>
            <a:xfrm>
              <a:off x="4224528" y="3168396"/>
              <a:ext cx="4242816" cy="868680"/>
            </a:xfrm>
            <a:prstGeom prst="roundRect">
              <a:avLst>
                <a:gd name="adj" fmla="val 12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Answer formula"/>
            <p:cNvSpPr txBox="1"/>
            <p:nvPr/>
          </p:nvSpPr>
          <p:spPr>
            <a:xfrm>
              <a:off x="4453128" y="3168396"/>
              <a:ext cx="178308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dirty="0">
                  <a:solidFill>
                    <a:srgbClr val="FFFFFF"/>
                  </a:solidFill>
                  <a:latin typeface="Cambria Math" panose="02040503050406030204"/>
                  <a:cs typeface="Cambria Math" panose="02040503050406030204"/>
                </a:rPr>
                <a:t>∴ p</a:t>
              </a:r>
              <a:endParaRPr lang="en-US" sz="2200" b="0" i="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7" name="Answer text"/>
            <p:cNvSpPr txBox="1"/>
            <p:nvPr/>
          </p:nvSpPr>
          <p:spPr>
            <a:xfrm>
              <a:off x="6281928" y="3168396"/>
              <a:ext cx="2048256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None/>
              </a:pPr>
              <a:r>
                <a:rPr lang="en-US" sz="900" b="1" i="0" dirty="0">
                  <a:solidFill>
                    <a:srgbClr val="FFE3D8"/>
                  </a:solidFill>
                  <a:latin typeface="Calibri" panose="020F0502020204030204"/>
                  <a:cs typeface="Calibri" panose="020F0502020204030204"/>
                </a:rPr>
                <a:t>ANSWER</a:t>
              </a:r>
              <a:endParaRPr lang="en-US" sz="900" b="1" i="0" dirty="0">
                <a:solidFill>
                  <a:srgbClr val="FFE3D8"/>
                </a:solidFill>
                <a:latin typeface="Calibri" panose="020F0502020204030204"/>
                <a:cs typeface="Calibri" panose="020F0502020204030204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It is below freezing now.</a:t>
              </a:r>
              <a:endParaRPr lang="en-US" sz="125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Rule 7: Conjunction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FORM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p, q ∴ p ∧ q</a:t>
            </a: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        TAUTOLOGY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((p) ∧ (q)) → (p ∧ q)</a:t>
            </a:r>
            <a:endParaRPr lang="en-US" sz="125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Rule symbol"/>
          <p:cNvSpPr/>
          <p:nvPr/>
        </p:nvSpPr>
        <p:spPr>
          <a:xfrm>
            <a:off x="8001000" y="274320"/>
            <a:ext cx="566928" cy="566928"/>
          </a:xfrm>
          <a:prstGeom prst="ellipse">
            <a:avLst/>
          </a:prstGeom>
          <a:solidFill>
            <a:srgbClr val="B8EDEF"/>
          </a:solidFill>
          <a:ln w="15875">
            <a:solidFill>
              <a:srgbClr val="2E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&amp;</a:t>
            </a:r>
            <a:endParaRPr lang="en-US" sz="200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14/28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ule tracker 1"/>
          <p:cNvSpPr/>
          <p:nvPr/>
        </p:nvSpPr>
        <p:spPr>
          <a:xfrm>
            <a:off x="48006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ule tracker 2"/>
          <p:cNvSpPr/>
          <p:nvPr/>
        </p:nvSpPr>
        <p:spPr>
          <a:xfrm>
            <a:off x="970178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tracker 3"/>
          <p:cNvSpPr/>
          <p:nvPr/>
        </p:nvSpPr>
        <p:spPr>
          <a:xfrm>
            <a:off x="1460297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tracker 4"/>
          <p:cNvSpPr/>
          <p:nvPr/>
        </p:nvSpPr>
        <p:spPr>
          <a:xfrm>
            <a:off x="1950415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Rule tracker 5"/>
          <p:cNvSpPr/>
          <p:nvPr/>
        </p:nvSpPr>
        <p:spPr>
          <a:xfrm>
            <a:off x="2440534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tracker 6"/>
          <p:cNvSpPr/>
          <p:nvPr/>
        </p:nvSpPr>
        <p:spPr>
          <a:xfrm>
            <a:off x="2930652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tracker 7"/>
          <p:cNvSpPr/>
          <p:nvPr/>
        </p:nvSpPr>
        <p:spPr>
          <a:xfrm>
            <a:off x="342077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FF7145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Rule tracker 8"/>
          <p:cNvSpPr/>
          <p:nvPr/>
        </p:nvSpPr>
        <p:spPr>
          <a:xfrm>
            <a:off x="3910889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Let card"/>
          <p:cNvSpPr/>
          <p:nvPr/>
        </p:nvSpPr>
        <p:spPr>
          <a:xfrm>
            <a:off x="475488" y="1280160"/>
            <a:ext cx="3291840" cy="932688"/>
          </a:xfrm>
          <a:prstGeom prst="roundRect">
            <a:avLst>
              <a:gd name="adj" fmla="val 7000"/>
            </a:avLst>
          </a:prstGeom>
          <a:solidFill>
            <a:srgbClr val="E4F6F7"/>
          </a:solidFill>
          <a:ln w="12700">
            <a:solidFill>
              <a:srgbClr val="DAD4F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2AA9B0"/>
                </a:solidFill>
                <a:latin typeface="Calibri" panose="020F0502020204030204"/>
                <a:cs typeface="Calibri" panose="020F0502020204030204"/>
              </a:rPr>
              <a:t>LET</a:t>
            </a:r>
            <a:endParaRPr lang="en-US" sz="950" b="1" i="0" dirty="0">
              <a:solidFill>
                <a:srgbClr val="2AA9B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p: I studied logic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q: I studied sets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Question card"/>
          <p:cNvSpPr/>
          <p:nvPr/>
        </p:nvSpPr>
        <p:spPr>
          <a:xfrm>
            <a:off x="475488" y="2350008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FFF1EA"/>
          </a:solidFill>
          <a:ln w="12700">
            <a:solidFill>
              <a:srgbClr val="FFD9C9"/>
            </a:solidFill>
          </a:ln>
        </p:spPr>
        <p:txBody>
          <a:bodyPr wrap="square" lIns="137160" tIns="91440" rIns="109728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50" b="1" i="0" dirty="0">
                <a:solidFill>
                  <a:srgbClr val="FF7145"/>
                </a:solidFill>
                <a:latin typeface="Calibri" panose="020F0502020204030204"/>
                <a:cs typeface="Calibri" panose="020F0502020204030204"/>
              </a:rPr>
              <a:t>QUESTION</a:t>
            </a:r>
            <a:endParaRPr lang="en-US" sz="950" b="1" i="0" dirty="0">
              <a:solidFill>
                <a:srgbClr val="FF7145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I studied logic. I studied sets. What can we conclude?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Plain words card"/>
          <p:cNvSpPr/>
          <p:nvPr/>
        </p:nvSpPr>
        <p:spPr>
          <a:xfrm>
            <a:off x="475488" y="3657600"/>
            <a:ext cx="32918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wrap="square" lIns="137160" tIns="82296" rIns="109728" bIns="36576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IN PLAIN WORDS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rPr>
              <a:t>If p and q are each true, then "p and q" together is true.</a:t>
            </a:r>
            <a:endParaRPr lang="en-US" sz="1100" b="0" i="0" dirty="0">
              <a:solidFill>
                <a:srgbClr val="4C4563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Illustration panel"/>
          <p:cNvSpPr/>
          <p:nvPr/>
        </p:nvSpPr>
        <p:spPr>
          <a:xfrm>
            <a:off x="4023360" y="1280160"/>
            <a:ext cx="4645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Panel label"/>
          <p:cNvSpPr txBox="1"/>
          <p:nvPr/>
        </p:nvSpPr>
        <p:spPr>
          <a:xfrm>
            <a:off x="4251960" y="14081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HOW IT WORKS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Premise 1"/>
          <p:cNvGrpSpPr/>
          <p:nvPr/>
        </p:nvGrpSpPr>
        <p:grpSpPr>
          <a:xfrm>
            <a:off x="4224528" y="1714500"/>
            <a:ext cx="4242816" cy="694944"/>
            <a:chOff x="4224528" y="1714500"/>
            <a:chExt cx="4242816" cy="694944"/>
          </a:xfrm>
        </p:grpSpPr>
        <p:sp>
          <p:nvSpPr>
            <p:cNvPr id="19" name="Premise 1 box"/>
            <p:cNvSpPr/>
            <p:nvPr/>
          </p:nvSpPr>
          <p:spPr>
            <a:xfrm>
              <a:off x="4224528" y="1714500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E4F6F7"/>
            </a:solidFill>
            <a:ln w="15875">
              <a:solidFill>
                <a:srgbClr val="2AA9B0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remise 1 badge"/>
            <p:cNvSpPr/>
            <p:nvPr/>
          </p:nvSpPr>
          <p:spPr>
            <a:xfrm>
              <a:off x="4370832" y="1897380"/>
              <a:ext cx="329184" cy="329184"/>
            </a:xfrm>
            <a:prstGeom prst="ellipse">
              <a:avLst/>
            </a:prstGeom>
            <a:solidFill>
              <a:srgbClr val="2AA9B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1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Premise 1 formula"/>
            <p:cNvSpPr txBox="1"/>
            <p:nvPr/>
          </p:nvSpPr>
          <p:spPr>
            <a:xfrm>
              <a:off x="4818888" y="1714500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2" name="Premise 1 meaning"/>
            <p:cNvSpPr txBox="1"/>
            <p:nvPr/>
          </p:nvSpPr>
          <p:spPr>
            <a:xfrm>
              <a:off x="6281928" y="1714500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 studied logic.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9" name="Premise 2"/>
          <p:cNvGrpSpPr/>
          <p:nvPr/>
        </p:nvGrpSpPr>
        <p:grpSpPr>
          <a:xfrm>
            <a:off x="4224528" y="2455164"/>
            <a:ext cx="4242816" cy="923544"/>
            <a:chOff x="4224528" y="2455164"/>
            <a:chExt cx="4242816" cy="923544"/>
          </a:xfrm>
        </p:grpSpPr>
        <p:sp>
          <p:nvSpPr>
            <p:cNvPr id="24" name="Arrow"/>
            <p:cNvSpPr/>
            <p:nvPr/>
          </p:nvSpPr>
          <p:spPr>
            <a:xfrm>
              <a:off x="6245352" y="2455164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2AA9B0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Premise 2 box"/>
            <p:cNvSpPr/>
            <p:nvPr/>
          </p:nvSpPr>
          <p:spPr>
            <a:xfrm>
              <a:off x="4224528" y="2683764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E4F6F7"/>
            </a:solidFill>
            <a:ln w="15875">
              <a:solidFill>
                <a:srgbClr val="2AA9B0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Premise 2 badge"/>
            <p:cNvSpPr/>
            <p:nvPr/>
          </p:nvSpPr>
          <p:spPr>
            <a:xfrm>
              <a:off x="4370832" y="2866644"/>
              <a:ext cx="329184" cy="329184"/>
            </a:xfrm>
            <a:prstGeom prst="ellipse">
              <a:avLst/>
            </a:prstGeom>
            <a:solidFill>
              <a:srgbClr val="2AA9B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2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7" name="Premise 2 formula"/>
            <p:cNvSpPr txBox="1"/>
            <p:nvPr/>
          </p:nvSpPr>
          <p:spPr>
            <a:xfrm>
              <a:off x="4818888" y="2683764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q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8" name="Premise 2 meaning"/>
            <p:cNvSpPr txBox="1"/>
            <p:nvPr/>
          </p:nvSpPr>
          <p:spPr>
            <a:xfrm>
              <a:off x="6281928" y="2683764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 studied sets.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Answer"/>
          <p:cNvGrpSpPr/>
          <p:nvPr/>
        </p:nvGrpSpPr>
        <p:grpSpPr>
          <a:xfrm>
            <a:off x="4224528" y="3424428"/>
            <a:ext cx="4242816" cy="923544"/>
            <a:chOff x="4224528" y="3424428"/>
            <a:chExt cx="4242816" cy="923544"/>
          </a:xfrm>
        </p:grpSpPr>
        <p:sp>
          <p:nvSpPr>
            <p:cNvPr id="30" name="Arrow"/>
            <p:cNvSpPr/>
            <p:nvPr/>
          </p:nvSpPr>
          <p:spPr>
            <a:xfrm>
              <a:off x="6245352" y="3424428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Answer box"/>
            <p:cNvSpPr/>
            <p:nvPr/>
          </p:nvSpPr>
          <p:spPr>
            <a:xfrm>
              <a:off x="4224528" y="3653028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Answer formula"/>
            <p:cNvSpPr txBox="1"/>
            <p:nvPr/>
          </p:nvSpPr>
          <p:spPr>
            <a:xfrm>
              <a:off x="4453128" y="3653028"/>
              <a:ext cx="178308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dirty="0">
                  <a:solidFill>
                    <a:srgbClr val="FFFFFF"/>
                  </a:solidFill>
                  <a:latin typeface="Cambria Math" panose="02040503050406030204"/>
                  <a:cs typeface="Cambria Math" panose="02040503050406030204"/>
                </a:rPr>
                <a:t>∴ p ∧ q</a:t>
              </a:r>
              <a:endParaRPr lang="en-US" sz="2200" b="0" i="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3" name="Answer text"/>
            <p:cNvSpPr txBox="1"/>
            <p:nvPr/>
          </p:nvSpPr>
          <p:spPr>
            <a:xfrm>
              <a:off x="6281928" y="3653028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None/>
              </a:pPr>
              <a:r>
                <a:rPr lang="en-US" sz="900" b="1" i="0" dirty="0">
                  <a:solidFill>
                    <a:srgbClr val="FFE3D8"/>
                  </a:solidFill>
                  <a:latin typeface="Calibri" panose="020F0502020204030204"/>
                  <a:cs typeface="Calibri" panose="020F0502020204030204"/>
                </a:rPr>
                <a:t>ANSWER</a:t>
              </a:r>
              <a:endParaRPr lang="en-US" sz="900" b="1" i="0" dirty="0">
                <a:solidFill>
                  <a:srgbClr val="FFE3D8"/>
                </a:solidFill>
                <a:latin typeface="Calibri" panose="020F0502020204030204"/>
                <a:cs typeface="Calibri" panose="020F0502020204030204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I studied logic and sets.</a:t>
              </a:r>
              <a:endParaRPr lang="en-US" sz="125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Rule 8: Resolution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FORM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p ∨ q, ¬p ∨ r ∴ q ∨ r</a:t>
            </a: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        TAUTOLOGY  </a:t>
            </a:r>
            <a:r>
              <a:rPr lang="en-US" sz="125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((p ∨ q) ∧ (¬p ∨ r)) → (q ∨ r)</a:t>
            </a:r>
            <a:endParaRPr lang="en-US" sz="125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Rule symbol"/>
          <p:cNvSpPr/>
          <p:nvPr/>
        </p:nvSpPr>
        <p:spPr>
          <a:xfrm>
            <a:off x="8001000" y="274320"/>
            <a:ext cx="566928" cy="566928"/>
          </a:xfrm>
          <a:prstGeom prst="ellipse">
            <a:avLst/>
          </a:prstGeom>
          <a:solidFill>
            <a:srgbClr val="FFE9A8"/>
          </a:solidFill>
          <a:ln w="15875">
            <a:solidFill>
              <a:srgbClr val="2E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rPr>
              <a:t>∴</a:t>
            </a:r>
            <a:endParaRPr lang="en-US" sz="2000" b="0" i="0" dirty="0">
              <a:solidFill>
                <a:srgbClr val="2E2A5E"/>
              </a:solidFill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15/28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Rule tracker 1"/>
          <p:cNvSpPr/>
          <p:nvPr/>
        </p:nvSpPr>
        <p:spPr>
          <a:xfrm>
            <a:off x="48006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ule tracker 2"/>
          <p:cNvSpPr/>
          <p:nvPr/>
        </p:nvSpPr>
        <p:spPr>
          <a:xfrm>
            <a:off x="970178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tracker 3"/>
          <p:cNvSpPr/>
          <p:nvPr/>
        </p:nvSpPr>
        <p:spPr>
          <a:xfrm>
            <a:off x="1460297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tracker 4"/>
          <p:cNvSpPr/>
          <p:nvPr/>
        </p:nvSpPr>
        <p:spPr>
          <a:xfrm>
            <a:off x="1950415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Rule tracker 5"/>
          <p:cNvSpPr/>
          <p:nvPr/>
        </p:nvSpPr>
        <p:spPr>
          <a:xfrm>
            <a:off x="2440534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tracker 6"/>
          <p:cNvSpPr/>
          <p:nvPr/>
        </p:nvSpPr>
        <p:spPr>
          <a:xfrm>
            <a:off x="2930652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tracker 7"/>
          <p:cNvSpPr/>
          <p:nvPr/>
        </p:nvSpPr>
        <p:spPr>
          <a:xfrm>
            <a:off x="3420770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DAD4F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Rule tracker 8"/>
          <p:cNvSpPr/>
          <p:nvPr/>
        </p:nvSpPr>
        <p:spPr>
          <a:xfrm>
            <a:off x="3910889" y="4937760"/>
            <a:ext cx="419710" cy="99670"/>
          </a:xfrm>
          <a:prstGeom prst="roundRect">
            <a:avLst>
              <a:gd name="adj" fmla="val 50000"/>
            </a:avLst>
          </a:prstGeom>
          <a:solidFill>
            <a:srgbClr val="FF7145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Let card"/>
          <p:cNvSpPr/>
          <p:nvPr/>
        </p:nvSpPr>
        <p:spPr>
          <a:xfrm>
            <a:off x="475488" y="1280160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FFF8E1"/>
          </a:solidFill>
          <a:ln w="12700">
            <a:solidFill>
              <a:srgbClr val="DAD4F2"/>
            </a:solidFill>
          </a:ln>
        </p:spPr>
        <p:txBody>
          <a:bodyPr wrap="square" lIns="137160" tIns="9144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E0A92B"/>
                </a:solidFill>
                <a:latin typeface="Calibri" panose="020F0502020204030204"/>
                <a:cs typeface="Calibri" panose="020F0502020204030204"/>
              </a:rPr>
              <a:t>LET</a:t>
            </a:r>
            <a:endParaRPr lang="en-US" sz="950" b="1" i="0" dirty="0">
              <a:solidFill>
                <a:srgbClr val="E0A92B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p: It is snowing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q: Jasmine is skiing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r: Bart is playing hockey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Question card"/>
          <p:cNvSpPr/>
          <p:nvPr/>
        </p:nvSpPr>
        <p:spPr>
          <a:xfrm>
            <a:off x="475488" y="2587752"/>
            <a:ext cx="3291840" cy="932688"/>
          </a:xfrm>
          <a:prstGeom prst="roundRect">
            <a:avLst>
              <a:gd name="adj" fmla="val 7000"/>
            </a:avLst>
          </a:prstGeom>
          <a:solidFill>
            <a:srgbClr val="FFF1EA"/>
          </a:solidFill>
          <a:ln w="12700">
            <a:solidFill>
              <a:srgbClr val="FFD9C9"/>
            </a:solidFill>
          </a:ln>
        </p:spPr>
        <p:txBody>
          <a:bodyPr wrap="square" lIns="137160" tIns="91440" rIns="109728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950" b="1" i="0" dirty="0">
                <a:solidFill>
                  <a:srgbClr val="FF7145"/>
                </a:solidFill>
                <a:latin typeface="Calibri" panose="020F0502020204030204"/>
                <a:cs typeface="Calibri" panose="020F0502020204030204"/>
              </a:rPr>
              <a:t>QUESTION</a:t>
            </a:r>
            <a:endParaRPr lang="en-US" sz="950" b="1" i="0" dirty="0">
              <a:solidFill>
                <a:srgbClr val="FF7145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E2A5E"/>
                </a:solidFill>
                <a:latin typeface="Calibri" panose="020F0502020204030204"/>
                <a:cs typeface="Calibri" panose="020F0502020204030204"/>
              </a:rPr>
              <a:t>Jasmine is skiing or it is not snowing. It is snowing or Bart is playing hockey. What can we conclude?</a:t>
            </a:r>
            <a:endParaRPr lang="en-US" sz="1200" b="0" i="0" dirty="0">
              <a:solidFill>
                <a:srgbClr val="2E2A5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Plain words card"/>
          <p:cNvSpPr/>
          <p:nvPr/>
        </p:nvSpPr>
        <p:spPr>
          <a:xfrm>
            <a:off x="475488" y="3657600"/>
            <a:ext cx="329184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wrap="square" lIns="137160" tIns="82296" rIns="109728" bIns="36576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IN PLAIN WORDS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rPr>
              <a:t>Two disjunctions that contain p and its negation combine into one disjunction of what is left.</a:t>
            </a:r>
            <a:endParaRPr lang="en-US" sz="1100" b="0" i="0" dirty="0">
              <a:solidFill>
                <a:srgbClr val="4C4563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Illustration panel"/>
          <p:cNvSpPr/>
          <p:nvPr/>
        </p:nvSpPr>
        <p:spPr>
          <a:xfrm>
            <a:off x="4023360" y="1280160"/>
            <a:ext cx="4645152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4F2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Panel label"/>
          <p:cNvSpPr txBox="1"/>
          <p:nvPr/>
        </p:nvSpPr>
        <p:spPr>
          <a:xfrm>
            <a:off x="4251960" y="14081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HOW IT WORKS</a:t>
            </a:r>
            <a:endParaRPr lang="en-US" sz="950" b="1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Premise 1"/>
          <p:cNvGrpSpPr/>
          <p:nvPr/>
        </p:nvGrpSpPr>
        <p:grpSpPr>
          <a:xfrm>
            <a:off x="4224528" y="1714500"/>
            <a:ext cx="4242816" cy="694944"/>
            <a:chOff x="4224528" y="1714500"/>
            <a:chExt cx="4242816" cy="694944"/>
          </a:xfrm>
        </p:grpSpPr>
        <p:sp>
          <p:nvSpPr>
            <p:cNvPr id="19" name="Premise 1 box"/>
            <p:cNvSpPr/>
            <p:nvPr/>
          </p:nvSpPr>
          <p:spPr>
            <a:xfrm>
              <a:off x="4224528" y="1714500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F8E1"/>
            </a:solidFill>
            <a:ln w="15875">
              <a:solidFill>
                <a:srgbClr val="E0A92B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remise 1 badge"/>
            <p:cNvSpPr/>
            <p:nvPr/>
          </p:nvSpPr>
          <p:spPr>
            <a:xfrm>
              <a:off x="4370832" y="1897380"/>
              <a:ext cx="329184" cy="329184"/>
            </a:xfrm>
            <a:prstGeom prst="ellipse">
              <a:avLst/>
            </a:prstGeom>
            <a:solidFill>
              <a:srgbClr val="E0A92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1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Premise 1 formula"/>
            <p:cNvSpPr txBox="1"/>
            <p:nvPr/>
          </p:nvSpPr>
          <p:spPr>
            <a:xfrm>
              <a:off x="4818888" y="1714500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q ∨ ¬p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2" name="Premise 1 meaning"/>
            <p:cNvSpPr txBox="1"/>
            <p:nvPr/>
          </p:nvSpPr>
          <p:spPr>
            <a:xfrm>
              <a:off x="6281928" y="1714500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Jasmine is skiing or it is not snowing.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9" name="Premise 2"/>
          <p:cNvGrpSpPr/>
          <p:nvPr/>
        </p:nvGrpSpPr>
        <p:grpSpPr>
          <a:xfrm>
            <a:off x="4224528" y="2455164"/>
            <a:ext cx="4242816" cy="923544"/>
            <a:chOff x="4224528" y="2455164"/>
            <a:chExt cx="4242816" cy="923544"/>
          </a:xfrm>
        </p:grpSpPr>
        <p:sp>
          <p:nvSpPr>
            <p:cNvPr id="24" name="Arrow"/>
            <p:cNvSpPr/>
            <p:nvPr/>
          </p:nvSpPr>
          <p:spPr>
            <a:xfrm>
              <a:off x="6245352" y="2455164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E0A92B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Premise 2 box"/>
            <p:cNvSpPr/>
            <p:nvPr/>
          </p:nvSpPr>
          <p:spPr>
            <a:xfrm>
              <a:off x="4224528" y="2683764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F8E1"/>
            </a:solidFill>
            <a:ln w="15875">
              <a:solidFill>
                <a:srgbClr val="E0A92B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Premise 2 badge"/>
            <p:cNvSpPr/>
            <p:nvPr/>
          </p:nvSpPr>
          <p:spPr>
            <a:xfrm>
              <a:off x="4370832" y="2866644"/>
              <a:ext cx="329184" cy="329184"/>
            </a:xfrm>
            <a:prstGeom prst="ellipse">
              <a:avLst/>
            </a:prstGeom>
            <a:solidFill>
              <a:srgbClr val="E0A92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2</a:t>
              </a:r>
              <a:endParaRPr lang="en-US" sz="120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7" name="Premise 2 formula"/>
            <p:cNvSpPr txBox="1"/>
            <p:nvPr/>
          </p:nvSpPr>
          <p:spPr>
            <a:xfrm>
              <a:off x="4818888" y="2683764"/>
              <a:ext cx="141732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 ∨ r</a:t>
              </a:r>
              <a:endParaRPr lang="en-US" sz="20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8" name="Premise 2 meaning"/>
            <p:cNvSpPr txBox="1"/>
            <p:nvPr/>
          </p:nvSpPr>
          <p:spPr>
            <a:xfrm>
              <a:off x="6281928" y="2683764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It is snowing or Bart is playing hockey.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Answer"/>
          <p:cNvGrpSpPr/>
          <p:nvPr/>
        </p:nvGrpSpPr>
        <p:grpSpPr>
          <a:xfrm>
            <a:off x="4224528" y="3424428"/>
            <a:ext cx="4242816" cy="923544"/>
            <a:chOff x="4224528" y="3424428"/>
            <a:chExt cx="4242816" cy="923544"/>
          </a:xfrm>
        </p:grpSpPr>
        <p:sp>
          <p:nvSpPr>
            <p:cNvPr id="30" name="Arrow"/>
            <p:cNvSpPr/>
            <p:nvPr/>
          </p:nvSpPr>
          <p:spPr>
            <a:xfrm>
              <a:off x="6245352" y="3424428"/>
              <a:ext cx="201168" cy="18288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Answer box"/>
            <p:cNvSpPr/>
            <p:nvPr/>
          </p:nvSpPr>
          <p:spPr>
            <a:xfrm>
              <a:off x="4224528" y="3653028"/>
              <a:ext cx="4242816" cy="694944"/>
            </a:xfrm>
            <a:prstGeom prst="roundRect">
              <a:avLst>
                <a:gd name="adj" fmla="val 12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Answer formula"/>
            <p:cNvSpPr txBox="1"/>
            <p:nvPr/>
          </p:nvSpPr>
          <p:spPr>
            <a:xfrm>
              <a:off x="4453128" y="3653028"/>
              <a:ext cx="1783080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dirty="0">
                  <a:solidFill>
                    <a:srgbClr val="FFFFFF"/>
                  </a:solidFill>
                  <a:latin typeface="Cambria Math" panose="02040503050406030204"/>
                  <a:cs typeface="Cambria Math" panose="02040503050406030204"/>
                </a:rPr>
                <a:t>∴ q ∨ r</a:t>
              </a:r>
              <a:endParaRPr lang="en-US" sz="2200" b="0" i="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3" name="Answer text"/>
            <p:cNvSpPr txBox="1"/>
            <p:nvPr/>
          </p:nvSpPr>
          <p:spPr>
            <a:xfrm>
              <a:off x="6281928" y="3653028"/>
              <a:ext cx="2048256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None/>
              </a:pPr>
              <a:r>
                <a:rPr lang="en-US" sz="900" b="1" i="0" dirty="0">
                  <a:solidFill>
                    <a:srgbClr val="FFE3D8"/>
                  </a:solidFill>
                  <a:latin typeface="Calibri" panose="020F0502020204030204"/>
                  <a:cs typeface="Calibri" panose="020F0502020204030204"/>
                </a:rPr>
                <a:t>ANSWER</a:t>
              </a:r>
              <a:endParaRPr lang="en-US" sz="900" b="1" i="0" dirty="0">
                <a:solidFill>
                  <a:srgbClr val="FFE3D8"/>
                </a:solidFill>
                <a:latin typeface="Calibri" panose="020F0502020204030204"/>
                <a:cs typeface="Calibri" panose="020F0502020204030204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 i="0" dirty="0">
                  <a:solidFill>
                    <a:srgbClr val="FFFFFF"/>
                  </a:solidFill>
                  <a:latin typeface="Calibri" panose="020F0502020204030204"/>
                  <a:cs typeface="Calibri" panose="020F0502020204030204"/>
                </a:rPr>
                <a:t>Jasmine is skiing or Bart is playing hockey.</a:t>
              </a:r>
              <a:endParaRPr lang="en-US" sz="1250" b="1" i="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1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16/28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79" name="Google Shape;679;p31"/>
          <p:cNvSpPr>
            <a:spLocks noGrp="1"/>
          </p:cNvSpPr>
          <p:nvPr/>
        </p:nvSpPr>
        <p:spPr>
          <a:xfrm>
            <a:off x="480060" y="189666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Building an argument (Example 6)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80" name="Google Shape;680;p31"/>
          <p:cNvSpPr>
            <a:spLocks noGrp="1"/>
          </p:cNvSpPr>
          <p:nvPr/>
        </p:nvSpPr>
        <p:spPr>
          <a:xfrm>
            <a:off x="480060" y="795474"/>
            <a:ext cx="8195310" cy="864108"/>
          </a:xfrm>
          <a:prstGeom prst="roundRect">
            <a:avLst>
              <a:gd name="adj" fmla="val 10909"/>
            </a:avLst>
          </a:prstGeom>
          <a:solidFill>
            <a:srgbClr val="FFF1EA"/>
          </a:solidFill>
          <a:ln w="12700" cmpd="sng">
            <a:solidFill>
              <a:srgbClr val="F2C9B8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1" name="Google Shape;681;p31"/>
          <p:cNvSpPr>
            <a:spLocks noGrp="1"/>
          </p:cNvSpPr>
          <p:nvPr/>
        </p:nvSpPr>
        <p:spPr>
          <a:xfrm>
            <a:off x="617220" y="877136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82" name="Google Shape;682;p31"/>
          <p:cNvSpPr>
            <a:spLocks noGrp="1"/>
          </p:cNvSpPr>
          <p:nvPr/>
        </p:nvSpPr>
        <p:spPr>
          <a:xfrm>
            <a:off x="611505" y="1077078"/>
            <a:ext cx="792099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200" b="0" i="0" u="none" cap="none">
                <a:solidFill>
                  <a:srgbClr val="2E2A5E"/>
                </a:solidFill>
              </a:rPr>
              <a:t>Premises: "It is not sunny this afternoon and it is colder than yesterday", "We will go swimming only if it is sunny", "If we do not go swimming, then we will take a canoe trip", and "If we take a canoe trip, then we will be home by sunset". What conclusion can be drawn?</a:t>
            </a:r>
            <a:endParaRPr sz="1200" b="0" i="0" u="none" cap="none">
              <a:solidFill>
                <a:schemeClr val="dk1"/>
              </a:solidFill>
            </a:endParaRPr>
          </a:p>
        </p:txBody>
      </p:sp>
      <p:sp>
        <p:nvSpPr>
          <p:cNvPr id="683" name="Google Shape;683;p31"/>
          <p:cNvSpPr>
            <a:spLocks noGrp="1"/>
          </p:cNvSpPr>
          <p:nvPr/>
        </p:nvSpPr>
        <p:spPr>
          <a:xfrm>
            <a:off x="528066" y="1933956"/>
            <a:ext cx="2948940" cy="2811780"/>
          </a:xfrm>
          <a:prstGeom prst="roundRect">
            <a:avLst>
              <a:gd name="adj" fmla="val 1463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4" name="Google Shape;684;p31"/>
          <p:cNvSpPr>
            <a:spLocks noGrp="1"/>
          </p:cNvSpPr>
          <p:nvPr/>
        </p:nvSpPr>
        <p:spPr>
          <a:xfrm>
            <a:off x="480060" y="1885950"/>
            <a:ext cx="2948940" cy="281178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5" name="Google Shape;685;p31"/>
          <p:cNvSpPr>
            <a:spLocks noGrp="1"/>
          </p:cNvSpPr>
          <p:nvPr/>
        </p:nvSpPr>
        <p:spPr>
          <a:xfrm>
            <a:off x="651510" y="197510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LET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86" name="Google Shape;686;p31"/>
          <p:cNvSpPr>
            <a:spLocks noGrp="1"/>
          </p:cNvSpPr>
          <p:nvPr/>
        </p:nvSpPr>
        <p:spPr>
          <a:xfrm>
            <a:off x="651510" y="2139696"/>
            <a:ext cx="26746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p: It is sunny this afternoon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q: It is colder than yesterday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r: We will go swimming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s: We will take a canoe trip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t: We will be home by sunset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87" name="Google Shape;687;p31"/>
          <p:cNvSpPr>
            <a:spLocks noGrp="1"/>
          </p:cNvSpPr>
          <p:nvPr/>
        </p:nvSpPr>
        <p:spPr>
          <a:xfrm>
            <a:off x="651510" y="315468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PREMISES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88" name="Google Shape;688;p31"/>
          <p:cNvSpPr>
            <a:spLocks noGrp="1"/>
          </p:cNvSpPr>
          <p:nvPr/>
        </p:nvSpPr>
        <p:spPr>
          <a:xfrm>
            <a:off x="651510" y="3326130"/>
            <a:ext cx="26746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¬p ∧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 → 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¬r → s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 → t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89" name="Google Shape;689;p31"/>
          <p:cNvSpPr>
            <a:spLocks noGrp="1"/>
          </p:cNvSpPr>
          <p:nvPr/>
        </p:nvSpPr>
        <p:spPr>
          <a:xfrm>
            <a:off x="651510" y="4183380"/>
            <a:ext cx="2606040" cy="377190"/>
          </a:xfrm>
          <a:prstGeom prst="roundRect">
            <a:avLst>
              <a:gd name="adj" fmla="val 21818"/>
            </a:avLst>
          </a:prstGeom>
          <a:solidFill>
            <a:srgbClr val="FF7145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0" name="Google Shape;690;p31"/>
          <p:cNvSpPr>
            <a:spLocks noGrp="1"/>
          </p:cNvSpPr>
          <p:nvPr/>
        </p:nvSpPr>
        <p:spPr>
          <a:xfrm>
            <a:off x="651510" y="4183380"/>
            <a:ext cx="260604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Goal: show t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1" name="Google Shape;691;p31"/>
          <p:cNvSpPr>
            <a:spLocks noGrp="1"/>
          </p:cNvSpPr>
          <p:nvPr/>
        </p:nvSpPr>
        <p:spPr>
          <a:xfrm>
            <a:off x="3634740" y="1885950"/>
            <a:ext cx="5040630" cy="315468"/>
          </a:xfrm>
          <a:prstGeom prst="roundRect">
            <a:avLst>
              <a:gd name="adj" fmla="val 26087"/>
            </a:avLst>
          </a:prstGeom>
          <a:solidFill>
            <a:srgbClr val="E9E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2" name="Google Shape;692;p31"/>
          <p:cNvSpPr>
            <a:spLocks noGrp="1"/>
          </p:cNvSpPr>
          <p:nvPr/>
        </p:nvSpPr>
        <p:spPr>
          <a:xfrm>
            <a:off x="3771900" y="1885950"/>
            <a:ext cx="27432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3" name="Google Shape;693;p31"/>
          <p:cNvSpPr>
            <a:spLocks noGrp="1"/>
          </p:cNvSpPr>
          <p:nvPr/>
        </p:nvSpPr>
        <p:spPr>
          <a:xfrm>
            <a:off x="4114800" y="1885950"/>
            <a:ext cx="15087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¬p ∧ q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4" name="Google Shape;694;p31"/>
          <p:cNvSpPr>
            <a:spLocks noGrp="1"/>
          </p:cNvSpPr>
          <p:nvPr/>
        </p:nvSpPr>
        <p:spPr>
          <a:xfrm>
            <a:off x="5692140" y="1885950"/>
            <a:ext cx="28803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Premise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5" name="Google Shape;695;p31"/>
          <p:cNvSpPr>
            <a:spLocks noGrp="1"/>
          </p:cNvSpPr>
          <p:nvPr/>
        </p:nvSpPr>
        <p:spPr>
          <a:xfrm>
            <a:off x="3634740" y="2242566"/>
            <a:ext cx="5040630" cy="315468"/>
          </a:xfrm>
          <a:prstGeom prst="roundRect">
            <a:avLst>
              <a:gd name="adj" fmla="val 26087"/>
            </a:avLst>
          </a:prstGeom>
          <a:solidFill>
            <a:srgbClr val="FFE3D9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6" name="Google Shape;696;p31"/>
          <p:cNvSpPr>
            <a:spLocks noGrp="1"/>
          </p:cNvSpPr>
          <p:nvPr/>
        </p:nvSpPr>
        <p:spPr>
          <a:xfrm>
            <a:off x="3771900" y="2242566"/>
            <a:ext cx="27432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7" name="Google Shape;697;p31"/>
          <p:cNvSpPr>
            <a:spLocks noGrp="1"/>
          </p:cNvSpPr>
          <p:nvPr/>
        </p:nvSpPr>
        <p:spPr>
          <a:xfrm>
            <a:off x="4114800" y="2242566"/>
            <a:ext cx="15087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8" name="Google Shape;698;p31"/>
          <p:cNvSpPr>
            <a:spLocks noGrp="1"/>
          </p:cNvSpPr>
          <p:nvPr/>
        </p:nvSpPr>
        <p:spPr>
          <a:xfrm>
            <a:off x="5692140" y="2242566"/>
            <a:ext cx="28803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Simplification using (1)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9" name="Google Shape;699;p31"/>
          <p:cNvSpPr>
            <a:spLocks noGrp="1"/>
          </p:cNvSpPr>
          <p:nvPr/>
        </p:nvSpPr>
        <p:spPr>
          <a:xfrm>
            <a:off x="3634740" y="2599182"/>
            <a:ext cx="5040630" cy="315468"/>
          </a:xfrm>
          <a:prstGeom prst="roundRect">
            <a:avLst>
              <a:gd name="adj" fmla="val 26087"/>
            </a:avLst>
          </a:prstGeom>
          <a:solidFill>
            <a:srgbClr val="E9E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0" name="Google Shape;700;p31"/>
          <p:cNvSpPr>
            <a:spLocks noGrp="1"/>
          </p:cNvSpPr>
          <p:nvPr/>
        </p:nvSpPr>
        <p:spPr>
          <a:xfrm>
            <a:off x="3771900" y="2599182"/>
            <a:ext cx="27432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01" name="Google Shape;701;p31"/>
          <p:cNvSpPr>
            <a:spLocks noGrp="1"/>
          </p:cNvSpPr>
          <p:nvPr/>
        </p:nvSpPr>
        <p:spPr>
          <a:xfrm>
            <a:off x="4114800" y="2599182"/>
            <a:ext cx="15087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r → p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02" name="Google Shape;702;p31"/>
          <p:cNvSpPr>
            <a:spLocks noGrp="1"/>
          </p:cNvSpPr>
          <p:nvPr/>
        </p:nvSpPr>
        <p:spPr>
          <a:xfrm>
            <a:off x="5692140" y="2599182"/>
            <a:ext cx="28803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Premise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03" name="Google Shape;703;p31"/>
          <p:cNvSpPr>
            <a:spLocks noGrp="1"/>
          </p:cNvSpPr>
          <p:nvPr/>
        </p:nvSpPr>
        <p:spPr>
          <a:xfrm>
            <a:off x="3634740" y="2955798"/>
            <a:ext cx="5040630" cy="315468"/>
          </a:xfrm>
          <a:prstGeom prst="roundRect">
            <a:avLst>
              <a:gd name="adj" fmla="val 26087"/>
            </a:avLst>
          </a:prstGeom>
          <a:solidFill>
            <a:srgbClr val="FFE3D9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4" name="Google Shape;704;p31"/>
          <p:cNvSpPr>
            <a:spLocks noGrp="1"/>
          </p:cNvSpPr>
          <p:nvPr/>
        </p:nvSpPr>
        <p:spPr>
          <a:xfrm>
            <a:off x="3771900" y="2955798"/>
            <a:ext cx="27432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05" name="Google Shape;705;p31"/>
          <p:cNvSpPr>
            <a:spLocks noGrp="1"/>
          </p:cNvSpPr>
          <p:nvPr/>
        </p:nvSpPr>
        <p:spPr>
          <a:xfrm>
            <a:off x="4114800" y="2955798"/>
            <a:ext cx="15087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¬r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06" name="Google Shape;706;p31"/>
          <p:cNvSpPr>
            <a:spLocks noGrp="1"/>
          </p:cNvSpPr>
          <p:nvPr/>
        </p:nvSpPr>
        <p:spPr>
          <a:xfrm>
            <a:off x="5692140" y="2955798"/>
            <a:ext cx="28803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Modus tollens using (2) and (3)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07" name="Google Shape;707;p31"/>
          <p:cNvSpPr>
            <a:spLocks noGrp="1"/>
          </p:cNvSpPr>
          <p:nvPr/>
        </p:nvSpPr>
        <p:spPr>
          <a:xfrm>
            <a:off x="3634740" y="3312414"/>
            <a:ext cx="5040630" cy="315468"/>
          </a:xfrm>
          <a:prstGeom prst="roundRect">
            <a:avLst>
              <a:gd name="adj" fmla="val 26087"/>
            </a:avLst>
          </a:prstGeom>
          <a:solidFill>
            <a:srgbClr val="E9E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8" name="Google Shape;708;p31"/>
          <p:cNvSpPr>
            <a:spLocks noGrp="1"/>
          </p:cNvSpPr>
          <p:nvPr/>
        </p:nvSpPr>
        <p:spPr>
          <a:xfrm>
            <a:off x="3771900" y="3312414"/>
            <a:ext cx="27432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09" name="Google Shape;709;p31"/>
          <p:cNvSpPr>
            <a:spLocks noGrp="1"/>
          </p:cNvSpPr>
          <p:nvPr/>
        </p:nvSpPr>
        <p:spPr>
          <a:xfrm>
            <a:off x="4114800" y="3312414"/>
            <a:ext cx="15087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¬r → s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10" name="Google Shape;710;p31"/>
          <p:cNvSpPr>
            <a:spLocks noGrp="1"/>
          </p:cNvSpPr>
          <p:nvPr/>
        </p:nvSpPr>
        <p:spPr>
          <a:xfrm>
            <a:off x="5692140" y="3312414"/>
            <a:ext cx="28803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Premise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11" name="Google Shape;711;p31"/>
          <p:cNvSpPr>
            <a:spLocks noGrp="1"/>
          </p:cNvSpPr>
          <p:nvPr/>
        </p:nvSpPr>
        <p:spPr>
          <a:xfrm>
            <a:off x="3634740" y="3669030"/>
            <a:ext cx="5040630" cy="315468"/>
          </a:xfrm>
          <a:prstGeom prst="roundRect">
            <a:avLst>
              <a:gd name="adj" fmla="val 26087"/>
            </a:avLst>
          </a:prstGeom>
          <a:solidFill>
            <a:srgbClr val="FFE3D9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2" name="Google Shape;712;p31"/>
          <p:cNvSpPr>
            <a:spLocks noGrp="1"/>
          </p:cNvSpPr>
          <p:nvPr/>
        </p:nvSpPr>
        <p:spPr>
          <a:xfrm>
            <a:off x="3771900" y="3669030"/>
            <a:ext cx="27432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13" name="Google Shape;713;p31"/>
          <p:cNvSpPr>
            <a:spLocks noGrp="1"/>
          </p:cNvSpPr>
          <p:nvPr/>
        </p:nvSpPr>
        <p:spPr>
          <a:xfrm>
            <a:off x="4114800" y="3669030"/>
            <a:ext cx="15087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14" name="Google Shape;714;p31"/>
          <p:cNvSpPr>
            <a:spLocks noGrp="1"/>
          </p:cNvSpPr>
          <p:nvPr/>
        </p:nvSpPr>
        <p:spPr>
          <a:xfrm>
            <a:off x="5692140" y="3669030"/>
            <a:ext cx="28803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Modus ponens using (4) and (5)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15" name="Google Shape;715;p31"/>
          <p:cNvSpPr>
            <a:spLocks noGrp="1"/>
          </p:cNvSpPr>
          <p:nvPr/>
        </p:nvSpPr>
        <p:spPr>
          <a:xfrm>
            <a:off x="3634740" y="4025646"/>
            <a:ext cx="5040630" cy="315468"/>
          </a:xfrm>
          <a:prstGeom prst="roundRect">
            <a:avLst>
              <a:gd name="adj" fmla="val 26087"/>
            </a:avLst>
          </a:prstGeom>
          <a:solidFill>
            <a:srgbClr val="E9E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6" name="Google Shape;716;p31"/>
          <p:cNvSpPr>
            <a:spLocks noGrp="1"/>
          </p:cNvSpPr>
          <p:nvPr/>
        </p:nvSpPr>
        <p:spPr>
          <a:xfrm>
            <a:off x="3771900" y="4025646"/>
            <a:ext cx="27432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17" name="Google Shape;717;p31"/>
          <p:cNvSpPr>
            <a:spLocks noGrp="1"/>
          </p:cNvSpPr>
          <p:nvPr/>
        </p:nvSpPr>
        <p:spPr>
          <a:xfrm>
            <a:off x="4114800" y="4025646"/>
            <a:ext cx="15087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s → t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18" name="Google Shape;718;p31"/>
          <p:cNvSpPr>
            <a:spLocks noGrp="1"/>
          </p:cNvSpPr>
          <p:nvPr/>
        </p:nvSpPr>
        <p:spPr>
          <a:xfrm>
            <a:off x="5692140" y="4025646"/>
            <a:ext cx="28803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Premise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19" name="Google Shape;719;p31"/>
          <p:cNvSpPr>
            <a:spLocks noGrp="1"/>
          </p:cNvSpPr>
          <p:nvPr/>
        </p:nvSpPr>
        <p:spPr>
          <a:xfrm>
            <a:off x="3634740" y="4382262"/>
            <a:ext cx="5040630" cy="315468"/>
          </a:xfrm>
          <a:prstGeom prst="roundRect">
            <a:avLst>
              <a:gd name="adj" fmla="val 26087"/>
            </a:avLst>
          </a:prstGeom>
          <a:solidFill>
            <a:srgbClr val="FFE3D9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0" name="Google Shape;720;p31"/>
          <p:cNvSpPr>
            <a:spLocks noGrp="1"/>
          </p:cNvSpPr>
          <p:nvPr/>
        </p:nvSpPr>
        <p:spPr>
          <a:xfrm>
            <a:off x="3771900" y="4382262"/>
            <a:ext cx="27432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21" name="Google Shape;721;p31"/>
          <p:cNvSpPr>
            <a:spLocks noGrp="1"/>
          </p:cNvSpPr>
          <p:nvPr/>
        </p:nvSpPr>
        <p:spPr>
          <a:xfrm>
            <a:off x="4114800" y="4382262"/>
            <a:ext cx="15087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t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22" name="Google Shape;722;p31"/>
          <p:cNvSpPr>
            <a:spLocks noGrp="1"/>
          </p:cNvSpPr>
          <p:nvPr/>
        </p:nvSpPr>
        <p:spPr>
          <a:xfrm>
            <a:off x="5692140" y="4382262"/>
            <a:ext cx="288036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Modus ponens using (6) and (7)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decel="60000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decel="60000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decel="600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decel="600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decel="60000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decel="60000" fill="hold"/>
                                        <p:tgtEl>
                                          <p:spTgt spid="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decel="600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decel="60000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decel="60000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decel="600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decel="600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decel="600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decel="6000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decel="60000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decel="60000" fill="hold"/>
                                        <p:tgtEl>
                                          <p:spTgt spid="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50" decel="60000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decel="60000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50" decel="60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50" decel="60000" fill="hold"/>
                                        <p:tgtEl>
                                          <p:spTgt spid="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50" decel="600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50" decel="60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50" decel="600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50" decel="60000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50" decel="60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450" decel="600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450" decel="600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50" decel="60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50" decel="60000" fill="hold"/>
                                        <p:tgtEl>
                                          <p:spTgt spid="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450" decel="60000" fill="hold"/>
                                        <p:tgtEl>
                                          <p:spTgt spid="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50" decel="600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450" decel="600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450" decel="600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" grpId="0" animBg="1"/>
      <p:bldP spid="692" grpId="0" animBg="1"/>
      <p:bldP spid="693" grpId="0" animBg="1"/>
      <p:bldP spid="694" grpId="0" animBg="1"/>
      <p:bldP spid="695" grpId="0" animBg="1"/>
      <p:bldP spid="696" grpId="0" animBg="1"/>
      <p:bldP spid="697" grpId="0" animBg="1"/>
      <p:bldP spid="698" grpId="0" animBg="1"/>
      <p:bldP spid="699" grpId="0" animBg="1"/>
      <p:bldP spid="700" grpId="0" animBg="1"/>
      <p:bldP spid="701" grpId="0" animBg="1"/>
      <p:bldP spid="702" grpId="0" animBg="1"/>
      <p:bldP spid="703" grpId="0" animBg="1"/>
      <p:bldP spid="704" grpId="0" animBg="1"/>
      <p:bldP spid="705" grpId="0" animBg="1"/>
      <p:bldP spid="706" grpId="0" animBg="1"/>
      <p:bldP spid="707" grpId="0" animBg="1"/>
      <p:bldP spid="708" grpId="0" animBg="1"/>
      <p:bldP spid="709" grpId="0" animBg="1"/>
      <p:bldP spid="710" grpId="0" animBg="1"/>
      <p:bldP spid="711" grpId="0" animBg="1"/>
      <p:bldP spid="712" grpId="0" animBg="1"/>
      <p:bldP spid="713" grpId="0" animBg="1"/>
      <p:bldP spid="714" grpId="0" animBg="1"/>
      <p:bldP spid="715" grpId="0" animBg="1"/>
      <p:bldP spid="716" grpId="0" animBg="1"/>
      <p:bldP spid="717" grpId="0" animBg="1"/>
      <p:bldP spid="718" grpId="0" animBg="1"/>
      <p:bldP spid="719" grpId="0" animBg="1"/>
      <p:bldP spid="720" grpId="0" animBg="1"/>
      <p:bldP spid="721" grpId="0" animBg="1"/>
      <p:bldP spid="7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Rectangle 982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buNone/>
              <a:defRPr sz="240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40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17/28</a:t>
            </a:r>
            <a:endParaRPr sz="2400">
              <a:solidFill>
                <a:srgbClr val="6B689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73" name="Roadmap heading"/>
          <p:cNvSpPr txBox="1"/>
          <p:nvPr/>
        </p:nvSpPr>
        <p:spPr>
          <a:xfrm>
            <a:off x="4611788" y="1220000"/>
            <a:ext cx="31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300" b="1">
                <a:solidFill>
                  <a:srgbClr val="30264D"/>
                </a:solidFill>
                <a:latin typeface="Raleway"/>
              </a:rPr>
              <a:t>TOPICS I’LL COVER</a:t>
            </a:r>
            <a:endParaRPr lang="en-US" sz="2300"/>
          </a:p>
        </p:txBody>
      </p:sp>
      <p:sp>
        <p:nvSpPr>
          <p:cNvPr id="978" name="Roadmap accent rule"/>
          <p:cNvSpPr/>
          <p:nvPr/>
        </p:nvSpPr>
        <p:spPr>
          <a:xfrm>
            <a:off x="4611787" y="1730000"/>
            <a:ext cx="2814927" cy="76498"/>
          </a:xfrm>
          <a:prstGeom prst="rect">
            <a:avLst/>
          </a:prstGeom>
          <a:solidFill>
            <a:srgbClr val="9365E8"/>
          </a:solidFill>
          <a:ln w="0">
            <a:solidFill>
              <a:srgbClr val="936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0" name="Roadmap track"/>
          <p:cNvSpPr/>
          <p:nvPr/>
        </p:nvSpPr>
        <p:spPr>
          <a:xfrm>
            <a:off x="4776788" y="2190000"/>
            <a:ext cx="26000" cy="1700000"/>
          </a:xfrm>
          <a:prstGeom prst="rect">
            <a:avLst/>
          </a:prstGeom>
          <a:solidFill>
            <a:srgbClr val="D9D0EC"/>
          </a:solidFill>
          <a:ln w="0">
            <a:solidFill>
              <a:srgbClr val="D9D0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2" name="Topic waypoint 1"/>
          <p:cNvSpPr/>
          <p:nvPr/>
        </p:nvSpPr>
        <p:spPr>
          <a:xfrm>
            <a:off x="4654618" y="2100000"/>
            <a:ext cx="274644" cy="283854"/>
          </a:xfrm>
          <a:prstGeom prst="ellipse">
            <a:avLst/>
          </a:prstGeom>
          <a:solidFill>
            <a:srgbClr val="9365E8"/>
          </a:solidFill>
          <a:ln w="0">
            <a:solidFill>
              <a:srgbClr val="936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5" name="Topic index 1"/>
          <p:cNvSpPr txBox="1"/>
          <p:nvPr/>
        </p:nvSpPr>
        <p:spPr>
          <a:xfrm>
            <a:off x="4662051" y="2112059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01</a:t>
            </a:r>
            <a:endParaRPr lang="en-US" sz="1200" dirty="0"/>
          </a:p>
        </p:txBody>
      </p:sp>
      <p:sp>
        <p:nvSpPr>
          <p:cNvPr id="987" name="Topic name 1"/>
          <p:cNvSpPr txBox="1"/>
          <p:nvPr/>
        </p:nvSpPr>
        <p:spPr>
          <a:xfrm>
            <a:off x="5051788" y="2090000"/>
            <a:ext cx="26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rgbClr val="30264D"/>
                </a:solidFill>
                <a:latin typeface="Raleway"/>
              </a:rPr>
              <a:t>Fallacies</a:t>
            </a:r>
            <a:endParaRPr lang="en-US" dirty="0"/>
          </a:p>
        </p:txBody>
      </p:sp>
      <p:sp>
        <p:nvSpPr>
          <p:cNvPr id="989" name="Topic waypoint 2"/>
          <p:cNvSpPr/>
          <p:nvPr/>
        </p:nvSpPr>
        <p:spPr>
          <a:xfrm>
            <a:off x="4654617" y="2950000"/>
            <a:ext cx="274645" cy="283854"/>
          </a:xfrm>
          <a:prstGeom prst="ellipse">
            <a:avLst/>
          </a:prstGeom>
          <a:solidFill>
            <a:srgbClr val="26AEB8"/>
          </a:solidFill>
          <a:ln w="0">
            <a:solidFill>
              <a:srgbClr val="26AEB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1" name="Topic index 2"/>
          <p:cNvSpPr txBox="1"/>
          <p:nvPr/>
        </p:nvSpPr>
        <p:spPr>
          <a:xfrm>
            <a:off x="4662051" y="2984361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02</a:t>
            </a:r>
            <a:endParaRPr lang="en-US" sz="1200" dirty="0"/>
          </a:p>
        </p:txBody>
      </p:sp>
      <p:sp>
        <p:nvSpPr>
          <p:cNvPr id="993" name="Topic name 2"/>
          <p:cNvSpPr txBox="1"/>
          <p:nvPr/>
        </p:nvSpPr>
        <p:spPr>
          <a:xfrm>
            <a:off x="5036920" y="2940000"/>
            <a:ext cx="3237288" cy="35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b="1" dirty="0"/>
              <a:t>Affirming the consequent</a:t>
            </a:r>
            <a:endParaRPr lang="en-US" dirty="0">
              <a:effectLst/>
            </a:endParaRPr>
          </a:p>
        </p:txBody>
      </p:sp>
      <p:sp>
        <p:nvSpPr>
          <p:cNvPr id="995" name="Topic waypoint 3"/>
          <p:cNvSpPr/>
          <p:nvPr/>
        </p:nvSpPr>
        <p:spPr>
          <a:xfrm>
            <a:off x="4662051" y="3814868"/>
            <a:ext cx="274645" cy="283854"/>
          </a:xfrm>
          <a:prstGeom prst="ellipse">
            <a:avLst/>
          </a:prstGeom>
          <a:solidFill>
            <a:srgbClr val="F07A62"/>
          </a:solidFill>
          <a:ln w="0">
            <a:solidFill>
              <a:srgbClr val="F07A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7" name="Topic index 3"/>
          <p:cNvSpPr txBox="1"/>
          <p:nvPr/>
        </p:nvSpPr>
        <p:spPr>
          <a:xfrm>
            <a:off x="4662051" y="3834361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03</a:t>
            </a:r>
            <a:endParaRPr lang="en-US" sz="1200" dirty="0"/>
          </a:p>
        </p:txBody>
      </p:sp>
      <p:sp>
        <p:nvSpPr>
          <p:cNvPr id="999" name="Topic name 3"/>
          <p:cNvSpPr txBox="1"/>
          <p:nvPr/>
        </p:nvSpPr>
        <p:spPr>
          <a:xfrm>
            <a:off x="5051788" y="3842038"/>
            <a:ext cx="26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b="1" dirty="0"/>
              <a:t>Denying the hypothesis</a:t>
            </a:r>
            <a:endParaRPr lang="en-US" dirty="0">
              <a:effectLst/>
            </a:endParaRPr>
          </a:p>
        </p:txBody>
      </p:sp>
      <p:sp>
        <p:nvSpPr>
          <p:cNvPr id="1003" name="Google Shape;975;p38"/>
          <p:cNvSpPr>
            <a:spLocks noGrp="1"/>
          </p:cNvSpPr>
          <p:nvPr/>
        </p:nvSpPr>
        <p:spPr>
          <a:xfrm>
            <a:off x="1057252" y="1249940"/>
            <a:ext cx="51435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5000"/>
              <a:buFont typeface="Raleway"/>
              <a:buNone/>
            </a:pPr>
            <a:r>
              <a:rPr lang="en-US" sz="3600" b="0" i="0" u="non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SAJAL SAHA</a:t>
            </a:r>
            <a:endParaRPr sz="36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5" name="Google Shape;976;p38"/>
          <p:cNvSpPr>
            <a:spLocks noGrp="1"/>
          </p:cNvSpPr>
          <p:nvPr/>
        </p:nvSpPr>
        <p:spPr>
          <a:xfrm>
            <a:off x="1078823" y="1837236"/>
            <a:ext cx="51435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2100"/>
              <a:buFont typeface="Calibri" panose="020F0502020204030204"/>
              <a:buNone/>
            </a:pPr>
            <a:r>
              <a:rPr lang="en-US" sz="2100" b="1" i="0" u="none" cap="none" dirty="0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ROLL : </a:t>
            </a:r>
            <a:r>
              <a:rPr lang="en-US" sz="2100" b="1" dirty="0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36</a:t>
            </a:r>
            <a:endParaRPr lang="en-US" sz="21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7" name="TextBox 1006"/>
          <p:cNvSpPr txBox="1"/>
          <p:nvPr/>
        </p:nvSpPr>
        <p:spPr>
          <a:xfrm>
            <a:off x="977982" y="2187553"/>
            <a:ext cx="2193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BATCH : CSD-105</a:t>
            </a:r>
            <a:endParaRPr lang="en-U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13" name="Picture 9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7252" y="200538"/>
            <a:ext cx="1939915" cy="58059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2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18/28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0" name="Google Shape;730;p32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What is a fallacy?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1" name="Google Shape;731;p32"/>
          <p:cNvSpPr>
            <a:spLocks noGrp="1"/>
          </p:cNvSpPr>
          <p:nvPr/>
        </p:nvSpPr>
        <p:spPr>
          <a:xfrm>
            <a:off x="528066" y="1076706"/>
            <a:ext cx="4011930" cy="3188970"/>
          </a:xfrm>
          <a:prstGeom prst="roundRect">
            <a:avLst>
              <a:gd name="adj" fmla="val 1290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2" name="Google Shape;732;p32"/>
          <p:cNvSpPr>
            <a:spLocks noGrp="1"/>
          </p:cNvSpPr>
          <p:nvPr/>
        </p:nvSpPr>
        <p:spPr>
          <a:xfrm>
            <a:off x="480060" y="1028700"/>
            <a:ext cx="4011930" cy="318897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3" name="Google Shape;733;p32"/>
          <p:cNvSpPr>
            <a:spLocks noGrp="1"/>
          </p:cNvSpPr>
          <p:nvPr/>
        </p:nvSpPr>
        <p:spPr>
          <a:xfrm>
            <a:off x="562356" y="1110996"/>
            <a:ext cx="3847338" cy="342900"/>
          </a:xfrm>
          <a:prstGeom prst="roundRect">
            <a:avLst>
              <a:gd name="adj" fmla="val 10000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4" name="Google Shape;734;p32"/>
          <p:cNvSpPr>
            <a:spLocks noGrp="1"/>
          </p:cNvSpPr>
          <p:nvPr/>
        </p:nvSpPr>
        <p:spPr>
          <a:xfrm>
            <a:off x="562356" y="1110996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Real-life example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5" name="Google Shape;735;p32"/>
          <p:cNvSpPr>
            <a:spLocks noGrp="1"/>
          </p:cNvSpPr>
          <p:nvPr/>
        </p:nvSpPr>
        <p:spPr>
          <a:xfrm>
            <a:off x="617220" y="1543050"/>
            <a:ext cx="3737610" cy="582930"/>
          </a:xfrm>
          <a:prstGeom prst="roundRect">
            <a:avLst>
              <a:gd name="adj" fmla="val 11765"/>
            </a:avLst>
          </a:prstGeom>
          <a:solidFill>
            <a:srgbClr val="F3F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6" name="Google Shape;736;p32"/>
          <p:cNvSpPr>
            <a:spLocks noGrp="1"/>
          </p:cNvSpPr>
          <p:nvPr/>
        </p:nvSpPr>
        <p:spPr>
          <a:xfrm>
            <a:off x="720090" y="1597914"/>
            <a:ext cx="353187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SCENARIO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7" name="Google Shape;737;p32"/>
          <p:cNvSpPr>
            <a:spLocks noGrp="1"/>
          </p:cNvSpPr>
          <p:nvPr/>
        </p:nvSpPr>
        <p:spPr>
          <a:xfrm>
            <a:off x="720090" y="1735074"/>
            <a:ext cx="3566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p: It rains.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q: The street is wet.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8" name="Google Shape;738;p32"/>
          <p:cNvSpPr>
            <a:spLocks noGrp="1"/>
          </p:cNvSpPr>
          <p:nvPr/>
        </p:nvSpPr>
        <p:spPr>
          <a:xfrm>
            <a:off x="617220" y="2194560"/>
            <a:ext cx="3737610" cy="1200150"/>
          </a:xfrm>
          <a:prstGeom prst="roundRect">
            <a:avLst>
              <a:gd name="adj" fmla="val 5714"/>
            </a:avLst>
          </a:prstGeom>
          <a:solidFill>
            <a:srgbClr val="E4F6F7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9" name="Google Shape;739;p32"/>
          <p:cNvSpPr>
            <a:spLocks noGrp="1"/>
          </p:cNvSpPr>
          <p:nvPr/>
        </p:nvSpPr>
        <p:spPr>
          <a:xfrm>
            <a:off x="720090" y="2249424"/>
            <a:ext cx="353187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INVALID FORM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0" name="Google Shape;740;p32"/>
          <p:cNvSpPr>
            <a:spLocks noGrp="1"/>
          </p:cNvSpPr>
          <p:nvPr/>
        </p:nvSpPr>
        <p:spPr>
          <a:xfrm>
            <a:off x="720090" y="2400300"/>
            <a:ext cx="11658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1" name="Google Shape;741;p32"/>
          <p:cNvSpPr>
            <a:spLocks noGrp="1"/>
          </p:cNvSpPr>
          <p:nvPr/>
        </p:nvSpPr>
        <p:spPr>
          <a:xfrm>
            <a:off x="1920240" y="2400300"/>
            <a:ext cx="2366010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 dirty="0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street being wet does not prove that it rained.</a:t>
            </a:r>
            <a:endParaRPr sz="10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2" name="Google Shape;742;p32"/>
          <p:cNvSpPr>
            <a:spLocks noGrp="1"/>
          </p:cNvSpPr>
          <p:nvPr/>
        </p:nvSpPr>
        <p:spPr>
          <a:xfrm>
            <a:off x="617220" y="3463290"/>
            <a:ext cx="1645920" cy="651510"/>
          </a:xfrm>
          <a:prstGeom prst="roundRect">
            <a:avLst>
              <a:gd name="adj" fmla="val 10526"/>
            </a:avLst>
          </a:prstGeom>
          <a:solidFill>
            <a:srgbClr val="FFF1EA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3" name="Google Shape;743;p32"/>
          <p:cNvSpPr>
            <a:spLocks noGrp="1"/>
          </p:cNvSpPr>
          <p:nvPr/>
        </p:nvSpPr>
        <p:spPr>
          <a:xfrm>
            <a:off x="720090" y="3518154"/>
            <a:ext cx="14401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4" name="Google Shape;744;p32"/>
          <p:cNvSpPr>
            <a:spLocks noGrp="1"/>
          </p:cNvSpPr>
          <p:nvPr/>
        </p:nvSpPr>
        <p:spPr>
          <a:xfrm>
            <a:off x="720090" y="366903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might the street be wet?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5" name="Google Shape;745;p32"/>
          <p:cNvSpPr>
            <a:spLocks noGrp="1"/>
          </p:cNvSpPr>
          <p:nvPr/>
        </p:nvSpPr>
        <p:spPr>
          <a:xfrm>
            <a:off x="2331720" y="3463290"/>
            <a:ext cx="2023110" cy="651510"/>
          </a:xfrm>
          <a:prstGeom prst="roundRect">
            <a:avLst>
              <a:gd name="adj" fmla="val 10526"/>
            </a:avLst>
          </a:prstGeom>
          <a:solidFill>
            <a:srgbClr val="FF7145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6" name="Google Shape;746;p32"/>
          <p:cNvSpPr>
            <a:spLocks noGrp="1"/>
          </p:cNvSpPr>
          <p:nvPr/>
        </p:nvSpPr>
        <p:spPr>
          <a:xfrm>
            <a:off x="2434590" y="3518154"/>
            <a:ext cx="17830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ANSWER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7" name="Google Shape;747;p32"/>
          <p:cNvSpPr>
            <a:spLocks noGrp="1"/>
          </p:cNvSpPr>
          <p:nvPr/>
        </p:nvSpPr>
        <p:spPr>
          <a:xfrm>
            <a:off x="2434590" y="3669030"/>
            <a:ext cx="18173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street cleaner could wet it.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8" name="Google Shape;748;p32"/>
          <p:cNvSpPr>
            <a:spLocks noGrp="1"/>
          </p:cNvSpPr>
          <p:nvPr/>
        </p:nvSpPr>
        <p:spPr>
          <a:xfrm>
            <a:off x="4711446" y="1076706"/>
            <a:ext cx="4011930" cy="3188970"/>
          </a:xfrm>
          <a:prstGeom prst="roundRect">
            <a:avLst>
              <a:gd name="adj" fmla="val 1290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9" name="Google Shape;749;p32"/>
          <p:cNvSpPr>
            <a:spLocks noGrp="1"/>
          </p:cNvSpPr>
          <p:nvPr/>
        </p:nvSpPr>
        <p:spPr>
          <a:xfrm>
            <a:off x="4663440" y="1028700"/>
            <a:ext cx="4011930" cy="318897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0" name="Google Shape;750;p32"/>
          <p:cNvSpPr>
            <a:spLocks noGrp="1"/>
          </p:cNvSpPr>
          <p:nvPr/>
        </p:nvSpPr>
        <p:spPr>
          <a:xfrm>
            <a:off x="4745736" y="1110996"/>
            <a:ext cx="3847338" cy="342900"/>
          </a:xfrm>
          <a:prstGeom prst="roundRect">
            <a:avLst>
              <a:gd name="adj" fmla="val 10000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1" name="Google Shape;751;p32"/>
          <p:cNvSpPr>
            <a:spLocks noGrp="1"/>
          </p:cNvSpPr>
          <p:nvPr/>
        </p:nvSpPr>
        <p:spPr>
          <a:xfrm>
            <a:off x="4745736" y="1110996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Why it fails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2" name="Google Shape;752;p32"/>
          <p:cNvSpPr>
            <a:spLocks noGrp="1"/>
          </p:cNvSpPr>
          <p:nvPr/>
        </p:nvSpPr>
        <p:spPr>
          <a:xfrm>
            <a:off x="4800600" y="1543050"/>
            <a:ext cx="3737610" cy="582930"/>
          </a:xfrm>
          <a:prstGeom prst="roundRect">
            <a:avLst>
              <a:gd name="adj" fmla="val 11765"/>
            </a:avLst>
          </a:prstGeom>
          <a:solidFill>
            <a:srgbClr val="F3F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3" name="Google Shape;753;p32"/>
          <p:cNvSpPr>
            <a:spLocks noGrp="1"/>
          </p:cNvSpPr>
          <p:nvPr/>
        </p:nvSpPr>
        <p:spPr>
          <a:xfrm>
            <a:off x="4903470" y="1597914"/>
            <a:ext cx="353187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LOGIC CHECK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4" name="Google Shape;754;p32"/>
          <p:cNvSpPr>
            <a:spLocks noGrp="1"/>
          </p:cNvSpPr>
          <p:nvPr/>
        </p:nvSpPr>
        <p:spPr>
          <a:xfrm>
            <a:off x="4903470" y="1735074"/>
            <a:ext cx="3566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 dirty="0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implication says rain is enough to make the street wet; it does not say rain is the only cause.</a:t>
            </a:r>
            <a:endParaRPr sz="14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5" name="Google Shape;755;p32"/>
          <p:cNvSpPr>
            <a:spLocks noGrp="1"/>
          </p:cNvSpPr>
          <p:nvPr/>
        </p:nvSpPr>
        <p:spPr>
          <a:xfrm>
            <a:off x="4800600" y="2194560"/>
            <a:ext cx="3737610" cy="1200150"/>
          </a:xfrm>
          <a:prstGeom prst="roundRect">
            <a:avLst>
              <a:gd name="adj" fmla="val 5714"/>
            </a:avLst>
          </a:prstGeom>
          <a:solidFill>
            <a:srgbClr val="E4F6F7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6" name="Google Shape;756;p32"/>
          <p:cNvSpPr>
            <a:spLocks noGrp="1"/>
          </p:cNvSpPr>
          <p:nvPr/>
        </p:nvSpPr>
        <p:spPr>
          <a:xfrm>
            <a:off x="4903470" y="2249424"/>
            <a:ext cx="353187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 THE PATTERN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7" name="Google Shape;757;p32"/>
          <p:cNvSpPr>
            <a:spLocks noGrp="1"/>
          </p:cNvSpPr>
          <p:nvPr/>
        </p:nvSpPr>
        <p:spPr>
          <a:xfrm>
            <a:off x="4903470" y="2400300"/>
            <a:ext cx="11658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8" name="Google Shape;758;p32"/>
          <p:cNvSpPr>
            <a:spLocks noGrp="1"/>
          </p:cNvSpPr>
          <p:nvPr/>
        </p:nvSpPr>
        <p:spPr>
          <a:xfrm>
            <a:off x="6103620" y="2400300"/>
            <a:ext cx="2366010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This invalid form is called affirming the consequent.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9" name="Google Shape;759;p32"/>
          <p:cNvSpPr>
            <a:spLocks noGrp="1"/>
          </p:cNvSpPr>
          <p:nvPr/>
        </p:nvSpPr>
        <p:spPr>
          <a:xfrm>
            <a:off x="4800600" y="3463290"/>
            <a:ext cx="1645920" cy="651510"/>
          </a:xfrm>
          <a:prstGeom prst="roundRect">
            <a:avLst>
              <a:gd name="adj" fmla="val 10526"/>
            </a:avLst>
          </a:prstGeom>
          <a:solidFill>
            <a:srgbClr val="FFF1EA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0" name="Google Shape;760;p32"/>
          <p:cNvSpPr>
            <a:spLocks noGrp="1"/>
          </p:cNvSpPr>
          <p:nvPr/>
        </p:nvSpPr>
        <p:spPr>
          <a:xfrm>
            <a:off x="4903470" y="3518154"/>
            <a:ext cx="14401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1" name="Google Shape;761;p32"/>
          <p:cNvSpPr>
            <a:spLocks noGrp="1"/>
          </p:cNvSpPr>
          <p:nvPr/>
        </p:nvSpPr>
        <p:spPr>
          <a:xfrm>
            <a:off x="4903470" y="366903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would be valid?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2" name="Google Shape;762;p32"/>
          <p:cNvSpPr>
            <a:spLocks noGrp="1"/>
          </p:cNvSpPr>
          <p:nvPr/>
        </p:nvSpPr>
        <p:spPr>
          <a:xfrm>
            <a:off x="6515100" y="3463290"/>
            <a:ext cx="2023110" cy="651510"/>
          </a:xfrm>
          <a:prstGeom prst="roundRect">
            <a:avLst>
              <a:gd name="adj" fmla="val 10526"/>
            </a:avLst>
          </a:prstGeom>
          <a:solidFill>
            <a:srgbClr val="FF7145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3" name="Google Shape;763;p32"/>
          <p:cNvSpPr>
            <a:spLocks noGrp="1"/>
          </p:cNvSpPr>
          <p:nvPr/>
        </p:nvSpPr>
        <p:spPr>
          <a:xfrm>
            <a:off x="6617970" y="3518154"/>
            <a:ext cx="17830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ANSWER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4" name="Google Shape;764;p32"/>
          <p:cNvSpPr>
            <a:spLocks noGrp="1"/>
          </p:cNvSpPr>
          <p:nvPr/>
        </p:nvSpPr>
        <p:spPr>
          <a:xfrm>
            <a:off x="6617970" y="3669030"/>
            <a:ext cx="18173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Modus ponens: p → q; p; ∴ q.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5" name="Google Shape;765;p32"/>
          <p:cNvSpPr>
            <a:spLocks noGrp="1"/>
          </p:cNvSpPr>
          <p:nvPr/>
        </p:nvSpPr>
        <p:spPr>
          <a:xfrm>
            <a:off x="480060" y="4409748"/>
            <a:ext cx="8195310" cy="377190"/>
          </a:xfrm>
          <a:prstGeom prst="roundRect">
            <a:avLst>
              <a:gd name="adj" fmla="val 21818"/>
            </a:avLst>
          </a:prstGeom>
          <a:solidFill>
            <a:srgbClr val="B8EDE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6" name="Google Shape;766;p32"/>
          <p:cNvSpPr>
            <a:spLocks noGrp="1"/>
          </p:cNvSpPr>
          <p:nvPr/>
        </p:nvSpPr>
        <p:spPr>
          <a:xfrm>
            <a:off x="651510" y="4394880"/>
            <a:ext cx="785241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fallacy sounds convincing but does not guarantee its conclusion.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5488" y="25603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E2A5E"/>
                </a:solidFill>
                <a:latin typeface="Raleway"/>
                <a:cs typeface="Raleway"/>
              </a:rPr>
              <a:t>Rain and a wet street</a:t>
            </a:r>
            <a:endParaRPr lang="en-US" sz="2600" b="1" i="0" dirty="0">
              <a:solidFill>
                <a:srgbClr val="2E2A5E"/>
              </a:solidFill>
              <a:latin typeface="Raleway"/>
              <a:cs typeface="Raleway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75488" y="8229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A visual example of the fallacy: affirming the consequent</a:t>
            </a:r>
            <a:endParaRPr lang="en-US" sz="12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Page number"/>
          <p:cNvSpPr txBox="1"/>
          <p:nvPr/>
        </p:nvSpPr>
        <p:spPr>
          <a:xfrm>
            <a:off x="78181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B6890"/>
                </a:solidFill>
                <a:latin typeface="Calibri" panose="020F0502020204030204"/>
                <a:cs typeface="Calibri" panose="020F0502020204030204"/>
              </a:rPr>
              <a:t>19/28</a:t>
            </a:r>
            <a:endParaRPr lang="en-US" sz="2400" b="0" i="0" dirty="0">
              <a:solidFill>
                <a:srgbClr val="6B689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Rain scene"/>
          <p:cNvGrpSpPr/>
          <p:nvPr/>
        </p:nvGrpSpPr>
        <p:grpSpPr>
          <a:xfrm>
            <a:off x="475488" y="1234440"/>
            <a:ext cx="3931920" cy="2148840"/>
            <a:chOff x="475488" y="1234440"/>
            <a:chExt cx="3931920" cy="2148840"/>
          </a:xfrm>
        </p:grpSpPr>
        <p:sp>
          <p:nvSpPr>
            <p:cNvPr id="5" name="Left panel"/>
            <p:cNvSpPr/>
            <p:nvPr/>
          </p:nvSpPr>
          <p:spPr>
            <a:xfrm>
              <a:off x="475488" y="1234440"/>
              <a:ext cx="3931920" cy="2148840"/>
            </a:xfrm>
            <a:prstGeom prst="roundRect">
              <a:avLst>
                <a:gd name="adj" fmla="val 7000"/>
              </a:avLst>
            </a:prstGeom>
            <a:solidFill>
              <a:srgbClr val="F3F0FF"/>
            </a:solidFill>
            <a:ln w="15875">
              <a:solidFill>
                <a:srgbClr val="DAD4F2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Left heading"/>
            <p:cNvSpPr txBox="1"/>
            <p:nvPr/>
          </p:nvSpPr>
          <p:spPr>
            <a:xfrm>
              <a:off x="676656" y="1344168"/>
              <a:ext cx="35295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dirty="0">
                  <a:solidFill>
                    <a:srgbClr val="2E2A5E"/>
                  </a:solidFill>
                  <a:latin typeface="Raleway"/>
                  <a:cs typeface="Raleway"/>
                </a:rPr>
                <a:t>If it rains, the street gets wet</a:t>
              </a:r>
              <a:endParaRPr lang="en-US" sz="1300" b="1" i="0" dirty="0">
                <a:solidFill>
                  <a:srgbClr val="2E2A5E"/>
                </a:solidFill>
                <a:latin typeface="Raleway"/>
                <a:cs typeface="Raleway"/>
              </a:endParaRPr>
            </a:p>
          </p:txBody>
        </p:sp>
        <p:sp>
          <p:nvSpPr>
            <p:cNvPr id="7" name="Rain cloud"/>
            <p:cNvSpPr/>
            <p:nvPr/>
          </p:nvSpPr>
          <p:spPr>
            <a:xfrm>
              <a:off x="1755648" y="1691640"/>
              <a:ext cx="1371600" cy="640080"/>
            </a:xfrm>
            <a:prstGeom prst="cloud">
              <a:avLst/>
            </a:prstGeom>
            <a:solidFill>
              <a:srgbClr val="879AC1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Rain drop"/>
            <p:cNvSpPr/>
            <p:nvPr/>
          </p:nvSpPr>
          <p:spPr>
            <a:xfrm>
              <a:off x="1984248" y="2377440"/>
              <a:ext cx="45720" cy="182880"/>
            </a:xfrm>
            <a:prstGeom prst="roundRect">
              <a:avLst>
                <a:gd name="adj" fmla="val 50000"/>
              </a:avLst>
            </a:prstGeom>
            <a:solidFill>
              <a:srgbClr val="36AFC2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Rain drop"/>
            <p:cNvSpPr/>
            <p:nvPr/>
          </p:nvSpPr>
          <p:spPr>
            <a:xfrm>
              <a:off x="2240280" y="2377440"/>
              <a:ext cx="45720" cy="182880"/>
            </a:xfrm>
            <a:prstGeom prst="roundRect">
              <a:avLst>
                <a:gd name="adj" fmla="val 50000"/>
              </a:avLst>
            </a:prstGeom>
            <a:solidFill>
              <a:srgbClr val="36AFC2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Rain drop"/>
            <p:cNvSpPr/>
            <p:nvPr/>
          </p:nvSpPr>
          <p:spPr>
            <a:xfrm>
              <a:off x="2496312" y="2377440"/>
              <a:ext cx="45720" cy="182880"/>
            </a:xfrm>
            <a:prstGeom prst="roundRect">
              <a:avLst>
                <a:gd name="adj" fmla="val 50000"/>
              </a:avLst>
            </a:prstGeom>
            <a:solidFill>
              <a:srgbClr val="36AFC2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Rain drop"/>
            <p:cNvSpPr/>
            <p:nvPr/>
          </p:nvSpPr>
          <p:spPr>
            <a:xfrm>
              <a:off x="2752344" y="2377440"/>
              <a:ext cx="45720" cy="182880"/>
            </a:xfrm>
            <a:prstGeom prst="roundRect">
              <a:avLst>
                <a:gd name="adj" fmla="val 50000"/>
              </a:avLst>
            </a:prstGeom>
            <a:solidFill>
              <a:srgbClr val="36AFC2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Rain drop"/>
            <p:cNvSpPr/>
            <p:nvPr/>
          </p:nvSpPr>
          <p:spPr>
            <a:xfrm>
              <a:off x="3008376" y="2377440"/>
              <a:ext cx="45720" cy="182880"/>
            </a:xfrm>
            <a:prstGeom prst="roundRect">
              <a:avLst>
                <a:gd name="adj" fmla="val 50000"/>
              </a:avLst>
            </a:prstGeom>
            <a:solidFill>
              <a:srgbClr val="36AFC2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Road"/>
            <p:cNvSpPr/>
            <p:nvPr/>
          </p:nvSpPr>
          <p:spPr>
            <a:xfrm>
              <a:off x="658368" y="2697480"/>
              <a:ext cx="3566160" cy="502920"/>
            </a:xfrm>
            <a:prstGeom prst="rect">
              <a:avLst/>
            </a:prstGeom>
            <a:solidFill>
              <a:srgbClr val="34394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Lane dash"/>
            <p:cNvSpPr/>
            <p:nvPr/>
          </p:nvSpPr>
          <p:spPr>
            <a:xfrm>
              <a:off x="868680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Lane dash"/>
            <p:cNvSpPr/>
            <p:nvPr/>
          </p:nvSpPr>
          <p:spPr>
            <a:xfrm>
              <a:off x="1508760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Lane dash"/>
            <p:cNvSpPr/>
            <p:nvPr/>
          </p:nvSpPr>
          <p:spPr>
            <a:xfrm>
              <a:off x="2148840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Lane dash"/>
            <p:cNvSpPr/>
            <p:nvPr/>
          </p:nvSpPr>
          <p:spPr>
            <a:xfrm>
              <a:off x="2788920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Lane dash"/>
            <p:cNvSpPr/>
            <p:nvPr/>
          </p:nvSpPr>
          <p:spPr>
            <a:xfrm>
              <a:off x="3429000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Puddle"/>
            <p:cNvSpPr/>
            <p:nvPr/>
          </p:nvSpPr>
          <p:spPr>
            <a:xfrm>
              <a:off x="1069848" y="2761488"/>
              <a:ext cx="640080" cy="91440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Puddle"/>
            <p:cNvSpPr/>
            <p:nvPr/>
          </p:nvSpPr>
          <p:spPr>
            <a:xfrm>
              <a:off x="2258568" y="2761488"/>
              <a:ext cx="640080" cy="91440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Puddle"/>
            <p:cNvSpPr/>
            <p:nvPr/>
          </p:nvSpPr>
          <p:spPr>
            <a:xfrm>
              <a:off x="3401568" y="2761488"/>
              <a:ext cx="640080" cy="91440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0" name="Street cleaner scene"/>
          <p:cNvGrpSpPr/>
          <p:nvPr/>
        </p:nvGrpSpPr>
        <p:grpSpPr>
          <a:xfrm>
            <a:off x="4736592" y="1234440"/>
            <a:ext cx="3931920" cy="2148840"/>
            <a:chOff x="4736592" y="1234440"/>
            <a:chExt cx="3931920" cy="2148840"/>
          </a:xfrm>
        </p:grpSpPr>
        <p:sp>
          <p:nvSpPr>
            <p:cNvPr id="24" name="Right panel"/>
            <p:cNvSpPr/>
            <p:nvPr/>
          </p:nvSpPr>
          <p:spPr>
            <a:xfrm>
              <a:off x="4736592" y="1234440"/>
              <a:ext cx="3931920" cy="2148840"/>
            </a:xfrm>
            <a:prstGeom prst="roundRect">
              <a:avLst>
                <a:gd name="adj" fmla="val 7000"/>
              </a:avLst>
            </a:prstGeom>
            <a:solidFill>
              <a:srgbClr val="FFF1F2"/>
            </a:solidFill>
            <a:ln w="15875">
              <a:solidFill>
                <a:srgbClr val="FFC9CD"/>
              </a:solidFill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Right heading"/>
            <p:cNvSpPr txBox="1"/>
            <p:nvPr/>
          </p:nvSpPr>
          <p:spPr>
            <a:xfrm>
              <a:off x="4937760" y="1344168"/>
              <a:ext cx="35295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dirty="0">
                  <a:solidFill>
                    <a:srgbClr val="2E2A5E"/>
                  </a:solidFill>
                  <a:latin typeface="Raleway"/>
                  <a:cs typeface="Raleway"/>
                </a:rPr>
                <a:t>The street is wet. Did it rain?</a:t>
              </a:r>
              <a:endParaRPr lang="en-US" sz="1300" b="1" i="0" dirty="0">
                <a:solidFill>
                  <a:srgbClr val="2E2A5E"/>
                </a:solidFill>
                <a:latin typeface="Raleway"/>
                <a:cs typeface="Raleway"/>
              </a:endParaRPr>
            </a:p>
          </p:txBody>
        </p:sp>
        <p:sp>
          <p:nvSpPr>
            <p:cNvPr id="26" name="Possible rain cloud"/>
            <p:cNvSpPr/>
            <p:nvPr/>
          </p:nvSpPr>
          <p:spPr>
            <a:xfrm>
              <a:off x="7022592" y="1691640"/>
              <a:ext cx="1188720" cy="566928"/>
            </a:xfrm>
            <a:prstGeom prst="cloud">
              <a:avLst/>
            </a:prstGeom>
            <a:noFill/>
            <a:ln w="19050">
              <a:solidFill>
                <a:srgbClr val="879AC1"/>
              </a:solidFill>
              <a:prstDash val="dash"/>
            </a:ln>
          </p:spPr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dirty="0">
                  <a:solidFill>
                    <a:srgbClr val="E5646F"/>
                  </a:solidFill>
                  <a:latin typeface="Raleway"/>
                  <a:cs typeface="Raleway"/>
                </a:rPr>
                <a:t>?</a:t>
              </a:r>
              <a:endParaRPr lang="en-US" sz="2000" b="1" i="0" dirty="0">
                <a:solidFill>
                  <a:srgbClr val="E5646F"/>
                </a:solidFill>
                <a:latin typeface="Raleway"/>
                <a:cs typeface="Raleway"/>
              </a:endParaRPr>
            </a:p>
          </p:txBody>
        </p:sp>
        <p:sp>
          <p:nvSpPr>
            <p:cNvPr id="27" name="Sun"/>
            <p:cNvSpPr/>
            <p:nvPr/>
          </p:nvSpPr>
          <p:spPr>
            <a:xfrm>
              <a:off x="5193792" y="1737360"/>
              <a:ext cx="457200" cy="457200"/>
            </a:xfrm>
            <a:prstGeom prst="ellipse">
              <a:avLst/>
            </a:prstGeom>
            <a:solidFill>
              <a:srgbClr val="F4C43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Sun ray"/>
            <p:cNvSpPr/>
            <p:nvPr/>
          </p:nvSpPr>
          <p:spPr>
            <a:xfrm>
              <a:off x="5413248" y="1627632"/>
              <a:ext cx="54864" cy="91440"/>
            </a:xfrm>
            <a:prstGeom prst="rect">
              <a:avLst/>
            </a:prstGeom>
            <a:solidFill>
              <a:srgbClr val="F4C43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Sun ray"/>
            <p:cNvSpPr/>
            <p:nvPr/>
          </p:nvSpPr>
          <p:spPr>
            <a:xfrm>
              <a:off x="5413248" y="2212848"/>
              <a:ext cx="54864" cy="91440"/>
            </a:xfrm>
            <a:prstGeom prst="rect">
              <a:avLst/>
            </a:prstGeom>
            <a:solidFill>
              <a:srgbClr val="F4C43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Sun ray"/>
            <p:cNvSpPr/>
            <p:nvPr/>
          </p:nvSpPr>
          <p:spPr>
            <a:xfrm>
              <a:off x="5084064" y="1920240"/>
              <a:ext cx="91440" cy="54864"/>
            </a:xfrm>
            <a:prstGeom prst="rect">
              <a:avLst/>
            </a:prstGeom>
            <a:solidFill>
              <a:srgbClr val="F4C43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Sun ray"/>
            <p:cNvSpPr/>
            <p:nvPr/>
          </p:nvSpPr>
          <p:spPr>
            <a:xfrm>
              <a:off x="5705856" y="1920240"/>
              <a:ext cx="91440" cy="54864"/>
            </a:xfrm>
            <a:prstGeom prst="rect">
              <a:avLst/>
            </a:prstGeom>
            <a:solidFill>
              <a:srgbClr val="F4C43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Road"/>
            <p:cNvSpPr/>
            <p:nvPr/>
          </p:nvSpPr>
          <p:spPr>
            <a:xfrm>
              <a:off x="4919472" y="2697480"/>
              <a:ext cx="3566160" cy="502920"/>
            </a:xfrm>
            <a:prstGeom prst="rect">
              <a:avLst/>
            </a:prstGeom>
            <a:solidFill>
              <a:srgbClr val="34394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Lane dash"/>
            <p:cNvSpPr/>
            <p:nvPr/>
          </p:nvSpPr>
          <p:spPr>
            <a:xfrm>
              <a:off x="5129784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Lane dash"/>
            <p:cNvSpPr/>
            <p:nvPr/>
          </p:nvSpPr>
          <p:spPr>
            <a:xfrm>
              <a:off x="5769864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Lane dash"/>
            <p:cNvSpPr/>
            <p:nvPr/>
          </p:nvSpPr>
          <p:spPr>
            <a:xfrm>
              <a:off x="6409944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Lane dash"/>
            <p:cNvSpPr/>
            <p:nvPr/>
          </p:nvSpPr>
          <p:spPr>
            <a:xfrm>
              <a:off x="7050024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Lane dash"/>
            <p:cNvSpPr/>
            <p:nvPr/>
          </p:nvSpPr>
          <p:spPr>
            <a:xfrm>
              <a:off x="7690104" y="2971800"/>
              <a:ext cx="384048" cy="45720"/>
            </a:xfrm>
            <a:prstGeom prst="rect">
              <a:avLst/>
            </a:prstGeom>
            <a:solidFill>
              <a:srgbClr val="F5D368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Puddle"/>
            <p:cNvSpPr/>
            <p:nvPr/>
          </p:nvSpPr>
          <p:spPr>
            <a:xfrm>
              <a:off x="5330952" y="2761488"/>
              <a:ext cx="640080" cy="91440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Puddle"/>
            <p:cNvSpPr/>
            <p:nvPr/>
          </p:nvSpPr>
          <p:spPr>
            <a:xfrm>
              <a:off x="6519672" y="2761488"/>
              <a:ext cx="640080" cy="91440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Puddle"/>
            <p:cNvSpPr/>
            <p:nvPr/>
          </p:nvSpPr>
          <p:spPr>
            <a:xfrm>
              <a:off x="7662672" y="2761488"/>
              <a:ext cx="640080" cy="91440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Truck tank"/>
            <p:cNvSpPr/>
            <p:nvPr/>
          </p:nvSpPr>
          <p:spPr>
            <a:xfrm>
              <a:off x="5650992" y="2258568"/>
              <a:ext cx="1051560" cy="384048"/>
            </a:xfrm>
            <a:prstGeom prst="roundRect">
              <a:avLst>
                <a:gd name="adj" fmla="val 20000"/>
              </a:avLst>
            </a:prstGeom>
            <a:solidFill>
              <a:srgbClr val="36AFC2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Truck cab"/>
            <p:cNvSpPr/>
            <p:nvPr/>
          </p:nvSpPr>
          <p:spPr>
            <a:xfrm>
              <a:off x="6702552" y="2377440"/>
              <a:ext cx="411480" cy="265176"/>
            </a:xfrm>
            <a:prstGeom prst="roundRect">
              <a:avLst>
                <a:gd name="adj" fmla="val 20000"/>
              </a:avLst>
            </a:prstGeom>
            <a:solidFill>
              <a:srgbClr val="4C4563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Truck wheel"/>
            <p:cNvSpPr/>
            <p:nvPr/>
          </p:nvSpPr>
          <p:spPr>
            <a:xfrm>
              <a:off x="5879592" y="2587752"/>
              <a:ext cx="182880" cy="182880"/>
            </a:xfrm>
            <a:prstGeom prst="ellipse">
              <a:avLst/>
            </a:prstGeom>
            <a:solidFill>
              <a:srgbClr val="2E2A5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Truck wheel"/>
            <p:cNvSpPr/>
            <p:nvPr/>
          </p:nvSpPr>
          <p:spPr>
            <a:xfrm>
              <a:off x="6748272" y="2587752"/>
              <a:ext cx="182880" cy="182880"/>
            </a:xfrm>
            <a:prstGeom prst="ellipse">
              <a:avLst/>
            </a:prstGeom>
            <a:solidFill>
              <a:srgbClr val="2E2A5E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Water spray"/>
            <p:cNvSpPr/>
            <p:nvPr/>
          </p:nvSpPr>
          <p:spPr>
            <a:xfrm>
              <a:off x="5422392" y="2606040"/>
              <a:ext cx="91440" cy="64008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Water spray"/>
            <p:cNvSpPr/>
            <p:nvPr/>
          </p:nvSpPr>
          <p:spPr>
            <a:xfrm>
              <a:off x="5285232" y="2670048"/>
              <a:ext cx="91440" cy="64008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Water spray"/>
            <p:cNvSpPr/>
            <p:nvPr/>
          </p:nvSpPr>
          <p:spPr>
            <a:xfrm>
              <a:off x="5148072" y="2606040"/>
              <a:ext cx="91440" cy="64008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Water spray"/>
            <p:cNvSpPr/>
            <p:nvPr/>
          </p:nvSpPr>
          <p:spPr>
            <a:xfrm>
              <a:off x="5010912" y="2679192"/>
              <a:ext cx="91440" cy="64008"/>
            </a:xfrm>
            <a:prstGeom prst="ellipse">
              <a:avLst/>
            </a:prstGeom>
            <a:solidFill>
              <a:srgbClr val="45C4D4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3" name="Logic step 1"/>
          <p:cNvGrpSpPr/>
          <p:nvPr/>
        </p:nvGrpSpPr>
        <p:grpSpPr>
          <a:xfrm>
            <a:off x="475488" y="3657600"/>
            <a:ext cx="2523744" cy="960120"/>
            <a:chOff x="475488" y="3657600"/>
            <a:chExt cx="2523744" cy="960120"/>
          </a:xfrm>
        </p:grpSpPr>
        <p:sp>
          <p:nvSpPr>
            <p:cNvPr id="52" name="Logic box 1"/>
            <p:cNvSpPr/>
            <p:nvPr/>
          </p:nvSpPr>
          <p:spPr>
            <a:xfrm>
              <a:off x="475488" y="3657600"/>
              <a:ext cx="2523744" cy="960120"/>
            </a:xfrm>
            <a:prstGeom prst="roundRect">
              <a:avLst>
                <a:gd name="adj" fmla="val 14000"/>
              </a:avLst>
            </a:prstGeom>
            <a:solidFill>
              <a:srgbClr val="E9E0FF"/>
            </a:solidFill>
            <a:ln w="19050">
              <a:solidFill>
                <a:srgbClr val="9B6BE8"/>
              </a:solidFill>
            </a:ln>
          </p:spPr>
          <p:txBody>
            <a:bodyPr wrap="square" lIns="109728" tIns="45720" rIns="109728" bIns="4572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US" sz="22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p → q</a:t>
              </a:r>
              <a:endParaRPr lang="en-US" sz="22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If it rains, the street is wet.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56" name="Logic step 2"/>
          <p:cNvGrpSpPr/>
          <p:nvPr/>
        </p:nvGrpSpPr>
        <p:grpSpPr>
          <a:xfrm>
            <a:off x="3035808" y="3657600"/>
            <a:ext cx="2798064" cy="960120"/>
            <a:chOff x="3035808" y="3657600"/>
            <a:chExt cx="2798064" cy="960120"/>
          </a:xfrm>
        </p:grpSpPr>
        <p:sp>
          <p:nvSpPr>
            <p:cNvPr id="54" name="Arrow"/>
            <p:cNvSpPr/>
            <p:nvPr/>
          </p:nvSpPr>
          <p:spPr>
            <a:xfrm>
              <a:off x="3035808" y="4037076"/>
              <a:ext cx="237744" cy="20116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Logic box 2"/>
            <p:cNvSpPr/>
            <p:nvPr/>
          </p:nvSpPr>
          <p:spPr>
            <a:xfrm>
              <a:off x="3310128" y="3657600"/>
              <a:ext cx="2523744" cy="960120"/>
            </a:xfrm>
            <a:prstGeom prst="roundRect">
              <a:avLst>
                <a:gd name="adj" fmla="val 14000"/>
              </a:avLst>
            </a:prstGeom>
            <a:solidFill>
              <a:srgbClr val="E4F6F7"/>
            </a:solidFill>
            <a:ln w="19050">
              <a:solidFill>
                <a:srgbClr val="2AA9B0"/>
              </a:solidFill>
            </a:ln>
          </p:spPr>
          <p:txBody>
            <a:bodyPr wrap="square" lIns="109728" tIns="45720" rIns="109728" bIns="4572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US" sz="22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q</a:t>
              </a:r>
              <a:endParaRPr lang="en-US" sz="22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The street is wet.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59" name="Logic step 3"/>
          <p:cNvGrpSpPr/>
          <p:nvPr/>
        </p:nvGrpSpPr>
        <p:grpSpPr>
          <a:xfrm>
            <a:off x="5870448" y="3657600"/>
            <a:ext cx="2798064" cy="960120"/>
            <a:chOff x="5870448" y="3657600"/>
            <a:chExt cx="2798064" cy="960120"/>
          </a:xfrm>
        </p:grpSpPr>
        <p:sp>
          <p:nvSpPr>
            <p:cNvPr id="57" name="Arrow"/>
            <p:cNvSpPr/>
            <p:nvPr/>
          </p:nvSpPr>
          <p:spPr>
            <a:xfrm>
              <a:off x="5870448" y="4037076"/>
              <a:ext cx="237744" cy="20116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7145"/>
            </a:solidFill>
            <a:ln>
              <a:noFill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Logic box 3"/>
            <p:cNvSpPr/>
            <p:nvPr/>
          </p:nvSpPr>
          <p:spPr>
            <a:xfrm>
              <a:off x="6144768" y="3657600"/>
              <a:ext cx="2523744" cy="960120"/>
            </a:xfrm>
            <a:prstGeom prst="roundRect">
              <a:avLst>
                <a:gd name="adj" fmla="val 14000"/>
              </a:avLst>
            </a:prstGeom>
            <a:solidFill>
              <a:srgbClr val="FFF1F2"/>
            </a:solidFill>
            <a:ln w="19050">
              <a:solidFill>
                <a:srgbClr val="E5646F"/>
              </a:solidFill>
            </a:ln>
          </p:spPr>
          <p:txBody>
            <a:bodyPr wrap="square" lIns="109728" tIns="45720" rIns="109728" bIns="4572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US" sz="2200" b="0" i="0" dirty="0">
                  <a:solidFill>
                    <a:srgbClr val="2E2A5E"/>
                  </a:solidFill>
                  <a:latin typeface="Cambria Math" panose="02040503050406030204"/>
                  <a:cs typeface="Cambria Math" panose="02040503050406030204"/>
                </a:rPr>
                <a:t>∴ p ?</a:t>
              </a:r>
              <a:endParaRPr lang="en-US" sz="2200" b="0" i="0" dirty="0">
                <a:solidFill>
                  <a:srgbClr val="2E2A5E"/>
                </a:solidFill>
                <a:latin typeface="Cambria Math" panose="02040503050406030204"/>
                <a:cs typeface="Cambria Math" panose="02040503050406030204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dirty="0">
                  <a:solidFill>
                    <a:srgbClr val="4C4563"/>
                  </a:solidFill>
                  <a:latin typeface="Calibri" panose="020F0502020204030204"/>
                  <a:cs typeface="Calibri" panose="020F0502020204030204"/>
                </a:rPr>
                <a:t>Not guaranteed. A street cleaner could also wet it.</a:t>
              </a:r>
              <a:endParaRPr lang="en-US" sz="1150" b="0" i="0" dirty="0">
                <a:solidFill>
                  <a:srgbClr val="4C4563"/>
                </a:solidFill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2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20/28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0" name="Google Shape;730;p32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Fallacies (Example 10)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1" name="Google Shape;731;p32"/>
          <p:cNvSpPr>
            <a:spLocks noGrp="1"/>
          </p:cNvSpPr>
          <p:nvPr/>
        </p:nvSpPr>
        <p:spPr>
          <a:xfrm>
            <a:off x="528066" y="1076706"/>
            <a:ext cx="4011930" cy="3188970"/>
          </a:xfrm>
          <a:prstGeom prst="roundRect">
            <a:avLst>
              <a:gd name="adj" fmla="val 1290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2" name="Google Shape;732;p32"/>
          <p:cNvSpPr>
            <a:spLocks noGrp="1"/>
          </p:cNvSpPr>
          <p:nvPr/>
        </p:nvSpPr>
        <p:spPr>
          <a:xfrm>
            <a:off x="480060" y="1028700"/>
            <a:ext cx="4011930" cy="318897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3" name="Google Shape;733;p32"/>
          <p:cNvSpPr>
            <a:spLocks noGrp="1"/>
          </p:cNvSpPr>
          <p:nvPr/>
        </p:nvSpPr>
        <p:spPr>
          <a:xfrm>
            <a:off x="562356" y="1110996"/>
            <a:ext cx="3847338" cy="342900"/>
          </a:xfrm>
          <a:prstGeom prst="roundRect">
            <a:avLst>
              <a:gd name="adj" fmla="val 10000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4" name="Google Shape;734;p32"/>
          <p:cNvSpPr>
            <a:spLocks noGrp="1"/>
          </p:cNvSpPr>
          <p:nvPr/>
        </p:nvSpPr>
        <p:spPr>
          <a:xfrm>
            <a:off x="562356" y="1110996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Affirming the conclusion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5" name="Google Shape;735;p32"/>
          <p:cNvSpPr>
            <a:spLocks noGrp="1"/>
          </p:cNvSpPr>
          <p:nvPr/>
        </p:nvSpPr>
        <p:spPr>
          <a:xfrm>
            <a:off x="617220" y="1543050"/>
            <a:ext cx="3737610" cy="582930"/>
          </a:xfrm>
          <a:prstGeom prst="roundRect">
            <a:avLst>
              <a:gd name="adj" fmla="val 11765"/>
            </a:avLst>
          </a:prstGeom>
          <a:solidFill>
            <a:srgbClr val="F3F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6" name="Google Shape;736;p32"/>
          <p:cNvSpPr>
            <a:spLocks noGrp="1"/>
          </p:cNvSpPr>
          <p:nvPr/>
        </p:nvSpPr>
        <p:spPr>
          <a:xfrm>
            <a:off x="720090" y="1560744"/>
            <a:ext cx="353187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LET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7" name="Google Shape;737;p32"/>
          <p:cNvSpPr>
            <a:spLocks noGrp="1"/>
          </p:cNvSpPr>
          <p:nvPr/>
        </p:nvSpPr>
        <p:spPr>
          <a:xfrm>
            <a:off x="720090" y="1697904"/>
            <a:ext cx="3566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 dirty="0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p: You completed every problem.</a:t>
            </a:r>
            <a:endParaRPr sz="11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 dirty="0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q: You learned discrete math.</a:t>
            </a:r>
            <a:endParaRPr sz="11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38" name="Google Shape;738;p32"/>
          <p:cNvSpPr>
            <a:spLocks noGrp="1"/>
          </p:cNvSpPr>
          <p:nvPr/>
        </p:nvSpPr>
        <p:spPr>
          <a:xfrm>
            <a:off x="617220" y="2194560"/>
            <a:ext cx="3737610" cy="1200150"/>
          </a:xfrm>
          <a:prstGeom prst="roundRect">
            <a:avLst>
              <a:gd name="adj" fmla="val 5714"/>
            </a:avLst>
          </a:prstGeom>
          <a:solidFill>
            <a:srgbClr val="E4F6F7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9" name="Google Shape;739;p32"/>
          <p:cNvSpPr>
            <a:spLocks noGrp="1"/>
          </p:cNvSpPr>
          <p:nvPr/>
        </p:nvSpPr>
        <p:spPr>
          <a:xfrm>
            <a:off x="720090" y="2249424"/>
            <a:ext cx="353187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ARGUMENT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0" name="Google Shape;740;p32"/>
          <p:cNvSpPr>
            <a:spLocks noGrp="1"/>
          </p:cNvSpPr>
          <p:nvPr/>
        </p:nvSpPr>
        <p:spPr>
          <a:xfrm>
            <a:off x="720090" y="2400300"/>
            <a:ext cx="11658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1" name="Google Shape;741;p32"/>
          <p:cNvSpPr>
            <a:spLocks noGrp="1"/>
          </p:cNvSpPr>
          <p:nvPr/>
        </p:nvSpPr>
        <p:spPr>
          <a:xfrm>
            <a:off x="1920240" y="2400300"/>
            <a:ext cx="2366010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 dirty="0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 does not prove p. You may learn without completing every problem.</a:t>
            </a:r>
            <a:endParaRPr sz="10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2" name="Google Shape;742;p32"/>
          <p:cNvSpPr>
            <a:spLocks noGrp="1"/>
          </p:cNvSpPr>
          <p:nvPr/>
        </p:nvSpPr>
        <p:spPr>
          <a:xfrm>
            <a:off x="617220" y="3463290"/>
            <a:ext cx="1645920" cy="651510"/>
          </a:xfrm>
          <a:prstGeom prst="roundRect">
            <a:avLst>
              <a:gd name="adj" fmla="val 10526"/>
            </a:avLst>
          </a:prstGeom>
          <a:solidFill>
            <a:srgbClr val="FFF1EA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3" name="Google Shape;743;p32"/>
          <p:cNvSpPr>
            <a:spLocks noGrp="1"/>
          </p:cNvSpPr>
          <p:nvPr/>
        </p:nvSpPr>
        <p:spPr>
          <a:xfrm>
            <a:off x="720090" y="3518154"/>
            <a:ext cx="14401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4" name="Google Shape;744;p32"/>
          <p:cNvSpPr>
            <a:spLocks noGrp="1"/>
          </p:cNvSpPr>
          <p:nvPr/>
        </p:nvSpPr>
        <p:spPr>
          <a:xfrm>
            <a:off x="720090" y="366903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Is this argument valid?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5" name="Google Shape;745;p32"/>
          <p:cNvSpPr>
            <a:spLocks noGrp="1"/>
          </p:cNvSpPr>
          <p:nvPr/>
        </p:nvSpPr>
        <p:spPr>
          <a:xfrm>
            <a:off x="2331720" y="3463290"/>
            <a:ext cx="2023110" cy="651510"/>
          </a:xfrm>
          <a:prstGeom prst="roundRect">
            <a:avLst>
              <a:gd name="adj" fmla="val 10526"/>
            </a:avLst>
          </a:prstGeom>
          <a:solidFill>
            <a:srgbClr val="FF7145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6" name="Google Shape;746;p32"/>
          <p:cNvSpPr>
            <a:spLocks noGrp="1"/>
          </p:cNvSpPr>
          <p:nvPr/>
        </p:nvSpPr>
        <p:spPr>
          <a:xfrm>
            <a:off x="2434590" y="3518154"/>
            <a:ext cx="17830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ANSWER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7" name="Google Shape;747;p32"/>
          <p:cNvSpPr>
            <a:spLocks noGrp="1"/>
          </p:cNvSpPr>
          <p:nvPr/>
        </p:nvSpPr>
        <p:spPr>
          <a:xfrm>
            <a:off x="2434590" y="3669030"/>
            <a:ext cx="18173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sz="1400" b="1" i="0" u="non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No. q may be true for another reason.</a:t>
            </a:r>
            <a:endParaRPr sz="10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48" name="Google Shape;748;p32"/>
          <p:cNvSpPr>
            <a:spLocks noGrp="1"/>
          </p:cNvSpPr>
          <p:nvPr/>
        </p:nvSpPr>
        <p:spPr>
          <a:xfrm>
            <a:off x="4711446" y="1076706"/>
            <a:ext cx="4011930" cy="3188970"/>
          </a:xfrm>
          <a:prstGeom prst="roundRect">
            <a:avLst>
              <a:gd name="adj" fmla="val 1290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9" name="Google Shape;749;p32"/>
          <p:cNvSpPr>
            <a:spLocks noGrp="1"/>
          </p:cNvSpPr>
          <p:nvPr/>
        </p:nvSpPr>
        <p:spPr>
          <a:xfrm>
            <a:off x="4663440" y="1028700"/>
            <a:ext cx="4011930" cy="318897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0" name="Google Shape;750;p32"/>
          <p:cNvSpPr>
            <a:spLocks noGrp="1"/>
          </p:cNvSpPr>
          <p:nvPr/>
        </p:nvSpPr>
        <p:spPr>
          <a:xfrm>
            <a:off x="4745736" y="1110996"/>
            <a:ext cx="3847338" cy="342900"/>
          </a:xfrm>
          <a:prstGeom prst="roundRect">
            <a:avLst>
              <a:gd name="adj" fmla="val 10000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1" name="Google Shape;751;p32"/>
          <p:cNvSpPr>
            <a:spLocks noGrp="1"/>
          </p:cNvSpPr>
          <p:nvPr/>
        </p:nvSpPr>
        <p:spPr>
          <a:xfrm>
            <a:off x="4745736" y="1110996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Denying the hypothesis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2" name="Google Shape;752;p32"/>
          <p:cNvSpPr>
            <a:spLocks noGrp="1"/>
          </p:cNvSpPr>
          <p:nvPr/>
        </p:nvSpPr>
        <p:spPr>
          <a:xfrm>
            <a:off x="4800600" y="1543050"/>
            <a:ext cx="3737610" cy="582930"/>
          </a:xfrm>
          <a:prstGeom prst="roundRect">
            <a:avLst>
              <a:gd name="adj" fmla="val 11765"/>
            </a:avLst>
          </a:prstGeom>
          <a:solidFill>
            <a:srgbClr val="F3F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3" name="Google Shape;753;p32"/>
          <p:cNvSpPr>
            <a:spLocks noGrp="1"/>
          </p:cNvSpPr>
          <p:nvPr/>
        </p:nvSpPr>
        <p:spPr>
          <a:xfrm>
            <a:off x="4903470" y="1568178"/>
            <a:ext cx="353187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LET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4" name="Google Shape;754;p32"/>
          <p:cNvSpPr>
            <a:spLocks noGrp="1"/>
          </p:cNvSpPr>
          <p:nvPr/>
        </p:nvSpPr>
        <p:spPr>
          <a:xfrm>
            <a:off x="4903470" y="1712772"/>
            <a:ext cx="3566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 dirty="0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p: You completed every problem.</a:t>
            </a:r>
            <a:endParaRPr sz="11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 dirty="0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q: You learned discrete math.</a:t>
            </a:r>
            <a:endParaRPr sz="11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5" name="Google Shape;755;p32"/>
          <p:cNvSpPr>
            <a:spLocks noGrp="1"/>
          </p:cNvSpPr>
          <p:nvPr/>
        </p:nvSpPr>
        <p:spPr>
          <a:xfrm>
            <a:off x="4800600" y="2194560"/>
            <a:ext cx="3737610" cy="1200150"/>
          </a:xfrm>
          <a:prstGeom prst="roundRect">
            <a:avLst>
              <a:gd name="adj" fmla="val 5714"/>
            </a:avLst>
          </a:prstGeom>
          <a:solidFill>
            <a:srgbClr val="E4F6F7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6" name="Google Shape;756;p32"/>
          <p:cNvSpPr>
            <a:spLocks noGrp="1"/>
          </p:cNvSpPr>
          <p:nvPr/>
        </p:nvSpPr>
        <p:spPr>
          <a:xfrm>
            <a:off x="4903470" y="2249424"/>
            <a:ext cx="353187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ARGUMENT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7" name="Google Shape;757;p32"/>
          <p:cNvSpPr>
            <a:spLocks noGrp="1"/>
          </p:cNvSpPr>
          <p:nvPr/>
        </p:nvSpPr>
        <p:spPr>
          <a:xfrm>
            <a:off x="4903470" y="2400300"/>
            <a:ext cx="11658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 → q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¬p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¬q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8" name="Google Shape;758;p32"/>
          <p:cNvSpPr>
            <a:spLocks noGrp="1"/>
          </p:cNvSpPr>
          <p:nvPr/>
        </p:nvSpPr>
        <p:spPr>
          <a:xfrm>
            <a:off x="6103620" y="2400300"/>
            <a:ext cx="2366010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¬p does not prove ¬q. You may learn without completing every problem.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9" name="Google Shape;759;p32"/>
          <p:cNvSpPr>
            <a:spLocks noGrp="1"/>
          </p:cNvSpPr>
          <p:nvPr/>
        </p:nvSpPr>
        <p:spPr>
          <a:xfrm>
            <a:off x="4800600" y="3463290"/>
            <a:ext cx="1645920" cy="651510"/>
          </a:xfrm>
          <a:prstGeom prst="roundRect">
            <a:avLst>
              <a:gd name="adj" fmla="val 10526"/>
            </a:avLst>
          </a:prstGeom>
          <a:solidFill>
            <a:srgbClr val="FFF1EA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0" name="Google Shape;760;p32"/>
          <p:cNvSpPr>
            <a:spLocks noGrp="1"/>
          </p:cNvSpPr>
          <p:nvPr/>
        </p:nvSpPr>
        <p:spPr>
          <a:xfrm>
            <a:off x="4903470" y="3518154"/>
            <a:ext cx="14401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1" name="Google Shape;761;p32"/>
          <p:cNvSpPr>
            <a:spLocks noGrp="1"/>
          </p:cNvSpPr>
          <p:nvPr/>
        </p:nvSpPr>
        <p:spPr>
          <a:xfrm>
            <a:off x="4903470" y="366903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Is this argument valid?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2" name="Google Shape;762;p32"/>
          <p:cNvSpPr>
            <a:spLocks noGrp="1"/>
          </p:cNvSpPr>
          <p:nvPr/>
        </p:nvSpPr>
        <p:spPr>
          <a:xfrm>
            <a:off x="6515100" y="3463290"/>
            <a:ext cx="2023110" cy="651510"/>
          </a:xfrm>
          <a:prstGeom prst="roundRect">
            <a:avLst>
              <a:gd name="adj" fmla="val 10526"/>
            </a:avLst>
          </a:prstGeom>
          <a:solidFill>
            <a:srgbClr val="FF7145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3" name="Google Shape;763;p32"/>
          <p:cNvSpPr>
            <a:spLocks noGrp="1"/>
          </p:cNvSpPr>
          <p:nvPr/>
        </p:nvSpPr>
        <p:spPr>
          <a:xfrm>
            <a:off x="6617970" y="3518154"/>
            <a:ext cx="17830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 panose="020F0502020204030204"/>
              <a:buNone/>
            </a:pPr>
            <a:r>
              <a:rPr sz="1200" b="1" i="0" u="non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ANSWER</a:t>
            </a:r>
            <a:endParaRPr sz="1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4" name="Google Shape;764;p32"/>
          <p:cNvSpPr>
            <a:spLocks noGrp="1"/>
          </p:cNvSpPr>
          <p:nvPr/>
        </p:nvSpPr>
        <p:spPr>
          <a:xfrm>
            <a:off x="6617970" y="3669030"/>
            <a:ext cx="18173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No. q can be true even if p is false.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5" name="Google Shape;765;p32"/>
          <p:cNvSpPr>
            <a:spLocks noGrp="1"/>
          </p:cNvSpPr>
          <p:nvPr/>
        </p:nvSpPr>
        <p:spPr>
          <a:xfrm>
            <a:off x="480060" y="4409748"/>
            <a:ext cx="8195310" cy="377190"/>
          </a:xfrm>
          <a:prstGeom prst="roundRect">
            <a:avLst>
              <a:gd name="adj" fmla="val 21818"/>
            </a:avLst>
          </a:prstGeom>
          <a:solidFill>
            <a:srgbClr val="B8EDE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6" name="Google Shape;766;p32"/>
          <p:cNvSpPr>
            <a:spLocks noGrp="1"/>
          </p:cNvSpPr>
          <p:nvPr/>
        </p:nvSpPr>
        <p:spPr>
          <a:xfrm>
            <a:off x="651510" y="4394880"/>
            <a:ext cx="785241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Both are contingencies, not tautologies: each is false when p is false and q is true.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975;p38"/>
          <p:cNvSpPr>
            <a:spLocks noGrp="1"/>
          </p:cNvSpPr>
          <p:nvPr/>
        </p:nvSpPr>
        <p:spPr>
          <a:xfrm>
            <a:off x="480060" y="1493886"/>
            <a:ext cx="51435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5000"/>
              <a:buFont typeface="Raleway"/>
              <a:buNone/>
            </a:pPr>
            <a:r>
              <a:rPr lang="en-US" sz="3200" b="0" i="0" u="non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MAHMUDUL HAQUE MAHI</a:t>
            </a:r>
            <a:endParaRPr sz="32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" name="Google Shape;976;p38"/>
          <p:cNvSpPr>
            <a:spLocks noGrp="1"/>
          </p:cNvSpPr>
          <p:nvPr/>
        </p:nvSpPr>
        <p:spPr>
          <a:xfrm>
            <a:off x="501631" y="2081182"/>
            <a:ext cx="51435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2100"/>
              <a:buFont typeface="Calibri" panose="020F0502020204030204"/>
              <a:buNone/>
            </a:pPr>
            <a:r>
              <a:rPr lang="en-US" sz="2100" b="1" i="0" u="none" cap="none" dirty="0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ROLL : </a:t>
            </a:r>
            <a:r>
              <a:rPr lang="en-US" sz="2100" b="1" dirty="0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11</a:t>
            </a:r>
            <a:endParaRPr lang="en-US" sz="21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" name="Roadmap heading"/>
          <p:cNvSpPr txBox="1"/>
          <p:nvPr/>
        </p:nvSpPr>
        <p:spPr>
          <a:xfrm>
            <a:off x="5660000" y="1220000"/>
            <a:ext cx="31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300" b="1">
                <a:solidFill>
                  <a:srgbClr val="30264D"/>
                </a:solidFill>
                <a:latin typeface="Raleway"/>
              </a:rPr>
              <a:t>TOPICS I’LL COVER</a:t>
            </a:r>
            <a:endParaRPr lang="en-US" sz="2300"/>
          </a:p>
        </p:txBody>
      </p:sp>
      <p:sp>
        <p:nvSpPr>
          <p:cNvPr id="41" name="Roadmap accent rule"/>
          <p:cNvSpPr/>
          <p:nvPr/>
        </p:nvSpPr>
        <p:spPr>
          <a:xfrm>
            <a:off x="5659999" y="1730000"/>
            <a:ext cx="2814927" cy="76498"/>
          </a:xfrm>
          <a:prstGeom prst="rect">
            <a:avLst/>
          </a:prstGeom>
          <a:solidFill>
            <a:srgbClr val="9365E8"/>
          </a:solidFill>
          <a:ln w="0">
            <a:solidFill>
              <a:srgbClr val="936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Roadmap track"/>
          <p:cNvSpPr/>
          <p:nvPr/>
        </p:nvSpPr>
        <p:spPr>
          <a:xfrm>
            <a:off x="5825000" y="2190000"/>
            <a:ext cx="26000" cy="1700000"/>
          </a:xfrm>
          <a:prstGeom prst="rect">
            <a:avLst/>
          </a:prstGeom>
          <a:solidFill>
            <a:srgbClr val="D9D0EC"/>
          </a:solidFill>
          <a:ln w="0">
            <a:solidFill>
              <a:srgbClr val="D9D0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opic waypoint 1"/>
          <p:cNvSpPr/>
          <p:nvPr/>
        </p:nvSpPr>
        <p:spPr>
          <a:xfrm>
            <a:off x="5702830" y="2100000"/>
            <a:ext cx="274644" cy="283854"/>
          </a:xfrm>
          <a:prstGeom prst="ellipse">
            <a:avLst/>
          </a:prstGeom>
          <a:solidFill>
            <a:srgbClr val="9365E8"/>
          </a:solidFill>
          <a:ln w="0">
            <a:solidFill>
              <a:srgbClr val="936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opic index 1"/>
          <p:cNvSpPr txBox="1"/>
          <p:nvPr/>
        </p:nvSpPr>
        <p:spPr>
          <a:xfrm>
            <a:off x="5710263" y="2112059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01</a:t>
            </a:r>
            <a:endParaRPr lang="en-US" sz="1200" dirty="0"/>
          </a:p>
        </p:txBody>
      </p:sp>
      <p:sp>
        <p:nvSpPr>
          <p:cNvPr id="49" name="Topic name 1"/>
          <p:cNvSpPr txBox="1"/>
          <p:nvPr/>
        </p:nvSpPr>
        <p:spPr>
          <a:xfrm>
            <a:off x="6100000" y="2090000"/>
            <a:ext cx="26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rgbClr val="30264D"/>
                </a:solidFill>
                <a:latin typeface="Raleway"/>
              </a:rPr>
              <a:t>Quantifier Rules</a:t>
            </a:r>
            <a:endParaRPr lang="en-US" dirty="0"/>
          </a:p>
        </p:txBody>
      </p:sp>
      <p:sp>
        <p:nvSpPr>
          <p:cNvPr id="51" name="Topic waypoint 2"/>
          <p:cNvSpPr/>
          <p:nvPr/>
        </p:nvSpPr>
        <p:spPr>
          <a:xfrm>
            <a:off x="5702829" y="2950000"/>
            <a:ext cx="274645" cy="283854"/>
          </a:xfrm>
          <a:prstGeom prst="ellipse">
            <a:avLst/>
          </a:prstGeom>
          <a:solidFill>
            <a:srgbClr val="26AEB8"/>
          </a:solidFill>
          <a:ln w="0">
            <a:solidFill>
              <a:srgbClr val="26AEB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Topic index 2"/>
          <p:cNvSpPr txBox="1"/>
          <p:nvPr/>
        </p:nvSpPr>
        <p:spPr>
          <a:xfrm>
            <a:off x="5710263" y="2984361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02</a:t>
            </a:r>
            <a:endParaRPr lang="en-US" sz="1200" dirty="0"/>
          </a:p>
        </p:txBody>
      </p:sp>
      <p:sp>
        <p:nvSpPr>
          <p:cNvPr id="55" name="Topic name 2"/>
          <p:cNvSpPr txBox="1"/>
          <p:nvPr/>
        </p:nvSpPr>
        <p:spPr>
          <a:xfrm>
            <a:off x="6100000" y="2940000"/>
            <a:ext cx="26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rgbClr val="30264D"/>
                </a:solidFill>
                <a:latin typeface="Raleway"/>
              </a:rPr>
              <a:t>Worked Quantifier Examples</a:t>
            </a:r>
            <a:endParaRPr lang="en-US" dirty="0"/>
          </a:p>
        </p:txBody>
      </p:sp>
      <p:sp>
        <p:nvSpPr>
          <p:cNvPr id="57" name="Topic waypoint 3"/>
          <p:cNvSpPr/>
          <p:nvPr/>
        </p:nvSpPr>
        <p:spPr>
          <a:xfrm>
            <a:off x="5710263" y="3814868"/>
            <a:ext cx="274645" cy="283854"/>
          </a:xfrm>
          <a:prstGeom prst="ellipse">
            <a:avLst/>
          </a:prstGeom>
          <a:solidFill>
            <a:srgbClr val="F07A62"/>
          </a:solidFill>
          <a:ln w="0">
            <a:solidFill>
              <a:srgbClr val="F07A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opic index 3"/>
          <p:cNvSpPr txBox="1"/>
          <p:nvPr/>
        </p:nvSpPr>
        <p:spPr>
          <a:xfrm>
            <a:off x="5710263" y="3834361"/>
            <a:ext cx="26679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leway"/>
              </a:rPr>
              <a:t>03</a:t>
            </a:r>
            <a:endParaRPr lang="en-US" sz="1200" dirty="0"/>
          </a:p>
        </p:txBody>
      </p:sp>
      <p:sp>
        <p:nvSpPr>
          <p:cNvPr id="61" name="Topic name 3"/>
          <p:cNvSpPr txBox="1"/>
          <p:nvPr/>
        </p:nvSpPr>
        <p:spPr>
          <a:xfrm>
            <a:off x="6100000" y="3790000"/>
            <a:ext cx="267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rgbClr val="30264D"/>
                </a:solidFill>
                <a:latin typeface="Raleway"/>
              </a:rPr>
              <a:t>Universal Modus Ponens</a:t>
            </a:r>
            <a:endParaRPr lang="en-US" dirty="0"/>
          </a:p>
        </p:txBody>
      </p:sp>
      <p:pic>
        <p:nvPicPr>
          <p:cNvPr id="63" name="Picture 9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9208" y="196978"/>
            <a:ext cx="2103466" cy="629545"/>
          </a:xfrm>
          <a:prstGeom prst="rect">
            <a:avLst/>
          </a:prstGeom>
        </p:spPr>
      </p:pic>
      <p:sp>
        <p:nvSpPr>
          <p:cNvPr id="961" name="TextBox 960"/>
          <p:cNvSpPr txBox="1"/>
          <p:nvPr/>
        </p:nvSpPr>
        <p:spPr>
          <a:xfrm>
            <a:off x="400790" y="2431499"/>
            <a:ext cx="2193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BATCH : CSD-105</a:t>
            </a:r>
            <a:endParaRPr lang="en-US" sz="1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3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0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22/28</a:t>
            </a:r>
            <a:endParaRPr sz="2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74" name="Google Shape;774;p33"/>
          <p:cNvSpPr>
            <a:spLocks noGrp="1"/>
          </p:cNvSpPr>
          <p:nvPr/>
        </p:nvSpPr>
        <p:spPr>
          <a:xfrm>
            <a:off x="480060" y="149616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Rules for quantified statements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75" name="Google Shape;775;p33"/>
          <p:cNvSpPr>
            <a:spLocks noGrp="1"/>
          </p:cNvSpPr>
          <p:nvPr/>
        </p:nvSpPr>
        <p:spPr>
          <a:xfrm>
            <a:off x="480060" y="634803"/>
            <a:ext cx="72009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rules let you move between "for all", "there exists" and a particular element.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825" name="Google Shape;776;p33"/>
          <p:cNvCxnSpPr/>
          <p:nvPr/>
        </p:nvCxnSpPr>
        <p:spPr>
          <a:xfrm>
            <a:off x="480060" y="2880360"/>
            <a:ext cx="8195310" cy="0"/>
          </a:xfrm>
          <a:prstGeom prst="straightConnector1">
            <a:avLst/>
          </a:prstGeom>
          <a:ln w="38100" cap="flat">
            <a:solidFill>
              <a:srgbClr val="2E2A5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77" name="Google Shape;777;p33"/>
          <p:cNvSpPr>
            <a:spLocks noGrp="1"/>
          </p:cNvSpPr>
          <p:nvPr/>
        </p:nvSpPr>
        <p:spPr>
          <a:xfrm>
            <a:off x="339471" y="1179576"/>
            <a:ext cx="2023110" cy="1577340"/>
          </a:xfrm>
          <a:prstGeom prst="roundRect">
            <a:avLst>
              <a:gd name="adj" fmla="val 2609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8" name="Google Shape;778;p33"/>
          <p:cNvSpPr>
            <a:spLocks noGrp="1"/>
          </p:cNvSpPr>
          <p:nvPr/>
        </p:nvSpPr>
        <p:spPr>
          <a:xfrm>
            <a:off x="291465" y="1131570"/>
            <a:ext cx="2023110" cy="15773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9" name="Google Shape;779;p33"/>
          <p:cNvSpPr>
            <a:spLocks noGrp="1"/>
          </p:cNvSpPr>
          <p:nvPr/>
        </p:nvSpPr>
        <p:spPr>
          <a:xfrm>
            <a:off x="373761" y="1213866"/>
            <a:ext cx="1858518" cy="342900"/>
          </a:xfrm>
          <a:prstGeom prst="roundRect">
            <a:avLst>
              <a:gd name="adj" fmla="val 10000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0" name="Google Shape;780;p33"/>
          <p:cNvSpPr>
            <a:spLocks noGrp="1"/>
          </p:cNvSpPr>
          <p:nvPr/>
        </p:nvSpPr>
        <p:spPr>
          <a:xfrm>
            <a:off x="373761" y="1213866"/>
            <a:ext cx="18585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2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Universal instantiation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81" name="Google Shape;781;p33"/>
          <p:cNvSpPr>
            <a:spLocks noGrp="1"/>
          </p:cNvSpPr>
          <p:nvPr/>
        </p:nvSpPr>
        <p:spPr>
          <a:xfrm>
            <a:off x="428625" y="1645920"/>
            <a:ext cx="178308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∀xP(x)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P(c)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82" name="Google Shape;782;p33"/>
          <p:cNvSpPr>
            <a:spLocks noGrp="1"/>
          </p:cNvSpPr>
          <p:nvPr/>
        </p:nvSpPr>
        <p:spPr>
          <a:xfrm>
            <a:off x="428625" y="2091690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 any element c in the domain.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85" name="Google Shape;785;p33"/>
          <p:cNvSpPr>
            <a:spLocks noGrp="1"/>
          </p:cNvSpPr>
          <p:nvPr/>
        </p:nvSpPr>
        <p:spPr>
          <a:xfrm>
            <a:off x="1234440" y="279120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9B6BE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6" name="Google Shape;786;p33"/>
          <p:cNvSpPr>
            <a:spLocks noGrp="1"/>
          </p:cNvSpPr>
          <p:nvPr/>
        </p:nvSpPr>
        <p:spPr>
          <a:xfrm>
            <a:off x="1097280" y="298323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01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87" name="Google Shape;787;p33"/>
          <p:cNvSpPr>
            <a:spLocks noGrp="1"/>
          </p:cNvSpPr>
          <p:nvPr/>
        </p:nvSpPr>
        <p:spPr>
          <a:xfrm>
            <a:off x="2465451" y="3236976"/>
            <a:ext cx="2023110" cy="1577340"/>
          </a:xfrm>
          <a:prstGeom prst="roundRect">
            <a:avLst>
              <a:gd name="adj" fmla="val 2609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8" name="Google Shape;788;p33"/>
          <p:cNvSpPr>
            <a:spLocks noGrp="1"/>
          </p:cNvSpPr>
          <p:nvPr/>
        </p:nvSpPr>
        <p:spPr>
          <a:xfrm>
            <a:off x="2417445" y="3188970"/>
            <a:ext cx="2023110" cy="15773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9" name="Google Shape;789;p33"/>
          <p:cNvSpPr>
            <a:spLocks noGrp="1"/>
          </p:cNvSpPr>
          <p:nvPr/>
        </p:nvSpPr>
        <p:spPr>
          <a:xfrm>
            <a:off x="2499741" y="3271266"/>
            <a:ext cx="1858518" cy="342900"/>
          </a:xfrm>
          <a:prstGeom prst="roundRect">
            <a:avLst>
              <a:gd name="adj" fmla="val 10000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0" name="Google Shape;790;p33"/>
          <p:cNvSpPr>
            <a:spLocks noGrp="1"/>
          </p:cNvSpPr>
          <p:nvPr/>
        </p:nvSpPr>
        <p:spPr>
          <a:xfrm>
            <a:off x="2499741" y="3271266"/>
            <a:ext cx="18585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2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Universal generalization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91" name="Google Shape;791;p33"/>
          <p:cNvSpPr>
            <a:spLocks noGrp="1"/>
          </p:cNvSpPr>
          <p:nvPr/>
        </p:nvSpPr>
        <p:spPr>
          <a:xfrm>
            <a:off x="2554605" y="3703320"/>
            <a:ext cx="178308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P(c) for arbitrary c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∀xP(x)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92" name="Google Shape;792;p33"/>
          <p:cNvSpPr>
            <a:spLocks noGrp="1"/>
          </p:cNvSpPr>
          <p:nvPr/>
        </p:nvSpPr>
        <p:spPr>
          <a:xfrm>
            <a:off x="2554605" y="4149090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If P(c) holds for arbitrary c, infer ∀xP(x).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95" name="Google Shape;795;p33"/>
          <p:cNvSpPr>
            <a:spLocks noGrp="1"/>
          </p:cNvSpPr>
          <p:nvPr/>
        </p:nvSpPr>
        <p:spPr>
          <a:xfrm>
            <a:off x="3360420" y="279120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E5646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6" name="Google Shape;796;p33"/>
          <p:cNvSpPr>
            <a:spLocks noGrp="1"/>
          </p:cNvSpPr>
          <p:nvPr/>
        </p:nvSpPr>
        <p:spPr>
          <a:xfrm>
            <a:off x="3223260" y="298323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02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97" name="Google Shape;797;p33"/>
          <p:cNvSpPr>
            <a:spLocks noGrp="1"/>
          </p:cNvSpPr>
          <p:nvPr/>
        </p:nvSpPr>
        <p:spPr>
          <a:xfrm>
            <a:off x="4591431" y="1179576"/>
            <a:ext cx="2023110" cy="1577340"/>
          </a:xfrm>
          <a:prstGeom prst="roundRect">
            <a:avLst>
              <a:gd name="adj" fmla="val 2609"/>
            </a:avLst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8" name="Google Shape;798;p33"/>
          <p:cNvSpPr>
            <a:spLocks noGrp="1"/>
          </p:cNvSpPr>
          <p:nvPr/>
        </p:nvSpPr>
        <p:spPr>
          <a:xfrm>
            <a:off x="4543425" y="1131570"/>
            <a:ext cx="2023110" cy="15773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9" name="Google Shape;799;p33"/>
          <p:cNvSpPr>
            <a:spLocks noGrp="1"/>
          </p:cNvSpPr>
          <p:nvPr/>
        </p:nvSpPr>
        <p:spPr>
          <a:xfrm>
            <a:off x="4625721" y="1213866"/>
            <a:ext cx="1858518" cy="342900"/>
          </a:xfrm>
          <a:prstGeom prst="roundRect">
            <a:avLst>
              <a:gd name="adj" fmla="val 10000"/>
            </a:avLst>
          </a:prstGeom>
          <a:solidFill>
            <a:srgbClr val="B8EDE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0" name="Google Shape;800;p33"/>
          <p:cNvSpPr>
            <a:spLocks noGrp="1"/>
          </p:cNvSpPr>
          <p:nvPr/>
        </p:nvSpPr>
        <p:spPr>
          <a:xfrm>
            <a:off x="4625721" y="1213866"/>
            <a:ext cx="18585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2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Existential instantiation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1" name="Google Shape;801;p33"/>
          <p:cNvSpPr>
            <a:spLocks noGrp="1"/>
          </p:cNvSpPr>
          <p:nvPr/>
        </p:nvSpPr>
        <p:spPr>
          <a:xfrm>
            <a:off x="4680585" y="1645920"/>
            <a:ext cx="178308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∃xP(x)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P(c) for some c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2" name="Google Shape;802;p33"/>
          <p:cNvSpPr>
            <a:spLocks noGrp="1"/>
          </p:cNvSpPr>
          <p:nvPr/>
        </p:nvSpPr>
        <p:spPr>
          <a:xfrm>
            <a:off x="4680585" y="2091690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If some element has P, call it c.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5" name="Google Shape;805;p33"/>
          <p:cNvSpPr>
            <a:spLocks noGrp="1"/>
          </p:cNvSpPr>
          <p:nvPr/>
        </p:nvSpPr>
        <p:spPr>
          <a:xfrm>
            <a:off x="5486400" y="279120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36AEB6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6" name="Google Shape;806;p33"/>
          <p:cNvSpPr>
            <a:spLocks noGrp="1"/>
          </p:cNvSpPr>
          <p:nvPr/>
        </p:nvSpPr>
        <p:spPr>
          <a:xfrm>
            <a:off x="5349240" y="298323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03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7" name="Google Shape;807;p33"/>
          <p:cNvSpPr>
            <a:spLocks noGrp="1"/>
          </p:cNvSpPr>
          <p:nvPr/>
        </p:nvSpPr>
        <p:spPr>
          <a:xfrm>
            <a:off x="6717411" y="3236976"/>
            <a:ext cx="2023110" cy="1577340"/>
          </a:xfrm>
          <a:prstGeom prst="roundRect">
            <a:avLst>
              <a:gd name="adj" fmla="val 2609"/>
            </a:avLst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8" name="Google Shape;808;p33"/>
          <p:cNvSpPr>
            <a:spLocks noGrp="1"/>
          </p:cNvSpPr>
          <p:nvPr/>
        </p:nvSpPr>
        <p:spPr>
          <a:xfrm>
            <a:off x="6669405" y="3188970"/>
            <a:ext cx="2023110" cy="15773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9" name="Google Shape;809;p33"/>
          <p:cNvSpPr>
            <a:spLocks noGrp="1"/>
          </p:cNvSpPr>
          <p:nvPr/>
        </p:nvSpPr>
        <p:spPr>
          <a:xfrm>
            <a:off x="6751701" y="3271266"/>
            <a:ext cx="1858518" cy="342900"/>
          </a:xfrm>
          <a:prstGeom prst="roundRect">
            <a:avLst>
              <a:gd name="adj" fmla="val 10000"/>
            </a:avLst>
          </a:prstGeom>
          <a:solidFill>
            <a:srgbClr val="FFE9A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0" name="Google Shape;810;p33"/>
          <p:cNvSpPr>
            <a:spLocks noGrp="1"/>
          </p:cNvSpPr>
          <p:nvPr/>
        </p:nvSpPr>
        <p:spPr>
          <a:xfrm>
            <a:off x="6751701" y="3271266"/>
            <a:ext cx="18585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2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Existential generalization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1" name="Google Shape;811;p33"/>
          <p:cNvSpPr>
            <a:spLocks noGrp="1"/>
          </p:cNvSpPr>
          <p:nvPr/>
        </p:nvSpPr>
        <p:spPr>
          <a:xfrm>
            <a:off x="6806565" y="3703320"/>
            <a:ext cx="178308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P(c) for some c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∃xP(x)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2" name="Google Shape;812;p33"/>
          <p:cNvSpPr>
            <a:spLocks noGrp="1"/>
          </p:cNvSpPr>
          <p:nvPr/>
        </p:nvSpPr>
        <p:spPr>
          <a:xfrm>
            <a:off x="6806565" y="4149090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From a known P(c), infer ∃xP(x).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5" name="Google Shape;815;p33"/>
          <p:cNvSpPr>
            <a:spLocks noGrp="1"/>
          </p:cNvSpPr>
          <p:nvPr/>
        </p:nvSpPr>
        <p:spPr>
          <a:xfrm>
            <a:off x="7612380" y="2791206"/>
            <a:ext cx="137160" cy="178308"/>
          </a:xfrm>
          <a:prstGeom prst="roundRect">
            <a:avLst>
              <a:gd name="adj" fmla="val 30000"/>
            </a:avLst>
          </a:prstGeom>
          <a:solidFill>
            <a:srgbClr val="DDA700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6" name="Google Shape;816;p33"/>
          <p:cNvSpPr>
            <a:spLocks noGrp="1"/>
          </p:cNvSpPr>
          <p:nvPr/>
        </p:nvSpPr>
        <p:spPr>
          <a:xfrm>
            <a:off x="7475220" y="298323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04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600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600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decel="600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decel="60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decel="600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decel="600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decel="60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700" decel="600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700" decel="600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700" decel="600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700" decel="600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700" decel="600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700" decel="600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700" decel="600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decel="600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700" decel="600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decel="60000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700" decel="60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700" decel="60000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decel="60000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700" decel="600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700" decel="600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decel="600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700" decel="60000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700" decel="60000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700" decel="60000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700" decel="60000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700" decel="6000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700" decel="60000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700" decel="6000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decel="6000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700" decel="60000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" grpId="0" animBg="1"/>
      <p:bldP spid="778" grpId="0" animBg="1"/>
      <p:bldP spid="779" grpId="0" animBg="1"/>
      <p:bldP spid="780" grpId="0" animBg="1"/>
      <p:bldP spid="781" grpId="0" animBg="1"/>
      <p:bldP spid="782" grpId="0" animBg="1"/>
      <p:bldP spid="785" grpId="0" animBg="1"/>
      <p:bldP spid="786" grpId="0" animBg="1"/>
      <p:bldP spid="787" grpId="0" animBg="1"/>
      <p:bldP spid="788" grpId="0" animBg="1"/>
      <p:bldP spid="789" grpId="0" animBg="1"/>
      <p:bldP spid="790" grpId="0" animBg="1"/>
      <p:bldP spid="791" grpId="0" animBg="1"/>
      <p:bldP spid="792" grpId="0" animBg="1"/>
      <p:bldP spid="795" grpId="0" animBg="1"/>
      <p:bldP spid="796" grpId="0" animBg="1"/>
      <p:bldP spid="797" grpId="0" animBg="1"/>
      <p:bldP spid="798" grpId="0" animBg="1"/>
      <p:bldP spid="799" grpId="0" animBg="1"/>
      <p:bldP spid="800" grpId="0" animBg="1"/>
      <p:bldP spid="801" grpId="0" animBg="1"/>
      <p:bldP spid="802" grpId="0" animBg="1"/>
      <p:bldP spid="805" grpId="0" animBg="1"/>
      <p:bldP spid="806" grpId="0" animBg="1"/>
      <p:bldP spid="807" grpId="0" animBg="1"/>
      <p:bldP spid="808" grpId="0" animBg="1"/>
      <p:bldP spid="809" grpId="0" animBg="1"/>
      <p:bldP spid="810" grpId="0" animBg="1"/>
      <p:bldP spid="811" grpId="0" animBg="1"/>
      <p:bldP spid="812" grpId="0" animBg="1"/>
      <p:bldP spid="815" grpId="0" animBg="1"/>
      <p:bldP spid="8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4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23/28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24" name="Google Shape;824;p34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Universal rules in detail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25" name="Google Shape;825;p34"/>
          <p:cNvSpPr>
            <a:spLocks noGrp="1"/>
          </p:cNvSpPr>
          <p:nvPr/>
        </p:nvSpPr>
        <p:spPr>
          <a:xfrm>
            <a:off x="528066" y="1076706"/>
            <a:ext cx="4011930" cy="3657600"/>
          </a:xfrm>
          <a:prstGeom prst="roundRect">
            <a:avLst>
              <a:gd name="adj" fmla="val 2400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6" name="Google Shape;826;p34"/>
          <p:cNvSpPr>
            <a:spLocks noGrp="1"/>
          </p:cNvSpPr>
          <p:nvPr/>
        </p:nvSpPr>
        <p:spPr>
          <a:xfrm>
            <a:off x="480060" y="1028700"/>
            <a:ext cx="4011930" cy="36576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34"/>
          <p:cNvSpPr>
            <a:spLocks noGrp="1"/>
          </p:cNvSpPr>
          <p:nvPr/>
        </p:nvSpPr>
        <p:spPr>
          <a:xfrm>
            <a:off x="562356" y="1110996"/>
            <a:ext cx="3847338" cy="342900"/>
          </a:xfrm>
          <a:prstGeom prst="roundRect">
            <a:avLst>
              <a:gd name="adj" fmla="val 10000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8" name="Google Shape;828;p34"/>
          <p:cNvSpPr>
            <a:spLocks noGrp="1"/>
          </p:cNvSpPr>
          <p:nvPr/>
        </p:nvSpPr>
        <p:spPr>
          <a:xfrm>
            <a:off x="562356" y="1110996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Universal instantiation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29" name="Google Shape;829;p34"/>
          <p:cNvSpPr>
            <a:spLocks noGrp="1"/>
          </p:cNvSpPr>
          <p:nvPr/>
        </p:nvSpPr>
        <p:spPr>
          <a:xfrm>
            <a:off x="651510" y="156362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0" name="Google Shape;830;p34"/>
          <p:cNvSpPr>
            <a:spLocks noGrp="1"/>
          </p:cNvSpPr>
          <p:nvPr/>
        </p:nvSpPr>
        <p:spPr>
          <a:xfrm>
            <a:off x="651510" y="174879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∀x P(x)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P(c)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1" name="Google Shape;831;p34"/>
          <p:cNvSpPr>
            <a:spLocks noGrp="1"/>
          </p:cNvSpPr>
          <p:nvPr/>
        </p:nvSpPr>
        <p:spPr>
          <a:xfrm>
            <a:off x="2400300" y="156362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CONDITION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2" name="Google Shape;832;p34"/>
          <p:cNvSpPr>
            <a:spLocks noGrp="1"/>
          </p:cNvSpPr>
          <p:nvPr/>
        </p:nvSpPr>
        <p:spPr>
          <a:xfrm>
            <a:off x="2400300" y="1737360"/>
            <a:ext cx="1988820" cy="56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domain element has P, so any chosen c does.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00" name="Example box"/>
          <p:cNvSpPr/>
          <p:nvPr/>
        </p:nvSpPr>
        <p:spPr>
          <a:xfrm>
            <a:off x="700000" y="2350000"/>
            <a:ext cx="3600000" cy="2140000"/>
          </a:xfrm>
          <a:prstGeom prst="roundRect">
            <a:avLst>
              <a:gd name="adj" fmla="val 6000"/>
            </a:avLst>
          </a:prstGeom>
          <a:solidFill>
            <a:srgbClr val="FFF4EC"/>
          </a:solidFill>
          <a:ln w="12700">
            <a:solidFill>
              <a:srgbClr val="FF714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3" name="Google Shape;833;p34"/>
          <p:cNvSpPr>
            <a:spLocks noGrp="1"/>
          </p:cNvSpPr>
          <p:nvPr/>
        </p:nvSpPr>
        <p:spPr>
          <a:xfrm>
            <a:off x="790000" y="2420000"/>
            <a:ext cx="33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EXAMPLE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4" name="Google Shape;834;p34"/>
          <p:cNvSpPr>
            <a:spLocks noGrp="1"/>
          </p:cNvSpPr>
          <p:nvPr/>
        </p:nvSpPr>
        <p:spPr>
          <a:xfrm>
            <a:off x="790000" y="2610000"/>
            <a:ext cx="3300000" cy="1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1) Every square has four sides. Shape A is a square; so A has four sides.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2) Every even integer is divisible by 2. Eight is even; so 8 is divisible by 2.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5" name="Google Shape;835;p34"/>
          <p:cNvSpPr>
            <a:spLocks noGrp="1"/>
          </p:cNvSpPr>
          <p:nvPr/>
        </p:nvSpPr>
        <p:spPr>
          <a:xfrm>
            <a:off x="4711446" y="1076706"/>
            <a:ext cx="4011930" cy="3657600"/>
          </a:xfrm>
          <a:prstGeom prst="roundRect">
            <a:avLst>
              <a:gd name="adj" fmla="val 2400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6" name="Google Shape;836;p34"/>
          <p:cNvSpPr>
            <a:spLocks noGrp="1"/>
          </p:cNvSpPr>
          <p:nvPr/>
        </p:nvSpPr>
        <p:spPr>
          <a:xfrm>
            <a:off x="4663440" y="1028700"/>
            <a:ext cx="4011930" cy="36576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7" name="Google Shape;837;p34"/>
          <p:cNvSpPr>
            <a:spLocks noGrp="1"/>
          </p:cNvSpPr>
          <p:nvPr/>
        </p:nvSpPr>
        <p:spPr>
          <a:xfrm>
            <a:off x="4745736" y="1110996"/>
            <a:ext cx="3847338" cy="342900"/>
          </a:xfrm>
          <a:prstGeom prst="roundRect">
            <a:avLst>
              <a:gd name="adj" fmla="val 10000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8" name="Google Shape;838;p34"/>
          <p:cNvSpPr>
            <a:spLocks noGrp="1"/>
          </p:cNvSpPr>
          <p:nvPr/>
        </p:nvSpPr>
        <p:spPr>
          <a:xfrm>
            <a:off x="4745736" y="1110996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Universal generalization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9" name="Google Shape;839;p34"/>
          <p:cNvSpPr>
            <a:spLocks noGrp="1"/>
          </p:cNvSpPr>
          <p:nvPr/>
        </p:nvSpPr>
        <p:spPr>
          <a:xfrm>
            <a:off x="4834890" y="156362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0" name="Google Shape;840;p34"/>
          <p:cNvSpPr>
            <a:spLocks noGrp="1"/>
          </p:cNvSpPr>
          <p:nvPr/>
        </p:nvSpPr>
        <p:spPr>
          <a:xfrm>
            <a:off x="4834890" y="174879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P(c), for arbitrary c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∀x P(x)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1" name="Google Shape;841;p34"/>
          <p:cNvSpPr>
            <a:spLocks noGrp="1"/>
          </p:cNvSpPr>
          <p:nvPr/>
        </p:nvSpPr>
        <p:spPr>
          <a:xfrm>
            <a:off x="6583680" y="156362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CONDITION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2" name="Google Shape;842;p34"/>
          <p:cNvSpPr>
            <a:spLocks noGrp="1"/>
          </p:cNvSpPr>
          <p:nvPr/>
        </p:nvSpPr>
        <p:spPr>
          <a:xfrm>
            <a:off x="6583680" y="1737360"/>
            <a:ext cx="1988820" cy="56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an arbitrary c, with no special assumptions.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01" name="Example box"/>
          <p:cNvSpPr/>
          <p:nvPr/>
        </p:nvSpPr>
        <p:spPr>
          <a:xfrm>
            <a:off x="4880000" y="2350000"/>
            <a:ext cx="3600000" cy="2140000"/>
          </a:xfrm>
          <a:prstGeom prst="roundRect">
            <a:avLst>
              <a:gd name="adj" fmla="val 6000"/>
            </a:avLst>
          </a:prstGeom>
          <a:solidFill>
            <a:srgbClr val="FFF4EC"/>
          </a:solidFill>
          <a:ln w="12700">
            <a:solidFill>
              <a:srgbClr val="FF714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3" name="Google Shape;843;p34"/>
          <p:cNvSpPr>
            <a:spLocks noGrp="1"/>
          </p:cNvSpPr>
          <p:nvPr/>
        </p:nvSpPr>
        <p:spPr>
          <a:xfrm>
            <a:off x="4970000" y="2420000"/>
            <a:ext cx="33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EXAMPLE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4" name="Google Shape;844;p34"/>
          <p:cNvSpPr>
            <a:spLocks noGrp="1"/>
          </p:cNvSpPr>
          <p:nvPr/>
        </p:nvSpPr>
        <p:spPr>
          <a:xfrm>
            <a:off x="4970000" y="2610000"/>
            <a:ext cx="3300000" cy="1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1) Let n be an arbitrary integer. n + n = 2n is even, so n + n is even for every integer n.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2) For arbitrary integer n, n² ≥ 0; therefore every integer square is nonnegative.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60000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60000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6000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60000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60000" fill="hold"/>
                                        <p:tgtEl>
                                          <p:spTgt spid="2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60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decel="60000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600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60000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60000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600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600" decel="60000" fill="hold"/>
                                        <p:tgtEl>
                                          <p:spTgt spid="2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600" decel="60000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decel="60000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" grpId="0" animBg="1"/>
      <p:bldP spid="830" grpId="0" animBg="1"/>
      <p:bldP spid="831" grpId="0" animBg="1"/>
      <p:bldP spid="832" grpId="0" animBg="1"/>
      <p:bldP spid="2100" grpId="0" animBg="1"/>
      <p:bldP spid="833" grpId="0" animBg="1"/>
      <p:bldP spid="834" grpId="0" animBg="1"/>
      <p:bldP spid="839" grpId="0" animBg="1"/>
      <p:bldP spid="840" grpId="0" animBg="1"/>
      <p:bldP spid="841" grpId="0" animBg="1"/>
      <p:bldP spid="842" grpId="0" animBg="1"/>
      <p:bldP spid="2101" grpId="0" animBg="1"/>
      <p:bldP spid="843" grpId="0" animBg="1"/>
      <p:bldP spid="8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4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24/28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24" name="Google Shape;824;p34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Existential rules in detail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25" name="Google Shape;825;p34"/>
          <p:cNvSpPr>
            <a:spLocks noGrp="1"/>
          </p:cNvSpPr>
          <p:nvPr/>
        </p:nvSpPr>
        <p:spPr>
          <a:xfrm>
            <a:off x="528066" y="1076706"/>
            <a:ext cx="4011930" cy="3657600"/>
          </a:xfrm>
          <a:prstGeom prst="roundRect">
            <a:avLst>
              <a:gd name="adj" fmla="val 2400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6" name="Google Shape;826;p34"/>
          <p:cNvSpPr>
            <a:spLocks noGrp="1"/>
          </p:cNvSpPr>
          <p:nvPr/>
        </p:nvSpPr>
        <p:spPr>
          <a:xfrm>
            <a:off x="480060" y="1028700"/>
            <a:ext cx="4011930" cy="36576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34"/>
          <p:cNvSpPr>
            <a:spLocks noGrp="1"/>
          </p:cNvSpPr>
          <p:nvPr/>
        </p:nvSpPr>
        <p:spPr>
          <a:xfrm>
            <a:off x="562356" y="1110996"/>
            <a:ext cx="3847338" cy="342900"/>
          </a:xfrm>
          <a:prstGeom prst="roundRect">
            <a:avLst>
              <a:gd name="adj" fmla="val 10000"/>
            </a:avLst>
          </a:prstGeom>
          <a:solidFill>
            <a:srgbClr val="E9E0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8" name="Google Shape;828;p34"/>
          <p:cNvSpPr>
            <a:spLocks noGrp="1"/>
          </p:cNvSpPr>
          <p:nvPr/>
        </p:nvSpPr>
        <p:spPr>
          <a:xfrm>
            <a:off x="562356" y="1110996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Existential instantiation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29" name="Google Shape;829;p34"/>
          <p:cNvSpPr>
            <a:spLocks noGrp="1"/>
          </p:cNvSpPr>
          <p:nvPr/>
        </p:nvSpPr>
        <p:spPr>
          <a:xfrm>
            <a:off x="651510" y="156362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0" name="Google Shape;830;p34"/>
          <p:cNvSpPr>
            <a:spLocks noGrp="1"/>
          </p:cNvSpPr>
          <p:nvPr/>
        </p:nvSpPr>
        <p:spPr>
          <a:xfrm>
            <a:off x="651510" y="174879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∃x P(x)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P(c), for a new c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1" name="Google Shape;831;p34"/>
          <p:cNvSpPr>
            <a:spLocks noGrp="1"/>
          </p:cNvSpPr>
          <p:nvPr/>
        </p:nvSpPr>
        <p:spPr>
          <a:xfrm>
            <a:off x="2400300" y="156362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CONDITION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2" name="Google Shape;832;p34"/>
          <p:cNvSpPr>
            <a:spLocks noGrp="1"/>
          </p:cNvSpPr>
          <p:nvPr/>
        </p:nvSpPr>
        <p:spPr>
          <a:xfrm>
            <a:off x="2400300" y="1737360"/>
            <a:ext cx="1988820" cy="56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 a fresh name c for a witness; assume no other properties of c.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00" name="Example background"/>
          <p:cNvSpPr/>
          <p:nvPr/>
        </p:nvSpPr>
        <p:spPr>
          <a:xfrm>
            <a:off x="700000" y="2670000"/>
            <a:ext cx="3600000" cy="1750000"/>
          </a:xfrm>
          <a:prstGeom prst="roundRect">
            <a:avLst>
              <a:gd name="adj" fmla="val 6000"/>
            </a:avLst>
          </a:prstGeom>
          <a:solidFill>
            <a:srgbClr val="FFF4EC"/>
          </a:solidFill>
          <a:ln w="12700">
            <a:solidFill>
              <a:srgbClr val="FF714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3" name="Google Shape;833;p34"/>
          <p:cNvSpPr>
            <a:spLocks noGrp="1"/>
          </p:cNvSpPr>
          <p:nvPr/>
        </p:nvSpPr>
        <p:spPr>
          <a:xfrm>
            <a:off x="790000" y="2720000"/>
            <a:ext cx="33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EXAMPLE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4" name="Google Shape;834;p34"/>
          <p:cNvSpPr>
            <a:spLocks noGrp="1"/>
          </p:cNvSpPr>
          <p:nvPr/>
        </p:nvSpPr>
        <p:spPr>
          <a:xfrm>
            <a:off x="790000" y="2900000"/>
            <a:ext cx="3300000" cy="1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1) Some student passed. Call one such student c; then Passed(c).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2) A solution to x² = 9 exists. Call one solution c; then c² = 9.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5" name="Google Shape;835;p34"/>
          <p:cNvSpPr>
            <a:spLocks noGrp="1"/>
          </p:cNvSpPr>
          <p:nvPr/>
        </p:nvSpPr>
        <p:spPr>
          <a:xfrm>
            <a:off x="4711446" y="1076706"/>
            <a:ext cx="4011930" cy="3657600"/>
          </a:xfrm>
          <a:prstGeom prst="roundRect">
            <a:avLst>
              <a:gd name="adj" fmla="val 2400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6" name="Google Shape;836;p34"/>
          <p:cNvSpPr>
            <a:spLocks noGrp="1"/>
          </p:cNvSpPr>
          <p:nvPr/>
        </p:nvSpPr>
        <p:spPr>
          <a:xfrm>
            <a:off x="4663440" y="1028700"/>
            <a:ext cx="4011930" cy="36576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7" name="Google Shape;837;p34"/>
          <p:cNvSpPr>
            <a:spLocks noGrp="1"/>
          </p:cNvSpPr>
          <p:nvPr/>
        </p:nvSpPr>
        <p:spPr>
          <a:xfrm>
            <a:off x="4745736" y="1110996"/>
            <a:ext cx="3847338" cy="342900"/>
          </a:xfrm>
          <a:prstGeom prst="roundRect">
            <a:avLst>
              <a:gd name="adj" fmla="val 10000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8" name="Google Shape;838;p34"/>
          <p:cNvSpPr>
            <a:spLocks noGrp="1"/>
          </p:cNvSpPr>
          <p:nvPr/>
        </p:nvSpPr>
        <p:spPr>
          <a:xfrm>
            <a:off x="4745736" y="1110996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Existential generalization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39" name="Google Shape;839;p34"/>
          <p:cNvSpPr>
            <a:spLocks noGrp="1"/>
          </p:cNvSpPr>
          <p:nvPr/>
        </p:nvSpPr>
        <p:spPr>
          <a:xfrm>
            <a:off x="4834890" y="156362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0" name="Google Shape;840;p34"/>
          <p:cNvSpPr>
            <a:spLocks noGrp="1"/>
          </p:cNvSpPr>
          <p:nvPr/>
        </p:nvSpPr>
        <p:spPr>
          <a:xfrm>
            <a:off x="4834890" y="174879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P(c)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 ∃x P(x)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1" name="Google Shape;841;p34"/>
          <p:cNvSpPr>
            <a:spLocks noGrp="1"/>
          </p:cNvSpPr>
          <p:nvPr/>
        </p:nvSpPr>
        <p:spPr>
          <a:xfrm>
            <a:off x="6583680" y="156362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CONDITION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2" name="Google Shape;842;p34"/>
          <p:cNvSpPr>
            <a:spLocks noGrp="1"/>
          </p:cNvSpPr>
          <p:nvPr/>
        </p:nvSpPr>
        <p:spPr>
          <a:xfrm>
            <a:off x="6583680" y="1737360"/>
            <a:ext cx="1988820" cy="56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 is one specific element in the domain.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01" name="Example background"/>
          <p:cNvSpPr/>
          <p:nvPr/>
        </p:nvSpPr>
        <p:spPr>
          <a:xfrm>
            <a:off x="4880000" y="2670000"/>
            <a:ext cx="3600000" cy="1750000"/>
          </a:xfrm>
          <a:prstGeom prst="roundRect">
            <a:avLst>
              <a:gd name="adj" fmla="val 6000"/>
            </a:avLst>
          </a:prstGeom>
          <a:solidFill>
            <a:srgbClr val="FFF4EC"/>
          </a:solidFill>
          <a:ln w="12700">
            <a:solidFill>
              <a:srgbClr val="FF714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3" name="Google Shape;843;p34"/>
          <p:cNvSpPr>
            <a:spLocks noGrp="1"/>
          </p:cNvSpPr>
          <p:nvPr/>
        </p:nvSpPr>
        <p:spPr>
          <a:xfrm>
            <a:off x="4970000" y="2720000"/>
            <a:ext cx="33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2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EXAMPLE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4" name="Google Shape;844;p34"/>
          <p:cNvSpPr>
            <a:spLocks noGrp="1"/>
          </p:cNvSpPr>
          <p:nvPr/>
        </p:nvSpPr>
        <p:spPr>
          <a:xfrm>
            <a:off x="4970000" y="2900000"/>
            <a:ext cx="3300000" cy="1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1) Marla passed the course, so someone passed the course.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0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2) Seven is prime, so there exists a prime number.</a:t>
            </a:r>
            <a:endParaRPr sz="1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5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25/28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72" name="Google Shape;872;p35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Quantified rules at work (Example 12)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73" name="Google Shape;873;p35"/>
          <p:cNvSpPr>
            <a:spLocks noGrp="1"/>
          </p:cNvSpPr>
          <p:nvPr/>
        </p:nvSpPr>
        <p:spPr>
          <a:xfrm>
            <a:off x="480060" y="994410"/>
            <a:ext cx="8195310" cy="720090"/>
          </a:xfrm>
          <a:prstGeom prst="roundRect">
            <a:avLst>
              <a:gd name="adj" fmla="val 11429"/>
            </a:avLst>
          </a:prstGeom>
          <a:solidFill>
            <a:srgbClr val="FFF1EA"/>
          </a:solidFill>
          <a:ln w="12700" cmpd="sng">
            <a:solidFill>
              <a:srgbClr val="F2C9B8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4" name="Google Shape;874;p35"/>
          <p:cNvSpPr>
            <a:spLocks noGrp="1"/>
          </p:cNvSpPr>
          <p:nvPr/>
        </p:nvSpPr>
        <p:spPr>
          <a:xfrm>
            <a:off x="617220" y="106299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75" name="Google Shape;875;p35"/>
          <p:cNvSpPr>
            <a:spLocks noGrp="1"/>
          </p:cNvSpPr>
          <p:nvPr/>
        </p:nvSpPr>
        <p:spPr>
          <a:xfrm>
            <a:off x="617220" y="1227582"/>
            <a:ext cx="792099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Show that the premises "Everyone in this discrete mathematics class has taken a course in computer science" and "Marla is a student in this class" imply the conclusion "Marla has taken a course in computer science".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76" name="Google Shape;876;p35"/>
          <p:cNvSpPr>
            <a:spLocks noGrp="1"/>
          </p:cNvSpPr>
          <p:nvPr/>
        </p:nvSpPr>
        <p:spPr>
          <a:xfrm>
            <a:off x="528066" y="1899666"/>
            <a:ext cx="3154680" cy="2846070"/>
          </a:xfrm>
          <a:prstGeom prst="roundRect">
            <a:avLst>
              <a:gd name="adj" fmla="val 1446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7" name="Google Shape;877;p35"/>
          <p:cNvSpPr>
            <a:spLocks noGrp="1"/>
          </p:cNvSpPr>
          <p:nvPr/>
        </p:nvSpPr>
        <p:spPr>
          <a:xfrm>
            <a:off x="480060" y="1851660"/>
            <a:ext cx="3154680" cy="284607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8" name="Google Shape;878;p35"/>
          <p:cNvSpPr>
            <a:spLocks noGrp="1"/>
          </p:cNvSpPr>
          <p:nvPr/>
        </p:nvSpPr>
        <p:spPr>
          <a:xfrm>
            <a:off x="651510" y="1933956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LET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79" name="Google Shape;879;p35"/>
          <p:cNvSpPr>
            <a:spLocks noGrp="1"/>
          </p:cNvSpPr>
          <p:nvPr/>
        </p:nvSpPr>
        <p:spPr>
          <a:xfrm>
            <a:off x="651510" y="2098548"/>
            <a:ext cx="281178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D(x): x is in the class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C(x): x took computer science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0" name="Google Shape;880;p35"/>
          <p:cNvSpPr>
            <a:spLocks noGrp="1"/>
          </p:cNvSpPr>
          <p:nvPr/>
        </p:nvSpPr>
        <p:spPr>
          <a:xfrm>
            <a:off x="651510" y="281178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PREMISES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1" name="Google Shape;881;p35"/>
          <p:cNvSpPr>
            <a:spLocks noGrp="1"/>
          </p:cNvSpPr>
          <p:nvPr/>
        </p:nvSpPr>
        <p:spPr>
          <a:xfrm>
            <a:off x="651510" y="2976372"/>
            <a:ext cx="281178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500"/>
              <a:buFont typeface="Cambria Math" panose="02040503050406030204"/>
              <a:buNone/>
            </a:pPr>
            <a:r>
              <a:rPr sz="15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∀x(D(x) → C(x))</a:t>
            </a:r>
            <a:endParaRPr sz="15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500"/>
              <a:buFont typeface="Cambria Math" panose="02040503050406030204"/>
              <a:buNone/>
            </a:pPr>
            <a:r>
              <a:rPr sz="15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D(Marla)</a:t>
            </a:r>
            <a:endParaRPr sz="15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2" name="Google Shape;882;p35"/>
          <p:cNvSpPr>
            <a:spLocks noGrp="1"/>
          </p:cNvSpPr>
          <p:nvPr/>
        </p:nvSpPr>
        <p:spPr>
          <a:xfrm>
            <a:off x="651510" y="366903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CONCLUSION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3" name="Google Shape;883;p35"/>
          <p:cNvSpPr>
            <a:spLocks noGrp="1"/>
          </p:cNvSpPr>
          <p:nvPr/>
        </p:nvSpPr>
        <p:spPr>
          <a:xfrm>
            <a:off x="651510" y="3840480"/>
            <a:ext cx="28117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1700"/>
              <a:buFont typeface="Cambria Math" panose="02040503050406030204"/>
              <a:buNone/>
            </a:pPr>
            <a:r>
              <a:rPr sz="1700" b="1" i="0" u="none" cap="none">
                <a:solidFill>
                  <a:srgbClr val="FF7145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C(Marla)</a:t>
            </a:r>
            <a:endParaRPr sz="17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4" name="Google Shape;884;p35"/>
          <p:cNvSpPr>
            <a:spLocks noGrp="1"/>
          </p:cNvSpPr>
          <p:nvPr/>
        </p:nvSpPr>
        <p:spPr>
          <a:xfrm>
            <a:off x="3840480" y="1851660"/>
            <a:ext cx="4834890" cy="480060"/>
          </a:xfrm>
          <a:prstGeom prst="roundRect">
            <a:avLst>
              <a:gd name="adj" fmla="val 20000"/>
            </a:avLst>
          </a:prstGeom>
          <a:solidFill>
            <a:srgbClr val="E9E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5" name="Google Shape;885;p35"/>
          <p:cNvSpPr>
            <a:spLocks noGrp="1"/>
          </p:cNvSpPr>
          <p:nvPr/>
        </p:nvSpPr>
        <p:spPr>
          <a:xfrm>
            <a:off x="3977640" y="1851660"/>
            <a:ext cx="2743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6" name="Google Shape;886;p35"/>
          <p:cNvSpPr>
            <a:spLocks noGrp="1"/>
          </p:cNvSpPr>
          <p:nvPr/>
        </p:nvSpPr>
        <p:spPr>
          <a:xfrm>
            <a:off x="4320540" y="1851660"/>
            <a:ext cx="2263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∀x(D(x) → C(x))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7" name="Google Shape;887;p35"/>
          <p:cNvSpPr>
            <a:spLocks noGrp="1"/>
          </p:cNvSpPr>
          <p:nvPr/>
        </p:nvSpPr>
        <p:spPr>
          <a:xfrm>
            <a:off x="6617970" y="1851660"/>
            <a:ext cx="19888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Premise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8" name="Google Shape;888;p35"/>
          <p:cNvSpPr>
            <a:spLocks noGrp="1"/>
          </p:cNvSpPr>
          <p:nvPr/>
        </p:nvSpPr>
        <p:spPr>
          <a:xfrm>
            <a:off x="3840480" y="2414016"/>
            <a:ext cx="4834890" cy="480060"/>
          </a:xfrm>
          <a:prstGeom prst="roundRect">
            <a:avLst>
              <a:gd name="adj" fmla="val 20000"/>
            </a:avLst>
          </a:prstGeom>
          <a:solidFill>
            <a:srgbClr val="FFE3D9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9" name="Google Shape;889;p35"/>
          <p:cNvSpPr>
            <a:spLocks noGrp="1"/>
          </p:cNvSpPr>
          <p:nvPr/>
        </p:nvSpPr>
        <p:spPr>
          <a:xfrm>
            <a:off x="3977640" y="2414016"/>
            <a:ext cx="2743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90" name="Google Shape;890;p35"/>
          <p:cNvSpPr>
            <a:spLocks noGrp="1"/>
          </p:cNvSpPr>
          <p:nvPr/>
        </p:nvSpPr>
        <p:spPr>
          <a:xfrm>
            <a:off x="4320540" y="2414016"/>
            <a:ext cx="2263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D(Marla) → C(Marla)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91" name="Google Shape;891;p35"/>
          <p:cNvSpPr>
            <a:spLocks noGrp="1"/>
          </p:cNvSpPr>
          <p:nvPr/>
        </p:nvSpPr>
        <p:spPr>
          <a:xfrm>
            <a:off x="6617970" y="2414016"/>
            <a:ext cx="19888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Universal instantiation from (1)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92" name="Google Shape;892;p35"/>
          <p:cNvSpPr>
            <a:spLocks noGrp="1"/>
          </p:cNvSpPr>
          <p:nvPr/>
        </p:nvSpPr>
        <p:spPr>
          <a:xfrm>
            <a:off x="3840480" y="2976372"/>
            <a:ext cx="4834890" cy="480060"/>
          </a:xfrm>
          <a:prstGeom prst="roundRect">
            <a:avLst>
              <a:gd name="adj" fmla="val 20000"/>
            </a:avLst>
          </a:prstGeom>
          <a:solidFill>
            <a:srgbClr val="E9E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3" name="Google Shape;893;p35"/>
          <p:cNvSpPr>
            <a:spLocks noGrp="1"/>
          </p:cNvSpPr>
          <p:nvPr/>
        </p:nvSpPr>
        <p:spPr>
          <a:xfrm>
            <a:off x="3977640" y="2976372"/>
            <a:ext cx="2743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94" name="Google Shape;894;p35"/>
          <p:cNvSpPr>
            <a:spLocks noGrp="1"/>
          </p:cNvSpPr>
          <p:nvPr/>
        </p:nvSpPr>
        <p:spPr>
          <a:xfrm>
            <a:off x="4320540" y="2976372"/>
            <a:ext cx="2263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D(Marla)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95" name="Google Shape;895;p35"/>
          <p:cNvSpPr>
            <a:spLocks noGrp="1"/>
          </p:cNvSpPr>
          <p:nvPr/>
        </p:nvSpPr>
        <p:spPr>
          <a:xfrm>
            <a:off x="6617970" y="2976372"/>
            <a:ext cx="19888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Premise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96" name="Google Shape;896;p35"/>
          <p:cNvSpPr>
            <a:spLocks noGrp="1"/>
          </p:cNvSpPr>
          <p:nvPr/>
        </p:nvSpPr>
        <p:spPr>
          <a:xfrm>
            <a:off x="3840480" y="3538728"/>
            <a:ext cx="4834890" cy="480060"/>
          </a:xfrm>
          <a:prstGeom prst="roundRect">
            <a:avLst>
              <a:gd name="adj" fmla="val 20000"/>
            </a:avLst>
          </a:prstGeom>
          <a:solidFill>
            <a:srgbClr val="FFE3D9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7" name="Google Shape;897;p35"/>
          <p:cNvSpPr>
            <a:spLocks noGrp="1"/>
          </p:cNvSpPr>
          <p:nvPr/>
        </p:nvSpPr>
        <p:spPr>
          <a:xfrm>
            <a:off x="3977640" y="3538728"/>
            <a:ext cx="2743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98" name="Google Shape;898;p35"/>
          <p:cNvSpPr>
            <a:spLocks noGrp="1"/>
          </p:cNvSpPr>
          <p:nvPr/>
        </p:nvSpPr>
        <p:spPr>
          <a:xfrm>
            <a:off x="4320540" y="3538728"/>
            <a:ext cx="2263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300"/>
              <a:buFont typeface="Cambria Math" panose="02040503050406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C(Marla)</a:t>
            </a:r>
            <a:endParaRPr sz="1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99" name="Google Shape;899;p35"/>
          <p:cNvSpPr>
            <a:spLocks noGrp="1"/>
          </p:cNvSpPr>
          <p:nvPr/>
        </p:nvSpPr>
        <p:spPr>
          <a:xfrm>
            <a:off x="6617970" y="3538728"/>
            <a:ext cx="19888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Modus ponens from (2) and (3)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00" name="Google Shape;900;p35"/>
          <p:cNvSpPr>
            <a:spLocks noGrp="1"/>
          </p:cNvSpPr>
          <p:nvPr/>
        </p:nvSpPr>
        <p:spPr>
          <a:xfrm>
            <a:off x="3840480" y="4149090"/>
            <a:ext cx="4834890" cy="548640"/>
          </a:xfrm>
          <a:prstGeom prst="roundRect">
            <a:avLst>
              <a:gd name="adj" fmla="val 15000"/>
            </a:avLst>
          </a:prstGeom>
          <a:solidFill>
            <a:srgbClr val="B8EDE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1" name="Google Shape;901;p35"/>
          <p:cNvSpPr>
            <a:spLocks noGrp="1"/>
          </p:cNvSpPr>
          <p:nvPr/>
        </p:nvSpPr>
        <p:spPr>
          <a:xfrm>
            <a:off x="4011930" y="4149090"/>
            <a:ext cx="449199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1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quantifier rule (universal instantiation) and a propositional rule (modus ponens) work together in one argument.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decel="6000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decel="60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decel="60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decel="6000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decel="6000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decel="600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decel="60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decel="600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decel="6000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decel="60000" fill="hold"/>
                                        <p:tgtEl>
                                          <p:spTgt spid="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decel="600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decel="60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decel="6000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decel="6000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decel="6000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decel="6000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50" decel="600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50" decel="600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decel="600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decel="600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4" grpId="0" animBg="1"/>
      <p:bldP spid="885" grpId="0" animBg="1"/>
      <p:bldP spid="886" grpId="0" animBg="1"/>
      <p:bldP spid="887" grpId="0" animBg="1"/>
      <p:bldP spid="888" grpId="0" animBg="1"/>
      <p:bldP spid="889" grpId="0" animBg="1"/>
      <p:bldP spid="890" grpId="0" animBg="1"/>
      <p:bldP spid="891" grpId="0" animBg="1"/>
      <p:bldP spid="892" grpId="0" animBg="1"/>
      <p:bldP spid="893" grpId="0" animBg="1"/>
      <p:bldP spid="894" grpId="0" animBg="1"/>
      <p:bldP spid="895" grpId="0" animBg="1"/>
      <p:bldP spid="896" grpId="0" animBg="1"/>
      <p:bldP spid="897" grpId="0" animBg="1"/>
      <p:bldP spid="898" grpId="0" animBg="1"/>
      <p:bldP spid="899" grpId="0" animBg="1"/>
      <p:bldP spid="900" grpId="0" animBg="1"/>
      <p:bldP spid="90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6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26/28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09" name="Google Shape;909;p36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Universal modus ponens (Example 14)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0" name="Google Shape;910;p36"/>
          <p:cNvSpPr>
            <a:spLocks noGrp="1"/>
          </p:cNvSpPr>
          <p:nvPr/>
        </p:nvSpPr>
        <p:spPr>
          <a:xfrm>
            <a:off x="480060" y="1028700"/>
            <a:ext cx="2811780" cy="822960"/>
          </a:xfrm>
          <a:prstGeom prst="roundRect">
            <a:avLst>
              <a:gd name="adj" fmla="val 15000"/>
            </a:avLst>
          </a:prstGeom>
          <a:solidFill>
            <a:srgbClr val="E9E0F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1" name="Google Shape;911;p36"/>
          <p:cNvSpPr>
            <a:spLocks noGrp="1"/>
          </p:cNvSpPr>
          <p:nvPr/>
        </p:nvSpPr>
        <p:spPr>
          <a:xfrm>
            <a:off x="480060" y="1028700"/>
            <a:ext cx="28117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700"/>
              <a:buFont typeface="Cambria Math" panose="02040503050406030204"/>
              <a:buNone/>
            </a:pPr>
            <a:r>
              <a:rPr sz="17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∀x(P(x) → Q(x))</a:t>
            </a:r>
            <a:endParaRPr sz="17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2" name="Google Shape;912;p36"/>
          <p:cNvSpPr>
            <a:spLocks noGrp="1"/>
          </p:cNvSpPr>
          <p:nvPr/>
        </p:nvSpPr>
        <p:spPr>
          <a:xfrm>
            <a:off x="3291840" y="1028700"/>
            <a:ext cx="411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2300"/>
              <a:buFont typeface="Calibri" panose="020F0502020204030204"/>
              <a:buNone/>
            </a:pPr>
            <a:r>
              <a:rPr sz="23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endParaRPr sz="2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3" name="Google Shape;913;p36"/>
          <p:cNvSpPr>
            <a:spLocks noGrp="1"/>
          </p:cNvSpPr>
          <p:nvPr/>
        </p:nvSpPr>
        <p:spPr>
          <a:xfrm>
            <a:off x="3703320" y="1028700"/>
            <a:ext cx="2263140" cy="822960"/>
          </a:xfrm>
          <a:prstGeom prst="roundRect">
            <a:avLst>
              <a:gd name="adj" fmla="val 15000"/>
            </a:avLst>
          </a:prstGeom>
          <a:solidFill>
            <a:srgbClr val="B8EDE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4" name="Google Shape;914;p36"/>
          <p:cNvSpPr>
            <a:spLocks noGrp="1"/>
          </p:cNvSpPr>
          <p:nvPr/>
        </p:nvSpPr>
        <p:spPr>
          <a:xfrm>
            <a:off x="3703320" y="102870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500"/>
              <a:buFont typeface="Cambria Math" panose="02040503050406030204"/>
              <a:buNone/>
            </a:pPr>
            <a:r>
              <a:rPr sz="1500" b="0" i="0" u="none" cap="none">
                <a:solidFill>
                  <a:srgbClr val="2E2A5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P(a), a in the domain</a:t>
            </a:r>
            <a:endParaRPr sz="15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5" name="Google Shape;915;p36"/>
          <p:cNvSpPr>
            <a:spLocks noGrp="1"/>
          </p:cNvSpPr>
          <p:nvPr/>
        </p:nvSpPr>
        <p:spPr>
          <a:xfrm>
            <a:off x="5966460" y="1028700"/>
            <a:ext cx="411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2300"/>
              <a:buFont typeface="Calibri" panose="020F0502020204030204"/>
              <a:buNone/>
            </a:pPr>
            <a:r>
              <a:rPr sz="23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⇒</a:t>
            </a:r>
            <a:endParaRPr sz="2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6" name="Google Shape;916;p36"/>
          <p:cNvSpPr>
            <a:spLocks noGrp="1"/>
          </p:cNvSpPr>
          <p:nvPr/>
        </p:nvSpPr>
        <p:spPr>
          <a:xfrm>
            <a:off x="6377940" y="1028700"/>
            <a:ext cx="2297430" cy="822960"/>
          </a:xfrm>
          <a:prstGeom prst="roundRect">
            <a:avLst>
              <a:gd name="adj" fmla="val 15000"/>
            </a:avLst>
          </a:prstGeom>
          <a:solidFill>
            <a:srgbClr val="FF7145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7" name="Google Shape;917;p36"/>
          <p:cNvSpPr>
            <a:spLocks noGrp="1"/>
          </p:cNvSpPr>
          <p:nvPr/>
        </p:nvSpPr>
        <p:spPr>
          <a:xfrm>
            <a:off x="6377940" y="1028700"/>
            <a:ext cx="229743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 Math" panose="02040503050406030204"/>
              <a:buNone/>
            </a:pPr>
            <a:r>
              <a:rPr sz="2100" b="1" i="0" u="none" cap="none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Q(a)</a:t>
            </a:r>
            <a:endParaRPr sz="2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8" name="Google Shape;918;p36"/>
          <p:cNvSpPr>
            <a:spLocks noGrp="1"/>
          </p:cNvSpPr>
          <p:nvPr/>
        </p:nvSpPr>
        <p:spPr>
          <a:xfrm>
            <a:off x="480060" y="1988820"/>
            <a:ext cx="8195310" cy="651510"/>
          </a:xfrm>
          <a:prstGeom prst="roundRect">
            <a:avLst>
              <a:gd name="adj" fmla="val 12632"/>
            </a:avLst>
          </a:prstGeom>
          <a:solidFill>
            <a:srgbClr val="FFF1EA"/>
          </a:solidFill>
          <a:ln w="12700" cmpd="sng">
            <a:solidFill>
              <a:srgbClr val="F2C9B8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9" name="Google Shape;919;p36"/>
          <p:cNvSpPr>
            <a:spLocks noGrp="1"/>
          </p:cNvSpPr>
          <p:nvPr/>
        </p:nvSpPr>
        <p:spPr>
          <a:xfrm>
            <a:off x="617220" y="205740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00"/>
              <a:buFont typeface="Calibri" panose="020F0502020204030204"/>
              <a:buNone/>
            </a:pPr>
            <a:r>
              <a:rPr sz="1400" b="1" i="0" u="none" cap="none">
                <a:solidFill>
                  <a:srgbClr val="FF714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20" name="Google Shape;920;p36"/>
          <p:cNvSpPr>
            <a:spLocks noGrp="1"/>
          </p:cNvSpPr>
          <p:nvPr/>
        </p:nvSpPr>
        <p:spPr>
          <a:xfrm>
            <a:off x="617220" y="2221992"/>
            <a:ext cx="79209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Assume that for all positive integers n, if n &gt; 4, then n² &lt; 2ⁿ. Show that 100² &lt; 2¹⁰⁰.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21" name="Google Shape;921;p36"/>
          <p:cNvSpPr>
            <a:spLocks noGrp="1"/>
          </p:cNvSpPr>
          <p:nvPr/>
        </p:nvSpPr>
        <p:spPr>
          <a:xfrm>
            <a:off x="528066" y="2825496"/>
            <a:ext cx="2640330" cy="1920240"/>
          </a:xfrm>
          <a:prstGeom prst="roundRect">
            <a:avLst>
              <a:gd name="adj" fmla="val 2143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2" name="Google Shape;922;p36"/>
          <p:cNvSpPr>
            <a:spLocks noGrp="1"/>
          </p:cNvSpPr>
          <p:nvPr/>
        </p:nvSpPr>
        <p:spPr>
          <a:xfrm>
            <a:off x="480060" y="2777490"/>
            <a:ext cx="2640330" cy="19202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3" name="Google Shape;923;p36"/>
          <p:cNvSpPr>
            <a:spLocks noGrp="1"/>
          </p:cNvSpPr>
          <p:nvPr/>
        </p:nvSpPr>
        <p:spPr>
          <a:xfrm>
            <a:off x="562356" y="2859786"/>
            <a:ext cx="2475738" cy="342900"/>
          </a:xfrm>
          <a:prstGeom prst="roundRect">
            <a:avLst>
              <a:gd name="adj" fmla="val 10000"/>
            </a:avLst>
          </a:prstGeom>
          <a:solidFill>
            <a:srgbClr val="FFC9CD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4" name="Google Shape;924;p36"/>
          <p:cNvSpPr>
            <a:spLocks noGrp="1"/>
          </p:cNvSpPr>
          <p:nvPr/>
        </p:nvSpPr>
        <p:spPr>
          <a:xfrm>
            <a:off x="562356" y="2859786"/>
            <a:ext cx="24757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Step 1: Read the rule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25" name="Google Shape;925;p36"/>
          <p:cNvSpPr>
            <a:spLocks noGrp="1"/>
          </p:cNvSpPr>
          <p:nvPr/>
        </p:nvSpPr>
        <p:spPr>
          <a:xfrm>
            <a:off x="651510" y="3360420"/>
            <a:ext cx="2331720" cy="130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Let P(n): n &gt; 4 and Q(n): n² &lt; 2ⁿ.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30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rule says ∀n (P(n) → Q(n)).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26" name="Google Shape;926;p36"/>
          <p:cNvSpPr>
            <a:spLocks noGrp="1"/>
          </p:cNvSpPr>
          <p:nvPr/>
        </p:nvSpPr>
        <p:spPr>
          <a:xfrm>
            <a:off x="3305556" y="2825496"/>
            <a:ext cx="2640330" cy="1920240"/>
          </a:xfrm>
          <a:prstGeom prst="roundRect">
            <a:avLst>
              <a:gd name="adj" fmla="val 2143"/>
            </a:avLst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7" name="Google Shape;927;p36"/>
          <p:cNvSpPr>
            <a:spLocks noGrp="1"/>
          </p:cNvSpPr>
          <p:nvPr/>
        </p:nvSpPr>
        <p:spPr>
          <a:xfrm>
            <a:off x="3257550" y="2777490"/>
            <a:ext cx="2640330" cy="19202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8" name="Google Shape;928;p36"/>
          <p:cNvSpPr>
            <a:spLocks noGrp="1"/>
          </p:cNvSpPr>
          <p:nvPr/>
        </p:nvSpPr>
        <p:spPr>
          <a:xfrm>
            <a:off x="3339846" y="2859786"/>
            <a:ext cx="2475738" cy="342900"/>
          </a:xfrm>
          <a:prstGeom prst="roundRect">
            <a:avLst>
              <a:gd name="adj" fmla="val 10000"/>
            </a:avLst>
          </a:prstGeom>
          <a:solidFill>
            <a:srgbClr val="B8EDE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9" name="Google Shape;929;p36"/>
          <p:cNvSpPr>
            <a:spLocks noGrp="1"/>
          </p:cNvSpPr>
          <p:nvPr/>
        </p:nvSpPr>
        <p:spPr>
          <a:xfrm>
            <a:off x="3339846" y="2859786"/>
            <a:ext cx="24757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Step 2: Check the condition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30" name="Google Shape;930;p36"/>
          <p:cNvSpPr>
            <a:spLocks noGrp="1"/>
          </p:cNvSpPr>
          <p:nvPr/>
        </p:nvSpPr>
        <p:spPr>
          <a:xfrm>
            <a:off x="3429000" y="3360420"/>
            <a:ext cx="2331720" cy="130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P(100) is true, because 100 &gt; 4.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31" name="Google Shape;931;p36"/>
          <p:cNvSpPr>
            <a:spLocks noGrp="1"/>
          </p:cNvSpPr>
          <p:nvPr/>
        </p:nvSpPr>
        <p:spPr>
          <a:xfrm>
            <a:off x="6083046" y="2825496"/>
            <a:ext cx="2640330" cy="1920240"/>
          </a:xfrm>
          <a:prstGeom prst="roundRect">
            <a:avLst>
              <a:gd name="adj" fmla="val 2143"/>
            </a:avLst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2" name="Google Shape;932;p36"/>
          <p:cNvSpPr>
            <a:spLocks noGrp="1"/>
          </p:cNvSpPr>
          <p:nvPr/>
        </p:nvSpPr>
        <p:spPr>
          <a:xfrm>
            <a:off x="6035040" y="2777490"/>
            <a:ext cx="2640330" cy="19202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3" name="Google Shape;933;p36"/>
          <p:cNvSpPr>
            <a:spLocks noGrp="1"/>
          </p:cNvSpPr>
          <p:nvPr/>
        </p:nvSpPr>
        <p:spPr>
          <a:xfrm>
            <a:off x="6117336" y="2859786"/>
            <a:ext cx="2475738" cy="342900"/>
          </a:xfrm>
          <a:prstGeom prst="roundRect">
            <a:avLst>
              <a:gd name="adj" fmla="val 10000"/>
            </a:avLst>
          </a:prstGeom>
          <a:solidFill>
            <a:srgbClr val="FFE9A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4" name="Google Shape;934;p36"/>
          <p:cNvSpPr>
            <a:spLocks noGrp="1"/>
          </p:cNvSpPr>
          <p:nvPr/>
        </p:nvSpPr>
        <p:spPr>
          <a:xfrm>
            <a:off x="6117336" y="2859786"/>
            <a:ext cx="24757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1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Step 3: Get the result</a:t>
            </a:r>
            <a:endParaRPr sz="11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35" name="Google Shape;935;p36"/>
          <p:cNvSpPr>
            <a:spLocks noGrp="1"/>
          </p:cNvSpPr>
          <p:nvPr/>
        </p:nvSpPr>
        <p:spPr>
          <a:xfrm>
            <a:off x="6206490" y="3360420"/>
            <a:ext cx="2331720" cy="130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By universal modus ponens, Q(100) is true.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>
              <a:spcBef>
                <a:spcPts val="30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 100² &lt; 2¹⁰⁰.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6000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60000" fill="hold"/>
                                        <p:tgtEl>
                                          <p:spTgt spid="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600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60000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60000" fill="hold"/>
                                        <p:tgtEl>
                                          <p:spTgt spid="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6000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decel="60000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6000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decel="600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decel="6000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6000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60000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60000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60000" fill="hold"/>
                                        <p:tgtEl>
                                          <p:spTgt spid="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6000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" grpId="0" animBg="1"/>
      <p:bldP spid="922" grpId="0" animBg="1"/>
      <p:bldP spid="923" grpId="0" animBg="1"/>
      <p:bldP spid="924" grpId="0" animBg="1"/>
      <p:bldP spid="925" grpId="0" animBg="1"/>
      <p:bldP spid="926" grpId="0" animBg="1"/>
      <p:bldP spid="927" grpId="0" animBg="1"/>
      <p:bldP spid="928" grpId="0" animBg="1"/>
      <p:bldP spid="929" grpId="0" animBg="1"/>
      <p:bldP spid="930" grpId="0" animBg="1"/>
      <p:bldP spid="931" grpId="0" animBg="1"/>
      <p:bldP spid="932" grpId="0" animBg="1"/>
      <p:bldP spid="933" grpId="0" animBg="1"/>
      <p:bldP spid="934" grpId="0" animBg="1"/>
      <p:bldP spid="9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7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800"/>
              <a:buFont typeface="Calibri" panose="020F0502020204030204"/>
              <a:buNone/>
            </a:pPr>
            <a:r>
              <a:rPr sz="2400" b="0" i="0" u="none" cap="none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27/28</a:t>
            </a:r>
            <a:endParaRPr sz="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43" name="Google Shape;943;p37"/>
          <p:cNvSpPr>
            <a:spLocks noGrp="1"/>
          </p:cNvSpPr>
          <p:nvPr/>
        </p:nvSpPr>
        <p:spPr>
          <a:xfrm>
            <a:off x="480060" y="342900"/>
            <a:ext cx="74752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2600"/>
              <a:buFont typeface="Raleway"/>
              <a:buNone/>
            </a:pPr>
            <a:r>
              <a:rPr sz="26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Summary and conclusion</a:t>
            </a:r>
            <a:endParaRPr sz="26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44" name="Google Shape;944;p37"/>
          <p:cNvSpPr>
            <a:spLocks noGrp="1"/>
          </p:cNvSpPr>
          <p:nvPr/>
        </p:nvSpPr>
        <p:spPr>
          <a:xfrm>
            <a:off x="528066" y="1076706"/>
            <a:ext cx="5212080" cy="788670"/>
          </a:xfrm>
          <a:prstGeom prst="roundRect">
            <a:avLst>
              <a:gd name="adj" fmla="val 5217"/>
            </a:avLst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5" name="Google Shape;945;p37"/>
          <p:cNvSpPr>
            <a:spLocks noGrp="1"/>
          </p:cNvSpPr>
          <p:nvPr/>
        </p:nvSpPr>
        <p:spPr>
          <a:xfrm>
            <a:off x="480060" y="1028700"/>
            <a:ext cx="5212080" cy="78867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6" name="Google Shape;946;p37"/>
          <p:cNvSpPr>
            <a:spLocks noGrp="1"/>
          </p:cNvSpPr>
          <p:nvPr/>
        </p:nvSpPr>
        <p:spPr>
          <a:xfrm>
            <a:off x="651510" y="1220724"/>
            <a:ext cx="411480" cy="411480"/>
          </a:xfrm>
          <a:prstGeom prst="ellipse">
            <a:avLst/>
          </a:prstGeom>
          <a:solidFill>
            <a:srgbClr val="9B6BE8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7" name="Google Shape;947;p37"/>
          <p:cNvSpPr>
            <a:spLocks noGrp="1"/>
          </p:cNvSpPr>
          <p:nvPr/>
        </p:nvSpPr>
        <p:spPr>
          <a:xfrm>
            <a:off x="651510" y="12207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48" name="Google Shape;948;p37"/>
          <p:cNvSpPr>
            <a:spLocks noGrp="1"/>
          </p:cNvSpPr>
          <p:nvPr/>
        </p:nvSpPr>
        <p:spPr>
          <a:xfrm>
            <a:off x="1234440" y="1028700"/>
            <a:ext cx="4320540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valid argument never has all true premises and a false conclusion.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49" name="Google Shape;949;p37"/>
          <p:cNvSpPr>
            <a:spLocks noGrp="1"/>
          </p:cNvSpPr>
          <p:nvPr/>
        </p:nvSpPr>
        <p:spPr>
          <a:xfrm>
            <a:off x="528066" y="2002536"/>
            <a:ext cx="5212080" cy="788670"/>
          </a:xfrm>
          <a:prstGeom prst="roundRect">
            <a:avLst>
              <a:gd name="adj" fmla="val 5217"/>
            </a:avLst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0" name="Google Shape;950;p37"/>
          <p:cNvSpPr>
            <a:spLocks noGrp="1"/>
          </p:cNvSpPr>
          <p:nvPr/>
        </p:nvSpPr>
        <p:spPr>
          <a:xfrm>
            <a:off x="480060" y="1954530"/>
            <a:ext cx="5212080" cy="78867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1" name="Google Shape;951;p37"/>
          <p:cNvSpPr>
            <a:spLocks noGrp="1"/>
          </p:cNvSpPr>
          <p:nvPr/>
        </p:nvSpPr>
        <p:spPr>
          <a:xfrm>
            <a:off x="651510" y="2146554"/>
            <a:ext cx="411480" cy="411480"/>
          </a:xfrm>
          <a:prstGeom prst="ellipse">
            <a:avLst/>
          </a:prstGeom>
          <a:solidFill>
            <a:srgbClr val="E5646F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2" name="Google Shape;952;p37"/>
          <p:cNvSpPr>
            <a:spLocks noGrp="1"/>
          </p:cNvSpPr>
          <p:nvPr/>
        </p:nvSpPr>
        <p:spPr>
          <a:xfrm>
            <a:off x="651510" y="214655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3" name="Google Shape;953;p37"/>
          <p:cNvSpPr>
            <a:spLocks noGrp="1"/>
          </p:cNvSpPr>
          <p:nvPr/>
        </p:nvSpPr>
        <p:spPr>
          <a:xfrm>
            <a:off x="1234440" y="1954530"/>
            <a:ext cx="4320540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Eight propositional rules are the building blocks of longer arguments.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4" name="Google Shape;954;p37"/>
          <p:cNvSpPr>
            <a:spLocks noGrp="1"/>
          </p:cNvSpPr>
          <p:nvPr/>
        </p:nvSpPr>
        <p:spPr>
          <a:xfrm>
            <a:off x="528066" y="2928366"/>
            <a:ext cx="5212080" cy="788670"/>
          </a:xfrm>
          <a:prstGeom prst="roundRect">
            <a:avLst>
              <a:gd name="adj" fmla="val 5217"/>
            </a:avLst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5" name="Google Shape;955;p37"/>
          <p:cNvSpPr>
            <a:spLocks noGrp="1"/>
          </p:cNvSpPr>
          <p:nvPr/>
        </p:nvSpPr>
        <p:spPr>
          <a:xfrm>
            <a:off x="480060" y="2880360"/>
            <a:ext cx="5212080" cy="78867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6" name="Google Shape;956;p37"/>
          <p:cNvSpPr>
            <a:spLocks noGrp="1"/>
          </p:cNvSpPr>
          <p:nvPr/>
        </p:nvSpPr>
        <p:spPr>
          <a:xfrm>
            <a:off x="651510" y="3072384"/>
            <a:ext cx="411480" cy="411480"/>
          </a:xfrm>
          <a:prstGeom prst="ellipse">
            <a:avLst/>
          </a:prstGeom>
          <a:solidFill>
            <a:srgbClr val="36AEB6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7" name="Google Shape;957;p37"/>
          <p:cNvSpPr>
            <a:spLocks noGrp="1"/>
          </p:cNvSpPr>
          <p:nvPr/>
        </p:nvSpPr>
        <p:spPr>
          <a:xfrm>
            <a:off x="651510" y="30723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8" name="Google Shape;958;p37"/>
          <p:cNvSpPr>
            <a:spLocks noGrp="1"/>
          </p:cNvSpPr>
          <p:nvPr/>
        </p:nvSpPr>
        <p:spPr>
          <a:xfrm>
            <a:off x="1234440" y="2880360"/>
            <a:ext cx="4320540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Fallacies look like rules but are not tautologies.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9" name="Google Shape;959;p37"/>
          <p:cNvSpPr>
            <a:spLocks noGrp="1"/>
          </p:cNvSpPr>
          <p:nvPr/>
        </p:nvSpPr>
        <p:spPr>
          <a:xfrm>
            <a:off x="528066" y="3854196"/>
            <a:ext cx="5212080" cy="788670"/>
          </a:xfrm>
          <a:prstGeom prst="roundRect">
            <a:avLst>
              <a:gd name="adj" fmla="val 5217"/>
            </a:avLst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0" name="Google Shape;960;p37"/>
          <p:cNvSpPr>
            <a:spLocks noGrp="1"/>
          </p:cNvSpPr>
          <p:nvPr/>
        </p:nvSpPr>
        <p:spPr>
          <a:xfrm>
            <a:off x="480060" y="3806190"/>
            <a:ext cx="5212080" cy="78867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1" name="Google Shape;961;p37"/>
          <p:cNvSpPr>
            <a:spLocks noGrp="1"/>
          </p:cNvSpPr>
          <p:nvPr/>
        </p:nvSpPr>
        <p:spPr>
          <a:xfrm>
            <a:off x="651510" y="3998214"/>
            <a:ext cx="411480" cy="411480"/>
          </a:xfrm>
          <a:prstGeom prst="ellipse">
            <a:avLst/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2" name="Google Shape;962;p37"/>
          <p:cNvSpPr>
            <a:spLocks noGrp="1"/>
          </p:cNvSpPr>
          <p:nvPr/>
        </p:nvSpPr>
        <p:spPr>
          <a:xfrm>
            <a:off x="651510" y="399821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3" name="Google Shape;963;p37"/>
          <p:cNvSpPr>
            <a:spLocks noGrp="1"/>
          </p:cNvSpPr>
          <p:nvPr/>
        </p:nvSpPr>
        <p:spPr>
          <a:xfrm>
            <a:off x="1234440" y="3806190"/>
            <a:ext cx="4320540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400"/>
              <a:buFont typeface="Calibri" panose="020F0502020204030204"/>
              <a:buNone/>
            </a:pPr>
            <a:r>
              <a:rPr sz="14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quantifier rules and universal modus ponens extend the method to "all" and "some".</a:t>
            </a:r>
            <a:endParaRPr sz="14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4" name="Google Shape;964;p37"/>
          <p:cNvSpPr>
            <a:spLocks noGrp="1"/>
          </p:cNvSpPr>
          <p:nvPr/>
        </p:nvSpPr>
        <p:spPr>
          <a:xfrm>
            <a:off x="6014466" y="1076706"/>
            <a:ext cx="2708910" cy="3531870"/>
          </a:xfrm>
          <a:prstGeom prst="roundRect">
            <a:avLst>
              <a:gd name="adj" fmla="val 1519"/>
            </a:avLst>
          </a:prstGeom>
          <a:solidFill>
            <a:srgbClr val="DDA700"/>
          </a:solidFill>
          <a:ln>
            <a:noFill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5" name="Google Shape;965;p37"/>
          <p:cNvSpPr>
            <a:spLocks noGrp="1"/>
          </p:cNvSpPr>
          <p:nvPr/>
        </p:nvSpPr>
        <p:spPr>
          <a:xfrm>
            <a:off x="5966460" y="1028700"/>
            <a:ext cx="2708910" cy="353187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6" name="Google Shape;966;p37"/>
          <p:cNvSpPr>
            <a:spLocks noGrp="1"/>
          </p:cNvSpPr>
          <p:nvPr/>
        </p:nvSpPr>
        <p:spPr>
          <a:xfrm>
            <a:off x="6048756" y="1110996"/>
            <a:ext cx="2544318" cy="342900"/>
          </a:xfrm>
          <a:prstGeom prst="roundRect">
            <a:avLst>
              <a:gd name="adj" fmla="val 10000"/>
            </a:avLst>
          </a:prstGeom>
          <a:solidFill>
            <a:srgbClr val="FFE9A8"/>
          </a:solidFill>
          <a:ln w="12700" cmpd="sng">
            <a:solidFill>
              <a:srgbClr val="2E2A5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7" name="Google Shape;967;p37"/>
          <p:cNvSpPr>
            <a:spLocks noGrp="1"/>
          </p:cNvSpPr>
          <p:nvPr/>
        </p:nvSpPr>
        <p:spPr>
          <a:xfrm>
            <a:off x="6048756" y="1110996"/>
            <a:ext cx="25443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200"/>
              <a:buFont typeface="Raleway"/>
              <a:buNone/>
            </a:pPr>
            <a:r>
              <a:rPr sz="1400" b="1" i="0" u="none" cap="none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Conclusion</a:t>
            </a:r>
            <a:endParaRPr sz="12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8" name="Google Shape;968;p37"/>
          <p:cNvSpPr>
            <a:spLocks noGrp="1"/>
          </p:cNvSpPr>
          <p:nvPr/>
        </p:nvSpPr>
        <p:spPr>
          <a:xfrm>
            <a:off x="6172200" y="1645920"/>
            <a:ext cx="233172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1800"/>
              <a:buFont typeface="Calibri" panose="020F0502020204030204"/>
              <a:buNone/>
            </a:pPr>
            <a:r>
              <a:rPr sz="1800" b="0" i="0" u="none" cap="none">
                <a:solidFill>
                  <a:srgbClr val="2E2A5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sound proof connects premises to its conclusion through justified steps. Inference rules make each step checkable.</a:t>
            </a:r>
            <a:endParaRPr sz="18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9" name="Google Shape;969;p37"/>
          <p:cNvSpPr>
            <a:spLocks noGrp="1"/>
          </p:cNvSpPr>
          <p:nvPr/>
        </p:nvSpPr>
        <p:spPr>
          <a:xfrm>
            <a:off x="5966460" y="3360420"/>
            <a:ext cx="270891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6000"/>
              <a:buFont typeface="Cambria Math" panose="02040503050406030204"/>
              <a:buNone/>
            </a:pPr>
            <a:r>
              <a:rPr sz="6000" b="1" i="0" u="none" cap="none">
                <a:solidFill>
                  <a:srgbClr val="6D3FE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</a:t>
            </a:r>
            <a:endParaRPr sz="60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8"/>
          <p:cNvSpPr>
            <a:spLocks noGrp="1"/>
          </p:cNvSpPr>
          <p:nvPr/>
        </p:nvSpPr>
        <p:spPr>
          <a:xfrm>
            <a:off x="480060" y="1010673"/>
            <a:ext cx="51435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E2A5E"/>
              </a:buClr>
              <a:buSzPts val="5000"/>
              <a:buFont typeface="Raleway"/>
              <a:buNone/>
            </a:pPr>
            <a:r>
              <a:rPr sz="5000" b="1" i="0" u="none" cap="none" dirty="0">
                <a:solidFill>
                  <a:srgbClr val="2E2A5E"/>
                </a:solidFill>
                <a:latin typeface="Raleway"/>
                <a:ea typeface="Raleway"/>
                <a:cs typeface="Raleway"/>
              </a:rPr>
              <a:t>Thank you</a:t>
            </a:r>
            <a:endParaRPr sz="50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76" name="Google Shape;976;p38"/>
          <p:cNvSpPr>
            <a:spLocks noGrp="1"/>
          </p:cNvSpPr>
          <p:nvPr/>
        </p:nvSpPr>
        <p:spPr>
          <a:xfrm>
            <a:off x="480060" y="2039373"/>
            <a:ext cx="51435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3FE0"/>
              </a:buClr>
              <a:buSzPts val="2100"/>
              <a:buFont typeface="Calibri" panose="020F0502020204030204"/>
              <a:buNone/>
            </a:pPr>
            <a:r>
              <a:rPr lang="en-US" sz="2400" b="1" i="0" u="none" cap="none" dirty="0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Any </a:t>
            </a:r>
            <a:r>
              <a:rPr sz="2400" b="1" i="0" u="none" cap="none" dirty="0">
                <a:solidFill>
                  <a:srgbClr val="6D3FE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Questions?</a:t>
            </a:r>
            <a:endParaRPr sz="24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77" name="Google Shape;977;p38"/>
          <p:cNvSpPr>
            <a:spLocks noGrp="1"/>
          </p:cNvSpPr>
          <p:nvPr/>
        </p:nvSpPr>
        <p:spPr>
          <a:xfrm>
            <a:off x="480060" y="2793753"/>
            <a:ext cx="5143500" cy="61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890"/>
              </a:buClr>
              <a:buSzPts val="1100"/>
              <a:buFont typeface="Calibri" panose="020F0502020204030204"/>
              <a:buNone/>
            </a:pPr>
            <a:r>
              <a:rPr lang="en-US" sz="1600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If you have any questions then ask frequently</a:t>
            </a:r>
            <a:r>
              <a:rPr sz="1600" b="0" i="0" u="none" cap="none" dirty="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sz="1600" b="0" i="0" u="non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78" name="Google Shape;978;p38"/>
          <p:cNvSpPr>
            <a:spLocks noGrp="1"/>
          </p:cNvSpPr>
          <p:nvPr/>
        </p:nvSpPr>
        <p:spPr>
          <a:xfrm>
            <a:off x="5897880" y="1028700"/>
            <a:ext cx="2743200" cy="2743200"/>
          </a:xfrm>
          <a:prstGeom prst="ellipse">
            <a:avLst/>
          </a:prstGeom>
          <a:solidFill>
            <a:srgbClr val="F1ECFF"/>
          </a:solidFill>
          <a:ln w="25400" cmpd="sng">
            <a:solidFill>
              <a:srgbClr val="6D3FE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2" name="Google Shape;982;p38"/>
          <p:cNvSpPr>
            <a:spLocks noGrp="1"/>
          </p:cNvSpPr>
          <p:nvPr/>
        </p:nvSpPr>
        <p:spPr>
          <a:xfrm>
            <a:off x="6240780" y="1371600"/>
            <a:ext cx="20574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7145"/>
              </a:buClr>
              <a:buSzPts val="8300"/>
              <a:buFont typeface="Cambria Math" panose="02040503050406030204"/>
              <a:buNone/>
            </a:pPr>
            <a:r>
              <a:rPr sz="8300" b="1" i="0" u="none" cap="none">
                <a:solidFill>
                  <a:srgbClr val="FF7145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∴</a:t>
            </a:r>
            <a:endParaRPr sz="8300" b="0" i="0" u="non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83" name="Rectangle 982"/>
          <p:cNvSpPr>
            <a:spLocks noGrp="1"/>
          </p:cNvSpPr>
          <p:nvPr/>
        </p:nvSpPr>
        <p:spPr>
          <a:xfrm>
            <a:off x="7810500" y="4762500"/>
            <a:ext cx="9525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buNone/>
              <a:defRPr sz="240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400">
                <a:solidFill>
                  <a:srgbClr val="6B689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28/28</a:t>
            </a:r>
            <a:endParaRPr sz="2400">
              <a:solidFill>
                <a:srgbClr val="6B689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ference">
  <a:themeElements>
    <a:clrScheme name="Inference">
      <a:dk1>
        <a:srgbClr val="2E2A5E"/>
      </a:dk1>
      <a:lt1>
        <a:srgbClr val="FFFFFF"/>
      </a:lt1>
      <a:dk2>
        <a:srgbClr val="2E2A5E"/>
      </a:dk2>
      <a:lt2>
        <a:srgbClr val="F7F5FF"/>
      </a:lt2>
      <a:accent1>
        <a:srgbClr val="6D3FE0"/>
      </a:accent1>
      <a:accent2>
        <a:srgbClr val="FF7145"/>
      </a:accent2>
      <a:accent3>
        <a:srgbClr val="9B6BE8"/>
      </a:accent3>
      <a:accent4>
        <a:srgbClr val="36AEB6"/>
      </a:accent4>
      <a:accent5>
        <a:srgbClr val="E5646F"/>
      </a:accent5>
      <a:accent6>
        <a:srgbClr val="DDA700"/>
      </a:accent6>
      <a:hlink>
        <a:srgbClr val="6D3FE0"/>
      </a:hlink>
      <a:folHlink>
        <a:srgbClr val="B3B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feren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11686</Words>
  <Application>WPS Presentation</Application>
  <PresentationFormat>On-screen Show (16:9)</PresentationFormat>
  <Paragraphs>1080</Paragraphs>
  <Slides>28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SimSun</vt:lpstr>
      <vt:lpstr>Wingdings</vt:lpstr>
      <vt:lpstr>Arial</vt:lpstr>
      <vt:lpstr>Raleway</vt:lpstr>
      <vt:lpstr>Calibri</vt:lpstr>
      <vt:lpstr>Cambria Math</vt:lpstr>
      <vt:lpstr>Microsoft YaHei</vt:lpstr>
      <vt:lpstr>Arial Unicode MS</vt:lpstr>
      <vt:lpstr>Arial Black</vt:lpstr>
      <vt:lpstr>Simple Light</vt:lpstr>
      <vt:lpstr>Inference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faysa</cp:lastModifiedBy>
  <cp:revision>9</cp:revision>
  <dcterms:created xsi:type="dcterms:W3CDTF">2026-10-06T15:21:00Z</dcterms:created>
  <dcterms:modified xsi:type="dcterms:W3CDTF">2026-10-09T05:17:23Z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AC6563CFD1D44332A59689B4896832BD_13</vt:lpwstr>
  </property>
  <property fmtid="{D5CDD505-2E9C-101B-9397-08002B2CF9AE}" pid="3" name="KSOProductBuildVer">
    <vt:lpwstr>2057-12.2.0.23206</vt:lpwstr>
  </property>
</Properties>
</file>